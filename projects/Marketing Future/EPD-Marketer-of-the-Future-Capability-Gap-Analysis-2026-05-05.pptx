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framing this as a strategic inflection point. Abbott EPD is moving from humans using AI tools to AI-empowered strategic orchestrators. This deck maps where we are, where we need to go, and what we need to discover first.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briefly. Emphasize that this is a working document — the gap analysis will be updated once the validation workplan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context. EPD marketing is not broken — but it is structurally limited. The five gaps on the next slide are systemic, not tactical.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how many of these gaps does your team feel every week? Let the table do the work. These are confirmed systemic issues from the EPD strategy document — not opinions.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numbers from ALICE deployment. Use the 750 days reclaimed figure — it translates AI impact into business language that resonates with leadership. Brief quality from 6.2 to 8.9 means the floor of quality rose, not just the ceiling.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five agents as an ecosystem, not a toolbox. They are designed to work together — ALICE feeds CRAFTS, CRAFTS feeds SPARK, BRANDS provides strategy to 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table row by row. Emphasize that each agent name is memorable by design: ALICE creates, BRANDS strategizes, CRAFTS produces, SPARK engages, ACCESS penetrates markets. Draw the data flow connections verbally as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the current state column shows 'Investigation for Validation' for all 20 capabilities. This is intentional — we do not yet have a confirmed tool inventory for EPD. The validation workplan in section 4 fixes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'Investigation for Validation' status is not a gap in our analysis — it is the first action item. We need to confirm what Abbott EPD already licenses before recommending any new tools. Persado and Writer.com are market leaders in pharma-compliant copy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unlock here is replacing 2–3 month workshop cycles with continuous AI-driven insight generation. Deepsights (formerly Greenbook AI) is the market leader for pharma brand strategy synthesis.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Veeva PromoMats AI Agents launched December 2025 — Moderna is the first live customer. 38% of MLR is projected to be AI-driven by 2028. This is not future speculation — these tools are available today. The question is whether Abbott EPD already has a PromoMats license.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NBA (Next-Best-Action) capability is the highest-ROI gap in the SPARK agent. Aktana and PharmaForceIQ merged in January 2026 — the combined platform has delivered 36% NBRx lift across pharma clients. This is the strongest ROI signal in the entire tool landscape.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access is often the last function to adopt AI — and often the highest ROI opportunity. HTA dossier automation and economic model simulation can dramatically compress timelines that today take months of manual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section as discipline, not delay. The fastest path to the right technology decisions is knowing what we already have. Buying redundant tools is the most common and expensive MarTech mistake.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P1 actions immediately. These three discovery activities are the critical path. Until we know what is already licensed, we cannot make defensible tool recommendations. Target 4 weeks to complete P1 items.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clarity and urgency. These three actions have a clear sequence — each one unlocks the next.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by confirming owners in the room. Who owns the validation workplan? Who runs the capability mapping? Who owns the architecture? These three questions should have answers before the meeting ends.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a reference sheet. If questions come up during the presentation that aren't on this list, capture them as inputs for the validation workplan.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50"/>
        </a:solidFill>
        <a:effectLst/>
      </p:bgPr>
    </p:bg>
    <p:spTree>
      <p:nvGrpSpPr>
        <p:cNvPr id="1" name=""/>
        <p:cNvGrpSpPr/>
        <p:nvPr/>
      </p:nvGrpSpPr>
      <p:grpSpPr/>
      <p:sp>
        <p:nvSpPr>
          <p:cNvPr id="2" name="TextBox 1"/>
          <p:cNvSpPr txBox="1"/>
          <p:nvPr/>
        </p:nvSpPr>
        <p:spPr>
          <a:xfrm>
            <a:off x="731520" y="1371600"/>
            <a:ext cx="10058400" cy="1097280"/>
          </a:xfrm>
          <a:prstGeom prst="rect">
            <a:avLst/>
          </a:prstGeom>
          <a:noFill/>
        </p:spPr>
        <p:txBody>
          <a:bodyPr wrap="square">
            <a:spAutoFit/>
          </a:bodyPr>
          <a:lstStyle/>
          <a:p>
            <a:pPr algn="l">
              <a:defRPr sz="4800" b="0" i="0">
                <a:solidFill>
                  <a:srgbClr val="FFFFFF"/>
                </a:solidFill>
                <a:latin typeface="Helvetica Neue"/>
              </a:defRPr>
            </a:pPr>
            <a:r>
              <a:t>EPD Marketer of the Future</a:t>
            </a:r>
          </a:p>
        </p:txBody>
      </p:sp>
      <p:sp>
        <p:nvSpPr>
          <p:cNvPr id="3" name="TextBox 2"/>
          <p:cNvSpPr txBox="1"/>
          <p:nvPr/>
        </p:nvSpPr>
        <p:spPr>
          <a:xfrm>
            <a:off x="731520" y="2560320"/>
            <a:ext cx="10058400" cy="914400"/>
          </a:xfrm>
          <a:prstGeom prst="rect">
            <a:avLst/>
          </a:prstGeom>
          <a:noFill/>
        </p:spPr>
        <p:txBody>
          <a:bodyPr wrap="square">
            <a:spAutoFit/>
          </a:bodyPr>
          <a:lstStyle/>
          <a:p>
            <a:pPr algn="l">
              <a:defRPr sz="3200" b="0" i="0">
                <a:solidFill>
                  <a:srgbClr val="FFFFFF"/>
                </a:solidFill>
                <a:latin typeface="Helvetica Neue"/>
              </a:defRPr>
            </a:pPr>
            <a:r>
              <a:t>Capability Gap Analysis &amp; Future State Roadmap</a:t>
            </a:r>
          </a:p>
        </p:txBody>
      </p:sp>
      <p:sp>
        <p:nvSpPr>
          <p:cNvPr id="4" name="TextBox 3"/>
          <p:cNvSpPr txBox="1"/>
          <p:nvPr/>
        </p:nvSpPr>
        <p:spPr>
          <a:xfrm>
            <a:off x="731520" y="3840480"/>
            <a:ext cx="9144000" cy="548640"/>
          </a:xfrm>
          <a:prstGeom prst="rect">
            <a:avLst/>
          </a:prstGeom>
          <a:noFill/>
        </p:spPr>
        <p:txBody>
          <a:bodyPr wrap="square">
            <a:spAutoFit/>
          </a:bodyPr>
          <a:lstStyle/>
          <a:p>
            <a:pPr algn="l">
              <a:defRPr sz="1600" b="0" i="1">
                <a:solidFill>
                  <a:srgbClr val="BBBBFF"/>
                </a:solidFill>
                <a:latin typeface="Helvetica Neue"/>
              </a:defRPr>
            </a:pPr>
            <a:r>
              <a:t>AI-Empowered. Human-Led.</a:t>
            </a:r>
          </a:p>
        </p:txBody>
      </p:sp>
      <p:sp>
        <p:nvSpPr>
          <p:cNvPr id="5" name="TextBox 4"/>
          <p:cNvSpPr txBox="1"/>
          <p:nvPr/>
        </p:nvSpPr>
        <p:spPr>
          <a:xfrm>
            <a:off x="731520" y="5029200"/>
            <a:ext cx="9144000" cy="365760"/>
          </a:xfrm>
          <a:prstGeom prst="rect">
            <a:avLst/>
          </a:prstGeom>
          <a:noFill/>
        </p:spPr>
        <p:txBody>
          <a:bodyPr wrap="square">
            <a:spAutoFit/>
          </a:bodyPr>
          <a:lstStyle/>
          <a:p>
            <a:pPr algn="l">
              <a:defRPr sz="1400" b="0" i="0">
                <a:solidFill>
                  <a:srgbClr val="9999CC"/>
                </a:solidFill>
                <a:latin typeface="Helvetica Neue"/>
              </a:defRPr>
            </a:pPr>
            <a:r>
              <a:t>Abbott EPD Marketing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640080"/>
          </a:xfrm>
          <a:prstGeom prst="rect">
            <a:avLst/>
          </a:prstGeom>
          <a:noFill/>
        </p:spPr>
        <p:txBody>
          <a:bodyPr wrap="square">
            <a:spAutoFit/>
          </a:bodyPr>
          <a:lstStyle/>
          <a:p>
            <a:pPr algn="l">
              <a:defRPr sz="3200" b="0" i="0">
                <a:solidFill>
                  <a:srgbClr val="000050"/>
                </a:solidFill>
                <a:latin typeface="Helvetica Neue"/>
              </a:defRPr>
            </a:pPr>
            <a:r>
              <a:t>Agenda</a:t>
            </a:r>
          </a:p>
        </p:txBody>
      </p:sp>
      <p:sp>
        <p:nvSpPr>
          <p:cNvPr id="3" name="TextBox 2"/>
          <p:cNvSpPr txBox="1"/>
          <p:nvPr/>
        </p:nvSpPr>
        <p:spPr>
          <a:xfrm>
            <a:off x="1097280" y="1280160"/>
            <a:ext cx="1097280" cy="548640"/>
          </a:xfrm>
          <a:prstGeom prst="rect">
            <a:avLst/>
          </a:prstGeom>
          <a:noFill/>
        </p:spPr>
        <p:txBody>
          <a:bodyPr wrap="square">
            <a:spAutoFit/>
          </a:bodyPr>
          <a:lstStyle/>
          <a:p>
            <a:pPr algn="l">
              <a:defRPr sz="2800" b="1" i="0">
                <a:solidFill>
                  <a:srgbClr val="000050"/>
                </a:solidFill>
                <a:latin typeface="Helvetica Neue"/>
              </a:defRPr>
            </a:pPr>
            <a:r>
              <a:t>01</a:t>
            </a:r>
          </a:p>
        </p:txBody>
      </p:sp>
      <p:sp>
        <p:nvSpPr>
          <p:cNvPr id="4" name="TextBox 3"/>
          <p:cNvSpPr txBox="1"/>
          <p:nvPr/>
        </p:nvSpPr>
        <p:spPr>
          <a:xfrm>
            <a:off x="2560320" y="1280160"/>
            <a:ext cx="3657600" cy="365760"/>
          </a:xfrm>
          <a:prstGeom prst="rect">
            <a:avLst/>
          </a:prstGeom>
          <a:noFill/>
        </p:spPr>
        <p:txBody>
          <a:bodyPr wrap="square">
            <a:spAutoFit/>
          </a:bodyPr>
          <a:lstStyle/>
          <a:p>
            <a:pPr algn="l">
              <a:defRPr sz="1800" b="1" i="0">
                <a:solidFill>
                  <a:srgbClr val="000050"/>
                </a:solidFill>
                <a:latin typeface="Helvetica Neue"/>
              </a:defRPr>
            </a:pPr>
            <a:r>
              <a:t>The Burning Platform</a:t>
            </a:r>
          </a:p>
        </p:txBody>
      </p:sp>
      <p:sp>
        <p:nvSpPr>
          <p:cNvPr id="5" name="TextBox 4"/>
          <p:cNvSpPr txBox="1"/>
          <p:nvPr/>
        </p:nvSpPr>
        <p:spPr>
          <a:xfrm>
            <a:off x="2560320" y="1600200"/>
            <a:ext cx="8229600" cy="365760"/>
          </a:xfrm>
          <a:prstGeom prst="rect">
            <a:avLst/>
          </a:prstGeom>
          <a:noFill/>
        </p:spPr>
        <p:txBody>
          <a:bodyPr wrap="square">
            <a:spAutoFit/>
          </a:bodyPr>
          <a:lstStyle/>
          <a:p>
            <a:pPr algn="l">
              <a:defRPr sz="1300" b="0" i="0">
                <a:solidFill>
                  <a:srgbClr val="1A1A1A"/>
                </a:solidFill>
                <a:latin typeface="Helvetica Neue"/>
              </a:defRPr>
            </a:pPr>
            <a:r>
              <a:t>Why EPD marketing must transform — five systemic gaps</a:t>
            </a:r>
          </a:p>
        </p:txBody>
      </p:sp>
      <p:sp>
        <p:nvSpPr>
          <p:cNvPr id="6" name="Rectangle 5"/>
          <p:cNvSpPr/>
          <p:nvPr/>
        </p:nvSpPr>
        <p:spPr>
          <a:xfrm>
            <a:off x="1097280" y="20116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94560"/>
            <a:ext cx="1097280" cy="548640"/>
          </a:xfrm>
          <a:prstGeom prst="rect">
            <a:avLst/>
          </a:prstGeom>
          <a:noFill/>
        </p:spPr>
        <p:txBody>
          <a:bodyPr wrap="square">
            <a:spAutoFit/>
          </a:bodyPr>
          <a:lstStyle/>
          <a:p>
            <a:pPr algn="l">
              <a:defRPr sz="2800" b="1" i="0">
                <a:solidFill>
                  <a:srgbClr val="000050"/>
                </a:solidFill>
                <a:latin typeface="Helvetica Neue"/>
              </a:defRPr>
            </a:pPr>
            <a:r>
              <a:t>02</a:t>
            </a:r>
          </a:p>
        </p:txBody>
      </p:sp>
      <p:sp>
        <p:nvSpPr>
          <p:cNvPr id="8" name="TextBox 7"/>
          <p:cNvSpPr txBox="1"/>
          <p:nvPr/>
        </p:nvSpPr>
        <p:spPr>
          <a:xfrm>
            <a:off x="2560320" y="2194560"/>
            <a:ext cx="3657600" cy="365760"/>
          </a:xfrm>
          <a:prstGeom prst="rect">
            <a:avLst/>
          </a:prstGeom>
          <a:noFill/>
        </p:spPr>
        <p:txBody>
          <a:bodyPr wrap="square">
            <a:spAutoFit/>
          </a:bodyPr>
          <a:lstStyle/>
          <a:p>
            <a:pPr algn="l">
              <a:defRPr sz="1800" b="1" i="0">
                <a:solidFill>
                  <a:srgbClr val="000050"/>
                </a:solidFill>
                <a:latin typeface="Helvetica Neue"/>
              </a:defRPr>
            </a:pPr>
            <a:r>
              <a:t>Five AI Agents</a:t>
            </a:r>
          </a:p>
        </p:txBody>
      </p:sp>
      <p:sp>
        <p:nvSpPr>
          <p:cNvPr id="9" name="TextBox 8"/>
          <p:cNvSpPr txBox="1"/>
          <p:nvPr/>
        </p:nvSpPr>
        <p:spPr>
          <a:xfrm>
            <a:off x="2560320" y="2514600"/>
            <a:ext cx="8229600" cy="365760"/>
          </a:xfrm>
          <a:prstGeom prst="rect">
            <a:avLst/>
          </a:prstGeom>
          <a:noFill/>
        </p:spPr>
        <p:txBody>
          <a:bodyPr wrap="square">
            <a:spAutoFit/>
          </a:bodyPr>
          <a:lstStyle/>
          <a:p>
            <a:pPr algn="l">
              <a:defRPr sz="1300" b="0" i="0">
                <a:solidFill>
                  <a:srgbClr val="1A1A1A"/>
                </a:solidFill>
                <a:latin typeface="Helvetica Neue"/>
              </a:defRPr>
            </a:pPr>
            <a:r>
              <a:t>The future state model covering the full marketing lifecycle</a:t>
            </a:r>
          </a:p>
        </p:txBody>
      </p:sp>
      <p:sp>
        <p:nvSpPr>
          <p:cNvPr id="10" name="Rectangle 9"/>
          <p:cNvSpPr/>
          <p:nvPr/>
        </p:nvSpPr>
        <p:spPr>
          <a:xfrm>
            <a:off x="1097280" y="29260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108960"/>
            <a:ext cx="1097280" cy="548640"/>
          </a:xfrm>
          <a:prstGeom prst="rect">
            <a:avLst/>
          </a:prstGeom>
          <a:noFill/>
        </p:spPr>
        <p:txBody>
          <a:bodyPr wrap="square">
            <a:spAutoFit/>
          </a:bodyPr>
          <a:lstStyle/>
          <a:p>
            <a:pPr algn="l">
              <a:defRPr sz="2800" b="1" i="0">
                <a:solidFill>
                  <a:srgbClr val="000050"/>
                </a:solidFill>
                <a:latin typeface="Helvetica Neue"/>
              </a:defRPr>
            </a:pPr>
            <a:r>
              <a:t>03</a:t>
            </a:r>
          </a:p>
        </p:txBody>
      </p:sp>
      <p:sp>
        <p:nvSpPr>
          <p:cNvPr id="12" name="TextBox 11"/>
          <p:cNvSpPr txBox="1"/>
          <p:nvPr/>
        </p:nvSpPr>
        <p:spPr>
          <a:xfrm>
            <a:off x="2560320" y="3108960"/>
            <a:ext cx="3657600" cy="365760"/>
          </a:xfrm>
          <a:prstGeom prst="rect">
            <a:avLst/>
          </a:prstGeom>
          <a:noFill/>
        </p:spPr>
        <p:txBody>
          <a:bodyPr wrap="square">
            <a:spAutoFit/>
          </a:bodyPr>
          <a:lstStyle/>
          <a:p>
            <a:pPr algn="l">
              <a:defRPr sz="1800" b="1" i="0">
                <a:solidFill>
                  <a:srgbClr val="000050"/>
                </a:solidFill>
                <a:latin typeface="Helvetica Neue"/>
              </a:defRPr>
            </a:pPr>
            <a:r>
              <a:t>Capability Gap Analysis</a:t>
            </a:r>
          </a:p>
        </p:txBody>
      </p:sp>
      <p:sp>
        <p:nvSpPr>
          <p:cNvPr id="13" name="TextBox 12"/>
          <p:cNvSpPr txBox="1"/>
          <p:nvPr/>
        </p:nvSpPr>
        <p:spPr>
          <a:xfrm>
            <a:off x="2560320" y="3429000"/>
            <a:ext cx="8229600" cy="365760"/>
          </a:xfrm>
          <a:prstGeom prst="rect">
            <a:avLst/>
          </a:prstGeom>
          <a:noFill/>
        </p:spPr>
        <p:txBody>
          <a:bodyPr wrap="square">
            <a:spAutoFit/>
          </a:bodyPr>
          <a:lstStyle/>
          <a:p>
            <a:pPr algn="l">
              <a:defRPr sz="1300" b="0" i="0">
                <a:solidFill>
                  <a:srgbClr val="1A1A1A"/>
                </a:solidFill>
                <a:latin typeface="Helvetica Neue"/>
              </a:defRPr>
            </a:pPr>
            <a:r>
              <a:t>Current vs future state across all 20 capabilities</a:t>
            </a:r>
          </a:p>
        </p:txBody>
      </p:sp>
      <p:sp>
        <p:nvSpPr>
          <p:cNvPr id="14" name="Rectangle 13"/>
          <p:cNvSpPr/>
          <p:nvPr/>
        </p:nvSpPr>
        <p:spPr>
          <a:xfrm>
            <a:off x="1097280" y="38404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023360"/>
            <a:ext cx="1097280" cy="548640"/>
          </a:xfrm>
          <a:prstGeom prst="rect">
            <a:avLst/>
          </a:prstGeom>
          <a:noFill/>
        </p:spPr>
        <p:txBody>
          <a:bodyPr wrap="square">
            <a:spAutoFit/>
          </a:bodyPr>
          <a:lstStyle/>
          <a:p>
            <a:pPr algn="l">
              <a:defRPr sz="2800" b="1" i="0">
                <a:solidFill>
                  <a:srgbClr val="000050"/>
                </a:solidFill>
                <a:latin typeface="Helvetica Neue"/>
              </a:defRPr>
            </a:pPr>
            <a:r>
              <a:t>04</a:t>
            </a:r>
          </a:p>
        </p:txBody>
      </p:sp>
      <p:sp>
        <p:nvSpPr>
          <p:cNvPr id="16" name="TextBox 15"/>
          <p:cNvSpPr txBox="1"/>
          <p:nvPr/>
        </p:nvSpPr>
        <p:spPr>
          <a:xfrm>
            <a:off x="2560320" y="4023360"/>
            <a:ext cx="3657600" cy="365760"/>
          </a:xfrm>
          <a:prstGeom prst="rect">
            <a:avLst/>
          </a:prstGeom>
          <a:noFill/>
        </p:spPr>
        <p:txBody>
          <a:bodyPr wrap="square">
            <a:spAutoFit/>
          </a:bodyPr>
          <a:lstStyle/>
          <a:p>
            <a:pPr algn="l">
              <a:defRPr sz="1800" b="1" i="0">
                <a:solidFill>
                  <a:srgbClr val="000050"/>
                </a:solidFill>
                <a:latin typeface="Helvetica Neue"/>
              </a:defRPr>
            </a:pPr>
            <a:r>
              <a:t>Validation Workplan</a:t>
            </a:r>
          </a:p>
        </p:txBody>
      </p:sp>
      <p:sp>
        <p:nvSpPr>
          <p:cNvPr id="17" name="TextBox 16"/>
          <p:cNvSpPr txBox="1"/>
          <p:nvPr/>
        </p:nvSpPr>
        <p:spPr>
          <a:xfrm>
            <a:off x="2560320" y="4343400"/>
            <a:ext cx="8229600" cy="365760"/>
          </a:xfrm>
          <a:prstGeom prst="rect">
            <a:avLst/>
          </a:prstGeom>
          <a:noFill/>
        </p:spPr>
        <p:txBody>
          <a:bodyPr wrap="square">
            <a:spAutoFit/>
          </a:bodyPr>
          <a:lstStyle/>
          <a:p>
            <a:pPr algn="l">
              <a:defRPr sz="1300" b="0" i="0">
                <a:solidFill>
                  <a:srgbClr val="1A1A1A"/>
                </a:solidFill>
                <a:latin typeface="Helvetica Neue"/>
              </a:defRPr>
            </a:pPr>
            <a:r>
              <a:t>What we need to discover before making tool decisions</a:t>
            </a:r>
          </a:p>
        </p:txBody>
      </p:sp>
      <p:sp>
        <p:nvSpPr>
          <p:cNvPr id="18" name="Rectangle 17"/>
          <p:cNvSpPr/>
          <p:nvPr/>
        </p:nvSpPr>
        <p:spPr>
          <a:xfrm>
            <a:off x="1097280" y="47548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937760"/>
            <a:ext cx="1097280" cy="548640"/>
          </a:xfrm>
          <a:prstGeom prst="rect">
            <a:avLst/>
          </a:prstGeom>
          <a:noFill/>
        </p:spPr>
        <p:txBody>
          <a:bodyPr wrap="square">
            <a:spAutoFit/>
          </a:bodyPr>
          <a:lstStyle/>
          <a:p>
            <a:pPr algn="l">
              <a:defRPr sz="2800" b="1" i="0">
                <a:solidFill>
                  <a:srgbClr val="000050"/>
                </a:solidFill>
                <a:latin typeface="Helvetica Neue"/>
              </a:defRPr>
            </a:pPr>
            <a:r>
              <a:t>05</a:t>
            </a:r>
          </a:p>
        </p:txBody>
      </p:sp>
      <p:sp>
        <p:nvSpPr>
          <p:cNvPr id="20" name="TextBox 19"/>
          <p:cNvSpPr txBox="1"/>
          <p:nvPr/>
        </p:nvSpPr>
        <p:spPr>
          <a:xfrm>
            <a:off x="2560320" y="4937760"/>
            <a:ext cx="3657600" cy="365760"/>
          </a:xfrm>
          <a:prstGeom prst="rect">
            <a:avLst/>
          </a:prstGeom>
          <a:noFill/>
        </p:spPr>
        <p:txBody>
          <a:bodyPr wrap="square">
            <a:spAutoFit/>
          </a:bodyPr>
          <a:lstStyle/>
          <a:p>
            <a:pPr algn="l">
              <a:defRPr sz="1800" b="1" i="0">
                <a:solidFill>
                  <a:srgbClr val="000050"/>
                </a:solidFill>
                <a:latin typeface="Helvetica Neue"/>
              </a:defRPr>
            </a:pPr>
            <a:r>
              <a:t>Next Steps</a:t>
            </a:r>
          </a:p>
        </p:txBody>
      </p:sp>
      <p:sp>
        <p:nvSpPr>
          <p:cNvPr id="21" name="TextBox 20"/>
          <p:cNvSpPr txBox="1"/>
          <p:nvPr/>
        </p:nvSpPr>
        <p:spPr>
          <a:xfrm>
            <a:off x="2560320" y="5257800"/>
            <a:ext cx="8229600" cy="365760"/>
          </a:xfrm>
          <a:prstGeom prst="rect">
            <a:avLst/>
          </a:prstGeom>
          <a:noFill/>
        </p:spPr>
        <p:txBody>
          <a:bodyPr wrap="square">
            <a:spAutoFit/>
          </a:bodyPr>
          <a:lstStyle/>
          <a:p>
            <a:pPr algn="l">
              <a:defRPr sz="1300" b="0" i="0">
                <a:solidFill>
                  <a:srgbClr val="1A1A1A"/>
                </a:solidFill>
                <a:latin typeface="Helvetica Neue"/>
              </a:defRPr>
            </a:pPr>
            <a:r>
              <a:t>Three actions to move from assessment to architecture</a:t>
            </a:r>
          </a:p>
        </p:txBody>
      </p:sp>
      <p:sp>
        <p:nvSpPr>
          <p:cNvPr id="22" name="TextBox 21"/>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3" name="TextBox 22"/>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50"/>
        </a:solidFill>
        <a:effectLst/>
      </p:bgPr>
    </p:bg>
    <p:spTree>
      <p:nvGrpSpPr>
        <p:cNvPr id="1" name=""/>
        <p:cNvGrpSpPr/>
        <p:nvPr/>
      </p:nvGrpSpPr>
      <p:grpSpPr/>
      <p:sp>
        <p:nvSpPr>
          <p:cNvPr id="2" name="TextBox 1"/>
          <p:cNvSpPr txBox="1"/>
          <p:nvPr/>
        </p:nvSpPr>
        <p:spPr>
          <a:xfrm>
            <a:off x="731520" y="2286000"/>
            <a:ext cx="3657600" cy="731520"/>
          </a:xfrm>
          <a:prstGeom prst="rect">
            <a:avLst/>
          </a:prstGeom>
          <a:noFill/>
        </p:spPr>
        <p:txBody>
          <a:bodyPr wrap="square">
            <a:spAutoFit/>
          </a:bodyPr>
          <a:lstStyle/>
          <a:p>
            <a:pPr algn="l">
              <a:defRPr sz="4800" b="0" i="0">
                <a:solidFill>
                  <a:srgbClr val="FFFFFF"/>
                </a:solidFill>
                <a:latin typeface="Helvetica Neue"/>
              </a:defRPr>
            </a:pPr>
            <a:r>
              <a:t>01</a:t>
            </a:r>
          </a:p>
        </p:txBody>
      </p:sp>
      <p:sp>
        <p:nvSpPr>
          <p:cNvPr id="3" name="TextBox 2"/>
          <p:cNvSpPr txBox="1"/>
          <p:nvPr/>
        </p:nvSpPr>
        <p:spPr>
          <a:xfrm>
            <a:off x="731520" y="3200400"/>
            <a:ext cx="9144000" cy="914400"/>
          </a:xfrm>
          <a:prstGeom prst="rect">
            <a:avLst/>
          </a:prstGeom>
          <a:noFill/>
        </p:spPr>
        <p:txBody>
          <a:bodyPr wrap="square">
            <a:spAutoFit/>
          </a:bodyPr>
          <a:lstStyle/>
          <a:p>
            <a:pPr algn="l">
              <a:defRPr sz="4000" b="0" i="0">
                <a:solidFill>
                  <a:srgbClr val="FFFFFF"/>
                </a:solidFill>
                <a:latin typeface="Helvetica Neue"/>
              </a:defRPr>
            </a:pPr>
            <a:r>
              <a:t>The Burning Platform</a:t>
            </a:r>
          </a:p>
        </p:txBody>
      </p:sp>
      <p:sp>
        <p:nvSpPr>
          <p:cNvPr id="4" name="TextBox 3"/>
          <p:cNvSpPr txBox="1"/>
          <p:nvPr/>
        </p:nvSpPr>
        <p:spPr>
          <a:xfrm>
            <a:off x="731520" y="4114800"/>
            <a:ext cx="9144000" cy="548640"/>
          </a:xfrm>
          <a:prstGeom prst="rect">
            <a:avLst/>
          </a:prstGeom>
          <a:noFill/>
        </p:spPr>
        <p:txBody>
          <a:bodyPr wrap="square">
            <a:spAutoFit/>
          </a:bodyPr>
          <a:lstStyle/>
          <a:p>
            <a:pPr algn="l">
              <a:defRPr sz="2000" b="0" i="1">
                <a:solidFill>
                  <a:srgbClr val="BBBBFF"/>
                </a:solidFill>
                <a:latin typeface="Helvetica Neue"/>
              </a:defRPr>
            </a:pPr>
            <a:r>
              <a:t>Why we must change — 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594360"/>
          </a:xfrm>
          <a:prstGeom prst="rect">
            <a:avLst/>
          </a:prstGeom>
          <a:noFill/>
        </p:spPr>
        <p:txBody>
          <a:bodyPr wrap="square">
            <a:spAutoFit/>
          </a:bodyPr>
          <a:lstStyle/>
          <a:p>
            <a:pPr algn="l">
              <a:defRPr sz="2600" b="1" i="0">
                <a:solidFill>
                  <a:srgbClr val="000050"/>
                </a:solidFill>
                <a:latin typeface="Helvetica Neue"/>
              </a:defRPr>
            </a:pPr>
            <a:r>
              <a:t>Five Systemic Gaps Are Holding EPD Marketing Back</a:t>
            </a:r>
          </a:p>
        </p:txBody>
      </p:sp>
      <p:sp>
        <p:nvSpPr>
          <p:cNvPr id="3" name="TextBox 2"/>
          <p:cNvSpPr txBox="1"/>
          <p:nvPr/>
        </p:nvSpPr>
        <p:spPr>
          <a:xfrm>
            <a:off x="548640" y="914400"/>
            <a:ext cx="10972800" cy="365760"/>
          </a:xfrm>
          <a:prstGeom prst="rect">
            <a:avLst/>
          </a:prstGeom>
          <a:noFill/>
        </p:spPr>
        <p:txBody>
          <a:bodyPr wrap="square">
            <a:spAutoFit/>
          </a:bodyPr>
          <a:lstStyle/>
          <a:p>
            <a:pPr algn="l">
              <a:defRPr sz="1300" b="0" i="0">
                <a:solidFill>
                  <a:srgbClr val="1A1A1A"/>
                </a:solidFill>
                <a:latin typeface="Helvetica Neue"/>
              </a:defRPr>
            </a:pPr>
            <a:r>
              <a:t>These are root causes — not symptoms. Each has a named AI agent designed to close it.</a:t>
            </a:r>
          </a:p>
        </p:txBody>
      </p:sp>
      <p:graphicFrame>
        <p:nvGraphicFramePr>
          <p:cNvPr id="4" name="Table 3"/>
          <p:cNvGraphicFramePr>
            <a:graphicFrameLocks noGrp="1"/>
          </p:cNvGraphicFramePr>
          <p:nvPr/>
        </p:nvGraphicFramePr>
        <p:xfrm>
          <a:off x="548640" y="1371600"/>
          <a:ext cx="10972800" cy="3200400"/>
        </p:xfrm>
        <a:graphic>
          <a:graphicData uri="http://schemas.openxmlformats.org/drawingml/2006/table">
            <a:tbl>
              <a:tblPr firstRow="1" bandRow="1">
                <a:tableStyleId>{5C22544A-7EE6-4342-B048-85BDC9FD1C3A}</a:tableStyleId>
              </a:tblPr>
              <a:tblGrid>
                <a:gridCol w="2286000"/>
                <a:gridCol w="4572000"/>
                <a:gridCol w="4114800"/>
              </a:tblGrid>
              <a:tr h="533400">
                <a:tc>
                  <a:txBody>
                    <a:bodyPr/>
                    <a:lstStyle/>
                    <a:p>
                      <a:pPr>
                        <a:spcAft>
                          <a:spcPts val="200"/>
                        </a:spcAft>
                        <a:defRPr sz="1200" b="1">
                          <a:solidFill>
                            <a:srgbClr val="000050"/>
                          </a:solidFill>
                          <a:latin typeface="Helvetica Neue"/>
                        </a:defRPr>
                      </a:pPr>
                      <a:r>
                        <a:t>Gap</a:t>
                      </a:r>
                    </a:p>
                  </a:txBody>
                  <a:tcPr>
                    <a:solidFill>
                      <a:srgbClr val="DDDDF8"/>
                    </a:solidFill>
                  </a:tcPr>
                </a:tc>
                <a:tc>
                  <a:txBody>
                    <a:bodyPr/>
                    <a:lstStyle/>
                    <a:p>
                      <a:pPr>
                        <a:spcAft>
                          <a:spcPts val="200"/>
                        </a:spcAft>
                        <a:defRPr sz="1200" b="1">
                          <a:solidFill>
                            <a:srgbClr val="000050"/>
                          </a:solidFill>
                          <a:latin typeface="Helvetica Neue"/>
                        </a:defRPr>
                      </a:pPr>
                      <a:r>
                        <a:t>What It Means Today</a:t>
                      </a:r>
                    </a:p>
                  </a:txBody>
                  <a:tcPr>
                    <a:solidFill>
                      <a:srgbClr val="DDDDF8"/>
                    </a:solidFill>
                  </a:tcPr>
                </a:tc>
                <a:tc>
                  <a:txBody>
                    <a:bodyPr/>
                    <a:lstStyle/>
                    <a:p>
                      <a:pPr>
                        <a:spcAft>
                          <a:spcPts val="200"/>
                        </a:spcAft>
                        <a:defRPr sz="1200" b="1">
                          <a:solidFill>
                            <a:srgbClr val="000050"/>
                          </a:solidFill>
                          <a:latin typeface="Helvetica Neue"/>
                        </a:defRPr>
                      </a:pPr>
                      <a:r>
                        <a:t>Business Impact</a:t>
                      </a:r>
                    </a:p>
                  </a:txBody>
                  <a:tcPr>
                    <a:solidFill>
                      <a:srgbClr val="DDDDF8"/>
                    </a:solidFill>
                  </a:tcPr>
                </a:tc>
              </a:tr>
              <a:tr h="533400">
                <a:tc>
                  <a:txBody>
                    <a:bodyPr/>
                    <a:lstStyle/>
                    <a:p>
                      <a:pPr>
                        <a:spcAft>
                          <a:spcPts val="200"/>
                        </a:spcAft>
                        <a:defRPr sz="1200">
                          <a:solidFill>
                            <a:srgbClr val="1A1A1A"/>
                          </a:solidFill>
                          <a:latin typeface="Helvetica Neue"/>
                        </a:defRPr>
                      </a:pPr>
                      <a:r>
                        <a:t>Fragmentation</a:t>
                      </a:r>
                    </a:p>
                  </a:txBody>
                  <a:tcPr>
                    <a:noFill/>
                  </a:tcPr>
                </a:tc>
                <a:tc>
                  <a:txBody>
                    <a:bodyPr/>
                    <a:lstStyle/>
                    <a:p>
                      <a:pPr>
                        <a:spcAft>
                          <a:spcPts val="200"/>
                        </a:spcAft>
                        <a:defRPr sz="1200">
                          <a:solidFill>
                            <a:srgbClr val="1A1A1A"/>
                          </a:solidFill>
                          <a:latin typeface="Helvetica Neue"/>
                        </a:defRPr>
                      </a:pPr>
                      <a:r>
                        <a:t>Data, tools, and teams operate in silos</a:t>
                      </a:r>
                    </a:p>
                  </a:txBody>
                  <a:tcPr>
                    <a:noFill/>
                  </a:tcPr>
                </a:tc>
                <a:tc>
                  <a:txBody>
                    <a:bodyPr/>
                    <a:lstStyle/>
                    <a:p>
                      <a:pPr>
                        <a:spcAft>
                          <a:spcPts val="200"/>
                        </a:spcAft>
                        <a:defRPr sz="1200">
                          <a:solidFill>
                            <a:srgbClr val="1A1A1A"/>
                          </a:solidFill>
                          <a:latin typeface="Helvetica Neue"/>
                        </a:defRPr>
                      </a:pPr>
                      <a:r>
                        <a:t>Disconnected insights, missed signals</a:t>
                      </a:r>
                    </a:p>
                  </a:txBody>
                  <a:tcPr>
                    <a:noFill/>
                  </a:tcPr>
                </a:tc>
              </a:tr>
              <a:tr h="533400">
                <a:tc>
                  <a:txBody>
                    <a:bodyPr/>
                    <a:lstStyle/>
                    <a:p>
                      <a:pPr>
                        <a:spcAft>
                          <a:spcPts val="200"/>
                        </a:spcAft>
                        <a:defRPr sz="1200">
                          <a:solidFill>
                            <a:srgbClr val="1A1A1A"/>
                          </a:solidFill>
                          <a:latin typeface="Helvetica Neue"/>
                        </a:defRPr>
                      </a:pPr>
                      <a:r>
                        <a:t>Reactive Mode</a:t>
                      </a:r>
                    </a:p>
                  </a:txBody>
                  <a:tcPr>
                    <a:noFill/>
                  </a:tcPr>
                </a:tc>
                <a:tc>
                  <a:txBody>
                    <a:bodyPr/>
                    <a:lstStyle/>
                    <a:p>
                      <a:pPr>
                        <a:spcAft>
                          <a:spcPts val="200"/>
                        </a:spcAft>
                        <a:defRPr sz="1200">
                          <a:solidFill>
                            <a:srgbClr val="1A1A1A"/>
                          </a:solidFill>
                          <a:latin typeface="Helvetica Neue"/>
                        </a:defRPr>
                      </a:pPr>
                      <a:r>
                        <a:t>Static annual planning, unable to pivot</a:t>
                      </a:r>
                    </a:p>
                  </a:txBody>
                  <a:tcPr>
                    <a:noFill/>
                  </a:tcPr>
                </a:tc>
                <a:tc>
                  <a:txBody>
                    <a:bodyPr/>
                    <a:lstStyle/>
                    <a:p>
                      <a:pPr>
                        <a:spcAft>
                          <a:spcPts val="200"/>
                        </a:spcAft>
                        <a:defRPr sz="1200">
                          <a:solidFill>
                            <a:srgbClr val="1A1A1A"/>
                          </a:solidFill>
                          <a:latin typeface="Helvetica Neue"/>
                        </a:defRPr>
                      </a:pPr>
                      <a:r>
                        <a:t>Late to market, missed opportunities</a:t>
                      </a:r>
                    </a:p>
                  </a:txBody>
                  <a:tcPr>
                    <a:noFill/>
                  </a:tcPr>
                </a:tc>
              </a:tr>
              <a:tr h="533400">
                <a:tc>
                  <a:txBody>
                    <a:bodyPr/>
                    <a:lstStyle/>
                    <a:p>
                      <a:pPr>
                        <a:spcAft>
                          <a:spcPts val="200"/>
                        </a:spcAft>
                        <a:defRPr sz="1200">
                          <a:solidFill>
                            <a:srgbClr val="1A1A1A"/>
                          </a:solidFill>
                          <a:latin typeface="Helvetica Neue"/>
                        </a:defRPr>
                      </a:pPr>
                      <a:r>
                        <a:t>Bottlenecks</a:t>
                      </a:r>
                    </a:p>
                  </a:txBody>
                  <a:tcPr>
                    <a:noFill/>
                  </a:tcPr>
                </a:tc>
                <a:tc>
                  <a:txBody>
                    <a:bodyPr/>
                    <a:lstStyle/>
                    <a:p>
                      <a:pPr>
                        <a:spcAft>
                          <a:spcPts val="200"/>
                        </a:spcAft>
                        <a:defRPr sz="1200">
                          <a:solidFill>
                            <a:srgbClr val="1A1A1A"/>
                          </a:solidFill>
                          <a:latin typeface="Helvetica Neue"/>
                        </a:defRPr>
                      </a:pPr>
                      <a:r>
                        <a:t>Manual production and review cycles</a:t>
                      </a:r>
                    </a:p>
                  </a:txBody>
                  <a:tcPr>
                    <a:noFill/>
                  </a:tcPr>
                </a:tc>
                <a:tc>
                  <a:txBody>
                    <a:bodyPr/>
                    <a:lstStyle/>
                    <a:p>
                      <a:pPr>
                        <a:spcAft>
                          <a:spcPts val="200"/>
                        </a:spcAft>
                        <a:defRPr sz="1200">
                          <a:solidFill>
                            <a:srgbClr val="1A1A1A"/>
                          </a:solidFill>
                          <a:latin typeface="Helvetica Neue"/>
                        </a:defRPr>
                      </a:pPr>
                      <a:r>
                        <a:t>3–5 day briefs, 4–6 revision cycles</a:t>
                      </a:r>
                    </a:p>
                  </a:txBody>
                  <a:tcPr>
                    <a:noFill/>
                  </a:tcPr>
                </a:tc>
              </a:tr>
              <a:tr h="533400">
                <a:tc>
                  <a:txBody>
                    <a:bodyPr/>
                    <a:lstStyle/>
                    <a:p>
                      <a:pPr>
                        <a:spcAft>
                          <a:spcPts val="200"/>
                        </a:spcAft>
                        <a:defRPr sz="1200">
                          <a:solidFill>
                            <a:srgbClr val="1A1A1A"/>
                          </a:solidFill>
                          <a:latin typeface="Helvetica Neue"/>
                        </a:defRPr>
                      </a:pPr>
                      <a:r>
                        <a:t>Mass Reach</a:t>
                      </a:r>
                    </a:p>
                  </a:txBody>
                  <a:tcPr>
                    <a:noFill/>
                  </a:tcPr>
                </a:tc>
                <a:tc>
                  <a:txBody>
                    <a:bodyPr/>
                    <a:lstStyle/>
                    <a:p>
                      <a:pPr>
                        <a:spcAft>
                          <a:spcPts val="200"/>
                        </a:spcAft>
                        <a:defRPr sz="1200">
                          <a:solidFill>
                            <a:srgbClr val="1A1A1A"/>
                          </a:solidFill>
                          <a:latin typeface="Helvetica Neue"/>
                        </a:defRPr>
                      </a:pPr>
                      <a:r>
                        <a:t>Cannot scale personalized content</a:t>
                      </a:r>
                    </a:p>
                  </a:txBody>
                  <a:tcPr>
                    <a:noFill/>
                  </a:tcPr>
                </a:tc>
                <a:tc>
                  <a:txBody>
                    <a:bodyPr/>
                    <a:lstStyle/>
                    <a:p>
                      <a:pPr>
                        <a:spcAft>
                          <a:spcPts val="200"/>
                        </a:spcAft>
                        <a:defRPr sz="1200">
                          <a:solidFill>
                            <a:srgbClr val="1A1A1A"/>
                          </a:solidFill>
                          <a:latin typeface="Helvetica Neue"/>
                        </a:defRPr>
                      </a:pPr>
                      <a:r>
                        <a:t>One-size-fits-all campaigns</a:t>
                      </a:r>
                    </a:p>
                  </a:txBody>
                  <a:tcPr>
                    <a:noFill/>
                  </a:tcPr>
                </a:tc>
              </a:tr>
              <a:tr h="533400">
                <a:tc>
                  <a:txBody>
                    <a:bodyPr/>
                    <a:lstStyle/>
                    <a:p>
                      <a:pPr>
                        <a:spcAft>
                          <a:spcPts val="200"/>
                        </a:spcAft>
                        <a:defRPr sz="1200">
                          <a:solidFill>
                            <a:srgbClr val="1A1A1A"/>
                          </a:solidFill>
                          <a:latin typeface="Helvetica Neue"/>
                        </a:defRPr>
                      </a:pPr>
                      <a:r>
                        <a:t>Compliance Gating</a:t>
                      </a:r>
                    </a:p>
                  </a:txBody>
                  <a:tcPr>
                    <a:noFill/>
                  </a:tcPr>
                </a:tc>
                <a:tc>
                  <a:txBody>
                    <a:bodyPr/>
                    <a:lstStyle/>
                    <a:p>
                      <a:pPr>
                        <a:spcAft>
                          <a:spcPts val="200"/>
                        </a:spcAft>
                        <a:defRPr sz="1200">
                          <a:solidFill>
                            <a:srgbClr val="1A1A1A"/>
                          </a:solidFill>
                          <a:latin typeface="Helvetica Neue"/>
                        </a:defRPr>
                      </a:pPr>
                      <a:r>
                        <a:t>MLR viewed as a blocker, not an enabler</a:t>
                      </a:r>
                    </a:p>
                  </a:txBody>
                  <a:tcPr>
                    <a:noFill/>
                  </a:tcPr>
                </a:tc>
                <a:tc>
                  <a:txBody>
                    <a:bodyPr/>
                    <a:lstStyle/>
                    <a:p>
                      <a:pPr>
                        <a:spcAft>
                          <a:spcPts val="200"/>
                        </a:spcAft>
                        <a:defRPr sz="1200">
                          <a:solidFill>
                            <a:srgbClr val="1A1A1A"/>
                          </a:solidFill>
                          <a:latin typeface="Helvetica Neue"/>
                        </a:defRPr>
                      </a:pPr>
                      <a:r>
                        <a:t>Slow approvals, compliance risk</a:t>
                      </a:r>
                    </a:p>
                  </a:txBody>
                  <a:tcPr>
                    <a:noFill/>
                  </a:tcPr>
                </a:tc>
              </a:tr>
            </a:tbl>
          </a:graphicData>
        </a:graphic>
      </p:graphicFrame>
      <p:sp>
        <p:nvSpPr>
          <p:cNvPr id="5" name="Rectangle 4"/>
          <p:cNvSpPr/>
          <p:nvPr/>
        </p:nvSpPr>
        <p:spPr>
          <a:xfrm>
            <a:off x="548640" y="4754880"/>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846320"/>
            <a:ext cx="10058400" cy="548640"/>
          </a:xfrm>
          <a:prstGeom prst="rect">
            <a:avLst/>
          </a:prstGeom>
          <a:noFill/>
        </p:spPr>
        <p:txBody>
          <a:bodyPr wrap="square">
            <a:spAutoFit/>
          </a:bodyPr>
          <a:lstStyle/>
          <a:p>
            <a:pPr algn="l">
              <a:defRPr sz="1500" b="1" i="1">
                <a:solidFill>
                  <a:srgbClr val="FFFFFF"/>
                </a:solidFill>
                <a:latin typeface="Helvetica Neue"/>
              </a:defRPr>
            </a:pPr>
            <a:r>
              <a:t>Every gap has a named AI agent. The question is not whether to act — it is how fast.</a:t>
            </a:r>
          </a:p>
        </p:txBody>
      </p:sp>
      <p:sp>
        <p:nvSpPr>
          <p:cNvPr id="7" name="TextBox 6"/>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8" name="TextBox 7"/>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640080"/>
          </a:xfrm>
          <a:prstGeom prst="rect">
            <a:avLst/>
          </a:prstGeom>
          <a:noFill/>
        </p:spPr>
        <p:txBody>
          <a:bodyPr wrap="square">
            <a:spAutoFit/>
          </a:bodyPr>
          <a:lstStyle/>
          <a:p>
            <a:pPr algn="l">
              <a:defRPr sz="2800" b="0" i="0">
                <a:solidFill>
                  <a:srgbClr val="000050"/>
                </a:solidFill>
                <a:latin typeface="Helvetica Neue"/>
              </a:defRPr>
            </a:pPr>
            <a:r>
              <a:t>The Baseline Is Broken — and Measurable</a:t>
            </a:r>
          </a:p>
        </p:txBody>
      </p:sp>
      <p:sp>
        <p:nvSpPr>
          <p:cNvPr id="3" name="TextBox 2"/>
          <p:cNvSpPr txBox="1"/>
          <p:nvPr/>
        </p:nvSpPr>
        <p:spPr>
          <a:xfrm>
            <a:off x="548640" y="914400"/>
            <a:ext cx="10972800" cy="457200"/>
          </a:xfrm>
          <a:prstGeom prst="rect">
            <a:avLst/>
          </a:prstGeom>
          <a:noFill/>
        </p:spPr>
        <p:txBody>
          <a:bodyPr wrap="square">
            <a:spAutoFit/>
          </a:bodyPr>
          <a:lstStyle/>
          <a:p>
            <a:pPr algn="l">
              <a:defRPr sz="1400" b="0" i="0">
                <a:solidFill>
                  <a:srgbClr val="1A1A1A"/>
                </a:solidFill>
                <a:latin typeface="Helvetica Neue"/>
              </a:defRPr>
            </a:pPr>
            <a:r>
              <a:t>ALICE has already proven what AI transformation delivers at scale</a:t>
            </a:r>
          </a:p>
        </p:txBody>
      </p:sp>
      <p:sp>
        <p:nvSpPr>
          <p:cNvPr id="4" name="TextBox 3"/>
          <p:cNvSpPr txBox="1"/>
          <p:nvPr/>
        </p:nvSpPr>
        <p:spPr>
          <a:xfrm>
            <a:off x="548640" y="1645920"/>
            <a:ext cx="2560320" cy="914400"/>
          </a:xfrm>
          <a:prstGeom prst="rect">
            <a:avLst/>
          </a:prstGeom>
          <a:noFill/>
        </p:spPr>
        <p:txBody>
          <a:bodyPr wrap="square">
            <a:spAutoFit/>
          </a:bodyPr>
          <a:lstStyle/>
          <a:p>
            <a:pPr algn="ctr">
              <a:defRPr sz="4400" b="1" i="0">
                <a:solidFill>
                  <a:srgbClr val="000050"/>
                </a:solidFill>
                <a:latin typeface="Helvetica Neue"/>
              </a:defRPr>
            </a:pPr>
            <a:r>
              <a:t>8.9/10</a:t>
            </a:r>
          </a:p>
        </p:txBody>
      </p:sp>
      <p:sp>
        <p:nvSpPr>
          <p:cNvPr id="5" name="TextBox 4"/>
          <p:cNvSpPr txBox="1"/>
          <p:nvPr/>
        </p:nvSpPr>
        <p:spPr>
          <a:xfrm>
            <a:off x="548640" y="2651760"/>
            <a:ext cx="2560320" cy="640080"/>
          </a:xfrm>
          <a:prstGeom prst="rect">
            <a:avLst/>
          </a:prstGeom>
          <a:noFill/>
        </p:spPr>
        <p:txBody>
          <a:bodyPr wrap="square">
            <a:spAutoFit/>
          </a:bodyPr>
          <a:lstStyle/>
          <a:p>
            <a:pPr algn="ctr">
              <a:defRPr sz="1300" b="1" i="0">
                <a:solidFill>
                  <a:srgbClr val="3333AA"/>
                </a:solidFill>
                <a:latin typeface="Helvetica Neue"/>
              </a:defRPr>
            </a:pPr>
            <a:r>
              <a:t>New Quality Baseline</a:t>
            </a:r>
          </a:p>
        </p:txBody>
      </p:sp>
      <p:sp>
        <p:nvSpPr>
          <p:cNvPr id="6" name="TextBox 5"/>
          <p:cNvSpPr txBox="1"/>
          <p:nvPr/>
        </p:nvSpPr>
        <p:spPr>
          <a:xfrm>
            <a:off x="548640" y="3383280"/>
            <a:ext cx="2560320" cy="914400"/>
          </a:xfrm>
          <a:prstGeom prst="rect">
            <a:avLst/>
          </a:prstGeom>
          <a:noFill/>
        </p:spPr>
        <p:txBody>
          <a:bodyPr wrap="square">
            <a:spAutoFit/>
          </a:bodyPr>
          <a:lstStyle/>
          <a:p>
            <a:pPr algn="ctr">
              <a:defRPr sz="1100" b="0" i="0">
                <a:solidFill>
                  <a:srgbClr val="1A1A1A"/>
                </a:solidFill>
                <a:latin typeface="Helvetica Neue"/>
              </a:defRPr>
            </a:pPr>
            <a:r>
              <a:t>Up from 6.2/10. Excellence becomes the floor.</a:t>
            </a:r>
          </a:p>
        </p:txBody>
      </p:sp>
      <p:sp>
        <p:nvSpPr>
          <p:cNvPr id="7" name="TextBox 6"/>
          <p:cNvSpPr txBox="1"/>
          <p:nvPr/>
        </p:nvSpPr>
        <p:spPr>
          <a:xfrm>
            <a:off x="3291840" y="1645920"/>
            <a:ext cx="2560320" cy="914400"/>
          </a:xfrm>
          <a:prstGeom prst="rect">
            <a:avLst/>
          </a:prstGeom>
          <a:noFill/>
        </p:spPr>
        <p:txBody>
          <a:bodyPr wrap="square">
            <a:spAutoFit/>
          </a:bodyPr>
          <a:lstStyle/>
          <a:p>
            <a:pPr algn="ctr">
              <a:defRPr sz="4400" b="1" i="0">
                <a:solidFill>
                  <a:srgbClr val="000050"/>
                </a:solidFill>
                <a:latin typeface="Helvetica Neue"/>
              </a:defRPr>
            </a:pPr>
            <a:r>
              <a:t>95%</a:t>
            </a:r>
          </a:p>
        </p:txBody>
      </p:sp>
      <p:sp>
        <p:nvSpPr>
          <p:cNvPr id="8" name="TextBox 7"/>
          <p:cNvSpPr txBox="1"/>
          <p:nvPr/>
        </p:nvSpPr>
        <p:spPr>
          <a:xfrm>
            <a:off x="3291840" y="2651760"/>
            <a:ext cx="2560320" cy="640080"/>
          </a:xfrm>
          <a:prstGeom prst="rect">
            <a:avLst/>
          </a:prstGeom>
          <a:noFill/>
        </p:spPr>
        <p:txBody>
          <a:bodyPr wrap="square">
            <a:spAutoFit/>
          </a:bodyPr>
          <a:lstStyle/>
          <a:p>
            <a:pPr algn="ctr">
              <a:defRPr sz="1300" b="1" i="0">
                <a:solidFill>
                  <a:srgbClr val="3333AA"/>
                </a:solidFill>
                <a:latin typeface="Helvetica Neue"/>
              </a:defRPr>
            </a:pPr>
            <a:r>
              <a:t>Faster Execution</a:t>
            </a:r>
          </a:p>
        </p:txBody>
      </p:sp>
      <p:sp>
        <p:nvSpPr>
          <p:cNvPr id="9" name="TextBox 8"/>
          <p:cNvSpPr txBox="1"/>
          <p:nvPr/>
        </p:nvSpPr>
        <p:spPr>
          <a:xfrm>
            <a:off x="3291840" y="3383280"/>
            <a:ext cx="2560320" cy="914400"/>
          </a:xfrm>
          <a:prstGeom prst="rect">
            <a:avLst/>
          </a:prstGeom>
          <a:noFill/>
        </p:spPr>
        <p:txBody>
          <a:bodyPr wrap="square">
            <a:spAutoFit/>
          </a:bodyPr>
          <a:lstStyle/>
          <a:p>
            <a:pPr algn="ctr">
              <a:defRPr sz="1100" b="0" i="0">
                <a:solidFill>
                  <a:srgbClr val="1A1A1A"/>
                </a:solidFill>
                <a:latin typeface="Helvetica Neue"/>
              </a:defRPr>
            </a:pPr>
            <a:r>
              <a:t>1–2 hours vs 3–5 days per brief</a:t>
            </a:r>
          </a:p>
        </p:txBody>
      </p:sp>
      <p:sp>
        <p:nvSpPr>
          <p:cNvPr id="10" name="TextBox 9"/>
          <p:cNvSpPr txBox="1"/>
          <p:nvPr/>
        </p:nvSpPr>
        <p:spPr>
          <a:xfrm>
            <a:off x="6035040" y="1645920"/>
            <a:ext cx="2560320" cy="914400"/>
          </a:xfrm>
          <a:prstGeom prst="rect">
            <a:avLst/>
          </a:prstGeom>
          <a:noFill/>
        </p:spPr>
        <p:txBody>
          <a:bodyPr wrap="square">
            <a:spAutoFit/>
          </a:bodyPr>
          <a:lstStyle/>
          <a:p>
            <a:pPr algn="ctr">
              <a:defRPr sz="4400" b="1" i="0">
                <a:solidFill>
                  <a:srgbClr val="000050"/>
                </a:solidFill>
                <a:latin typeface="Helvetica Neue"/>
              </a:defRPr>
            </a:pPr>
            <a:r>
              <a:t>750</a:t>
            </a:r>
          </a:p>
        </p:txBody>
      </p:sp>
      <p:sp>
        <p:nvSpPr>
          <p:cNvPr id="11" name="TextBox 10"/>
          <p:cNvSpPr txBox="1"/>
          <p:nvPr/>
        </p:nvSpPr>
        <p:spPr>
          <a:xfrm>
            <a:off x="6035040" y="2651760"/>
            <a:ext cx="2560320" cy="640080"/>
          </a:xfrm>
          <a:prstGeom prst="rect">
            <a:avLst/>
          </a:prstGeom>
          <a:noFill/>
        </p:spPr>
        <p:txBody>
          <a:bodyPr wrap="square">
            <a:spAutoFit/>
          </a:bodyPr>
          <a:lstStyle/>
          <a:p>
            <a:pPr algn="ctr">
              <a:defRPr sz="1300" b="1" i="0">
                <a:solidFill>
                  <a:srgbClr val="3333AA"/>
                </a:solidFill>
                <a:latin typeface="Helvetica Neue"/>
              </a:defRPr>
            </a:pPr>
            <a:r>
              <a:t>Days Reclaimed</a:t>
            </a:r>
          </a:p>
        </p:txBody>
      </p:sp>
      <p:sp>
        <p:nvSpPr>
          <p:cNvPr id="12" name="TextBox 11"/>
          <p:cNvSpPr txBox="1"/>
          <p:nvPr/>
        </p:nvSpPr>
        <p:spPr>
          <a:xfrm>
            <a:off x="6035040" y="3383280"/>
            <a:ext cx="2560320" cy="914400"/>
          </a:xfrm>
          <a:prstGeom prst="rect">
            <a:avLst/>
          </a:prstGeom>
          <a:noFill/>
        </p:spPr>
        <p:txBody>
          <a:bodyPr wrap="square">
            <a:spAutoFit/>
          </a:bodyPr>
          <a:lstStyle/>
          <a:p>
            <a:pPr algn="ctr">
              <a:defRPr sz="1100" b="0" i="0">
                <a:solidFill>
                  <a:srgbClr val="1A1A1A"/>
                </a:solidFill>
                <a:latin typeface="Helvetica Neue"/>
              </a:defRPr>
            </a:pPr>
            <a:r>
              <a:t>Equivalent to ~3 FTEs freed for strategic work</a:t>
            </a:r>
          </a:p>
        </p:txBody>
      </p:sp>
      <p:sp>
        <p:nvSpPr>
          <p:cNvPr id="13" name="TextBox 12"/>
          <p:cNvSpPr txBox="1"/>
          <p:nvPr/>
        </p:nvSpPr>
        <p:spPr>
          <a:xfrm>
            <a:off x="8778240" y="1645920"/>
            <a:ext cx="2560320" cy="914400"/>
          </a:xfrm>
          <a:prstGeom prst="rect">
            <a:avLst/>
          </a:prstGeom>
          <a:noFill/>
        </p:spPr>
        <p:txBody>
          <a:bodyPr wrap="square">
            <a:spAutoFit/>
          </a:bodyPr>
          <a:lstStyle/>
          <a:p>
            <a:pPr algn="ctr">
              <a:defRPr sz="4400" b="1" i="0">
                <a:solidFill>
                  <a:srgbClr val="000050"/>
                </a:solidFill>
                <a:latin typeface="Helvetica Neue"/>
              </a:defRPr>
            </a:pPr>
            <a:r>
              <a:t>3 Weeks</a:t>
            </a:r>
          </a:p>
        </p:txBody>
      </p:sp>
      <p:sp>
        <p:nvSpPr>
          <p:cNvPr id="14" name="TextBox 13"/>
          <p:cNvSpPr txBox="1"/>
          <p:nvPr/>
        </p:nvSpPr>
        <p:spPr>
          <a:xfrm>
            <a:off x="8778240" y="2651760"/>
            <a:ext cx="2560320" cy="640080"/>
          </a:xfrm>
          <a:prstGeom prst="rect">
            <a:avLst/>
          </a:prstGeom>
          <a:noFill/>
        </p:spPr>
        <p:txBody>
          <a:bodyPr wrap="square">
            <a:spAutoFit/>
          </a:bodyPr>
          <a:lstStyle/>
          <a:p>
            <a:pPr algn="ctr">
              <a:defRPr sz="1300" b="1" i="0">
                <a:solidFill>
                  <a:srgbClr val="3333AA"/>
                </a:solidFill>
                <a:latin typeface="Helvetica Neue"/>
              </a:defRPr>
            </a:pPr>
            <a:r>
              <a:t>Faster to Market</a:t>
            </a:r>
          </a:p>
        </p:txBody>
      </p:sp>
      <p:sp>
        <p:nvSpPr>
          <p:cNvPr id="15" name="TextBox 14"/>
          <p:cNvSpPr txBox="1"/>
          <p:nvPr/>
        </p:nvSpPr>
        <p:spPr>
          <a:xfrm>
            <a:off x="8778240" y="3383280"/>
            <a:ext cx="2560320" cy="914400"/>
          </a:xfrm>
          <a:prstGeom prst="rect">
            <a:avLst/>
          </a:prstGeom>
          <a:noFill/>
        </p:spPr>
        <p:txBody>
          <a:bodyPr wrap="square">
            <a:spAutoFit/>
          </a:bodyPr>
          <a:lstStyle/>
          <a:p>
            <a:pPr algn="ctr">
              <a:defRPr sz="1100" b="0" i="0">
                <a:solidFill>
                  <a:srgbClr val="1A1A1A"/>
                </a:solidFill>
                <a:latin typeface="Helvetica Neue"/>
              </a:defRPr>
            </a:pPr>
            <a:r>
              <a:t>From brief to campaign activation</a:t>
            </a:r>
          </a:p>
        </p:txBody>
      </p:sp>
      <p:sp>
        <p:nvSpPr>
          <p:cNvPr id="16" name="Rectangle 15"/>
          <p:cNvSpPr/>
          <p:nvPr/>
        </p:nvSpPr>
        <p:spPr>
          <a:xfrm>
            <a:off x="548640" y="4572000"/>
            <a:ext cx="10972800" cy="6400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663440"/>
            <a:ext cx="10058400" cy="457200"/>
          </a:xfrm>
          <a:prstGeom prst="rect">
            <a:avLst/>
          </a:prstGeom>
          <a:noFill/>
        </p:spPr>
        <p:txBody>
          <a:bodyPr wrap="square">
            <a:spAutoFit/>
          </a:bodyPr>
          <a:lstStyle/>
          <a:p>
            <a:pPr algn="l">
              <a:defRPr sz="1600" b="1" i="0">
                <a:solidFill>
                  <a:srgbClr val="000050"/>
                </a:solidFill>
                <a:latin typeface="Helvetica Neue"/>
              </a:defRPr>
            </a:pPr>
            <a:r>
              <a:t>43% quality elevation. Every brief now starts at excellence — not average.</a:t>
            </a:r>
          </a:p>
        </p:txBody>
      </p:sp>
      <p:sp>
        <p:nvSpPr>
          <p:cNvPr id="18" name="TextBox 17"/>
          <p:cNvSpPr txBox="1"/>
          <p:nvPr/>
        </p:nvSpPr>
        <p:spPr>
          <a:xfrm>
            <a:off x="548640" y="5669280"/>
            <a:ext cx="10972800" cy="274320"/>
          </a:xfrm>
          <a:prstGeom prst="rect">
            <a:avLst/>
          </a:prstGeom>
          <a:noFill/>
        </p:spPr>
        <p:txBody>
          <a:bodyPr wrap="square">
            <a:spAutoFit/>
          </a:bodyPr>
          <a:lstStyle/>
          <a:p>
            <a:pPr algn="l">
              <a:defRPr sz="900" b="0" i="1">
                <a:solidFill>
                  <a:srgbClr val="888888"/>
                </a:solidFill>
                <a:latin typeface="Helvetica Neue"/>
              </a:defRPr>
            </a:pPr>
            <a:r>
              <a:t>Source: ALICE deployment results — Abbott EPD AI transformation program</a:t>
            </a:r>
          </a:p>
        </p:txBody>
      </p:sp>
      <p:sp>
        <p:nvSpPr>
          <p:cNvPr id="19" name="TextBox 1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0" name="TextBox 1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50"/>
        </a:solidFill>
        <a:effectLst/>
      </p:bgPr>
    </p:bg>
    <p:spTree>
      <p:nvGrpSpPr>
        <p:cNvPr id="1" name=""/>
        <p:cNvGrpSpPr/>
        <p:nvPr/>
      </p:nvGrpSpPr>
      <p:grpSpPr/>
      <p:sp>
        <p:nvSpPr>
          <p:cNvPr id="2" name="TextBox 1"/>
          <p:cNvSpPr txBox="1"/>
          <p:nvPr/>
        </p:nvSpPr>
        <p:spPr>
          <a:xfrm>
            <a:off x="731520" y="2286000"/>
            <a:ext cx="3657600" cy="731520"/>
          </a:xfrm>
          <a:prstGeom prst="rect">
            <a:avLst/>
          </a:prstGeom>
          <a:noFill/>
        </p:spPr>
        <p:txBody>
          <a:bodyPr wrap="square">
            <a:spAutoFit/>
          </a:bodyPr>
          <a:lstStyle/>
          <a:p>
            <a:pPr algn="l">
              <a:defRPr sz="4800" b="0" i="0">
                <a:solidFill>
                  <a:srgbClr val="FFFFFF"/>
                </a:solidFill>
                <a:latin typeface="Helvetica Neue"/>
              </a:defRPr>
            </a:pPr>
            <a:r>
              <a:t>02</a:t>
            </a:r>
          </a:p>
        </p:txBody>
      </p:sp>
      <p:sp>
        <p:nvSpPr>
          <p:cNvPr id="3" name="TextBox 2"/>
          <p:cNvSpPr txBox="1"/>
          <p:nvPr/>
        </p:nvSpPr>
        <p:spPr>
          <a:xfrm>
            <a:off x="731520" y="3200400"/>
            <a:ext cx="9144000" cy="914400"/>
          </a:xfrm>
          <a:prstGeom prst="rect">
            <a:avLst/>
          </a:prstGeom>
          <a:noFill/>
        </p:spPr>
        <p:txBody>
          <a:bodyPr wrap="square">
            <a:spAutoFit/>
          </a:bodyPr>
          <a:lstStyle/>
          <a:p>
            <a:pPr algn="l">
              <a:defRPr sz="4000" b="0" i="0">
                <a:solidFill>
                  <a:srgbClr val="FFFFFF"/>
                </a:solidFill>
                <a:latin typeface="Helvetica Neue"/>
              </a:defRPr>
            </a:pPr>
            <a:r>
              <a:t>Five AI Agents</a:t>
            </a:r>
          </a:p>
        </p:txBody>
      </p:sp>
      <p:sp>
        <p:nvSpPr>
          <p:cNvPr id="4" name="TextBox 3"/>
          <p:cNvSpPr txBox="1"/>
          <p:nvPr/>
        </p:nvSpPr>
        <p:spPr>
          <a:xfrm>
            <a:off x="731520" y="4114800"/>
            <a:ext cx="9144000" cy="548640"/>
          </a:xfrm>
          <a:prstGeom prst="rect">
            <a:avLst/>
          </a:prstGeom>
          <a:noFill/>
        </p:spPr>
        <p:txBody>
          <a:bodyPr wrap="square">
            <a:spAutoFit/>
          </a:bodyPr>
          <a:lstStyle/>
          <a:p>
            <a:pPr algn="l">
              <a:defRPr sz="2000" b="0" i="1">
                <a:solidFill>
                  <a:srgbClr val="BBBBFF"/>
                </a:solidFill>
                <a:latin typeface="Helvetica Neue"/>
              </a:defRPr>
            </a:pPr>
            <a:r>
              <a:t>The future state model for EPD marketing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594360"/>
          </a:xfrm>
          <a:prstGeom prst="rect">
            <a:avLst/>
          </a:prstGeom>
          <a:noFill/>
        </p:spPr>
        <p:txBody>
          <a:bodyPr wrap="square">
            <a:spAutoFit/>
          </a:bodyPr>
          <a:lstStyle/>
          <a:p>
            <a:pPr algn="l">
              <a:defRPr sz="2600" b="1" i="0">
                <a:solidFill>
                  <a:srgbClr val="000050"/>
                </a:solidFill>
                <a:latin typeface="Helvetica Neue"/>
              </a:defRPr>
            </a:pPr>
            <a:r>
              <a:t>Five Purpose-Led Agents Cover the Full Marketing Lifecycle</a:t>
            </a:r>
          </a:p>
        </p:txBody>
      </p:sp>
      <p:sp>
        <p:nvSpPr>
          <p:cNvPr id="3" name="TextBox 2"/>
          <p:cNvSpPr txBox="1"/>
          <p:nvPr/>
        </p:nvSpPr>
        <p:spPr>
          <a:xfrm>
            <a:off x="548640" y="868680"/>
            <a:ext cx="10972800" cy="365760"/>
          </a:xfrm>
          <a:prstGeom prst="rect">
            <a:avLst/>
          </a:prstGeom>
          <a:noFill/>
        </p:spPr>
        <p:txBody>
          <a:bodyPr wrap="square">
            <a:spAutoFit/>
          </a:bodyPr>
          <a:lstStyle/>
          <a:p>
            <a:pPr algn="l">
              <a:defRPr sz="1300" b="0" i="0">
                <a:solidFill>
                  <a:srgbClr val="1A1A1A"/>
                </a:solidFill>
                <a:latin typeface="Helvetica Neue"/>
              </a:defRPr>
            </a:pPr>
            <a:r>
              <a:t>Each agent targets a specific systemic gap with AI-native capabilities.</a:t>
            </a:r>
          </a:p>
        </p:txBody>
      </p:sp>
      <p:graphicFrame>
        <p:nvGraphicFramePr>
          <p:cNvPr id="4" name="Table 3"/>
          <p:cNvGraphicFramePr>
            <a:graphicFrameLocks noGrp="1"/>
          </p:cNvGraphicFramePr>
          <p:nvPr/>
        </p:nvGraphicFramePr>
        <p:xfrm>
          <a:off x="548640" y="1371600"/>
          <a:ext cx="10972800" cy="3291840"/>
        </p:xfrm>
        <a:graphic>
          <a:graphicData uri="http://schemas.openxmlformats.org/drawingml/2006/table">
            <a:tbl>
              <a:tblPr firstRow="1" bandRow="1">
                <a:tableStyleId>{5C22544A-7EE6-4342-B048-85BDC9FD1C3A}</a:tableStyleId>
              </a:tblPr>
              <a:tblGrid>
                <a:gridCol w="1371600"/>
                <a:gridCol w="3200400"/>
                <a:gridCol w="6400800"/>
              </a:tblGrid>
              <a:tr h="548640">
                <a:tc>
                  <a:txBody>
                    <a:bodyPr/>
                    <a:lstStyle/>
                    <a:p>
                      <a:pPr>
                        <a:spcAft>
                          <a:spcPts val="200"/>
                        </a:spcAft>
                        <a:defRPr sz="1200" b="1">
                          <a:solidFill>
                            <a:srgbClr val="000050"/>
                          </a:solidFill>
                          <a:latin typeface="Helvetica Neue"/>
                        </a:defRPr>
                      </a:pPr>
                      <a:r>
                        <a:t>Agent</a:t>
                      </a:r>
                    </a:p>
                  </a:txBody>
                  <a:tcPr>
                    <a:solidFill>
                      <a:srgbClr val="DDDDF8"/>
                    </a:solidFill>
                  </a:tcPr>
                </a:tc>
                <a:tc>
                  <a:txBody>
                    <a:bodyPr/>
                    <a:lstStyle/>
                    <a:p>
                      <a:pPr>
                        <a:spcAft>
                          <a:spcPts val="200"/>
                        </a:spcAft>
                        <a:defRPr sz="1200" b="1">
                          <a:solidFill>
                            <a:srgbClr val="000050"/>
                          </a:solidFill>
                          <a:latin typeface="Helvetica Neue"/>
                        </a:defRPr>
                      </a:pPr>
                      <a:r>
                        <a:t>Full Name</a:t>
                      </a:r>
                    </a:p>
                  </a:txBody>
                  <a:tcPr>
                    <a:solidFill>
                      <a:srgbClr val="DDDDF8"/>
                    </a:solidFill>
                  </a:tcPr>
                </a:tc>
                <a:tc>
                  <a:txBody>
                    <a:bodyPr/>
                    <a:lstStyle/>
                    <a:p>
                      <a:pPr>
                        <a:spcAft>
                          <a:spcPts val="200"/>
                        </a:spcAft>
                        <a:defRPr sz="1200" b="1">
                          <a:solidFill>
                            <a:srgbClr val="000050"/>
                          </a:solidFill>
                          <a:latin typeface="Helvetica Neue"/>
                        </a:defRPr>
                      </a:pPr>
                      <a:r>
                        <a:t>Core Job</a:t>
                      </a:r>
                    </a:p>
                  </a:txBody>
                  <a:tcPr>
                    <a:solidFill>
                      <a:srgbClr val="DDDDF8"/>
                    </a:solidFill>
                  </a:tcPr>
                </a:tc>
              </a:tr>
              <a:tr h="548640">
                <a:tc>
                  <a:txBody>
                    <a:bodyPr/>
                    <a:lstStyle/>
                    <a:p>
                      <a:pPr>
                        <a:spcAft>
                          <a:spcPts val="200"/>
                        </a:spcAft>
                        <a:defRPr sz="1200">
                          <a:solidFill>
                            <a:srgbClr val="1A1A1A"/>
                          </a:solidFill>
                          <a:latin typeface="Helvetica Neue"/>
                        </a:defRPr>
                      </a:pPr>
                      <a:r>
                        <a:t>ALICE</a:t>
                      </a:r>
                    </a:p>
                  </a:txBody>
                  <a:tcPr>
                    <a:noFill/>
                  </a:tcPr>
                </a:tc>
                <a:tc>
                  <a:txBody>
                    <a:bodyPr/>
                    <a:lstStyle/>
                    <a:p>
                      <a:pPr>
                        <a:spcAft>
                          <a:spcPts val="200"/>
                        </a:spcAft>
                        <a:defRPr sz="1200">
                          <a:solidFill>
                            <a:srgbClr val="1A1A1A"/>
                          </a:solidFill>
                          <a:latin typeface="Helvetica Neue"/>
                        </a:defRPr>
                      </a:pPr>
                      <a:r>
                        <a:t>AI-Led Intelligent Creative Engine</a:t>
                      </a:r>
                    </a:p>
                  </a:txBody>
                  <a:tcPr>
                    <a:noFill/>
                  </a:tcPr>
                </a:tc>
                <a:tc>
                  <a:txBody>
                    <a:bodyPr/>
                    <a:lstStyle/>
                    <a:p>
                      <a:pPr>
                        <a:spcAft>
                          <a:spcPts val="200"/>
                        </a:spcAft>
                        <a:defRPr sz="1200">
                          <a:solidFill>
                            <a:srgbClr val="1A1A1A"/>
                          </a:solidFill>
                          <a:latin typeface="Helvetica Neue"/>
                        </a:defRPr>
                      </a:pPr>
                      <a:r>
                        <a:t>Brief optimization, concept scoring, persona-targeted creative at scale</a:t>
                      </a:r>
                    </a:p>
                  </a:txBody>
                  <a:tcPr>
                    <a:noFill/>
                  </a:tcPr>
                </a:tc>
              </a:tr>
              <a:tr h="548640">
                <a:tc>
                  <a:txBody>
                    <a:bodyPr/>
                    <a:lstStyle/>
                    <a:p>
                      <a:pPr>
                        <a:spcAft>
                          <a:spcPts val="200"/>
                        </a:spcAft>
                        <a:defRPr sz="1200">
                          <a:solidFill>
                            <a:srgbClr val="1A1A1A"/>
                          </a:solidFill>
                          <a:latin typeface="Helvetica Neue"/>
                        </a:defRPr>
                      </a:pPr>
                      <a:r>
                        <a:t>BRANDS</a:t>
                      </a:r>
                    </a:p>
                  </a:txBody>
                  <a:tcPr>
                    <a:noFill/>
                  </a:tcPr>
                </a:tc>
                <a:tc>
                  <a:txBody>
                    <a:bodyPr/>
                    <a:lstStyle/>
                    <a:p>
                      <a:pPr>
                        <a:spcAft>
                          <a:spcPts val="200"/>
                        </a:spcAft>
                        <a:defRPr sz="1200">
                          <a:solidFill>
                            <a:srgbClr val="1A1A1A"/>
                          </a:solidFill>
                          <a:latin typeface="Helvetica Neue"/>
                        </a:defRPr>
                      </a:pPr>
                      <a:r>
                        <a:t>Brand Strategy Planning System</a:t>
                      </a:r>
                    </a:p>
                  </a:txBody>
                  <a:tcPr>
                    <a:noFill/>
                  </a:tcPr>
                </a:tc>
                <a:tc>
                  <a:txBody>
                    <a:bodyPr/>
                    <a:lstStyle/>
                    <a:p>
                      <a:pPr>
                        <a:spcAft>
                          <a:spcPts val="200"/>
                        </a:spcAft>
                        <a:defRPr sz="1200">
                          <a:solidFill>
                            <a:srgbClr val="1A1A1A"/>
                          </a:solidFill>
                          <a:latin typeface="Helvetica Neue"/>
                        </a:defRPr>
                      </a:pPr>
                      <a:r>
                        <a:t>Global brand plan, regional localization, market archetype navigation</a:t>
                      </a:r>
                    </a:p>
                  </a:txBody>
                  <a:tcPr>
                    <a:noFill/>
                  </a:tcPr>
                </a:tc>
              </a:tr>
              <a:tr h="548640">
                <a:tc>
                  <a:txBody>
                    <a:bodyPr/>
                    <a:lstStyle/>
                    <a:p>
                      <a:pPr>
                        <a:spcAft>
                          <a:spcPts val="200"/>
                        </a:spcAft>
                        <a:defRPr sz="1200">
                          <a:solidFill>
                            <a:srgbClr val="1A1A1A"/>
                          </a:solidFill>
                          <a:latin typeface="Helvetica Neue"/>
                        </a:defRPr>
                      </a:pPr>
                      <a:r>
                        <a:t>CRAFTS</a:t>
                      </a:r>
                    </a:p>
                  </a:txBody>
                  <a:tcPr>
                    <a:noFill/>
                  </a:tcPr>
                </a:tc>
                <a:tc>
                  <a:txBody>
                    <a:bodyPr/>
                    <a:lstStyle/>
                    <a:p>
                      <a:pPr>
                        <a:spcAft>
                          <a:spcPts val="200"/>
                        </a:spcAft>
                        <a:defRPr sz="1200">
                          <a:solidFill>
                            <a:srgbClr val="1A1A1A"/>
                          </a:solidFill>
                          <a:latin typeface="Helvetica Neue"/>
                        </a:defRPr>
                      </a:pPr>
                      <a:r>
                        <a:t>Content Lifecycle Management Agent</a:t>
                      </a:r>
                    </a:p>
                  </a:txBody>
                  <a:tcPr>
                    <a:noFill/>
                  </a:tcPr>
                </a:tc>
                <a:tc>
                  <a:txBody>
                    <a:bodyPr/>
                    <a:lstStyle/>
                    <a:p>
                      <a:pPr>
                        <a:spcAft>
                          <a:spcPts val="200"/>
                        </a:spcAft>
                        <a:defRPr sz="1200">
                          <a:solidFill>
                            <a:srgbClr val="1A1A1A"/>
                          </a:solidFill>
                          <a:latin typeface="Helvetica Neue"/>
                        </a:defRPr>
                      </a:pPr>
                      <a:r>
                        <a:t>Modular assets, MLR acceleration, pre-launch content testing</a:t>
                      </a:r>
                    </a:p>
                  </a:txBody>
                  <a:tcPr>
                    <a:noFill/>
                  </a:tcPr>
                </a:tc>
              </a:tr>
              <a:tr h="548640">
                <a:tc>
                  <a:txBody>
                    <a:bodyPr/>
                    <a:lstStyle/>
                    <a:p>
                      <a:pPr>
                        <a:spcAft>
                          <a:spcPts val="200"/>
                        </a:spcAft>
                        <a:defRPr sz="1200">
                          <a:solidFill>
                            <a:srgbClr val="1A1A1A"/>
                          </a:solidFill>
                          <a:latin typeface="Helvetica Neue"/>
                        </a:defRPr>
                      </a:pPr>
                      <a:r>
                        <a:t>SPARK</a:t>
                      </a:r>
                    </a:p>
                  </a:txBody>
                  <a:tcPr>
                    <a:noFill/>
                  </a:tcPr>
                </a:tc>
                <a:tc>
                  <a:txBody>
                    <a:bodyPr/>
                    <a:lstStyle/>
                    <a:p>
                      <a:pPr>
                        <a:spcAft>
                          <a:spcPts val="200"/>
                        </a:spcAft>
                        <a:defRPr sz="1200">
                          <a:solidFill>
                            <a:srgbClr val="1A1A1A"/>
                          </a:solidFill>
                          <a:latin typeface="Helvetica Neue"/>
                        </a:defRPr>
                      </a:pPr>
                      <a:r>
                        <a:t>Intelligent Customer Engagement Agent</a:t>
                      </a:r>
                    </a:p>
                  </a:txBody>
                  <a:tcPr>
                    <a:noFill/>
                  </a:tcPr>
                </a:tc>
                <a:tc>
                  <a:txBody>
                    <a:bodyPr/>
                    <a:lstStyle/>
                    <a:p>
                      <a:pPr>
                        <a:spcAft>
                          <a:spcPts val="200"/>
                        </a:spcAft>
                        <a:defRPr sz="1200">
                          <a:solidFill>
                            <a:srgbClr val="1A1A1A"/>
                          </a:solidFill>
                          <a:latin typeface="Helvetica Neue"/>
                        </a:defRPr>
                      </a:pPr>
                      <a:r>
                        <a:t>NBA, HCP segmentation, omnichannel personalization, patient engagement</a:t>
                      </a:r>
                    </a:p>
                  </a:txBody>
                  <a:tcPr>
                    <a:noFill/>
                  </a:tcPr>
                </a:tc>
              </a:tr>
              <a:tr h="548640">
                <a:tc>
                  <a:txBody>
                    <a:bodyPr/>
                    <a:lstStyle/>
                    <a:p>
                      <a:pPr>
                        <a:spcAft>
                          <a:spcPts val="200"/>
                        </a:spcAft>
                        <a:defRPr sz="1200">
                          <a:solidFill>
                            <a:srgbClr val="1A1A1A"/>
                          </a:solidFill>
                          <a:latin typeface="Helvetica Neue"/>
                        </a:defRPr>
                      </a:pPr>
                      <a:r>
                        <a:t>ACCESS</a:t>
                      </a:r>
                    </a:p>
                  </a:txBody>
                  <a:tcPr>
                    <a:noFill/>
                  </a:tcPr>
                </a:tc>
                <a:tc>
                  <a:txBody>
                    <a:bodyPr/>
                    <a:lstStyle/>
                    <a:p>
                      <a:pPr>
                        <a:spcAft>
                          <a:spcPts val="200"/>
                        </a:spcAft>
                        <a:defRPr sz="1200">
                          <a:solidFill>
                            <a:srgbClr val="1A1A1A"/>
                          </a:solidFill>
                          <a:latin typeface="Helvetica Neue"/>
                        </a:defRPr>
                      </a:pPr>
                      <a:r>
                        <a:t>AI-Powered Market Access Agent</a:t>
                      </a:r>
                    </a:p>
                  </a:txBody>
                  <a:tcPr>
                    <a:noFill/>
                  </a:tcPr>
                </a:tc>
                <a:tc>
                  <a:txBody>
                    <a:bodyPr/>
                    <a:lstStyle/>
                    <a:p>
                      <a:pPr>
                        <a:spcAft>
                          <a:spcPts val="200"/>
                        </a:spcAft>
                        <a:defRPr sz="1200">
                          <a:solidFill>
                            <a:srgbClr val="1A1A1A"/>
                          </a:solidFill>
                          <a:latin typeface="Helvetica Neue"/>
                        </a:defRPr>
                      </a:pPr>
                      <a:r>
                        <a:t>Competitive intelligence, HTA dossiers, patient support automation</a:t>
                      </a:r>
                    </a:p>
                  </a:txBody>
                  <a:tcPr>
                    <a:noFill/>
                  </a:tcPr>
                </a:tc>
              </a:tr>
            </a:tbl>
          </a:graphicData>
        </a:graphic>
      </p:graphicFrame>
      <p:sp>
        <p:nvSpPr>
          <p:cNvPr id="5" name="Rectangle 4"/>
          <p:cNvSpPr/>
          <p:nvPr/>
        </p:nvSpPr>
        <p:spPr>
          <a:xfrm>
            <a:off x="548640" y="4846320"/>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937760"/>
            <a:ext cx="10058400" cy="548640"/>
          </a:xfrm>
          <a:prstGeom prst="rect">
            <a:avLst/>
          </a:prstGeom>
          <a:noFill/>
        </p:spPr>
        <p:txBody>
          <a:bodyPr wrap="square">
            <a:spAutoFit/>
          </a:bodyPr>
          <a:lstStyle/>
          <a:p>
            <a:pPr algn="l">
              <a:defRPr sz="1500" b="1" i="1">
                <a:solidFill>
                  <a:srgbClr val="FFFFFF"/>
                </a:solidFill>
                <a:latin typeface="Helvetica Neue"/>
              </a:defRPr>
            </a:pPr>
            <a:r>
              <a:t>These are not separate tools — they are a connected intelligence ecosystem.</a:t>
            </a:r>
          </a:p>
        </p:txBody>
      </p:sp>
      <p:sp>
        <p:nvSpPr>
          <p:cNvPr id="7" name="TextBox 6"/>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8" name="TextBox 7"/>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50"/>
        </a:solidFill>
        <a:effectLst/>
      </p:bgPr>
    </p:bg>
    <p:spTree>
      <p:nvGrpSpPr>
        <p:cNvPr id="1" name=""/>
        <p:cNvGrpSpPr/>
        <p:nvPr/>
      </p:nvGrpSpPr>
      <p:grpSpPr/>
      <p:sp>
        <p:nvSpPr>
          <p:cNvPr id="2" name="TextBox 1"/>
          <p:cNvSpPr txBox="1"/>
          <p:nvPr/>
        </p:nvSpPr>
        <p:spPr>
          <a:xfrm>
            <a:off x="731520" y="2286000"/>
            <a:ext cx="3657600" cy="731520"/>
          </a:xfrm>
          <a:prstGeom prst="rect">
            <a:avLst/>
          </a:prstGeom>
          <a:noFill/>
        </p:spPr>
        <p:txBody>
          <a:bodyPr wrap="square">
            <a:spAutoFit/>
          </a:bodyPr>
          <a:lstStyle/>
          <a:p>
            <a:pPr algn="l">
              <a:defRPr sz="4800" b="0" i="0">
                <a:solidFill>
                  <a:srgbClr val="FFFFFF"/>
                </a:solidFill>
                <a:latin typeface="Helvetica Neue"/>
              </a:defRPr>
            </a:pPr>
            <a:r>
              <a:t>03</a:t>
            </a:r>
          </a:p>
        </p:txBody>
      </p:sp>
      <p:sp>
        <p:nvSpPr>
          <p:cNvPr id="3" name="TextBox 2"/>
          <p:cNvSpPr txBox="1"/>
          <p:nvPr/>
        </p:nvSpPr>
        <p:spPr>
          <a:xfrm>
            <a:off x="731520" y="3200400"/>
            <a:ext cx="9144000" cy="914400"/>
          </a:xfrm>
          <a:prstGeom prst="rect">
            <a:avLst/>
          </a:prstGeom>
          <a:noFill/>
        </p:spPr>
        <p:txBody>
          <a:bodyPr wrap="square">
            <a:spAutoFit/>
          </a:bodyPr>
          <a:lstStyle/>
          <a:p>
            <a:pPr algn="l">
              <a:defRPr sz="4000" b="0" i="0">
                <a:solidFill>
                  <a:srgbClr val="FFFFFF"/>
                </a:solidFill>
                <a:latin typeface="Helvetica Neue"/>
              </a:defRPr>
            </a:pPr>
            <a:r>
              <a:t>Capability Gap Analysis</a:t>
            </a:r>
          </a:p>
        </p:txBody>
      </p:sp>
      <p:sp>
        <p:nvSpPr>
          <p:cNvPr id="4" name="TextBox 3"/>
          <p:cNvSpPr txBox="1"/>
          <p:nvPr/>
        </p:nvSpPr>
        <p:spPr>
          <a:xfrm>
            <a:off x="731520" y="4114800"/>
            <a:ext cx="9144000" cy="548640"/>
          </a:xfrm>
          <a:prstGeom prst="rect">
            <a:avLst/>
          </a:prstGeom>
          <a:noFill/>
        </p:spPr>
        <p:txBody>
          <a:bodyPr wrap="square">
            <a:spAutoFit/>
          </a:bodyPr>
          <a:lstStyle/>
          <a:p>
            <a:pPr algn="l">
              <a:defRPr sz="2000" b="0" i="1">
                <a:solidFill>
                  <a:srgbClr val="BBBBFF"/>
                </a:solidFill>
                <a:latin typeface="Helvetica Neue"/>
              </a:defRPr>
            </a:pPr>
            <a:r>
              <a:t>Current vs future state — 20 capabilities across 5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502920"/>
          </a:xfrm>
          <a:prstGeom prst="rect">
            <a:avLst/>
          </a:prstGeom>
          <a:noFill/>
        </p:spPr>
        <p:txBody>
          <a:bodyPr wrap="square">
            <a:spAutoFit/>
          </a:bodyPr>
          <a:lstStyle/>
          <a:p>
            <a:pPr algn="l">
              <a:defRPr sz="2400" b="1" i="0">
                <a:solidFill>
                  <a:srgbClr val="000050"/>
                </a:solidFill>
                <a:latin typeface="Helvetica Neue"/>
              </a:defRPr>
            </a:pPr>
            <a:r>
              <a:t>ALICE — Creative Excellence: Capability Gap</a:t>
            </a:r>
          </a:p>
        </p:txBody>
      </p:sp>
      <p:sp>
        <p:nvSpPr>
          <p:cNvPr id="3" name="TextBox 2"/>
          <p:cNvSpPr txBox="1"/>
          <p:nvPr/>
        </p:nvSpPr>
        <p:spPr>
          <a:xfrm>
            <a:off x="548640" y="822960"/>
            <a:ext cx="10972800" cy="320040"/>
          </a:xfrm>
          <a:prstGeom prst="rect">
            <a:avLst/>
          </a:prstGeom>
          <a:noFill/>
        </p:spPr>
        <p:txBody>
          <a:bodyPr wrap="square">
            <a:spAutoFit/>
          </a:bodyPr>
          <a:lstStyle/>
          <a:p>
            <a:pPr algn="l">
              <a:defRPr sz="1300" b="0" i="0">
                <a:solidFill>
                  <a:srgbClr val="1A1A1A"/>
                </a:solidFill>
                <a:latin typeface="Helvetica Neue"/>
              </a:defRPr>
            </a:pPr>
            <a:r>
              <a:t>Creative production must shift from agency-dependent to AI-accelerated.</a:t>
            </a:r>
          </a:p>
        </p:txBody>
      </p:sp>
      <p:graphicFrame>
        <p:nvGraphicFramePr>
          <p:cNvPr id="4" name="Table 3"/>
          <p:cNvGraphicFramePr>
            <a:graphicFrameLocks noGrp="1"/>
          </p:cNvGraphicFramePr>
          <p:nvPr/>
        </p:nvGraphicFramePr>
        <p:xfrm>
          <a:off x="548640" y="1234440"/>
          <a:ext cx="10972800" cy="2286000"/>
        </p:xfrm>
        <a:graphic>
          <a:graphicData uri="http://schemas.openxmlformats.org/drawingml/2006/table">
            <a:tbl>
              <a:tblPr firstRow="1" bandRow="1">
                <a:tableStyleId>{5C22544A-7EE6-4342-B048-85BDC9FD1C3A}</a:tableStyleId>
              </a:tblPr>
              <a:tblGrid>
                <a:gridCol w="457200"/>
                <a:gridCol w="2286000"/>
                <a:gridCol w="2560320"/>
                <a:gridCol w="3200400"/>
                <a:gridCol w="2468880"/>
              </a:tblGrid>
              <a:tr h="457200">
                <a:tc>
                  <a:txBody>
                    <a:bodyPr/>
                    <a:lstStyle/>
                    <a:p>
                      <a:pPr>
                        <a:spcAft>
                          <a:spcPts val="200"/>
                        </a:spcAft>
                        <a:defRPr sz="1100" b="1">
                          <a:solidFill>
                            <a:srgbClr val="000050"/>
                          </a:solidFill>
                          <a:latin typeface="Helvetica Neue"/>
                        </a:defRPr>
                      </a:pPr>
                      <a:r>
                        <a:t>#</a:t>
                      </a:r>
                    </a:p>
                  </a:txBody>
                  <a:tcPr>
                    <a:solidFill>
                      <a:srgbClr val="DDDDF8"/>
                    </a:solidFill>
                  </a:tcPr>
                </a:tc>
                <a:tc>
                  <a:txBody>
                    <a:bodyPr/>
                    <a:lstStyle/>
                    <a:p>
                      <a:pPr>
                        <a:spcAft>
                          <a:spcPts val="200"/>
                        </a:spcAft>
                        <a:defRPr sz="1100" b="1">
                          <a:solidFill>
                            <a:srgbClr val="000050"/>
                          </a:solidFill>
                          <a:latin typeface="Helvetica Neue"/>
                        </a:defRPr>
                      </a:pPr>
                      <a:r>
                        <a:t>Capability</a:t>
                      </a:r>
                    </a:p>
                  </a:txBody>
                  <a:tcPr>
                    <a:solidFill>
                      <a:srgbClr val="DDDDF8"/>
                    </a:solidFill>
                  </a:tcPr>
                </a:tc>
                <a:tc>
                  <a:txBody>
                    <a:bodyPr/>
                    <a:lstStyle/>
                    <a:p>
                      <a:pPr>
                        <a:spcAft>
                          <a:spcPts val="200"/>
                        </a:spcAft>
                        <a:defRPr sz="1100" b="1">
                          <a:solidFill>
                            <a:srgbClr val="000050"/>
                          </a:solidFill>
                          <a:latin typeface="Helvetica Neue"/>
                        </a:defRPr>
                      </a:pPr>
                      <a:r>
                        <a:t>Current State</a:t>
                      </a:r>
                    </a:p>
                  </a:txBody>
                  <a:tcPr>
                    <a:solidFill>
                      <a:srgbClr val="DDDDF8"/>
                    </a:solidFill>
                  </a:tcPr>
                </a:tc>
                <a:tc>
                  <a:txBody>
                    <a:bodyPr/>
                    <a:lstStyle/>
                    <a:p>
                      <a:pPr>
                        <a:spcAft>
                          <a:spcPts val="200"/>
                        </a:spcAft>
                        <a:defRPr sz="1100" b="1">
                          <a:solidFill>
                            <a:srgbClr val="000050"/>
                          </a:solidFill>
                          <a:latin typeface="Helvetica Neue"/>
                        </a:defRPr>
                      </a:pPr>
                      <a:r>
                        <a:t>Future Tool</a:t>
                      </a:r>
                    </a:p>
                  </a:txBody>
                  <a:tcPr>
                    <a:solidFill>
                      <a:srgbClr val="DDDDF8"/>
                    </a:solidFill>
                  </a:tcPr>
                </a:tc>
                <a:tc>
                  <a:txBody>
                    <a:bodyPr/>
                    <a:lstStyle/>
                    <a:p>
                      <a:pPr>
                        <a:spcAft>
                          <a:spcPts val="200"/>
                        </a:spcAft>
                        <a:defRPr sz="1100" b="1">
                          <a:solidFill>
                            <a:srgbClr val="000050"/>
                          </a:solidFill>
                          <a:latin typeface="Helvetica Neue"/>
                        </a:defRPr>
                      </a:pPr>
                      <a:r>
                        <a:t>Status</a:t>
                      </a:r>
                    </a:p>
                  </a:txBody>
                  <a:tcPr>
                    <a:solidFill>
                      <a:srgbClr val="DDDDF8"/>
                    </a:solidFill>
                  </a:tcPr>
                </a:tc>
              </a:tr>
              <a:tr h="457200">
                <a:tc>
                  <a:txBody>
                    <a:bodyPr/>
                    <a:lstStyle/>
                    <a:p>
                      <a:pPr>
                        <a:spcAft>
                          <a:spcPts val="200"/>
                        </a:spcAft>
                        <a:defRPr sz="1100">
                          <a:solidFill>
                            <a:srgbClr val="1A1A1A"/>
                          </a:solidFill>
                          <a:latin typeface="Helvetica Neue"/>
                        </a:defRPr>
                      </a:pPr>
                      <a:r>
                        <a:t>1</a:t>
                      </a:r>
                    </a:p>
                  </a:txBody>
                  <a:tcPr>
                    <a:noFill/>
                  </a:tcPr>
                </a:tc>
                <a:tc>
                  <a:txBody>
                    <a:bodyPr/>
                    <a:lstStyle/>
                    <a:p>
                      <a:pPr>
                        <a:spcAft>
                          <a:spcPts val="200"/>
                        </a:spcAft>
                        <a:defRPr sz="1100">
                          <a:solidFill>
                            <a:srgbClr val="1A1A1A"/>
                          </a:solidFill>
                          <a:latin typeface="Helvetica Neue"/>
                        </a:defRPr>
                      </a:pPr>
                      <a:r>
                        <a:t>Creative Generation</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Adobe Firefly / GenStudio</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2</a:t>
                      </a:r>
                    </a:p>
                  </a:txBody>
                  <a:tcPr>
                    <a:noFill/>
                  </a:tcPr>
                </a:tc>
                <a:tc>
                  <a:txBody>
                    <a:bodyPr/>
                    <a:lstStyle/>
                    <a:p>
                      <a:pPr>
                        <a:spcAft>
                          <a:spcPts val="200"/>
                        </a:spcAft>
                        <a:defRPr sz="1100">
                          <a:solidFill>
                            <a:srgbClr val="1A1A1A"/>
                          </a:solidFill>
                          <a:latin typeface="Helvetica Neue"/>
                        </a:defRPr>
                      </a:pPr>
                      <a:r>
                        <a:t>Brief Intelligence</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Persado</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3</a:t>
                      </a:r>
                    </a:p>
                  </a:txBody>
                  <a:tcPr>
                    <a:noFill/>
                  </a:tcPr>
                </a:tc>
                <a:tc>
                  <a:txBody>
                    <a:bodyPr/>
                    <a:lstStyle/>
                    <a:p>
                      <a:pPr>
                        <a:spcAft>
                          <a:spcPts val="200"/>
                        </a:spcAft>
                        <a:defRPr sz="1100">
                          <a:solidFill>
                            <a:srgbClr val="1A1A1A"/>
                          </a:solidFill>
                          <a:latin typeface="Helvetica Neue"/>
                        </a:defRPr>
                      </a:pPr>
                      <a:r>
                        <a:t>Copy &amp; Claim Generation</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Writer.com</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4</a:t>
                      </a:r>
                    </a:p>
                  </a:txBody>
                  <a:tcPr>
                    <a:noFill/>
                  </a:tcPr>
                </a:tc>
                <a:tc>
                  <a:txBody>
                    <a:bodyPr/>
                    <a:lstStyle/>
                    <a:p>
                      <a:pPr>
                        <a:spcAft>
                          <a:spcPts val="200"/>
                        </a:spcAft>
                        <a:defRPr sz="1100">
                          <a:solidFill>
                            <a:srgbClr val="1A1A1A"/>
                          </a:solidFill>
                          <a:latin typeface="Helvetica Neue"/>
                        </a:defRPr>
                      </a:pPr>
                      <a:r>
                        <a:t>Creative Ops &amp; Workflow</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Adobe Workfront</a:t>
                      </a:r>
                    </a:p>
                  </a:txBody>
                  <a:tcPr>
                    <a:noFill/>
                  </a:tcPr>
                </a:tc>
                <a:tc>
                  <a:txBody>
                    <a:bodyPr/>
                    <a:lstStyle/>
                    <a:p>
                      <a:pPr>
                        <a:spcAft>
                          <a:spcPts val="200"/>
                        </a:spcAft>
                        <a:defRPr sz="1100">
                          <a:solidFill>
                            <a:srgbClr val="1A1A1A"/>
                          </a:solidFill>
                          <a:latin typeface="Helvetica Neue"/>
                        </a:defRPr>
                      </a:pPr>
                      <a:r>
                        <a:t>TBD</a:t>
                      </a:r>
                    </a:p>
                  </a:txBody>
                  <a:tcPr>
                    <a:noFill/>
                  </a:tcPr>
                </a:tc>
              </a:tr>
            </a:tbl>
          </a:graphicData>
        </a:graphic>
      </p:graphicFrame>
      <p:sp>
        <p:nvSpPr>
          <p:cNvPr id="5" name="TextBox 4"/>
          <p:cNvSpPr txBox="1"/>
          <p:nvPr/>
        </p:nvSpPr>
        <p:spPr>
          <a:xfrm>
            <a:off x="548640" y="3749039"/>
            <a:ext cx="10972800" cy="320040"/>
          </a:xfrm>
          <a:prstGeom prst="rect">
            <a:avLst/>
          </a:prstGeom>
          <a:noFill/>
        </p:spPr>
        <p:txBody>
          <a:bodyPr wrap="square">
            <a:spAutoFit/>
          </a:bodyPr>
          <a:lstStyle/>
          <a:p>
            <a:pPr algn="l">
              <a:defRPr sz="1100" b="0" i="1">
                <a:solidFill>
                  <a:srgbClr val="888888"/>
                </a:solidFill>
                <a:latin typeface="Helvetica Neue"/>
              </a:defRPr>
            </a:pPr>
            <a:r>
              <a:t>Known pain points: Manual briefs  |  Agency-dependent  |  4–6 revision cycles  |  Limited localization</a:t>
            </a:r>
          </a:p>
        </p:txBody>
      </p:sp>
      <p:sp>
        <p:nvSpPr>
          <p:cNvPr id="6" name="Rectangle 5"/>
          <p:cNvSpPr/>
          <p:nvPr/>
        </p:nvSpPr>
        <p:spPr>
          <a:xfrm>
            <a:off x="548640" y="4297680"/>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89120"/>
            <a:ext cx="10058400" cy="548640"/>
          </a:xfrm>
          <a:prstGeom prst="rect">
            <a:avLst/>
          </a:prstGeom>
          <a:noFill/>
        </p:spPr>
        <p:txBody>
          <a:bodyPr wrap="square">
            <a:spAutoFit/>
          </a:bodyPr>
          <a:lstStyle/>
          <a:p>
            <a:pPr algn="l">
              <a:defRPr sz="1500" b="1" i="1">
                <a:solidFill>
                  <a:srgbClr val="FFFFFF"/>
                </a:solidFill>
                <a:latin typeface="Helvetica Neue"/>
              </a:defRPr>
            </a:pPr>
            <a:r>
              <a:t>ALICE transforms a 3–5 day brief cycle into 1–2 hours. The gap here is urgent.</a:t>
            </a:r>
          </a:p>
        </p:txBody>
      </p:sp>
      <p:sp>
        <p:nvSpPr>
          <p:cNvPr id="8" name="TextBox 7"/>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9" name="TextBox 8"/>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502920"/>
          </a:xfrm>
          <a:prstGeom prst="rect">
            <a:avLst/>
          </a:prstGeom>
          <a:noFill/>
        </p:spPr>
        <p:txBody>
          <a:bodyPr wrap="square">
            <a:spAutoFit/>
          </a:bodyPr>
          <a:lstStyle/>
          <a:p>
            <a:pPr algn="l">
              <a:defRPr sz="2400" b="1" i="0">
                <a:solidFill>
                  <a:srgbClr val="000050"/>
                </a:solidFill>
                <a:latin typeface="Helvetica Neue"/>
              </a:defRPr>
            </a:pPr>
            <a:r>
              <a:t>BRANDS — Brand Strategy: Capability Gap</a:t>
            </a:r>
          </a:p>
        </p:txBody>
      </p:sp>
      <p:sp>
        <p:nvSpPr>
          <p:cNvPr id="3" name="TextBox 2"/>
          <p:cNvSpPr txBox="1"/>
          <p:nvPr/>
        </p:nvSpPr>
        <p:spPr>
          <a:xfrm>
            <a:off x="548640" y="822960"/>
            <a:ext cx="10972800" cy="320040"/>
          </a:xfrm>
          <a:prstGeom prst="rect">
            <a:avLst/>
          </a:prstGeom>
          <a:noFill/>
        </p:spPr>
        <p:txBody>
          <a:bodyPr wrap="square">
            <a:spAutoFit/>
          </a:bodyPr>
          <a:lstStyle/>
          <a:p>
            <a:pPr algn="l">
              <a:defRPr sz="1300" b="0" i="0">
                <a:solidFill>
                  <a:srgbClr val="1A1A1A"/>
                </a:solidFill>
                <a:latin typeface="Helvetica Neue"/>
              </a:defRPr>
            </a:pPr>
            <a:r>
              <a:t>From intuition-based annual planning to real-time, data-driven strategy.</a:t>
            </a:r>
          </a:p>
        </p:txBody>
      </p:sp>
      <p:graphicFrame>
        <p:nvGraphicFramePr>
          <p:cNvPr id="4" name="Table 3"/>
          <p:cNvGraphicFramePr>
            <a:graphicFrameLocks noGrp="1"/>
          </p:cNvGraphicFramePr>
          <p:nvPr/>
        </p:nvGraphicFramePr>
        <p:xfrm>
          <a:off x="548640" y="1234440"/>
          <a:ext cx="10972800" cy="2286000"/>
        </p:xfrm>
        <a:graphic>
          <a:graphicData uri="http://schemas.openxmlformats.org/drawingml/2006/table">
            <a:tbl>
              <a:tblPr firstRow="1" bandRow="1">
                <a:tableStyleId>{5C22544A-7EE6-4342-B048-85BDC9FD1C3A}</a:tableStyleId>
              </a:tblPr>
              <a:tblGrid>
                <a:gridCol w="457200"/>
                <a:gridCol w="2468880"/>
                <a:gridCol w="2560320"/>
                <a:gridCol w="3017520"/>
                <a:gridCol w="2468880"/>
              </a:tblGrid>
              <a:tr h="457200">
                <a:tc>
                  <a:txBody>
                    <a:bodyPr/>
                    <a:lstStyle/>
                    <a:p>
                      <a:pPr>
                        <a:spcAft>
                          <a:spcPts val="200"/>
                        </a:spcAft>
                        <a:defRPr sz="1100" b="1">
                          <a:solidFill>
                            <a:srgbClr val="000050"/>
                          </a:solidFill>
                          <a:latin typeface="Helvetica Neue"/>
                        </a:defRPr>
                      </a:pPr>
                      <a:r>
                        <a:t>#</a:t>
                      </a:r>
                    </a:p>
                  </a:txBody>
                  <a:tcPr>
                    <a:solidFill>
                      <a:srgbClr val="DDDDF8"/>
                    </a:solidFill>
                  </a:tcPr>
                </a:tc>
                <a:tc>
                  <a:txBody>
                    <a:bodyPr/>
                    <a:lstStyle/>
                    <a:p>
                      <a:pPr>
                        <a:spcAft>
                          <a:spcPts val="200"/>
                        </a:spcAft>
                        <a:defRPr sz="1100" b="1">
                          <a:solidFill>
                            <a:srgbClr val="000050"/>
                          </a:solidFill>
                          <a:latin typeface="Helvetica Neue"/>
                        </a:defRPr>
                      </a:pPr>
                      <a:r>
                        <a:t>Capability</a:t>
                      </a:r>
                    </a:p>
                  </a:txBody>
                  <a:tcPr>
                    <a:solidFill>
                      <a:srgbClr val="DDDDF8"/>
                    </a:solidFill>
                  </a:tcPr>
                </a:tc>
                <a:tc>
                  <a:txBody>
                    <a:bodyPr/>
                    <a:lstStyle/>
                    <a:p>
                      <a:pPr>
                        <a:spcAft>
                          <a:spcPts val="200"/>
                        </a:spcAft>
                        <a:defRPr sz="1100" b="1">
                          <a:solidFill>
                            <a:srgbClr val="000050"/>
                          </a:solidFill>
                          <a:latin typeface="Helvetica Neue"/>
                        </a:defRPr>
                      </a:pPr>
                      <a:r>
                        <a:t>Current State</a:t>
                      </a:r>
                    </a:p>
                  </a:txBody>
                  <a:tcPr>
                    <a:solidFill>
                      <a:srgbClr val="DDDDF8"/>
                    </a:solidFill>
                  </a:tcPr>
                </a:tc>
                <a:tc>
                  <a:txBody>
                    <a:bodyPr/>
                    <a:lstStyle/>
                    <a:p>
                      <a:pPr>
                        <a:spcAft>
                          <a:spcPts val="200"/>
                        </a:spcAft>
                        <a:defRPr sz="1100" b="1">
                          <a:solidFill>
                            <a:srgbClr val="000050"/>
                          </a:solidFill>
                          <a:latin typeface="Helvetica Neue"/>
                        </a:defRPr>
                      </a:pPr>
                      <a:r>
                        <a:t>Future Tool</a:t>
                      </a:r>
                    </a:p>
                  </a:txBody>
                  <a:tcPr>
                    <a:solidFill>
                      <a:srgbClr val="DDDDF8"/>
                    </a:solidFill>
                  </a:tcPr>
                </a:tc>
                <a:tc>
                  <a:txBody>
                    <a:bodyPr/>
                    <a:lstStyle/>
                    <a:p>
                      <a:pPr>
                        <a:spcAft>
                          <a:spcPts val="200"/>
                        </a:spcAft>
                        <a:defRPr sz="1100" b="1">
                          <a:solidFill>
                            <a:srgbClr val="000050"/>
                          </a:solidFill>
                          <a:latin typeface="Helvetica Neue"/>
                        </a:defRPr>
                      </a:pPr>
                      <a:r>
                        <a:t>Status</a:t>
                      </a:r>
                    </a:p>
                  </a:txBody>
                  <a:tcPr>
                    <a:solidFill>
                      <a:srgbClr val="DDDDF8"/>
                    </a:solidFill>
                  </a:tcPr>
                </a:tc>
              </a:tr>
              <a:tr h="457200">
                <a:tc>
                  <a:txBody>
                    <a:bodyPr/>
                    <a:lstStyle/>
                    <a:p>
                      <a:pPr>
                        <a:spcAft>
                          <a:spcPts val="200"/>
                        </a:spcAft>
                        <a:defRPr sz="1100">
                          <a:solidFill>
                            <a:srgbClr val="1A1A1A"/>
                          </a:solidFill>
                          <a:latin typeface="Helvetica Neue"/>
                        </a:defRPr>
                      </a:pPr>
                      <a:r>
                        <a:t>5</a:t>
                      </a:r>
                    </a:p>
                  </a:txBody>
                  <a:tcPr>
                    <a:noFill/>
                  </a:tcPr>
                </a:tc>
                <a:tc>
                  <a:txBody>
                    <a:bodyPr/>
                    <a:lstStyle/>
                    <a:p>
                      <a:pPr>
                        <a:spcAft>
                          <a:spcPts val="200"/>
                        </a:spcAft>
                        <a:defRPr sz="1100">
                          <a:solidFill>
                            <a:srgbClr val="1A1A1A"/>
                          </a:solidFill>
                          <a:latin typeface="Helvetica Neue"/>
                        </a:defRPr>
                      </a:pPr>
                      <a:r>
                        <a:t>Market Intelligence</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Deepsights</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6</a:t>
                      </a:r>
                    </a:p>
                  </a:txBody>
                  <a:tcPr>
                    <a:noFill/>
                  </a:tcPr>
                </a:tc>
                <a:tc>
                  <a:txBody>
                    <a:bodyPr/>
                    <a:lstStyle/>
                    <a:p>
                      <a:pPr>
                        <a:spcAft>
                          <a:spcPts val="200"/>
                        </a:spcAft>
                        <a:defRPr sz="1100">
                          <a:solidFill>
                            <a:srgbClr val="1A1A1A"/>
                          </a:solidFill>
                          <a:latin typeface="Helvetica Neue"/>
                        </a:defRPr>
                      </a:pPr>
                      <a:r>
                        <a:t>Social Listening</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Brandwatch / Synthesio</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7</a:t>
                      </a:r>
                    </a:p>
                  </a:txBody>
                  <a:tcPr>
                    <a:noFill/>
                  </a:tcPr>
                </a:tc>
                <a:tc>
                  <a:txBody>
                    <a:bodyPr/>
                    <a:lstStyle/>
                    <a:p>
                      <a:pPr>
                        <a:spcAft>
                          <a:spcPts val="200"/>
                        </a:spcAft>
                        <a:defRPr sz="1100">
                          <a:solidFill>
                            <a:srgbClr val="1A1A1A"/>
                          </a:solidFill>
                          <a:latin typeface="Helvetica Neue"/>
                        </a:defRPr>
                      </a:pPr>
                      <a:r>
                        <a:t>Commercial Strategy Modeling</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McKinsey Lilli / ZS ZAIDYN</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8</a:t>
                      </a:r>
                    </a:p>
                  </a:txBody>
                  <a:tcPr>
                    <a:noFill/>
                  </a:tcPr>
                </a:tc>
                <a:tc>
                  <a:txBody>
                    <a:bodyPr/>
                    <a:lstStyle/>
                    <a:p>
                      <a:pPr>
                        <a:spcAft>
                          <a:spcPts val="200"/>
                        </a:spcAft>
                        <a:defRPr sz="1100">
                          <a:solidFill>
                            <a:srgbClr val="1A1A1A"/>
                          </a:solidFill>
                          <a:latin typeface="Helvetica Neue"/>
                        </a:defRPr>
                      </a:pPr>
                      <a:r>
                        <a:t>Synthetic Research / Digital Twins</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Synthetic Audiences</a:t>
                      </a:r>
                    </a:p>
                  </a:txBody>
                  <a:tcPr>
                    <a:noFill/>
                  </a:tcPr>
                </a:tc>
                <a:tc>
                  <a:txBody>
                    <a:bodyPr/>
                    <a:lstStyle/>
                    <a:p>
                      <a:pPr>
                        <a:spcAft>
                          <a:spcPts val="200"/>
                        </a:spcAft>
                        <a:defRPr sz="1100">
                          <a:solidFill>
                            <a:srgbClr val="1A1A1A"/>
                          </a:solidFill>
                          <a:latin typeface="Helvetica Neue"/>
                        </a:defRPr>
                      </a:pPr>
                      <a:r>
                        <a:t>TBD</a:t>
                      </a:r>
                    </a:p>
                  </a:txBody>
                  <a:tcPr>
                    <a:noFill/>
                  </a:tcPr>
                </a:tc>
              </a:tr>
            </a:tbl>
          </a:graphicData>
        </a:graphic>
      </p:graphicFrame>
      <p:sp>
        <p:nvSpPr>
          <p:cNvPr id="5" name="TextBox 4"/>
          <p:cNvSpPr txBox="1"/>
          <p:nvPr/>
        </p:nvSpPr>
        <p:spPr>
          <a:xfrm>
            <a:off x="548640" y="3749039"/>
            <a:ext cx="10972800" cy="320040"/>
          </a:xfrm>
          <a:prstGeom prst="rect">
            <a:avLst/>
          </a:prstGeom>
          <a:noFill/>
        </p:spPr>
        <p:txBody>
          <a:bodyPr wrap="square">
            <a:spAutoFit/>
          </a:bodyPr>
          <a:lstStyle/>
          <a:p>
            <a:pPr algn="l">
              <a:defRPr sz="1100" b="0" i="1">
                <a:solidFill>
                  <a:srgbClr val="888888"/>
                </a:solidFill>
                <a:latin typeface="Helvetica Neue"/>
              </a:defRPr>
            </a:pPr>
            <a:r>
              <a:t>Known pain points: Static insights  |  2–3 month workshops  |  Annual plans  |  Intuition-based decisions</a:t>
            </a:r>
          </a:p>
        </p:txBody>
      </p:sp>
      <p:sp>
        <p:nvSpPr>
          <p:cNvPr id="6" name="Rectangle 5"/>
          <p:cNvSpPr/>
          <p:nvPr/>
        </p:nvSpPr>
        <p:spPr>
          <a:xfrm>
            <a:off x="548640" y="4297680"/>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89120"/>
            <a:ext cx="10058400" cy="548640"/>
          </a:xfrm>
          <a:prstGeom prst="rect">
            <a:avLst/>
          </a:prstGeom>
          <a:noFill/>
        </p:spPr>
        <p:txBody>
          <a:bodyPr wrap="square">
            <a:spAutoFit/>
          </a:bodyPr>
          <a:lstStyle/>
          <a:p>
            <a:pPr algn="l">
              <a:defRPr sz="1500" b="1" i="1">
                <a:solidFill>
                  <a:srgbClr val="FFFFFF"/>
                </a:solidFill>
                <a:latin typeface="Helvetica Neue"/>
              </a:defRPr>
            </a:pPr>
            <a:r>
              <a:t>Synthetic audiences are a top 2026 pharma trend — message testing without traditional recruitment timelines.</a:t>
            </a:r>
          </a:p>
        </p:txBody>
      </p:sp>
      <p:sp>
        <p:nvSpPr>
          <p:cNvPr id="8" name="TextBox 7"/>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9" name="TextBox 8"/>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502920"/>
          </a:xfrm>
          <a:prstGeom prst="rect">
            <a:avLst/>
          </a:prstGeom>
          <a:noFill/>
        </p:spPr>
        <p:txBody>
          <a:bodyPr wrap="square">
            <a:spAutoFit/>
          </a:bodyPr>
          <a:lstStyle/>
          <a:p>
            <a:pPr algn="l">
              <a:defRPr sz="2400" b="1" i="0">
                <a:solidFill>
                  <a:srgbClr val="000050"/>
                </a:solidFill>
                <a:latin typeface="Helvetica Neue"/>
              </a:defRPr>
            </a:pPr>
            <a:r>
              <a:t>CRAFTS — Content Excellence: Capability Gap</a:t>
            </a:r>
          </a:p>
        </p:txBody>
      </p:sp>
      <p:sp>
        <p:nvSpPr>
          <p:cNvPr id="3" name="TextBox 2"/>
          <p:cNvSpPr txBox="1"/>
          <p:nvPr/>
        </p:nvSpPr>
        <p:spPr>
          <a:xfrm>
            <a:off x="548640" y="822960"/>
            <a:ext cx="10972800" cy="320040"/>
          </a:xfrm>
          <a:prstGeom prst="rect">
            <a:avLst/>
          </a:prstGeom>
          <a:noFill/>
        </p:spPr>
        <p:txBody>
          <a:bodyPr wrap="square">
            <a:spAutoFit/>
          </a:bodyPr>
          <a:lstStyle/>
          <a:p>
            <a:pPr algn="l">
              <a:defRPr sz="1300" b="0" i="0">
                <a:solidFill>
                  <a:srgbClr val="1A1A1A"/>
                </a:solidFill>
                <a:latin typeface="Helvetica Neue"/>
              </a:defRPr>
            </a:pPr>
            <a:r>
              <a:t>MLR must become an integrated AI enabler — not a manual gatekeeper.</a:t>
            </a:r>
          </a:p>
        </p:txBody>
      </p:sp>
      <p:graphicFrame>
        <p:nvGraphicFramePr>
          <p:cNvPr id="4" name="Table 3"/>
          <p:cNvGraphicFramePr>
            <a:graphicFrameLocks noGrp="1"/>
          </p:cNvGraphicFramePr>
          <p:nvPr/>
        </p:nvGraphicFramePr>
        <p:xfrm>
          <a:off x="548640" y="1234440"/>
          <a:ext cx="10972800" cy="2286000"/>
        </p:xfrm>
        <a:graphic>
          <a:graphicData uri="http://schemas.openxmlformats.org/drawingml/2006/table">
            <a:tbl>
              <a:tblPr firstRow="1" bandRow="1">
                <a:tableStyleId>{5C22544A-7EE6-4342-B048-85BDC9FD1C3A}</a:tableStyleId>
              </a:tblPr>
              <a:tblGrid>
                <a:gridCol w="457200"/>
                <a:gridCol w="2468880"/>
                <a:gridCol w="2560320"/>
                <a:gridCol w="3017520"/>
                <a:gridCol w="2468880"/>
              </a:tblGrid>
              <a:tr h="457200">
                <a:tc>
                  <a:txBody>
                    <a:bodyPr/>
                    <a:lstStyle/>
                    <a:p>
                      <a:pPr>
                        <a:spcAft>
                          <a:spcPts val="200"/>
                        </a:spcAft>
                        <a:defRPr sz="1100" b="1">
                          <a:solidFill>
                            <a:srgbClr val="000050"/>
                          </a:solidFill>
                          <a:latin typeface="Helvetica Neue"/>
                        </a:defRPr>
                      </a:pPr>
                      <a:r>
                        <a:t>#</a:t>
                      </a:r>
                    </a:p>
                  </a:txBody>
                  <a:tcPr>
                    <a:solidFill>
                      <a:srgbClr val="DDDDF8"/>
                    </a:solidFill>
                  </a:tcPr>
                </a:tc>
                <a:tc>
                  <a:txBody>
                    <a:bodyPr/>
                    <a:lstStyle/>
                    <a:p>
                      <a:pPr>
                        <a:spcAft>
                          <a:spcPts val="200"/>
                        </a:spcAft>
                        <a:defRPr sz="1100" b="1">
                          <a:solidFill>
                            <a:srgbClr val="000050"/>
                          </a:solidFill>
                          <a:latin typeface="Helvetica Neue"/>
                        </a:defRPr>
                      </a:pPr>
                      <a:r>
                        <a:t>Capability</a:t>
                      </a:r>
                    </a:p>
                  </a:txBody>
                  <a:tcPr>
                    <a:solidFill>
                      <a:srgbClr val="DDDDF8"/>
                    </a:solidFill>
                  </a:tcPr>
                </a:tc>
                <a:tc>
                  <a:txBody>
                    <a:bodyPr/>
                    <a:lstStyle/>
                    <a:p>
                      <a:pPr>
                        <a:spcAft>
                          <a:spcPts val="200"/>
                        </a:spcAft>
                        <a:defRPr sz="1100" b="1">
                          <a:solidFill>
                            <a:srgbClr val="000050"/>
                          </a:solidFill>
                          <a:latin typeface="Helvetica Neue"/>
                        </a:defRPr>
                      </a:pPr>
                      <a:r>
                        <a:t>Current State</a:t>
                      </a:r>
                    </a:p>
                  </a:txBody>
                  <a:tcPr>
                    <a:solidFill>
                      <a:srgbClr val="DDDDF8"/>
                    </a:solidFill>
                  </a:tcPr>
                </a:tc>
                <a:tc>
                  <a:txBody>
                    <a:bodyPr/>
                    <a:lstStyle/>
                    <a:p>
                      <a:pPr>
                        <a:spcAft>
                          <a:spcPts val="200"/>
                        </a:spcAft>
                        <a:defRPr sz="1100" b="1">
                          <a:solidFill>
                            <a:srgbClr val="000050"/>
                          </a:solidFill>
                          <a:latin typeface="Helvetica Neue"/>
                        </a:defRPr>
                      </a:pPr>
                      <a:r>
                        <a:t>Future Tool</a:t>
                      </a:r>
                    </a:p>
                  </a:txBody>
                  <a:tcPr>
                    <a:solidFill>
                      <a:srgbClr val="DDDDF8"/>
                    </a:solidFill>
                  </a:tcPr>
                </a:tc>
                <a:tc>
                  <a:txBody>
                    <a:bodyPr/>
                    <a:lstStyle/>
                    <a:p>
                      <a:pPr>
                        <a:spcAft>
                          <a:spcPts val="200"/>
                        </a:spcAft>
                        <a:defRPr sz="1100" b="1">
                          <a:solidFill>
                            <a:srgbClr val="000050"/>
                          </a:solidFill>
                          <a:latin typeface="Helvetica Neue"/>
                        </a:defRPr>
                      </a:pPr>
                      <a:r>
                        <a:t>Status</a:t>
                      </a:r>
                    </a:p>
                  </a:txBody>
                  <a:tcPr>
                    <a:solidFill>
                      <a:srgbClr val="DDDDF8"/>
                    </a:solidFill>
                  </a:tcPr>
                </a:tc>
              </a:tr>
              <a:tr h="457200">
                <a:tc>
                  <a:txBody>
                    <a:bodyPr/>
                    <a:lstStyle/>
                    <a:p>
                      <a:pPr>
                        <a:spcAft>
                          <a:spcPts val="200"/>
                        </a:spcAft>
                        <a:defRPr sz="1100">
                          <a:solidFill>
                            <a:srgbClr val="1A1A1A"/>
                          </a:solidFill>
                          <a:latin typeface="Helvetica Neue"/>
                        </a:defRPr>
                      </a:pPr>
                      <a:r>
                        <a:t>9</a:t>
                      </a:r>
                    </a:p>
                  </a:txBody>
                  <a:tcPr>
                    <a:noFill/>
                  </a:tcPr>
                </a:tc>
                <a:tc>
                  <a:txBody>
                    <a:bodyPr/>
                    <a:lstStyle/>
                    <a:p>
                      <a:pPr>
                        <a:spcAft>
                          <a:spcPts val="200"/>
                        </a:spcAft>
                        <a:defRPr sz="1100">
                          <a:solidFill>
                            <a:srgbClr val="1A1A1A"/>
                          </a:solidFill>
                          <a:latin typeface="Helvetica Neue"/>
                        </a:defRPr>
                      </a:pPr>
                      <a:r>
                        <a:t>MLR Review &amp; Compliance</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Veeva Vault PromoMats + AI</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10</a:t>
                      </a:r>
                    </a:p>
                  </a:txBody>
                  <a:tcPr>
                    <a:noFill/>
                  </a:tcPr>
                </a:tc>
                <a:tc>
                  <a:txBody>
                    <a:bodyPr/>
                    <a:lstStyle/>
                    <a:p>
                      <a:pPr>
                        <a:spcAft>
                          <a:spcPts val="200"/>
                        </a:spcAft>
                        <a:defRPr sz="1100">
                          <a:solidFill>
                            <a:srgbClr val="1A1A1A"/>
                          </a:solidFill>
                          <a:latin typeface="Helvetica Neue"/>
                        </a:defRPr>
                      </a:pPr>
                      <a:r>
                        <a:t>Compliance Detection</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Indegene AI Compliance Engine</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11</a:t>
                      </a:r>
                    </a:p>
                  </a:txBody>
                  <a:tcPr>
                    <a:noFill/>
                  </a:tcPr>
                </a:tc>
                <a:tc>
                  <a:txBody>
                    <a:bodyPr/>
                    <a:lstStyle/>
                    <a:p>
                      <a:pPr>
                        <a:spcAft>
                          <a:spcPts val="200"/>
                        </a:spcAft>
                        <a:defRPr sz="1100">
                          <a:solidFill>
                            <a:srgbClr val="1A1A1A"/>
                          </a:solidFill>
                          <a:latin typeface="Helvetica Neue"/>
                        </a:defRPr>
                      </a:pPr>
                      <a:r>
                        <a:t>Modular Content Creation</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Writer.com / Adobe AEM</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12</a:t>
                      </a:r>
                    </a:p>
                  </a:txBody>
                  <a:tcPr>
                    <a:noFill/>
                  </a:tcPr>
                </a:tc>
                <a:tc>
                  <a:txBody>
                    <a:bodyPr/>
                    <a:lstStyle/>
                    <a:p>
                      <a:pPr>
                        <a:spcAft>
                          <a:spcPts val="200"/>
                        </a:spcAft>
                        <a:defRPr sz="1100">
                          <a:solidFill>
                            <a:srgbClr val="1A1A1A"/>
                          </a:solidFill>
                          <a:latin typeface="Helvetica Neue"/>
                        </a:defRPr>
                      </a:pPr>
                      <a:r>
                        <a:t>Content Testing &amp; Optimization</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Optimizely / VWO AI</a:t>
                      </a:r>
                    </a:p>
                  </a:txBody>
                  <a:tcPr>
                    <a:noFill/>
                  </a:tcPr>
                </a:tc>
                <a:tc>
                  <a:txBody>
                    <a:bodyPr/>
                    <a:lstStyle/>
                    <a:p>
                      <a:pPr>
                        <a:spcAft>
                          <a:spcPts val="200"/>
                        </a:spcAft>
                        <a:defRPr sz="1100">
                          <a:solidFill>
                            <a:srgbClr val="1A1A1A"/>
                          </a:solidFill>
                          <a:latin typeface="Helvetica Neue"/>
                        </a:defRPr>
                      </a:pPr>
                      <a:r>
                        <a:t>TBD</a:t>
                      </a:r>
                    </a:p>
                  </a:txBody>
                  <a:tcPr>
                    <a:noFill/>
                  </a:tcPr>
                </a:tc>
              </a:tr>
            </a:tbl>
          </a:graphicData>
        </a:graphic>
      </p:graphicFrame>
      <p:sp>
        <p:nvSpPr>
          <p:cNvPr id="5" name="TextBox 4"/>
          <p:cNvSpPr txBox="1"/>
          <p:nvPr/>
        </p:nvSpPr>
        <p:spPr>
          <a:xfrm>
            <a:off x="548640" y="3749039"/>
            <a:ext cx="10972800" cy="320040"/>
          </a:xfrm>
          <a:prstGeom prst="rect">
            <a:avLst/>
          </a:prstGeom>
          <a:noFill/>
        </p:spPr>
        <p:txBody>
          <a:bodyPr wrap="square">
            <a:spAutoFit/>
          </a:bodyPr>
          <a:lstStyle/>
          <a:p>
            <a:pPr algn="l">
              <a:defRPr sz="1100" b="0" i="1">
                <a:solidFill>
                  <a:srgbClr val="888888"/>
                </a:solidFill>
                <a:latin typeface="Helvetica Neue"/>
              </a:defRPr>
            </a:pPr>
            <a:r>
              <a:t>Known pain points: Slow MLR reviews  |  Manual coordination  |  Linear rollouts  |  One-size-fits-all</a:t>
            </a:r>
          </a:p>
        </p:txBody>
      </p:sp>
      <p:sp>
        <p:nvSpPr>
          <p:cNvPr id="6" name="Rectangle 5"/>
          <p:cNvSpPr/>
          <p:nvPr/>
        </p:nvSpPr>
        <p:spPr>
          <a:xfrm>
            <a:off x="548640" y="4297680"/>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89120"/>
            <a:ext cx="10058400" cy="548640"/>
          </a:xfrm>
          <a:prstGeom prst="rect">
            <a:avLst/>
          </a:prstGeom>
          <a:noFill/>
        </p:spPr>
        <p:txBody>
          <a:bodyPr wrap="square">
            <a:spAutoFit/>
          </a:bodyPr>
          <a:lstStyle/>
          <a:p>
            <a:pPr algn="l">
              <a:defRPr sz="1500" b="1" i="1">
                <a:solidFill>
                  <a:srgbClr val="FFFFFF"/>
                </a:solidFill>
                <a:latin typeface="Helvetica Neue"/>
              </a:defRPr>
            </a:pPr>
            <a:r>
              <a:t>Veeva PromoMats AI Agents (Dec 2025): up to 75% MLR cycle time reduction. Available now.</a:t>
            </a:r>
          </a:p>
        </p:txBody>
      </p:sp>
      <p:sp>
        <p:nvSpPr>
          <p:cNvPr id="8" name="TextBox 7"/>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9" name="TextBox 8"/>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502920"/>
          </a:xfrm>
          <a:prstGeom prst="rect">
            <a:avLst/>
          </a:prstGeom>
          <a:noFill/>
        </p:spPr>
        <p:txBody>
          <a:bodyPr wrap="square">
            <a:spAutoFit/>
          </a:bodyPr>
          <a:lstStyle/>
          <a:p>
            <a:pPr algn="l">
              <a:defRPr sz="2400" b="1" i="0">
                <a:solidFill>
                  <a:srgbClr val="000050"/>
                </a:solidFill>
                <a:latin typeface="Helvetica Neue"/>
              </a:defRPr>
            </a:pPr>
            <a:r>
              <a:t>SPARK — Customer Engagement: Capability Gap</a:t>
            </a:r>
          </a:p>
        </p:txBody>
      </p:sp>
      <p:sp>
        <p:nvSpPr>
          <p:cNvPr id="3" name="TextBox 2"/>
          <p:cNvSpPr txBox="1"/>
          <p:nvPr/>
        </p:nvSpPr>
        <p:spPr>
          <a:xfrm>
            <a:off x="548640" y="822960"/>
            <a:ext cx="10972800" cy="320040"/>
          </a:xfrm>
          <a:prstGeom prst="rect">
            <a:avLst/>
          </a:prstGeom>
          <a:noFill/>
        </p:spPr>
        <p:txBody>
          <a:bodyPr wrap="square">
            <a:spAutoFit/>
          </a:bodyPr>
          <a:lstStyle/>
          <a:p>
            <a:pPr algn="l">
              <a:defRPr sz="1300" b="0" i="0">
                <a:solidFill>
                  <a:srgbClr val="1A1A1A"/>
                </a:solidFill>
                <a:latin typeface="Helvetica Neue"/>
              </a:defRPr>
            </a:pPr>
            <a:r>
              <a:t>From mass reach to intelligent, personalized HCP and patient journeys.</a:t>
            </a:r>
          </a:p>
        </p:txBody>
      </p:sp>
      <p:graphicFrame>
        <p:nvGraphicFramePr>
          <p:cNvPr id="4" name="Table 3"/>
          <p:cNvGraphicFramePr>
            <a:graphicFrameLocks noGrp="1"/>
          </p:cNvGraphicFramePr>
          <p:nvPr/>
        </p:nvGraphicFramePr>
        <p:xfrm>
          <a:off x="548640" y="1234440"/>
          <a:ext cx="10972800" cy="2286000"/>
        </p:xfrm>
        <a:graphic>
          <a:graphicData uri="http://schemas.openxmlformats.org/drawingml/2006/table">
            <a:tbl>
              <a:tblPr firstRow="1" bandRow="1">
                <a:tableStyleId>{5C22544A-7EE6-4342-B048-85BDC9FD1C3A}</a:tableStyleId>
              </a:tblPr>
              <a:tblGrid>
                <a:gridCol w="457200"/>
                <a:gridCol w="2651760"/>
                <a:gridCol w="2560320"/>
                <a:gridCol w="3017520"/>
                <a:gridCol w="2286000"/>
              </a:tblGrid>
              <a:tr h="457200">
                <a:tc>
                  <a:txBody>
                    <a:bodyPr/>
                    <a:lstStyle/>
                    <a:p>
                      <a:pPr>
                        <a:spcAft>
                          <a:spcPts val="200"/>
                        </a:spcAft>
                        <a:defRPr sz="1100" b="1">
                          <a:solidFill>
                            <a:srgbClr val="000050"/>
                          </a:solidFill>
                          <a:latin typeface="Helvetica Neue"/>
                        </a:defRPr>
                      </a:pPr>
                      <a:r>
                        <a:t>#</a:t>
                      </a:r>
                    </a:p>
                  </a:txBody>
                  <a:tcPr>
                    <a:solidFill>
                      <a:srgbClr val="DDDDF8"/>
                    </a:solidFill>
                  </a:tcPr>
                </a:tc>
                <a:tc>
                  <a:txBody>
                    <a:bodyPr/>
                    <a:lstStyle/>
                    <a:p>
                      <a:pPr>
                        <a:spcAft>
                          <a:spcPts val="200"/>
                        </a:spcAft>
                        <a:defRPr sz="1100" b="1">
                          <a:solidFill>
                            <a:srgbClr val="000050"/>
                          </a:solidFill>
                          <a:latin typeface="Helvetica Neue"/>
                        </a:defRPr>
                      </a:pPr>
                      <a:r>
                        <a:t>Capability</a:t>
                      </a:r>
                    </a:p>
                  </a:txBody>
                  <a:tcPr>
                    <a:solidFill>
                      <a:srgbClr val="DDDDF8"/>
                    </a:solidFill>
                  </a:tcPr>
                </a:tc>
                <a:tc>
                  <a:txBody>
                    <a:bodyPr/>
                    <a:lstStyle/>
                    <a:p>
                      <a:pPr>
                        <a:spcAft>
                          <a:spcPts val="200"/>
                        </a:spcAft>
                        <a:defRPr sz="1100" b="1">
                          <a:solidFill>
                            <a:srgbClr val="000050"/>
                          </a:solidFill>
                          <a:latin typeface="Helvetica Neue"/>
                        </a:defRPr>
                      </a:pPr>
                      <a:r>
                        <a:t>Current State</a:t>
                      </a:r>
                    </a:p>
                  </a:txBody>
                  <a:tcPr>
                    <a:solidFill>
                      <a:srgbClr val="DDDDF8"/>
                    </a:solidFill>
                  </a:tcPr>
                </a:tc>
                <a:tc>
                  <a:txBody>
                    <a:bodyPr/>
                    <a:lstStyle/>
                    <a:p>
                      <a:pPr>
                        <a:spcAft>
                          <a:spcPts val="200"/>
                        </a:spcAft>
                        <a:defRPr sz="1100" b="1">
                          <a:solidFill>
                            <a:srgbClr val="000050"/>
                          </a:solidFill>
                          <a:latin typeface="Helvetica Neue"/>
                        </a:defRPr>
                      </a:pPr>
                      <a:r>
                        <a:t>Future Tool</a:t>
                      </a:r>
                    </a:p>
                  </a:txBody>
                  <a:tcPr>
                    <a:solidFill>
                      <a:srgbClr val="DDDDF8"/>
                    </a:solidFill>
                  </a:tcPr>
                </a:tc>
                <a:tc>
                  <a:txBody>
                    <a:bodyPr/>
                    <a:lstStyle/>
                    <a:p>
                      <a:pPr>
                        <a:spcAft>
                          <a:spcPts val="200"/>
                        </a:spcAft>
                        <a:defRPr sz="1100" b="1">
                          <a:solidFill>
                            <a:srgbClr val="000050"/>
                          </a:solidFill>
                          <a:latin typeface="Helvetica Neue"/>
                        </a:defRPr>
                      </a:pPr>
                      <a:r>
                        <a:t>Status</a:t>
                      </a:r>
                    </a:p>
                  </a:txBody>
                  <a:tcPr>
                    <a:solidFill>
                      <a:srgbClr val="DDDDF8"/>
                    </a:solidFill>
                  </a:tcPr>
                </a:tc>
              </a:tr>
              <a:tr h="457200">
                <a:tc>
                  <a:txBody>
                    <a:bodyPr/>
                    <a:lstStyle/>
                    <a:p>
                      <a:pPr>
                        <a:spcAft>
                          <a:spcPts val="200"/>
                        </a:spcAft>
                        <a:defRPr sz="1100">
                          <a:solidFill>
                            <a:srgbClr val="1A1A1A"/>
                          </a:solidFill>
                          <a:latin typeface="Helvetica Neue"/>
                        </a:defRPr>
                      </a:pPr>
                      <a:r>
                        <a:t>13</a:t>
                      </a:r>
                    </a:p>
                  </a:txBody>
                  <a:tcPr>
                    <a:noFill/>
                  </a:tcPr>
                </a:tc>
                <a:tc>
                  <a:txBody>
                    <a:bodyPr/>
                    <a:lstStyle/>
                    <a:p>
                      <a:pPr>
                        <a:spcAft>
                          <a:spcPts val="200"/>
                        </a:spcAft>
                        <a:defRPr sz="1100">
                          <a:solidFill>
                            <a:srgbClr val="1A1A1A"/>
                          </a:solidFill>
                          <a:latin typeface="Helvetica Neue"/>
                        </a:defRPr>
                      </a:pPr>
                      <a:r>
                        <a:t>Next-Best-Action (NBA)</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Aktana / PharmaForceIQ</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14</a:t>
                      </a:r>
                    </a:p>
                  </a:txBody>
                  <a:tcPr>
                    <a:noFill/>
                  </a:tcPr>
                </a:tc>
                <a:tc>
                  <a:txBody>
                    <a:bodyPr/>
                    <a:lstStyle/>
                    <a:p>
                      <a:pPr>
                        <a:spcAft>
                          <a:spcPts val="200"/>
                        </a:spcAft>
                        <a:defRPr sz="1100">
                          <a:solidFill>
                            <a:srgbClr val="1A1A1A"/>
                          </a:solidFill>
                          <a:latin typeface="Helvetica Neue"/>
                        </a:defRPr>
                      </a:pPr>
                      <a:r>
                        <a:t>CRM &amp; HCP Journey Orchestration</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Veeva Vault CRM AI Agents</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15</a:t>
                      </a:r>
                    </a:p>
                  </a:txBody>
                  <a:tcPr>
                    <a:noFill/>
                  </a:tcPr>
                </a:tc>
                <a:tc>
                  <a:txBody>
                    <a:bodyPr/>
                    <a:lstStyle/>
                    <a:p>
                      <a:pPr>
                        <a:spcAft>
                          <a:spcPts val="200"/>
                        </a:spcAft>
                        <a:defRPr sz="1100">
                          <a:solidFill>
                            <a:srgbClr val="1A1A1A"/>
                          </a:solidFill>
                          <a:latin typeface="Helvetica Neue"/>
                        </a:defRPr>
                      </a:pPr>
                      <a:r>
                        <a:t>Patient Engagement</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Conversa Health</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16</a:t>
                      </a:r>
                    </a:p>
                  </a:txBody>
                  <a:tcPr>
                    <a:noFill/>
                  </a:tcPr>
                </a:tc>
                <a:tc>
                  <a:txBody>
                    <a:bodyPr/>
                    <a:lstStyle/>
                    <a:p>
                      <a:pPr>
                        <a:spcAft>
                          <a:spcPts val="200"/>
                        </a:spcAft>
                        <a:defRPr sz="1100">
                          <a:solidFill>
                            <a:srgbClr val="1A1A1A"/>
                          </a:solidFill>
                          <a:latin typeface="Helvetica Neue"/>
                        </a:defRPr>
                      </a:pPr>
                      <a:r>
                        <a:t>Omnichannel Personalization</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Adobe Sensei / Marketing Cloud</a:t>
                      </a:r>
                    </a:p>
                  </a:txBody>
                  <a:tcPr>
                    <a:noFill/>
                  </a:tcPr>
                </a:tc>
                <a:tc>
                  <a:txBody>
                    <a:bodyPr/>
                    <a:lstStyle/>
                    <a:p>
                      <a:pPr>
                        <a:spcAft>
                          <a:spcPts val="200"/>
                        </a:spcAft>
                        <a:defRPr sz="1100">
                          <a:solidFill>
                            <a:srgbClr val="1A1A1A"/>
                          </a:solidFill>
                          <a:latin typeface="Helvetica Neue"/>
                        </a:defRPr>
                      </a:pPr>
                      <a:r>
                        <a:t>TBD</a:t>
                      </a:r>
                    </a:p>
                  </a:txBody>
                  <a:tcPr>
                    <a:noFill/>
                  </a:tcPr>
                </a:tc>
              </a:tr>
            </a:tbl>
          </a:graphicData>
        </a:graphic>
      </p:graphicFrame>
      <p:sp>
        <p:nvSpPr>
          <p:cNvPr id="5" name="TextBox 4"/>
          <p:cNvSpPr txBox="1"/>
          <p:nvPr/>
        </p:nvSpPr>
        <p:spPr>
          <a:xfrm>
            <a:off x="548640" y="3749039"/>
            <a:ext cx="10972800" cy="320040"/>
          </a:xfrm>
          <a:prstGeom prst="rect">
            <a:avLst/>
          </a:prstGeom>
          <a:noFill/>
        </p:spPr>
        <p:txBody>
          <a:bodyPr wrap="square">
            <a:spAutoFit/>
          </a:bodyPr>
          <a:lstStyle/>
          <a:p>
            <a:pPr algn="l">
              <a:defRPr sz="1100" b="0" i="1">
                <a:solidFill>
                  <a:srgbClr val="888888"/>
                </a:solidFill>
                <a:latin typeface="Helvetica Neue"/>
              </a:defRPr>
            </a:pPr>
            <a:r>
              <a:t>Known pain points: Mass reach  |  Broad segments  |  Reactive planning  |  Disconnected data silos</a:t>
            </a:r>
          </a:p>
        </p:txBody>
      </p:sp>
      <p:sp>
        <p:nvSpPr>
          <p:cNvPr id="6" name="Rectangle 5"/>
          <p:cNvSpPr/>
          <p:nvPr/>
        </p:nvSpPr>
        <p:spPr>
          <a:xfrm>
            <a:off x="548640" y="4297680"/>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89120"/>
            <a:ext cx="10058400" cy="548640"/>
          </a:xfrm>
          <a:prstGeom prst="rect">
            <a:avLst/>
          </a:prstGeom>
          <a:noFill/>
        </p:spPr>
        <p:txBody>
          <a:bodyPr wrap="square">
            <a:spAutoFit/>
          </a:bodyPr>
          <a:lstStyle/>
          <a:p>
            <a:pPr algn="l">
              <a:defRPr sz="1500" b="1" i="1">
                <a:solidFill>
                  <a:srgbClr val="FFFFFF"/>
                </a:solidFill>
                <a:latin typeface="Helvetica Neue"/>
              </a:defRPr>
            </a:pPr>
            <a:r>
              <a:t>Aktana / PharmaForceIQ (merged Jan 2026): 36% NBRx lift, 100M+ field AI suggestions.</a:t>
            </a:r>
          </a:p>
        </p:txBody>
      </p:sp>
      <p:sp>
        <p:nvSpPr>
          <p:cNvPr id="8" name="TextBox 7"/>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9" name="TextBox 8"/>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502920"/>
          </a:xfrm>
          <a:prstGeom prst="rect">
            <a:avLst/>
          </a:prstGeom>
          <a:noFill/>
        </p:spPr>
        <p:txBody>
          <a:bodyPr wrap="square">
            <a:spAutoFit/>
          </a:bodyPr>
          <a:lstStyle/>
          <a:p>
            <a:pPr algn="l">
              <a:defRPr sz="2400" b="1" i="0">
                <a:solidFill>
                  <a:srgbClr val="000050"/>
                </a:solidFill>
                <a:latin typeface="Helvetica Neue"/>
              </a:defRPr>
            </a:pPr>
            <a:r>
              <a:t>ACCESS — Market Access: Capability Gap</a:t>
            </a:r>
          </a:p>
        </p:txBody>
      </p:sp>
      <p:sp>
        <p:nvSpPr>
          <p:cNvPr id="3" name="TextBox 2"/>
          <p:cNvSpPr txBox="1"/>
          <p:nvPr/>
        </p:nvSpPr>
        <p:spPr>
          <a:xfrm>
            <a:off x="548640" y="822960"/>
            <a:ext cx="10972800" cy="320040"/>
          </a:xfrm>
          <a:prstGeom prst="rect">
            <a:avLst/>
          </a:prstGeom>
          <a:noFill/>
        </p:spPr>
        <p:txBody>
          <a:bodyPr wrap="square">
            <a:spAutoFit/>
          </a:bodyPr>
          <a:lstStyle/>
          <a:p>
            <a:pPr algn="l">
              <a:defRPr sz="1300" b="0" i="0">
                <a:solidFill>
                  <a:srgbClr val="1A1A1A"/>
                </a:solidFill>
                <a:latin typeface="Helvetica Neue"/>
              </a:defRPr>
            </a:pPr>
            <a:r>
              <a:t>From reactive payer response to proactive, AI-simulated access strategy.</a:t>
            </a:r>
          </a:p>
        </p:txBody>
      </p:sp>
      <p:graphicFrame>
        <p:nvGraphicFramePr>
          <p:cNvPr id="4" name="Table 3"/>
          <p:cNvGraphicFramePr>
            <a:graphicFrameLocks noGrp="1"/>
          </p:cNvGraphicFramePr>
          <p:nvPr/>
        </p:nvGraphicFramePr>
        <p:xfrm>
          <a:off x="548640" y="1234440"/>
          <a:ext cx="10972800" cy="2286000"/>
        </p:xfrm>
        <a:graphic>
          <a:graphicData uri="http://schemas.openxmlformats.org/drawingml/2006/table">
            <a:tbl>
              <a:tblPr firstRow="1" bandRow="1">
                <a:tableStyleId>{5C22544A-7EE6-4342-B048-85BDC9FD1C3A}</a:tableStyleId>
              </a:tblPr>
              <a:tblGrid>
                <a:gridCol w="457200"/>
                <a:gridCol w="2468880"/>
                <a:gridCol w="2560320"/>
                <a:gridCol w="3291840"/>
                <a:gridCol w="2194560"/>
              </a:tblGrid>
              <a:tr h="457200">
                <a:tc>
                  <a:txBody>
                    <a:bodyPr/>
                    <a:lstStyle/>
                    <a:p>
                      <a:pPr>
                        <a:spcAft>
                          <a:spcPts val="200"/>
                        </a:spcAft>
                        <a:defRPr sz="1100" b="1">
                          <a:solidFill>
                            <a:srgbClr val="000050"/>
                          </a:solidFill>
                          <a:latin typeface="Helvetica Neue"/>
                        </a:defRPr>
                      </a:pPr>
                      <a:r>
                        <a:t>#</a:t>
                      </a:r>
                    </a:p>
                  </a:txBody>
                  <a:tcPr>
                    <a:solidFill>
                      <a:srgbClr val="DDDDF8"/>
                    </a:solidFill>
                  </a:tcPr>
                </a:tc>
                <a:tc>
                  <a:txBody>
                    <a:bodyPr/>
                    <a:lstStyle/>
                    <a:p>
                      <a:pPr>
                        <a:spcAft>
                          <a:spcPts val="200"/>
                        </a:spcAft>
                        <a:defRPr sz="1100" b="1">
                          <a:solidFill>
                            <a:srgbClr val="000050"/>
                          </a:solidFill>
                          <a:latin typeface="Helvetica Neue"/>
                        </a:defRPr>
                      </a:pPr>
                      <a:r>
                        <a:t>Capability</a:t>
                      </a:r>
                    </a:p>
                  </a:txBody>
                  <a:tcPr>
                    <a:solidFill>
                      <a:srgbClr val="DDDDF8"/>
                    </a:solidFill>
                  </a:tcPr>
                </a:tc>
                <a:tc>
                  <a:txBody>
                    <a:bodyPr/>
                    <a:lstStyle/>
                    <a:p>
                      <a:pPr>
                        <a:spcAft>
                          <a:spcPts val="200"/>
                        </a:spcAft>
                        <a:defRPr sz="1100" b="1">
                          <a:solidFill>
                            <a:srgbClr val="000050"/>
                          </a:solidFill>
                          <a:latin typeface="Helvetica Neue"/>
                        </a:defRPr>
                      </a:pPr>
                      <a:r>
                        <a:t>Current State</a:t>
                      </a:r>
                    </a:p>
                  </a:txBody>
                  <a:tcPr>
                    <a:solidFill>
                      <a:srgbClr val="DDDDF8"/>
                    </a:solidFill>
                  </a:tcPr>
                </a:tc>
                <a:tc>
                  <a:txBody>
                    <a:bodyPr/>
                    <a:lstStyle/>
                    <a:p>
                      <a:pPr>
                        <a:spcAft>
                          <a:spcPts val="200"/>
                        </a:spcAft>
                        <a:defRPr sz="1100" b="1">
                          <a:solidFill>
                            <a:srgbClr val="000050"/>
                          </a:solidFill>
                          <a:latin typeface="Helvetica Neue"/>
                        </a:defRPr>
                      </a:pPr>
                      <a:r>
                        <a:t>Future Tool</a:t>
                      </a:r>
                    </a:p>
                  </a:txBody>
                  <a:tcPr>
                    <a:solidFill>
                      <a:srgbClr val="DDDDF8"/>
                    </a:solidFill>
                  </a:tcPr>
                </a:tc>
                <a:tc>
                  <a:txBody>
                    <a:bodyPr/>
                    <a:lstStyle/>
                    <a:p>
                      <a:pPr>
                        <a:spcAft>
                          <a:spcPts val="200"/>
                        </a:spcAft>
                        <a:defRPr sz="1100" b="1">
                          <a:solidFill>
                            <a:srgbClr val="000050"/>
                          </a:solidFill>
                          <a:latin typeface="Helvetica Neue"/>
                        </a:defRPr>
                      </a:pPr>
                      <a:r>
                        <a:t>Status</a:t>
                      </a:r>
                    </a:p>
                  </a:txBody>
                  <a:tcPr>
                    <a:solidFill>
                      <a:srgbClr val="DDDDF8"/>
                    </a:solidFill>
                  </a:tcPr>
                </a:tc>
              </a:tr>
              <a:tr h="457200">
                <a:tc>
                  <a:txBody>
                    <a:bodyPr/>
                    <a:lstStyle/>
                    <a:p>
                      <a:pPr>
                        <a:spcAft>
                          <a:spcPts val="200"/>
                        </a:spcAft>
                        <a:defRPr sz="1100">
                          <a:solidFill>
                            <a:srgbClr val="1A1A1A"/>
                          </a:solidFill>
                          <a:latin typeface="Helvetica Neue"/>
                        </a:defRPr>
                      </a:pPr>
                      <a:r>
                        <a:t>17</a:t>
                      </a:r>
                    </a:p>
                  </a:txBody>
                  <a:tcPr>
                    <a:noFill/>
                  </a:tcPr>
                </a:tc>
                <a:tc>
                  <a:txBody>
                    <a:bodyPr/>
                    <a:lstStyle/>
                    <a:p>
                      <a:pPr>
                        <a:spcAft>
                          <a:spcPts val="200"/>
                        </a:spcAft>
                        <a:defRPr sz="1100">
                          <a:solidFill>
                            <a:srgbClr val="1A1A1A"/>
                          </a:solidFill>
                          <a:latin typeface="Helvetica Neue"/>
                        </a:defRPr>
                      </a:pPr>
                      <a:r>
                        <a:t>Competitive Intelligence</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IQVIA Market Edge AI</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18</a:t>
                      </a:r>
                    </a:p>
                  </a:txBody>
                  <a:tcPr>
                    <a:noFill/>
                  </a:tcPr>
                </a:tc>
                <a:tc>
                  <a:txBody>
                    <a:bodyPr/>
                    <a:lstStyle/>
                    <a:p>
                      <a:pPr>
                        <a:spcAft>
                          <a:spcPts val="200"/>
                        </a:spcAft>
                        <a:defRPr sz="1100">
                          <a:solidFill>
                            <a:srgbClr val="1A1A1A"/>
                          </a:solidFill>
                          <a:latin typeface="Helvetica Neue"/>
                        </a:defRPr>
                      </a:pPr>
                      <a:r>
                        <a:t>HTA &amp; Value Dossier</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Payer Sciences / ZS ZAIDYN Access</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19</a:t>
                      </a:r>
                    </a:p>
                  </a:txBody>
                  <a:tcPr>
                    <a:noFill/>
                  </a:tcPr>
                </a:tc>
                <a:tc>
                  <a:txBody>
                    <a:bodyPr/>
                    <a:lstStyle/>
                    <a:p>
                      <a:pPr>
                        <a:spcAft>
                          <a:spcPts val="200"/>
                        </a:spcAft>
                        <a:defRPr sz="1100">
                          <a:solidFill>
                            <a:srgbClr val="1A1A1A"/>
                          </a:solidFill>
                          <a:latin typeface="Helvetica Neue"/>
                        </a:defRPr>
                      </a:pPr>
                      <a:r>
                        <a:t>Patient Support Programs</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ConnectiveRx AI Platform</a:t>
                      </a:r>
                    </a:p>
                  </a:txBody>
                  <a:tcPr>
                    <a:noFill/>
                  </a:tcPr>
                </a:tc>
                <a:tc>
                  <a:txBody>
                    <a:bodyPr/>
                    <a:lstStyle/>
                    <a:p>
                      <a:pPr>
                        <a:spcAft>
                          <a:spcPts val="200"/>
                        </a:spcAft>
                        <a:defRPr sz="1100">
                          <a:solidFill>
                            <a:srgbClr val="1A1A1A"/>
                          </a:solidFill>
                          <a:latin typeface="Helvetica Neue"/>
                        </a:defRPr>
                      </a:pPr>
                      <a:r>
                        <a:t>TBD</a:t>
                      </a:r>
                    </a:p>
                  </a:txBody>
                  <a:tcPr>
                    <a:noFill/>
                  </a:tcPr>
                </a:tc>
              </a:tr>
              <a:tr h="457200">
                <a:tc>
                  <a:txBody>
                    <a:bodyPr/>
                    <a:lstStyle/>
                    <a:p>
                      <a:pPr>
                        <a:spcAft>
                          <a:spcPts val="200"/>
                        </a:spcAft>
                        <a:defRPr sz="1100">
                          <a:solidFill>
                            <a:srgbClr val="1A1A1A"/>
                          </a:solidFill>
                          <a:latin typeface="Helvetica Neue"/>
                        </a:defRPr>
                      </a:pPr>
                      <a:r>
                        <a:t>20</a:t>
                      </a:r>
                    </a:p>
                  </a:txBody>
                  <a:tcPr>
                    <a:noFill/>
                  </a:tcPr>
                </a:tc>
                <a:tc>
                  <a:txBody>
                    <a:bodyPr/>
                    <a:lstStyle/>
                    <a:p>
                      <a:pPr>
                        <a:spcAft>
                          <a:spcPts val="200"/>
                        </a:spcAft>
                        <a:defRPr sz="1100">
                          <a:solidFill>
                            <a:srgbClr val="1A1A1A"/>
                          </a:solidFill>
                          <a:latin typeface="Helvetica Neue"/>
                        </a:defRPr>
                      </a:pPr>
                      <a:r>
                        <a:t>Regulatory &amp; Access Compliance</a:t>
                      </a:r>
                    </a:p>
                  </a:txBody>
                  <a:tcPr>
                    <a:noFill/>
                  </a:tcPr>
                </a:tc>
                <a:tc>
                  <a:txBody>
                    <a:bodyPr/>
                    <a:lstStyle/>
                    <a:p>
                      <a:pPr>
                        <a:spcAft>
                          <a:spcPts val="200"/>
                        </a:spcAft>
                        <a:defRPr sz="1100">
                          <a:solidFill>
                            <a:srgbClr val="1A1A1A"/>
                          </a:solidFill>
                          <a:latin typeface="Helvetica Neue"/>
                        </a:defRPr>
                      </a:pPr>
                      <a:r>
                        <a:t>Investigation for Validation</a:t>
                      </a:r>
                    </a:p>
                  </a:txBody>
                  <a:tcPr>
                    <a:noFill/>
                  </a:tcPr>
                </a:tc>
                <a:tc>
                  <a:txBody>
                    <a:bodyPr/>
                    <a:lstStyle/>
                    <a:p>
                      <a:pPr>
                        <a:spcAft>
                          <a:spcPts val="200"/>
                        </a:spcAft>
                        <a:defRPr sz="1100">
                          <a:solidFill>
                            <a:srgbClr val="1A1A1A"/>
                          </a:solidFill>
                          <a:latin typeface="Helvetica Neue"/>
                        </a:defRPr>
                      </a:pPr>
                      <a:r>
                        <a:t>RegASK / Veripharm</a:t>
                      </a:r>
                    </a:p>
                  </a:txBody>
                  <a:tcPr>
                    <a:noFill/>
                  </a:tcPr>
                </a:tc>
                <a:tc>
                  <a:txBody>
                    <a:bodyPr/>
                    <a:lstStyle/>
                    <a:p>
                      <a:pPr>
                        <a:spcAft>
                          <a:spcPts val="200"/>
                        </a:spcAft>
                        <a:defRPr sz="1100">
                          <a:solidFill>
                            <a:srgbClr val="1A1A1A"/>
                          </a:solidFill>
                          <a:latin typeface="Helvetica Neue"/>
                        </a:defRPr>
                      </a:pPr>
                      <a:r>
                        <a:t>TBD</a:t>
                      </a:r>
                    </a:p>
                  </a:txBody>
                  <a:tcPr>
                    <a:noFill/>
                  </a:tcPr>
                </a:tc>
              </a:tr>
            </a:tbl>
          </a:graphicData>
        </a:graphic>
      </p:graphicFrame>
      <p:sp>
        <p:nvSpPr>
          <p:cNvPr id="5" name="TextBox 4"/>
          <p:cNvSpPr txBox="1"/>
          <p:nvPr/>
        </p:nvSpPr>
        <p:spPr>
          <a:xfrm>
            <a:off x="548640" y="3749039"/>
            <a:ext cx="10972800" cy="320040"/>
          </a:xfrm>
          <a:prstGeom prst="rect">
            <a:avLst/>
          </a:prstGeom>
          <a:noFill/>
        </p:spPr>
        <p:txBody>
          <a:bodyPr wrap="square">
            <a:spAutoFit/>
          </a:bodyPr>
          <a:lstStyle/>
          <a:p>
            <a:pPr algn="l">
              <a:defRPr sz="1100" b="0" i="1">
                <a:solidFill>
                  <a:srgbClr val="888888"/>
                </a:solidFill>
                <a:latin typeface="Helvetica Neue"/>
              </a:defRPr>
            </a:pPr>
            <a:r>
              <a:t>Known pain points: Reactive payer response  |  Siloed data  |  Post-campaign analysis only</a:t>
            </a:r>
          </a:p>
        </p:txBody>
      </p:sp>
      <p:sp>
        <p:nvSpPr>
          <p:cNvPr id="6" name="Rectangle 5"/>
          <p:cNvSpPr/>
          <p:nvPr/>
        </p:nvSpPr>
        <p:spPr>
          <a:xfrm>
            <a:off x="548640" y="4297680"/>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89120"/>
            <a:ext cx="10058400" cy="548640"/>
          </a:xfrm>
          <a:prstGeom prst="rect">
            <a:avLst/>
          </a:prstGeom>
          <a:noFill/>
        </p:spPr>
        <p:txBody>
          <a:bodyPr wrap="square">
            <a:spAutoFit/>
          </a:bodyPr>
          <a:lstStyle/>
          <a:p>
            <a:pPr algn="l">
              <a:defRPr sz="1500" b="1" i="1">
                <a:solidFill>
                  <a:srgbClr val="FFFFFF"/>
                </a:solidFill>
                <a:latin typeface="Helvetica Neue"/>
              </a:defRPr>
            </a:pPr>
            <a:r>
              <a:t>Value dossier automation can compress HTA submission timelines from months to weeks.</a:t>
            </a:r>
          </a:p>
        </p:txBody>
      </p:sp>
      <p:sp>
        <p:nvSpPr>
          <p:cNvPr id="8" name="TextBox 7"/>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9" name="TextBox 8"/>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50"/>
        </a:solidFill>
        <a:effectLst/>
      </p:bgPr>
    </p:bg>
    <p:spTree>
      <p:nvGrpSpPr>
        <p:cNvPr id="1" name=""/>
        <p:cNvGrpSpPr/>
        <p:nvPr/>
      </p:nvGrpSpPr>
      <p:grpSpPr/>
      <p:sp>
        <p:nvSpPr>
          <p:cNvPr id="2" name="TextBox 1"/>
          <p:cNvSpPr txBox="1"/>
          <p:nvPr/>
        </p:nvSpPr>
        <p:spPr>
          <a:xfrm>
            <a:off x="731520" y="2286000"/>
            <a:ext cx="3657600" cy="731520"/>
          </a:xfrm>
          <a:prstGeom prst="rect">
            <a:avLst/>
          </a:prstGeom>
          <a:noFill/>
        </p:spPr>
        <p:txBody>
          <a:bodyPr wrap="square">
            <a:spAutoFit/>
          </a:bodyPr>
          <a:lstStyle/>
          <a:p>
            <a:pPr algn="l">
              <a:defRPr sz="4800" b="0" i="0">
                <a:solidFill>
                  <a:srgbClr val="FFFFFF"/>
                </a:solidFill>
                <a:latin typeface="Helvetica Neue"/>
              </a:defRPr>
            </a:pPr>
            <a:r>
              <a:t>04</a:t>
            </a:r>
          </a:p>
        </p:txBody>
      </p:sp>
      <p:sp>
        <p:nvSpPr>
          <p:cNvPr id="3" name="TextBox 2"/>
          <p:cNvSpPr txBox="1"/>
          <p:nvPr/>
        </p:nvSpPr>
        <p:spPr>
          <a:xfrm>
            <a:off x="731520" y="3200400"/>
            <a:ext cx="9144000" cy="914400"/>
          </a:xfrm>
          <a:prstGeom prst="rect">
            <a:avLst/>
          </a:prstGeom>
          <a:noFill/>
        </p:spPr>
        <p:txBody>
          <a:bodyPr wrap="square">
            <a:spAutoFit/>
          </a:bodyPr>
          <a:lstStyle/>
          <a:p>
            <a:pPr algn="l">
              <a:defRPr sz="4000" b="0" i="0">
                <a:solidFill>
                  <a:srgbClr val="FFFFFF"/>
                </a:solidFill>
                <a:latin typeface="Helvetica Neue"/>
              </a:defRPr>
            </a:pPr>
            <a:r>
              <a:t>Validation Workplan</a:t>
            </a:r>
          </a:p>
        </p:txBody>
      </p:sp>
      <p:sp>
        <p:nvSpPr>
          <p:cNvPr id="4" name="TextBox 3"/>
          <p:cNvSpPr txBox="1"/>
          <p:nvPr/>
        </p:nvSpPr>
        <p:spPr>
          <a:xfrm>
            <a:off x="731520" y="4114800"/>
            <a:ext cx="9144000" cy="548640"/>
          </a:xfrm>
          <a:prstGeom prst="rect">
            <a:avLst/>
          </a:prstGeom>
          <a:noFill/>
        </p:spPr>
        <p:txBody>
          <a:bodyPr wrap="square">
            <a:spAutoFit/>
          </a:bodyPr>
          <a:lstStyle/>
          <a:p>
            <a:pPr algn="l">
              <a:defRPr sz="2000" b="0" i="1">
                <a:solidFill>
                  <a:srgbClr val="BBBBFF"/>
                </a:solidFill>
                <a:latin typeface="Helvetica Neue"/>
              </a:defRPr>
            </a:pPr>
            <a:r>
              <a:t>What we need to discover before building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502920"/>
          </a:xfrm>
          <a:prstGeom prst="rect">
            <a:avLst/>
          </a:prstGeom>
          <a:noFill/>
        </p:spPr>
        <p:txBody>
          <a:bodyPr wrap="square">
            <a:spAutoFit/>
          </a:bodyPr>
          <a:lstStyle/>
          <a:p>
            <a:pPr algn="l">
              <a:defRPr sz="2600" b="1" i="0">
                <a:solidFill>
                  <a:srgbClr val="000050"/>
                </a:solidFill>
                <a:latin typeface="Helvetica Neue"/>
              </a:defRPr>
            </a:pPr>
            <a:r>
              <a:t>Before We Build, We Must Discover</a:t>
            </a:r>
          </a:p>
        </p:txBody>
      </p:sp>
      <p:sp>
        <p:nvSpPr>
          <p:cNvPr id="3" name="TextBox 2"/>
          <p:cNvSpPr txBox="1"/>
          <p:nvPr/>
        </p:nvSpPr>
        <p:spPr>
          <a:xfrm>
            <a:off x="548640" y="822960"/>
            <a:ext cx="10972800" cy="320040"/>
          </a:xfrm>
          <a:prstGeom prst="rect">
            <a:avLst/>
          </a:prstGeom>
          <a:noFill/>
        </p:spPr>
        <p:txBody>
          <a:bodyPr wrap="square">
            <a:spAutoFit/>
          </a:bodyPr>
          <a:lstStyle/>
          <a:p>
            <a:pPr algn="l">
              <a:defRPr sz="1300" b="0" i="0">
                <a:solidFill>
                  <a:srgbClr val="1A1A1A"/>
                </a:solidFill>
                <a:latin typeface="Helvetica Neue"/>
              </a:defRPr>
            </a:pPr>
            <a:r>
              <a:t>Six discovery actions unlock the full gap analysis and prevent duplicate investment.</a:t>
            </a:r>
          </a:p>
        </p:txBody>
      </p:sp>
      <p:graphicFrame>
        <p:nvGraphicFramePr>
          <p:cNvPr id="4" name="Table 3"/>
          <p:cNvGraphicFramePr>
            <a:graphicFrameLocks noGrp="1"/>
          </p:cNvGraphicFramePr>
          <p:nvPr/>
        </p:nvGraphicFramePr>
        <p:xfrm>
          <a:off x="548640" y="1280160"/>
          <a:ext cx="10972800" cy="3840480"/>
        </p:xfrm>
        <a:graphic>
          <a:graphicData uri="http://schemas.openxmlformats.org/drawingml/2006/table">
            <a:tbl>
              <a:tblPr firstRow="1" bandRow="1">
                <a:tableStyleId>{5C22544A-7EE6-4342-B048-85BDC9FD1C3A}</a:tableStyleId>
              </a:tblPr>
              <a:tblGrid>
                <a:gridCol w="914400"/>
                <a:gridCol w="4114800"/>
                <a:gridCol w="2560320"/>
                <a:gridCol w="3383280"/>
              </a:tblGrid>
              <a:tr h="548640">
                <a:tc>
                  <a:txBody>
                    <a:bodyPr/>
                    <a:lstStyle/>
                    <a:p>
                      <a:pPr>
                        <a:spcAft>
                          <a:spcPts val="200"/>
                        </a:spcAft>
                        <a:defRPr sz="1100" b="1">
                          <a:solidFill>
                            <a:srgbClr val="000050"/>
                          </a:solidFill>
                          <a:latin typeface="Helvetica Neue"/>
                        </a:defRPr>
                      </a:pPr>
                      <a:r>
                        <a:t>Priority</a:t>
                      </a:r>
                    </a:p>
                  </a:txBody>
                  <a:tcPr>
                    <a:solidFill>
                      <a:srgbClr val="DDDDF8"/>
                    </a:solidFill>
                  </a:tcPr>
                </a:tc>
                <a:tc>
                  <a:txBody>
                    <a:bodyPr/>
                    <a:lstStyle/>
                    <a:p>
                      <a:pPr>
                        <a:spcAft>
                          <a:spcPts val="200"/>
                        </a:spcAft>
                        <a:defRPr sz="1100" b="1">
                          <a:solidFill>
                            <a:srgbClr val="000050"/>
                          </a:solidFill>
                          <a:latin typeface="Helvetica Neue"/>
                        </a:defRPr>
                      </a:pPr>
                      <a:r>
                        <a:t>Action</a:t>
                      </a:r>
                    </a:p>
                  </a:txBody>
                  <a:tcPr>
                    <a:solidFill>
                      <a:srgbClr val="DDDDF8"/>
                    </a:solidFill>
                  </a:tcPr>
                </a:tc>
                <a:tc>
                  <a:txBody>
                    <a:bodyPr/>
                    <a:lstStyle/>
                    <a:p>
                      <a:pPr>
                        <a:spcAft>
                          <a:spcPts val="200"/>
                        </a:spcAft>
                        <a:defRPr sz="1100" b="1">
                          <a:solidFill>
                            <a:srgbClr val="000050"/>
                          </a:solidFill>
                          <a:latin typeface="Helvetica Neue"/>
                        </a:defRPr>
                      </a:pPr>
                      <a:r>
                        <a:t>Owner</a:t>
                      </a:r>
                    </a:p>
                  </a:txBody>
                  <a:tcPr>
                    <a:solidFill>
                      <a:srgbClr val="DDDDF8"/>
                    </a:solidFill>
                  </a:tcPr>
                </a:tc>
                <a:tc>
                  <a:txBody>
                    <a:bodyPr/>
                    <a:lstStyle/>
                    <a:p>
                      <a:pPr>
                        <a:spcAft>
                          <a:spcPts val="200"/>
                        </a:spcAft>
                        <a:defRPr sz="1100" b="1">
                          <a:solidFill>
                            <a:srgbClr val="000050"/>
                          </a:solidFill>
                          <a:latin typeface="Helvetica Neue"/>
                        </a:defRPr>
                      </a:pPr>
                      <a:r>
                        <a:t>Why It Matters</a:t>
                      </a:r>
                    </a:p>
                  </a:txBody>
                  <a:tcPr>
                    <a:solidFill>
                      <a:srgbClr val="DDDDF8"/>
                    </a:solidFill>
                  </a:tcPr>
                </a:tc>
              </a:tr>
              <a:tr h="548640">
                <a:tc>
                  <a:txBody>
                    <a:bodyPr/>
                    <a:lstStyle/>
                    <a:p>
                      <a:pPr>
                        <a:spcAft>
                          <a:spcPts val="200"/>
                        </a:spcAft>
                        <a:defRPr sz="1100">
                          <a:solidFill>
                            <a:srgbClr val="1A1A1A"/>
                          </a:solidFill>
                          <a:latin typeface="Helvetica Neue"/>
                        </a:defRPr>
                      </a:pPr>
                      <a:r>
                        <a:t>P1</a:t>
                      </a:r>
                    </a:p>
                  </a:txBody>
                  <a:tcPr>
                    <a:noFill/>
                  </a:tcPr>
                </a:tc>
                <a:tc>
                  <a:txBody>
                    <a:bodyPr/>
                    <a:lstStyle/>
                    <a:p>
                      <a:pPr>
                        <a:spcAft>
                          <a:spcPts val="200"/>
                        </a:spcAft>
                        <a:defRPr sz="1100">
                          <a:solidFill>
                            <a:srgbClr val="1A1A1A"/>
                          </a:solidFill>
                          <a:latin typeface="Helvetica Neue"/>
                        </a:defRPr>
                      </a:pPr>
                      <a:r>
                        <a:t>Inventory current MarTech tools across EPD regions</a:t>
                      </a:r>
                    </a:p>
                  </a:txBody>
                  <a:tcPr>
                    <a:noFill/>
                  </a:tcPr>
                </a:tc>
                <a:tc>
                  <a:txBody>
                    <a:bodyPr/>
                    <a:lstStyle/>
                    <a:p>
                      <a:pPr>
                        <a:spcAft>
                          <a:spcPts val="200"/>
                        </a:spcAft>
                        <a:defRPr sz="1100">
                          <a:solidFill>
                            <a:srgbClr val="1A1A1A"/>
                          </a:solidFill>
                          <a:latin typeface="Helvetica Neue"/>
                        </a:defRPr>
                      </a:pPr>
                      <a:r>
                        <a:t>Marketing Ops</a:t>
                      </a:r>
                    </a:p>
                  </a:txBody>
                  <a:tcPr>
                    <a:noFill/>
                  </a:tcPr>
                </a:tc>
                <a:tc>
                  <a:txBody>
                    <a:bodyPr/>
                    <a:lstStyle/>
                    <a:p>
                      <a:pPr>
                        <a:spcAft>
                          <a:spcPts val="200"/>
                        </a:spcAft>
                        <a:defRPr sz="1100">
                          <a:solidFill>
                            <a:srgbClr val="1A1A1A"/>
                          </a:solidFill>
                          <a:latin typeface="Helvetica Neue"/>
                        </a:defRPr>
                      </a:pPr>
                      <a:r>
                        <a:t>Avoid buying what we already own</a:t>
                      </a:r>
                    </a:p>
                  </a:txBody>
                  <a:tcPr>
                    <a:noFill/>
                  </a:tcPr>
                </a:tc>
              </a:tr>
              <a:tr h="548640">
                <a:tc>
                  <a:txBody>
                    <a:bodyPr/>
                    <a:lstStyle/>
                    <a:p>
                      <a:pPr>
                        <a:spcAft>
                          <a:spcPts val="200"/>
                        </a:spcAft>
                        <a:defRPr sz="1100">
                          <a:solidFill>
                            <a:srgbClr val="1A1A1A"/>
                          </a:solidFill>
                          <a:latin typeface="Helvetica Neue"/>
                        </a:defRPr>
                      </a:pPr>
                      <a:r>
                        <a:t>P1</a:t>
                      </a:r>
                    </a:p>
                  </a:txBody>
                  <a:tcPr>
                    <a:noFill/>
                  </a:tcPr>
                </a:tc>
                <a:tc>
                  <a:txBody>
                    <a:bodyPr/>
                    <a:lstStyle/>
                    <a:p>
                      <a:pPr>
                        <a:spcAft>
                          <a:spcPts val="200"/>
                        </a:spcAft>
                        <a:defRPr sz="1100">
                          <a:solidFill>
                            <a:srgbClr val="1A1A1A"/>
                          </a:solidFill>
                          <a:latin typeface="Helvetica Neue"/>
                        </a:defRPr>
                      </a:pPr>
                      <a:r>
                        <a:t>Identify existing Veeva, Salesforce, Adobe licenses</a:t>
                      </a:r>
                    </a:p>
                  </a:txBody>
                  <a:tcPr>
                    <a:noFill/>
                  </a:tcPr>
                </a:tc>
                <a:tc>
                  <a:txBody>
                    <a:bodyPr/>
                    <a:lstStyle/>
                    <a:p>
                      <a:pPr>
                        <a:spcAft>
                          <a:spcPts val="200"/>
                        </a:spcAft>
                        <a:defRPr sz="1100">
                          <a:solidFill>
                            <a:srgbClr val="1A1A1A"/>
                          </a:solidFill>
                          <a:latin typeface="Helvetica Neue"/>
                        </a:defRPr>
                      </a:pPr>
                      <a:r>
                        <a:t>IT / Procurement</a:t>
                      </a:r>
                    </a:p>
                  </a:txBody>
                  <a:tcPr>
                    <a:noFill/>
                  </a:tcPr>
                </a:tc>
                <a:tc>
                  <a:txBody>
                    <a:bodyPr/>
                    <a:lstStyle/>
                    <a:p>
                      <a:pPr>
                        <a:spcAft>
                          <a:spcPts val="200"/>
                        </a:spcAft>
                        <a:defRPr sz="1100">
                          <a:solidFill>
                            <a:srgbClr val="1A1A1A"/>
                          </a:solidFill>
                          <a:latin typeface="Helvetica Neue"/>
                        </a:defRPr>
                      </a:pPr>
                      <a:r>
                        <a:t>Major platforms may already be licensed</a:t>
                      </a:r>
                    </a:p>
                  </a:txBody>
                  <a:tcPr>
                    <a:noFill/>
                  </a:tcPr>
                </a:tc>
              </a:tr>
              <a:tr h="548640">
                <a:tc>
                  <a:txBody>
                    <a:bodyPr/>
                    <a:lstStyle/>
                    <a:p>
                      <a:pPr>
                        <a:spcAft>
                          <a:spcPts val="200"/>
                        </a:spcAft>
                        <a:defRPr sz="1100">
                          <a:solidFill>
                            <a:srgbClr val="1A1A1A"/>
                          </a:solidFill>
                          <a:latin typeface="Helvetica Neue"/>
                        </a:defRPr>
                      </a:pPr>
                      <a:r>
                        <a:t>P1</a:t>
                      </a:r>
                    </a:p>
                  </a:txBody>
                  <a:tcPr>
                    <a:noFill/>
                  </a:tcPr>
                </a:tc>
                <a:tc>
                  <a:txBody>
                    <a:bodyPr/>
                    <a:lstStyle/>
                    <a:p>
                      <a:pPr>
                        <a:spcAft>
                          <a:spcPts val="200"/>
                        </a:spcAft>
                        <a:defRPr sz="1100">
                          <a:solidFill>
                            <a:srgbClr val="1A1A1A"/>
                          </a:solidFill>
                          <a:latin typeface="Helvetica Neue"/>
                        </a:defRPr>
                      </a:pPr>
                      <a:r>
                        <a:t>Map current MLR process and tooling</a:t>
                      </a:r>
                    </a:p>
                  </a:txBody>
                  <a:tcPr>
                    <a:noFill/>
                  </a:tcPr>
                </a:tc>
                <a:tc>
                  <a:txBody>
                    <a:bodyPr/>
                    <a:lstStyle/>
                    <a:p>
                      <a:pPr>
                        <a:spcAft>
                          <a:spcPts val="200"/>
                        </a:spcAft>
                        <a:defRPr sz="1100">
                          <a:solidFill>
                            <a:srgbClr val="1A1A1A"/>
                          </a:solidFill>
                          <a:latin typeface="Helvetica Neue"/>
                        </a:defRPr>
                      </a:pPr>
                      <a:r>
                        <a:t>Medical / Regulatory</a:t>
                      </a:r>
                    </a:p>
                  </a:txBody>
                  <a:tcPr>
                    <a:noFill/>
                  </a:tcPr>
                </a:tc>
                <a:tc>
                  <a:txBody>
                    <a:bodyPr/>
                    <a:lstStyle/>
                    <a:p>
                      <a:pPr>
                        <a:spcAft>
                          <a:spcPts val="200"/>
                        </a:spcAft>
                        <a:defRPr sz="1100">
                          <a:solidFill>
                            <a:srgbClr val="1A1A1A"/>
                          </a:solidFill>
                          <a:latin typeface="Helvetica Neue"/>
                        </a:defRPr>
                      </a:pPr>
                      <a:r>
                        <a:t>MLR is the highest-impact gap to close</a:t>
                      </a:r>
                    </a:p>
                  </a:txBody>
                  <a:tcPr>
                    <a:noFill/>
                  </a:tcPr>
                </a:tc>
              </a:tr>
              <a:tr h="548640">
                <a:tc>
                  <a:txBody>
                    <a:bodyPr/>
                    <a:lstStyle/>
                    <a:p>
                      <a:pPr>
                        <a:spcAft>
                          <a:spcPts val="200"/>
                        </a:spcAft>
                        <a:defRPr sz="1100">
                          <a:solidFill>
                            <a:srgbClr val="1A1A1A"/>
                          </a:solidFill>
                          <a:latin typeface="Helvetica Neue"/>
                        </a:defRPr>
                      </a:pPr>
                      <a:r>
                        <a:t>P2</a:t>
                      </a:r>
                    </a:p>
                  </a:txBody>
                  <a:tcPr>
                    <a:noFill/>
                  </a:tcPr>
                </a:tc>
                <a:tc>
                  <a:txBody>
                    <a:bodyPr/>
                    <a:lstStyle/>
                    <a:p>
                      <a:pPr>
                        <a:spcAft>
                          <a:spcPts val="200"/>
                        </a:spcAft>
                        <a:defRPr sz="1100">
                          <a:solidFill>
                            <a:srgbClr val="1A1A1A"/>
                          </a:solidFill>
                          <a:latin typeface="Helvetica Neue"/>
                        </a:defRPr>
                      </a:pPr>
                      <a:r>
                        <a:t>Assess CRM maturity (Veeva vs Salesforce vs other)</a:t>
                      </a:r>
                    </a:p>
                  </a:txBody>
                  <a:tcPr>
                    <a:noFill/>
                  </a:tcPr>
                </a:tc>
                <a:tc>
                  <a:txBody>
                    <a:bodyPr/>
                    <a:lstStyle/>
                    <a:p>
                      <a:pPr>
                        <a:spcAft>
                          <a:spcPts val="200"/>
                        </a:spcAft>
                        <a:defRPr sz="1100">
                          <a:solidFill>
                            <a:srgbClr val="1A1A1A"/>
                          </a:solidFill>
                          <a:latin typeface="Helvetica Neue"/>
                        </a:defRPr>
                      </a:pPr>
                      <a:r>
                        <a:t>Commercial IT</a:t>
                      </a:r>
                    </a:p>
                  </a:txBody>
                  <a:tcPr>
                    <a:noFill/>
                  </a:tcPr>
                </a:tc>
                <a:tc>
                  <a:txBody>
                    <a:bodyPr/>
                    <a:lstStyle/>
                    <a:p>
                      <a:pPr>
                        <a:spcAft>
                          <a:spcPts val="200"/>
                        </a:spcAft>
                        <a:defRPr sz="1100">
                          <a:solidFill>
                            <a:srgbClr val="1A1A1A"/>
                          </a:solidFill>
                          <a:latin typeface="Helvetica Neue"/>
                        </a:defRPr>
                      </a:pPr>
                      <a:r>
                        <a:t>CRM determines SPARK architecture</a:t>
                      </a:r>
                    </a:p>
                  </a:txBody>
                  <a:tcPr>
                    <a:noFill/>
                  </a:tcPr>
                </a:tc>
              </a:tr>
              <a:tr h="548640">
                <a:tc>
                  <a:txBody>
                    <a:bodyPr/>
                    <a:lstStyle/>
                    <a:p>
                      <a:pPr>
                        <a:spcAft>
                          <a:spcPts val="200"/>
                        </a:spcAft>
                        <a:defRPr sz="1100">
                          <a:solidFill>
                            <a:srgbClr val="1A1A1A"/>
                          </a:solidFill>
                          <a:latin typeface="Helvetica Neue"/>
                        </a:defRPr>
                      </a:pPr>
                      <a:r>
                        <a:t>P2</a:t>
                      </a:r>
                    </a:p>
                  </a:txBody>
                  <a:tcPr>
                    <a:noFill/>
                  </a:tcPr>
                </a:tc>
                <a:tc>
                  <a:txBody>
                    <a:bodyPr/>
                    <a:lstStyle/>
                    <a:p>
                      <a:pPr>
                        <a:spcAft>
                          <a:spcPts val="200"/>
                        </a:spcAft>
                        <a:defRPr sz="1100">
                          <a:solidFill>
                            <a:srgbClr val="1A1A1A"/>
                          </a:solidFill>
                          <a:latin typeface="Helvetica Neue"/>
                        </a:defRPr>
                      </a:pPr>
                      <a:r>
                        <a:t>Review existing analytics and data platforms</a:t>
                      </a:r>
                    </a:p>
                  </a:txBody>
                  <a:tcPr>
                    <a:noFill/>
                  </a:tcPr>
                </a:tc>
                <a:tc>
                  <a:txBody>
                    <a:bodyPr/>
                    <a:lstStyle/>
                    <a:p>
                      <a:pPr>
                        <a:spcAft>
                          <a:spcPts val="200"/>
                        </a:spcAft>
                        <a:defRPr sz="1100">
                          <a:solidFill>
                            <a:srgbClr val="1A1A1A"/>
                          </a:solidFill>
                          <a:latin typeface="Helvetica Neue"/>
                        </a:defRPr>
                      </a:pPr>
                      <a:r>
                        <a:t>Data &amp; Analytics</a:t>
                      </a:r>
                    </a:p>
                  </a:txBody>
                  <a:tcPr>
                    <a:noFill/>
                  </a:tcPr>
                </a:tc>
                <a:tc>
                  <a:txBody>
                    <a:bodyPr/>
                    <a:lstStyle/>
                    <a:p>
                      <a:pPr>
                        <a:spcAft>
                          <a:spcPts val="200"/>
                        </a:spcAft>
                        <a:defRPr sz="1100">
                          <a:solidFill>
                            <a:srgbClr val="1A1A1A"/>
                          </a:solidFill>
                          <a:latin typeface="Helvetica Neue"/>
                        </a:defRPr>
                      </a:pPr>
                      <a:r>
                        <a:t>Data foundation drives all 5 agents</a:t>
                      </a:r>
                    </a:p>
                  </a:txBody>
                  <a:tcPr>
                    <a:noFill/>
                  </a:tcPr>
                </a:tc>
              </a:tr>
              <a:tr h="548640">
                <a:tc>
                  <a:txBody>
                    <a:bodyPr/>
                    <a:lstStyle/>
                    <a:p>
                      <a:pPr>
                        <a:spcAft>
                          <a:spcPts val="200"/>
                        </a:spcAft>
                        <a:defRPr sz="1100">
                          <a:solidFill>
                            <a:srgbClr val="1A1A1A"/>
                          </a:solidFill>
                          <a:latin typeface="Helvetica Neue"/>
                        </a:defRPr>
                      </a:pPr>
                      <a:r>
                        <a:t>P3</a:t>
                      </a:r>
                    </a:p>
                  </a:txBody>
                  <a:tcPr>
                    <a:noFill/>
                  </a:tcPr>
                </a:tc>
                <a:tc>
                  <a:txBody>
                    <a:bodyPr/>
                    <a:lstStyle/>
                    <a:p>
                      <a:pPr>
                        <a:spcAft>
                          <a:spcPts val="200"/>
                        </a:spcAft>
                        <a:defRPr sz="1100">
                          <a:solidFill>
                            <a:srgbClr val="1A1A1A"/>
                          </a:solidFill>
                          <a:latin typeface="Helvetica Neue"/>
                        </a:defRPr>
                      </a:pPr>
                      <a:r>
                        <a:t>Identify regional variation in tool usage</a:t>
                      </a:r>
                    </a:p>
                  </a:txBody>
                  <a:tcPr>
                    <a:noFill/>
                  </a:tcPr>
                </a:tc>
                <a:tc>
                  <a:txBody>
                    <a:bodyPr/>
                    <a:lstStyle/>
                    <a:p>
                      <a:pPr>
                        <a:spcAft>
                          <a:spcPts val="200"/>
                        </a:spcAft>
                        <a:defRPr sz="1100">
                          <a:solidFill>
                            <a:srgbClr val="1A1A1A"/>
                          </a:solidFill>
                          <a:latin typeface="Helvetica Neue"/>
                        </a:defRPr>
                      </a:pPr>
                      <a:r>
                        <a:t>Regional Marketing Leads</a:t>
                      </a:r>
                    </a:p>
                  </a:txBody>
                  <a:tcPr>
                    <a:noFill/>
                  </a:tcPr>
                </a:tc>
                <a:tc>
                  <a:txBody>
                    <a:bodyPr/>
                    <a:lstStyle/>
                    <a:p>
                      <a:pPr>
                        <a:spcAft>
                          <a:spcPts val="200"/>
                        </a:spcAft>
                        <a:defRPr sz="1100">
                          <a:solidFill>
                            <a:srgbClr val="1A1A1A"/>
                          </a:solidFill>
                          <a:latin typeface="Helvetica Neue"/>
                        </a:defRPr>
                      </a:pPr>
                      <a:r>
                        <a:t>Markets may differ significantly</a:t>
                      </a:r>
                    </a:p>
                  </a:txBody>
                  <a:tcPr>
                    <a:noFill/>
                  </a:tcPr>
                </a:tc>
              </a:tr>
            </a:tbl>
          </a:graphicData>
        </a:graphic>
      </p:graphicFrame>
      <p:sp>
        <p:nvSpPr>
          <p:cNvPr id="5" name="Rectangle 4"/>
          <p:cNvSpPr/>
          <p:nvPr/>
        </p:nvSpPr>
        <p:spPr>
          <a:xfrm>
            <a:off x="548640" y="5303520"/>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394960"/>
            <a:ext cx="10058400" cy="548640"/>
          </a:xfrm>
          <a:prstGeom prst="rect">
            <a:avLst/>
          </a:prstGeom>
          <a:noFill/>
        </p:spPr>
        <p:txBody>
          <a:bodyPr wrap="square">
            <a:spAutoFit/>
          </a:bodyPr>
          <a:lstStyle/>
          <a:p>
            <a:pPr algn="l">
              <a:defRPr sz="1500" b="1" i="1">
                <a:solidFill>
                  <a:srgbClr val="FFFFFF"/>
                </a:solidFill>
                <a:latin typeface="Helvetica Neue"/>
              </a:defRPr>
            </a:pPr>
            <a:r>
              <a:t>Validation unlocks mapping. Mapping unlocks architecture. Architecture unlocks procurement.</a:t>
            </a:r>
          </a:p>
        </p:txBody>
      </p:sp>
      <p:sp>
        <p:nvSpPr>
          <p:cNvPr id="7" name="TextBox 6"/>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8" name="TextBox 7"/>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50"/>
        </a:solidFill>
        <a:effectLst/>
      </p:bgPr>
    </p:bg>
    <p:spTree>
      <p:nvGrpSpPr>
        <p:cNvPr id="1" name=""/>
        <p:cNvGrpSpPr/>
        <p:nvPr/>
      </p:nvGrpSpPr>
      <p:grpSpPr/>
      <p:sp>
        <p:nvSpPr>
          <p:cNvPr id="2" name="TextBox 1"/>
          <p:cNvSpPr txBox="1"/>
          <p:nvPr/>
        </p:nvSpPr>
        <p:spPr>
          <a:xfrm>
            <a:off x="731520" y="2286000"/>
            <a:ext cx="3657600" cy="731520"/>
          </a:xfrm>
          <a:prstGeom prst="rect">
            <a:avLst/>
          </a:prstGeom>
          <a:noFill/>
        </p:spPr>
        <p:txBody>
          <a:bodyPr wrap="square">
            <a:spAutoFit/>
          </a:bodyPr>
          <a:lstStyle/>
          <a:p>
            <a:pPr algn="l">
              <a:defRPr sz="4800" b="0" i="0">
                <a:solidFill>
                  <a:srgbClr val="FFFFFF"/>
                </a:solidFill>
                <a:latin typeface="Helvetica Neue"/>
              </a:defRPr>
            </a:pPr>
            <a:r>
              <a:t>05</a:t>
            </a:r>
          </a:p>
        </p:txBody>
      </p:sp>
      <p:sp>
        <p:nvSpPr>
          <p:cNvPr id="3" name="TextBox 2"/>
          <p:cNvSpPr txBox="1"/>
          <p:nvPr/>
        </p:nvSpPr>
        <p:spPr>
          <a:xfrm>
            <a:off x="731520" y="3200400"/>
            <a:ext cx="9144000" cy="914400"/>
          </a:xfrm>
          <a:prstGeom prst="rect">
            <a:avLst/>
          </a:prstGeom>
          <a:noFill/>
        </p:spPr>
        <p:txBody>
          <a:bodyPr wrap="square">
            <a:spAutoFit/>
          </a:bodyPr>
          <a:lstStyle/>
          <a:p>
            <a:pPr algn="l">
              <a:defRPr sz="4000" b="0" i="0">
                <a:solidFill>
                  <a:srgbClr val="FFFFFF"/>
                </a:solidFill>
                <a:latin typeface="Helvetica Neue"/>
              </a:defRPr>
            </a:pPr>
            <a:r>
              <a:t>Next Steps</a:t>
            </a:r>
          </a:p>
        </p:txBody>
      </p:sp>
      <p:sp>
        <p:nvSpPr>
          <p:cNvPr id="4" name="TextBox 3"/>
          <p:cNvSpPr txBox="1"/>
          <p:nvPr/>
        </p:nvSpPr>
        <p:spPr>
          <a:xfrm>
            <a:off x="731520" y="4114800"/>
            <a:ext cx="9144000" cy="548640"/>
          </a:xfrm>
          <a:prstGeom prst="rect">
            <a:avLst/>
          </a:prstGeom>
          <a:noFill/>
        </p:spPr>
        <p:txBody>
          <a:bodyPr wrap="square">
            <a:spAutoFit/>
          </a:bodyPr>
          <a:lstStyle/>
          <a:p>
            <a:pPr algn="l">
              <a:defRPr sz="2000" b="0" i="1">
                <a:solidFill>
                  <a:srgbClr val="BBBBFF"/>
                </a:solidFill>
                <a:latin typeface="Helvetica Neue"/>
              </a:defRPr>
            </a:pPr>
            <a:r>
              <a:t>Three actions to move from assessment to architecture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640080"/>
          </a:xfrm>
          <a:prstGeom prst="rect">
            <a:avLst/>
          </a:prstGeom>
          <a:noFill/>
        </p:spPr>
        <p:txBody>
          <a:bodyPr wrap="square">
            <a:spAutoFit/>
          </a:bodyPr>
          <a:lstStyle/>
          <a:p>
            <a:pPr algn="l">
              <a:defRPr sz="2800" b="0" i="0">
                <a:solidFill>
                  <a:srgbClr val="000050"/>
                </a:solidFill>
                <a:latin typeface="Helvetica Neue"/>
              </a:defRPr>
            </a:pPr>
            <a:r>
              <a:t>Three Actions to Move from Assessment to Architecture</a:t>
            </a:r>
          </a:p>
        </p:txBody>
      </p:sp>
      <p:sp>
        <p:nvSpPr>
          <p:cNvPr id="3" name="Rectangle 2"/>
          <p:cNvSpPr/>
          <p:nvPr/>
        </p:nvSpPr>
        <p:spPr>
          <a:xfrm>
            <a:off x="548640" y="1097280"/>
            <a:ext cx="10972800" cy="13258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43000"/>
            <a:ext cx="10058400" cy="320040"/>
          </a:xfrm>
          <a:prstGeom prst="rect">
            <a:avLst/>
          </a:prstGeom>
          <a:noFill/>
        </p:spPr>
        <p:txBody>
          <a:bodyPr wrap="square">
            <a:spAutoFit/>
          </a:bodyPr>
          <a:lstStyle/>
          <a:p>
            <a:pPr algn="l">
              <a:defRPr sz="1600" b="1" i="0">
                <a:solidFill>
                  <a:srgbClr val="000050"/>
                </a:solidFill>
                <a:latin typeface="Helvetica Neue"/>
              </a:defRPr>
            </a:pPr>
            <a:r>
              <a:t>1.  Complete the Validation Workplan</a:t>
            </a:r>
          </a:p>
        </p:txBody>
      </p:sp>
      <p:sp>
        <p:nvSpPr>
          <p:cNvPr id="5" name="TextBox 4"/>
          <p:cNvSpPr txBox="1"/>
          <p:nvPr/>
        </p:nvSpPr>
        <p:spPr>
          <a:xfrm>
            <a:off x="914400" y="1463040"/>
            <a:ext cx="10058400" cy="320040"/>
          </a:xfrm>
          <a:prstGeom prst="rect">
            <a:avLst/>
          </a:prstGeom>
          <a:noFill/>
        </p:spPr>
        <p:txBody>
          <a:bodyPr wrap="square">
            <a:spAutoFit/>
          </a:bodyPr>
          <a:lstStyle/>
          <a:p>
            <a:pPr algn="l">
              <a:defRPr sz="1200" b="0" i="0">
                <a:solidFill>
                  <a:srgbClr val="1A1A1A"/>
                </a:solidFill>
                <a:latin typeface="Helvetica Neue"/>
              </a:defRPr>
            </a:pPr>
            <a:r>
              <a:t>Run tool inventory across EPD regions and confirm existing licenses for Veeva, Salesforce, and Adobe.</a:t>
            </a:r>
          </a:p>
        </p:txBody>
      </p:sp>
      <p:sp>
        <p:nvSpPr>
          <p:cNvPr id="6" name="TextBox 5"/>
          <p:cNvSpPr txBox="1"/>
          <p:nvPr/>
        </p:nvSpPr>
        <p:spPr>
          <a:xfrm>
            <a:off x="914400" y="1783080"/>
            <a:ext cx="10058400" cy="320040"/>
          </a:xfrm>
          <a:prstGeom prst="rect">
            <a:avLst/>
          </a:prstGeom>
          <a:noFill/>
        </p:spPr>
        <p:txBody>
          <a:bodyPr wrap="square">
            <a:spAutoFit/>
          </a:bodyPr>
          <a:lstStyle/>
          <a:p>
            <a:pPr algn="l">
              <a:defRPr sz="1100" b="0" i="0">
                <a:solidFill>
                  <a:srgbClr val="1A1A1A"/>
                </a:solidFill>
                <a:latin typeface="Helvetica Neue"/>
              </a:defRPr>
            </a:pPr>
            <a:r>
              <a:t>Target: 4 weeks  |  P1 items: Marketing Ops, IT/Procurement, Medical/Regulatory</a:t>
            </a:r>
          </a:p>
        </p:txBody>
      </p:sp>
      <p:sp>
        <p:nvSpPr>
          <p:cNvPr id="7" name="TextBox 6"/>
          <p:cNvSpPr txBox="1"/>
          <p:nvPr/>
        </p:nvSpPr>
        <p:spPr>
          <a:xfrm>
            <a:off x="914400" y="-292642152840"/>
            <a:ext cx="10058400" cy="274320"/>
          </a:xfrm>
          <a:prstGeom prst="rect">
            <a:avLst/>
          </a:prstGeom>
          <a:noFill/>
        </p:spPr>
        <p:txBody>
          <a:bodyPr wrap="square">
            <a:spAutoFit/>
          </a:bodyPr>
          <a:lstStyle/>
          <a:p>
            <a:pPr algn="l">
              <a:defRPr sz="1000" b="1" i="0">
                <a:solidFill>
                  <a:srgbClr val="3333AA"/>
                </a:solidFill>
                <a:latin typeface="Helvetica Neue"/>
              </a:defRPr>
            </a:pPr>
            <a:r>
              <a:t>Owner: EPD Marketing Ops + IT / Procurement</a:t>
            </a:r>
          </a:p>
        </p:txBody>
      </p:sp>
      <p:sp>
        <p:nvSpPr>
          <p:cNvPr id="8" name="Rectangle 7"/>
          <p:cNvSpPr/>
          <p:nvPr/>
        </p:nvSpPr>
        <p:spPr>
          <a:xfrm>
            <a:off x="548640" y="2606040"/>
            <a:ext cx="10972800" cy="132588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51760"/>
            <a:ext cx="10058400" cy="320040"/>
          </a:xfrm>
          <a:prstGeom prst="rect">
            <a:avLst/>
          </a:prstGeom>
          <a:noFill/>
        </p:spPr>
        <p:txBody>
          <a:bodyPr wrap="square">
            <a:spAutoFit/>
          </a:bodyPr>
          <a:lstStyle/>
          <a:p>
            <a:pPr algn="l">
              <a:defRPr sz="1600" b="1" i="0">
                <a:solidFill>
                  <a:srgbClr val="000050"/>
                </a:solidFill>
                <a:latin typeface="Helvetica Neue"/>
              </a:defRPr>
            </a:pPr>
            <a:r>
              <a:t>2.  Run Current State → Future State Capability Mapping</a:t>
            </a:r>
          </a:p>
        </p:txBody>
      </p:sp>
      <p:sp>
        <p:nvSpPr>
          <p:cNvPr id="10" name="TextBox 9"/>
          <p:cNvSpPr txBox="1"/>
          <p:nvPr/>
        </p:nvSpPr>
        <p:spPr>
          <a:xfrm>
            <a:off x="914400" y="2971800"/>
            <a:ext cx="10058400" cy="320040"/>
          </a:xfrm>
          <a:prstGeom prst="rect">
            <a:avLst/>
          </a:prstGeom>
          <a:noFill/>
        </p:spPr>
        <p:txBody>
          <a:bodyPr wrap="square">
            <a:spAutoFit/>
          </a:bodyPr>
          <a:lstStyle/>
          <a:p>
            <a:pPr algn="l">
              <a:defRPr sz="1200" b="0" i="0">
                <a:solidFill>
                  <a:srgbClr val="1A1A1A"/>
                </a:solidFill>
                <a:latin typeface="Helvetica Neue"/>
              </a:defRPr>
            </a:pPr>
            <a:r>
              <a:t>Update gap analysis with validated current tools. Confirm which gaps are real vs already addressed.</a:t>
            </a:r>
          </a:p>
        </p:txBody>
      </p:sp>
      <p:sp>
        <p:nvSpPr>
          <p:cNvPr id="11" name="TextBox 10"/>
          <p:cNvSpPr txBox="1"/>
          <p:nvPr/>
        </p:nvSpPr>
        <p:spPr>
          <a:xfrm>
            <a:off x="914400" y="3291840"/>
            <a:ext cx="10058400" cy="320040"/>
          </a:xfrm>
          <a:prstGeom prst="rect">
            <a:avLst/>
          </a:prstGeom>
          <a:noFill/>
        </p:spPr>
        <p:txBody>
          <a:bodyPr wrap="square">
            <a:spAutoFit/>
          </a:bodyPr>
          <a:lstStyle/>
          <a:p>
            <a:pPr algn="l">
              <a:defRPr sz="1100" b="0" i="0">
                <a:solidFill>
                  <a:srgbClr val="1A1A1A"/>
                </a:solidFill>
                <a:latin typeface="Helvetica Neue"/>
              </a:defRPr>
            </a:pPr>
            <a:r>
              <a:t>Target: 2 weeks post-validation  |  Produces: Updated gap analysis with confirmed tool inventory</a:t>
            </a:r>
          </a:p>
        </p:txBody>
      </p:sp>
      <p:sp>
        <p:nvSpPr>
          <p:cNvPr id="12" name="TextBox 11"/>
          <p:cNvSpPr txBox="1"/>
          <p:nvPr/>
        </p:nvSpPr>
        <p:spPr>
          <a:xfrm>
            <a:off x="914400" y="-292640644080"/>
            <a:ext cx="10058400" cy="274320"/>
          </a:xfrm>
          <a:prstGeom prst="rect">
            <a:avLst/>
          </a:prstGeom>
          <a:noFill/>
        </p:spPr>
        <p:txBody>
          <a:bodyPr wrap="square">
            <a:spAutoFit/>
          </a:bodyPr>
          <a:lstStyle/>
          <a:p>
            <a:pPr algn="l">
              <a:defRPr sz="1000" b="1" i="0">
                <a:solidFill>
                  <a:srgbClr val="3333AA"/>
                </a:solidFill>
                <a:latin typeface="Helvetica Neue"/>
              </a:defRPr>
            </a:pPr>
            <a:r>
              <a:t>Owner: EPD Architect + Marketing Ops</a:t>
            </a:r>
          </a:p>
        </p:txBody>
      </p:sp>
      <p:sp>
        <p:nvSpPr>
          <p:cNvPr id="13" name="Rectangle 12"/>
          <p:cNvSpPr/>
          <p:nvPr/>
        </p:nvSpPr>
        <p:spPr>
          <a:xfrm>
            <a:off x="548640" y="4114800"/>
            <a:ext cx="10972800" cy="13258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160520"/>
            <a:ext cx="10058400" cy="320040"/>
          </a:xfrm>
          <a:prstGeom prst="rect">
            <a:avLst/>
          </a:prstGeom>
          <a:noFill/>
        </p:spPr>
        <p:txBody>
          <a:bodyPr wrap="square">
            <a:spAutoFit/>
          </a:bodyPr>
          <a:lstStyle/>
          <a:p>
            <a:pPr algn="l">
              <a:defRPr sz="1600" b="1" i="0">
                <a:solidFill>
                  <a:srgbClr val="000050"/>
                </a:solidFill>
                <a:latin typeface="Helvetica Neue"/>
              </a:defRPr>
            </a:pPr>
            <a:r>
              <a:t>3.  Build Integration &amp; Target Architecture</a:t>
            </a:r>
          </a:p>
        </p:txBody>
      </p:sp>
      <p:sp>
        <p:nvSpPr>
          <p:cNvPr id="15" name="TextBox 14"/>
          <p:cNvSpPr txBox="1"/>
          <p:nvPr/>
        </p:nvSpPr>
        <p:spPr>
          <a:xfrm>
            <a:off x="914400" y="4480560"/>
            <a:ext cx="10058400" cy="320040"/>
          </a:xfrm>
          <a:prstGeom prst="rect">
            <a:avLst/>
          </a:prstGeom>
          <a:noFill/>
        </p:spPr>
        <p:txBody>
          <a:bodyPr wrap="square">
            <a:spAutoFit/>
          </a:bodyPr>
          <a:lstStyle/>
          <a:p>
            <a:pPr algn="l">
              <a:defRPr sz="1200" b="0" i="0">
                <a:solidFill>
                  <a:srgbClr val="1A1A1A"/>
                </a:solidFill>
                <a:latin typeface="Helvetica Neue"/>
              </a:defRPr>
            </a:pPr>
            <a:r>
              <a:t>Design how the 5 agents connect, share data, and integrate with Abbott's existing technology stack.</a:t>
            </a:r>
          </a:p>
        </p:txBody>
      </p:sp>
      <p:sp>
        <p:nvSpPr>
          <p:cNvPr id="16" name="TextBox 15"/>
          <p:cNvSpPr txBox="1"/>
          <p:nvPr/>
        </p:nvSpPr>
        <p:spPr>
          <a:xfrm>
            <a:off x="914400" y="4800600"/>
            <a:ext cx="10058400" cy="320040"/>
          </a:xfrm>
          <a:prstGeom prst="rect">
            <a:avLst/>
          </a:prstGeom>
          <a:noFill/>
        </p:spPr>
        <p:txBody>
          <a:bodyPr wrap="square">
            <a:spAutoFit/>
          </a:bodyPr>
          <a:lstStyle/>
          <a:p>
            <a:pPr algn="l">
              <a:defRPr sz="1100" b="0" i="0">
                <a:solidFill>
                  <a:srgbClr val="1A1A1A"/>
                </a:solidFill>
                <a:latin typeface="Helvetica Neue"/>
              </a:defRPr>
            </a:pPr>
            <a:r>
              <a:t>Target: 4 weeks post-mapping  |  Produces: Integration architecture + target architecture diagrams</a:t>
            </a:r>
          </a:p>
        </p:txBody>
      </p:sp>
      <p:sp>
        <p:nvSpPr>
          <p:cNvPr id="17" name="TextBox 16"/>
          <p:cNvSpPr txBox="1"/>
          <p:nvPr/>
        </p:nvSpPr>
        <p:spPr>
          <a:xfrm>
            <a:off x="914400" y="-292639135320"/>
            <a:ext cx="10058400" cy="274320"/>
          </a:xfrm>
          <a:prstGeom prst="rect">
            <a:avLst/>
          </a:prstGeom>
          <a:noFill/>
        </p:spPr>
        <p:txBody>
          <a:bodyPr wrap="square">
            <a:spAutoFit/>
          </a:bodyPr>
          <a:lstStyle/>
          <a:p>
            <a:pPr algn="l">
              <a:defRPr sz="1000" b="1" i="0">
                <a:solidFill>
                  <a:srgbClr val="3333AA"/>
                </a:solidFill>
                <a:latin typeface="Helvetica Neue"/>
              </a:defRPr>
            </a:pPr>
            <a:r>
              <a:t>Owner: EPD Architect</a:t>
            </a:r>
          </a:p>
        </p:txBody>
      </p:sp>
      <p:sp>
        <p:nvSpPr>
          <p:cNvPr id="18" name="Rectangle 17"/>
          <p:cNvSpPr/>
          <p:nvPr/>
        </p:nvSpPr>
        <p:spPr>
          <a:xfrm>
            <a:off x="548640" y="5669280"/>
            <a:ext cx="10972800" cy="5029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715000"/>
            <a:ext cx="10058400" cy="411480"/>
          </a:xfrm>
          <a:prstGeom prst="rect">
            <a:avLst/>
          </a:prstGeom>
          <a:noFill/>
        </p:spPr>
        <p:txBody>
          <a:bodyPr wrap="square">
            <a:spAutoFit/>
          </a:bodyPr>
          <a:lstStyle/>
          <a:p>
            <a:pPr algn="l">
              <a:defRPr sz="1300" b="1" i="1">
                <a:solidFill>
                  <a:srgbClr val="FFFFFF"/>
                </a:solidFill>
                <a:latin typeface="Helvetica Neue"/>
              </a:defRPr>
            </a:pPr>
            <a:r>
              <a:t>Disciplined discovery first. Architecture second. Procurement third. This sequence protects Abbott's investment.</a:t>
            </a:r>
          </a:p>
        </p:txBody>
      </p:sp>
      <p:sp>
        <p:nvSpPr>
          <p:cNvPr id="20" name="TextBox 19"/>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1" name="TextBox 20"/>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548640"/>
          </a:xfrm>
          <a:prstGeom prst="rect">
            <a:avLst/>
          </a:prstGeom>
          <a:noFill/>
        </p:spPr>
        <p:txBody>
          <a:bodyPr wrap="square">
            <a:spAutoFit/>
          </a:bodyPr>
          <a:lstStyle/>
          <a:p>
            <a:pPr algn="l">
              <a:defRPr sz="2800" b="0" i="0">
                <a:solidFill>
                  <a:srgbClr val="000050"/>
                </a:solidFill>
                <a:latin typeface="Helvetica Neue"/>
              </a:defRPr>
            </a:pPr>
            <a:r>
              <a:t>Questions This Deck Is Designed to Answer</a:t>
            </a:r>
          </a:p>
        </p:txBody>
      </p:sp>
      <p:sp>
        <p:nvSpPr>
          <p:cNvPr id="3" name="Rectangle 2"/>
          <p:cNvSpPr/>
          <p:nvPr/>
        </p:nvSpPr>
        <p:spPr>
          <a:xfrm>
            <a:off x="548640" y="914400"/>
            <a:ext cx="4572000" cy="82296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4206240" cy="548640"/>
          </a:xfrm>
          <a:prstGeom prst="rect">
            <a:avLst/>
          </a:prstGeom>
          <a:noFill/>
        </p:spPr>
        <p:txBody>
          <a:bodyPr wrap="square">
            <a:spAutoFit/>
          </a:bodyPr>
          <a:lstStyle/>
          <a:p>
            <a:pPr algn="l">
              <a:defRPr sz="1200" b="1" i="0">
                <a:solidFill>
                  <a:srgbClr val="000050"/>
                </a:solidFill>
                <a:latin typeface="Helvetica Neue"/>
              </a:defRPr>
            </a:pPr>
            <a:r>
              <a:t>What are the 5 AI agents?</a:t>
            </a:r>
          </a:p>
        </p:txBody>
      </p:sp>
      <p:sp>
        <p:nvSpPr>
          <p:cNvPr id="5" name="TextBox 4"/>
          <p:cNvSpPr txBox="1"/>
          <p:nvPr/>
        </p:nvSpPr>
        <p:spPr>
          <a:xfrm>
            <a:off x="5303520" y="960120"/>
            <a:ext cx="6400800" cy="914400"/>
          </a:xfrm>
          <a:prstGeom prst="rect">
            <a:avLst/>
          </a:prstGeom>
          <a:noFill/>
        </p:spPr>
        <p:txBody>
          <a:bodyPr wrap="square">
            <a:spAutoFit/>
          </a:bodyPr>
          <a:lstStyle/>
          <a:p>
            <a:pPr algn="l">
              <a:defRPr sz="1100" b="0" i="0">
                <a:solidFill>
                  <a:srgbClr val="1A1A1A"/>
                </a:solidFill>
                <a:latin typeface="Helvetica Neue"/>
              </a:defRPr>
            </a:pPr>
            <a:r>
              <a:t>ALICE (Creative), BRANDS (Strategy), CRAFTS (Content/MLR), SPARK (Engagement), ACCESS (Market Access). Each closes a specific systemic gap.</a:t>
            </a:r>
          </a:p>
        </p:txBody>
      </p:sp>
      <p:sp>
        <p:nvSpPr>
          <p:cNvPr id="6" name="Rectangle 5"/>
          <p:cNvSpPr/>
          <p:nvPr/>
        </p:nvSpPr>
        <p:spPr>
          <a:xfrm>
            <a:off x="548640" y="1920240"/>
            <a:ext cx="4572000" cy="82296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57400"/>
            <a:ext cx="4206240" cy="548640"/>
          </a:xfrm>
          <a:prstGeom prst="rect">
            <a:avLst/>
          </a:prstGeom>
          <a:noFill/>
        </p:spPr>
        <p:txBody>
          <a:bodyPr wrap="square">
            <a:spAutoFit/>
          </a:bodyPr>
          <a:lstStyle/>
          <a:p>
            <a:pPr algn="l">
              <a:defRPr sz="1200" b="1" i="0">
                <a:solidFill>
                  <a:srgbClr val="000050"/>
                </a:solidFill>
                <a:latin typeface="Helvetica Neue"/>
              </a:defRPr>
            </a:pPr>
            <a:r>
              <a:t>What capabilities do we need?</a:t>
            </a:r>
          </a:p>
        </p:txBody>
      </p:sp>
      <p:sp>
        <p:nvSpPr>
          <p:cNvPr id="8" name="TextBox 7"/>
          <p:cNvSpPr txBox="1"/>
          <p:nvPr/>
        </p:nvSpPr>
        <p:spPr>
          <a:xfrm>
            <a:off x="5303520" y="1965960"/>
            <a:ext cx="6400800" cy="914400"/>
          </a:xfrm>
          <a:prstGeom prst="rect">
            <a:avLst/>
          </a:prstGeom>
          <a:noFill/>
        </p:spPr>
        <p:txBody>
          <a:bodyPr wrap="square">
            <a:spAutoFit/>
          </a:bodyPr>
          <a:lstStyle/>
          <a:p>
            <a:pPr algn="l">
              <a:defRPr sz="1100" b="0" i="0">
                <a:solidFill>
                  <a:srgbClr val="1A1A1A"/>
                </a:solidFill>
                <a:latin typeface="Helvetica Neue"/>
              </a:defRPr>
            </a:pPr>
            <a:r>
              <a:t>20 capabilities across 5 agents — covering creative, strategy, content, engagement, and market access.</a:t>
            </a:r>
          </a:p>
        </p:txBody>
      </p:sp>
      <p:sp>
        <p:nvSpPr>
          <p:cNvPr id="9" name="Rectangle 8"/>
          <p:cNvSpPr/>
          <p:nvPr/>
        </p:nvSpPr>
        <p:spPr>
          <a:xfrm>
            <a:off x="548640" y="2926080"/>
            <a:ext cx="4572000" cy="82296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063240"/>
            <a:ext cx="4206240" cy="548640"/>
          </a:xfrm>
          <a:prstGeom prst="rect">
            <a:avLst/>
          </a:prstGeom>
          <a:noFill/>
        </p:spPr>
        <p:txBody>
          <a:bodyPr wrap="square">
            <a:spAutoFit/>
          </a:bodyPr>
          <a:lstStyle/>
          <a:p>
            <a:pPr algn="l">
              <a:defRPr sz="1200" b="1" i="0">
                <a:solidFill>
                  <a:srgbClr val="000050"/>
                </a:solidFill>
                <a:latin typeface="Helvetica Neue"/>
              </a:defRPr>
            </a:pPr>
            <a:r>
              <a:t>What tools should we evaluate?</a:t>
            </a:r>
          </a:p>
        </p:txBody>
      </p:sp>
      <p:sp>
        <p:nvSpPr>
          <p:cNvPr id="11" name="TextBox 10"/>
          <p:cNvSpPr txBox="1"/>
          <p:nvPr/>
        </p:nvSpPr>
        <p:spPr>
          <a:xfrm>
            <a:off x="5303520" y="2971800"/>
            <a:ext cx="6400800" cy="914400"/>
          </a:xfrm>
          <a:prstGeom prst="rect">
            <a:avLst/>
          </a:prstGeom>
          <a:noFill/>
        </p:spPr>
        <p:txBody>
          <a:bodyPr wrap="square">
            <a:spAutoFit/>
          </a:bodyPr>
          <a:lstStyle/>
          <a:p>
            <a:pPr algn="l">
              <a:defRPr sz="1100" b="0" i="0">
                <a:solidFill>
                  <a:srgbClr val="1A1A1A"/>
                </a:solidFill>
                <a:latin typeface="Helvetica Neue"/>
              </a:defRPr>
            </a:pPr>
            <a:r>
              <a:t>Market leaders identified for each capability. Final recommendations depend on validation workplan outcomes.</a:t>
            </a:r>
          </a:p>
        </p:txBody>
      </p:sp>
      <p:sp>
        <p:nvSpPr>
          <p:cNvPr id="12" name="Rectangle 11"/>
          <p:cNvSpPr/>
          <p:nvPr/>
        </p:nvSpPr>
        <p:spPr>
          <a:xfrm>
            <a:off x="548640" y="3931920"/>
            <a:ext cx="4572000" cy="82296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069080"/>
            <a:ext cx="4206240" cy="548640"/>
          </a:xfrm>
          <a:prstGeom prst="rect">
            <a:avLst/>
          </a:prstGeom>
          <a:noFill/>
        </p:spPr>
        <p:txBody>
          <a:bodyPr wrap="square">
            <a:spAutoFit/>
          </a:bodyPr>
          <a:lstStyle/>
          <a:p>
            <a:pPr algn="l">
              <a:defRPr sz="1200" b="1" i="0">
                <a:solidFill>
                  <a:srgbClr val="000050"/>
                </a:solidFill>
                <a:latin typeface="Helvetica Neue"/>
              </a:defRPr>
            </a:pPr>
            <a:r>
              <a:t>Why is current state unknown?</a:t>
            </a:r>
          </a:p>
        </p:txBody>
      </p:sp>
      <p:sp>
        <p:nvSpPr>
          <p:cNvPr id="14" name="TextBox 13"/>
          <p:cNvSpPr txBox="1"/>
          <p:nvPr/>
        </p:nvSpPr>
        <p:spPr>
          <a:xfrm>
            <a:off x="5303520" y="3977640"/>
            <a:ext cx="6400800" cy="914400"/>
          </a:xfrm>
          <a:prstGeom prst="rect">
            <a:avLst/>
          </a:prstGeom>
          <a:noFill/>
        </p:spPr>
        <p:txBody>
          <a:bodyPr wrap="square">
            <a:spAutoFit/>
          </a:bodyPr>
          <a:lstStyle/>
          <a:p>
            <a:pPr algn="l">
              <a:defRPr sz="1100" b="0" i="0">
                <a:solidFill>
                  <a:srgbClr val="1A1A1A"/>
                </a:solidFill>
                <a:latin typeface="Helvetica Neue"/>
              </a:defRPr>
            </a:pPr>
            <a:r>
              <a:t>No confirmed tool inventory exists for EPD. The validation workplan is the first priority.</a:t>
            </a:r>
          </a:p>
        </p:txBody>
      </p:sp>
      <p:sp>
        <p:nvSpPr>
          <p:cNvPr id="15" name="Rectangle 14"/>
          <p:cNvSpPr/>
          <p:nvPr/>
        </p:nvSpPr>
        <p:spPr>
          <a:xfrm>
            <a:off x="548640" y="4937760"/>
            <a:ext cx="4572000" cy="82296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074920"/>
            <a:ext cx="4206240" cy="548640"/>
          </a:xfrm>
          <a:prstGeom prst="rect">
            <a:avLst/>
          </a:prstGeom>
          <a:noFill/>
        </p:spPr>
        <p:txBody>
          <a:bodyPr wrap="square">
            <a:spAutoFit/>
          </a:bodyPr>
          <a:lstStyle/>
          <a:p>
            <a:pPr algn="l">
              <a:defRPr sz="1200" b="1" i="0">
                <a:solidFill>
                  <a:srgbClr val="000050"/>
                </a:solidFill>
                <a:latin typeface="Helvetica Neue"/>
              </a:defRPr>
            </a:pPr>
            <a:r>
              <a:t>What are the next 3 actions?</a:t>
            </a:r>
          </a:p>
        </p:txBody>
      </p:sp>
      <p:sp>
        <p:nvSpPr>
          <p:cNvPr id="17" name="TextBox 16"/>
          <p:cNvSpPr txBox="1"/>
          <p:nvPr/>
        </p:nvSpPr>
        <p:spPr>
          <a:xfrm>
            <a:off x="5303520" y="4983480"/>
            <a:ext cx="6400800" cy="914400"/>
          </a:xfrm>
          <a:prstGeom prst="rect">
            <a:avLst/>
          </a:prstGeom>
          <a:noFill/>
        </p:spPr>
        <p:txBody>
          <a:bodyPr wrap="square">
            <a:spAutoFit/>
          </a:bodyPr>
          <a:lstStyle/>
          <a:p>
            <a:pPr algn="l">
              <a:defRPr sz="1100" b="0" i="0">
                <a:solidFill>
                  <a:srgbClr val="1A1A1A"/>
                </a:solidFill>
                <a:latin typeface="Helvetica Neue"/>
              </a:defRPr>
            </a:pPr>
            <a:r>
              <a:t>Validation (4 weeks) → Capability mapping (2 weeks) → Architecture (4 weeks).</a:t>
            </a:r>
          </a:p>
        </p:txBody>
      </p:sp>
      <p:sp>
        <p:nvSpPr>
          <p:cNvPr id="18" name="TextBox 17"/>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19" name="TextBox 18"/>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