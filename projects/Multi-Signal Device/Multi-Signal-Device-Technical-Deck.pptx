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256032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1005840"/>
          </a:xfrm>
          <a:prstGeom prst="rect">
            <a:avLst/>
          </a:prstGeom>
          <a:noFill/>
        </p:spPr>
        <p:txBody>
          <a:bodyPr wrap="square">
            <a:spAutoFit/>
          </a:bodyPr>
          <a:lstStyle/>
          <a:p>
            <a:pPr algn="l"/>
            <a:r>
              <a:rPr sz="3600" b="1" i="0">
                <a:solidFill>
                  <a:srgbClr val="FFFFFF"/>
                </a:solidFill>
                <a:latin typeface="Calibri"/>
              </a:rPr>
              <a:t>Multi-Signal Wearable Device Platform</a:t>
            </a:r>
          </a:p>
        </p:txBody>
      </p:sp>
      <p:sp>
        <p:nvSpPr>
          <p:cNvPr id="4" name="TextBox 3"/>
          <p:cNvSpPr txBox="1"/>
          <p:nvPr/>
        </p:nvSpPr>
        <p:spPr>
          <a:xfrm>
            <a:off x="548640" y="1417320"/>
            <a:ext cx="10058400" cy="548640"/>
          </a:xfrm>
          <a:prstGeom prst="rect">
            <a:avLst/>
          </a:prstGeom>
          <a:noFill/>
        </p:spPr>
        <p:txBody>
          <a:bodyPr wrap="square">
            <a:spAutoFit/>
          </a:bodyPr>
          <a:lstStyle/>
          <a:p>
            <a:pPr algn="l"/>
            <a:r>
              <a:rPr sz="2000" b="0" i="0">
                <a:solidFill>
                  <a:srgbClr val="D9E1F2"/>
                </a:solidFill>
                <a:latin typeface="Calibri"/>
              </a:rPr>
              <a:t>Architecture Overview — Technical Deep Dive</a:t>
            </a:r>
          </a:p>
        </p:txBody>
      </p:sp>
      <p:sp>
        <p:nvSpPr>
          <p:cNvPr id="5" name="Rectangle 4"/>
          <p:cNvSpPr/>
          <p:nvPr/>
        </p:nvSpPr>
        <p:spPr>
          <a:xfrm>
            <a:off x="548640" y="2606040"/>
            <a:ext cx="4572000" cy="457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788920"/>
            <a:ext cx="7315200" cy="365760"/>
          </a:xfrm>
          <a:prstGeom prst="rect">
            <a:avLst/>
          </a:prstGeom>
          <a:noFill/>
        </p:spPr>
        <p:txBody>
          <a:bodyPr wrap="square">
            <a:spAutoFit/>
          </a:bodyPr>
          <a:lstStyle/>
          <a:p>
            <a:pPr algn="l"/>
            <a:r>
              <a:rPr sz="1300" b="0" i="0">
                <a:solidFill>
                  <a:srgbClr val="595959"/>
                </a:solidFill>
                <a:latin typeface="Calibri"/>
              </a:rPr>
              <a:t>v1.0  ·  October 2026  ·  Confidential</a:t>
            </a:r>
          </a:p>
        </p:txBody>
      </p:sp>
      <p:sp>
        <p:nvSpPr>
          <p:cNvPr id="7" name="Rectangle 6"/>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Five Design Principles</a:t>
            </a:r>
          </a:p>
        </p:txBody>
      </p:sp>
      <p:sp>
        <p:nvSpPr>
          <p:cNvPr id="4" name="Rectangle 3"/>
          <p:cNvSpPr/>
          <p:nvPr/>
        </p:nvSpPr>
        <p:spPr>
          <a:xfrm>
            <a:off x="274320" y="713232"/>
            <a:ext cx="201168" cy="106070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713232"/>
            <a:ext cx="11475720" cy="1060704"/>
          </a:xfrm>
          <a:prstGeom prst="rect">
            <a:avLst/>
          </a:prstGeom>
          <a:solidFill>
            <a:srgbClr val="D9E1F2"/>
          </a:solidFill>
          <a:ln w="9525">
            <a:solidFill>
              <a:srgbClr val="BD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786384"/>
            <a:ext cx="11155680" cy="329184"/>
          </a:xfrm>
          <a:prstGeom prst="rect">
            <a:avLst/>
          </a:prstGeom>
          <a:noFill/>
        </p:spPr>
        <p:txBody>
          <a:bodyPr wrap="square">
            <a:spAutoFit/>
          </a:bodyPr>
          <a:lstStyle/>
          <a:p>
            <a:pPr algn="l"/>
            <a:r>
              <a:rPr sz="1300" b="1" i="0">
                <a:solidFill>
                  <a:srgbClr val="1F3564"/>
                </a:solidFill>
                <a:latin typeface="Calibri"/>
              </a:rPr>
              <a:t>1  No Patient Profile on Platform</a:t>
            </a:r>
          </a:p>
        </p:txBody>
      </p:sp>
      <p:sp>
        <p:nvSpPr>
          <p:cNvPr id="7" name="TextBox 6"/>
          <p:cNvSpPr txBox="1"/>
          <p:nvPr/>
        </p:nvSpPr>
        <p:spPr>
          <a:xfrm>
            <a:off x="658368" y="1097280"/>
            <a:ext cx="11155680" cy="566928"/>
          </a:xfrm>
          <a:prstGeom prst="rect">
            <a:avLst/>
          </a:prstGeom>
          <a:noFill/>
        </p:spPr>
        <p:txBody>
          <a:bodyPr wrap="square">
            <a:spAutoFit/>
          </a:bodyPr>
          <a:lstStyle/>
          <a:p>
            <a:pPr algn="l"/>
            <a:r>
              <a:rPr sz="1200" b="0" i="0">
                <a:solidFill>
                  <a:srgbClr val="595959"/>
                </a:solidFill>
                <a:latin typeface="Calibri"/>
              </a:rPr>
              <a:t>PatientReference is session-only FHIR Patient ID. DevicePatientToken is one-way HMAC-SHA256 hash. Zero PII/PHI written to database.</a:t>
            </a:r>
          </a:p>
        </p:txBody>
      </p:sp>
      <p:sp>
        <p:nvSpPr>
          <p:cNvPr id="8" name="Rectangle 7"/>
          <p:cNvSpPr/>
          <p:nvPr/>
        </p:nvSpPr>
        <p:spPr>
          <a:xfrm>
            <a:off x="274320" y="1847088"/>
            <a:ext cx="201168" cy="1060704"/>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47088"/>
            <a:ext cx="11475720" cy="1060704"/>
          </a:xfrm>
          <a:prstGeom prst="rect">
            <a:avLst/>
          </a:prstGeom>
          <a:solidFill>
            <a:srgbClr val="F5F7FB"/>
          </a:solidFill>
          <a:ln w="9525">
            <a:solidFill>
              <a:srgbClr val="BD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920240"/>
            <a:ext cx="11155680" cy="329184"/>
          </a:xfrm>
          <a:prstGeom prst="rect">
            <a:avLst/>
          </a:prstGeom>
          <a:noFill/>
        </p:spPr>
        <p:txBody>
          <a:bodyPr wrap="square">
            <a:spAutoFit/>
          </a:bodyPr>
          <a:lstStyle/>
          <a:p>
            <a:pPr algn="l"/>
            <a:r>
              <a:rPr sz="1300" b="1" i="0">
                <a:solidFill>
                  <a:srgbClr val="1F3564"/>
                </a:solidFill>
                <a:latin typeface="Calibri"/>
              </a:rPr>
              <a:t>2  Port &amp; Adapter EMR Integration</a:t>
            </a:r>
          </a:p>
        </p:txBody>
      </p:sp>
      <p:sp>
        <p:nvSpPr>
          <p:cNvPr id="11" name="TextBox 10"/>
          <p:cNvSpPr txBox="1"/>
          <p:nvPr/>
        </p:nvSpPr>
        <p:spPr>
          <a:xfrm>
            <a:off x="658368" y="2231136"/>
            <a:ext cx="11155680" cy="566928"/>
          </a:xfrm>
          <a:prstGeom prst="rect">
            <a:avLst/>
          </a:prstGeom>
          <a:noFill/>
        </p:spPr>
        <p:txBody>
          <a:bodyPr wrap="square">
            <a:spAutoFit/>
          </a:bodyPr>
          <a:lstStyle/>
          <a:p>
            <a:pPr algn="l"/>
            <a:r>
              <a:rPr sz="1200" b="0" i="0">
                <a:solidFill>
                  <a:srgbClr val="595959"/>
                </a:solidFill>
                <a:latin typeface="Calibri"/>
              </a:rPr>
              <a:t>IEMRGateway abstract interface. New EMR vendor = new adapter only. No platform core changes required.</a:t>
            </a:r>
          </a:p>
        </p:txBody>
      </p:sp>
      <p:sp>
        <p:nvSpPr>
          <p:cNvPr id="12" name="Rectangle 11"/>
          <p:cNvSpPr/>
          <p:nvPr/>
        </p:nvSpPr>
        <p:spPr>
          <a:xfrm>
            <a:off x="274320" y="2980944"/>
            <a:ext cx="201168" cy="106070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980944"/>
            <a:ext cx="11475720" cy="1060704"/>
          </a:xfrm>
          <a:prstGeom prst="rect">
            <a:avLst/>
          </a:prstGeom>
          <a:solidFill>
            <a:srgbClr val="D9E1F2"/>
          </a:solidFill>
          <a:ln w="9525">
            <a:solidFill>
              <a:srgbClr val="BD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054096"/>
            <a:ext cx="11155680" cy="329184"/>
          </a:xfrm>
          <a:prstGeom prst="rect">
            <a:avLst/>
          </a:prstGeom>
          <a:noFill/>
        </p:spPr>
        <p:txBody>
          <a:bodyPr wrap="square">
            <a:spAutoFit/>
          </a:bodyPr>
          <a:lstStyle/>
          <a:p>
            <a:pPr algn="l"/>
            <a:r>
              <a:rPr sz="1300" b="1" i="0">
                <a:solidFill>
                  <a:srgbClr val="1F3564"/>
                </a:solidFill>
                <a:latin typeface="Calibri"/>
              </a:rPr>
              <a:t>3  Event-Driven Bounded Contexts</a:t>
            </a:r>
          </a:p>
        </p:txBody>
      </p:sp>
      <p:sp>
        <p:nvSpPr>
          <p:cNvPr id="15" name="TextBox 14"/>
          <p:cNvSpPr txBox="1"/>
          <p:nvPr/>
        </p:nvSpPr>
        <p:spPr>
          <a:xfrm>
            <a:off x="658368" y="3364992"/>
            <a:ext cx="11155680" cy="566928"/>
          </a:xfrm>
          <a:prstGeom prst="rect">
            <a:avLst/>
          </a:prstGeom>
          <a:noFill/>
        </p:spPr>
        <p:txBody>
          <a:bodyPr wrap="square">
            <a:spAutoFit/>
          </a:bodyPr>
          <a:lstStyle/>
          <a:p>
            <a:pPr algn="l"/>
            <a:r>
              <a:rPr sz="1200" b="0" i="0">
                <a:solidFill>
                  <a:srgbClr val="595959"/>
                </a:solidFill>
                <a:latin typeface="Calibri"/>
              </a:rPr>
              <a:t>Apache Kafka for all inter-context communication. No synchronous cross-boundary calls.</a:t>
            </a:r>
          </a:p>
        </p:txBody>
      </p:sp>
      <p:sp>
        <p:nvSpPr>
          <p:cNvPr id="16" name="Rectangle 15"/>
          <p:cNvSpPr/>
          <p:nvPr/>
        </p:nvSpPr>
        <p:spPr>
          <a:xfrm>
            <a:off x="274320" y="4114800"/>
            <a:ext cx="201168" cy="1060704"/>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4114800"/>
            <a:ext cx="11475720" cy="1060704"/>
          </a:xfrm>
          <a:prstGeom prst="rect">
            <a:avLst/>
          </a:prstGeom>
          <a:solidFill>
            <a:srgbClr val="F5F7FB"/>
          </a:solidFill>
          <a:ln w="9525">
            <a:solidFill>
              <a:srgbClr val="BD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187952"/>
            <a:ext cx="11155680" cy="329184"/>
          </a:xfrm>
          <a:prstGeom prst="rect">
            <a:avLst/>
          </a:prstGeom>
          <a:noFill/>
        </p:spPr>
        <p:txBody>
          <a:bodyPr wrap="square">
            <a:spAutoFit/>
          </a:bodyPr>
          <a:lstStyle/>
          <a:p>
            <a:pPr algn="l"/>
            <a:r>
              <a:rPr sz="1300" b="1" i="0">
                <a:solidFill>
                  <a:srgbClr val="1F3564"/>
                </a:solidFill>
                <a:latin typeface="Calibri"/>
              </a:rPr>
              <a:t>4  AI-Augmented, Not AI-Dependent</a:t>
            </a:r>
          </a:p>
        </p:txBody>
      </p:sp>
      <p:sp>
        <p:nvSpPr>
          <p:cNvPr id="19" name="TextBox 18"/>
          <p:cNvSpPr txBox="1"/>
          <p:nvPr/>
        </p:nvSpPr>
        <p:spPr>
          <a:xfrm>
            <a:off x="658368" y="4498848"/>
            <a:ext cx="11155680" cy="566928"/>
          </a:xfrm>
          <a:prstGeom prst="rect">
            <a:avLst/>
          </a:prstGeom>
          <a:noFill/>
        </p:spPr>
        <p:txBody>
          <a:bodyPr wrap="square">
            <a:spAutoFit/>
          </a:bodyPr>
          <a:lstStyle/>
          <a:p>
            <a:pPr algn="l"/>
            <a:r>
              <a:rPr sz="1200" b="0" i="0">
                <a:solidFill>
                  <a:srgbClr val="595959"/>
                </a:solidFill>
                <a:latin typeface="Calibri"/>
              </a:rPr>
              <a:t>LLM outputs are clinician-reviewed suggestions. No autonomous EMR writes.</a:t>
            </a:r>
          </a:p>
        </p:txBody>
      </p:sp>
      <p:sp>
        <p:nvSpPr>
          <p:cNvPr id="20" name="Rectangle 19"/>
          <p:cNvSpPr/>
          <p:nvPr/>
        </p:nvSpPr>
        <p:spPr>
          <a:xfrm>
            <a:off x="274320" y="5248656"/>
            <a:ext cx="201168" cy="1060704"/>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5248656"/>
            <a:ext cx="11475720" cy="1060704"/>
          </a:xfrm>
          <a:prstGeom prst="rect">
            <a:avLst/>
          </a:prstGeom>
          <a:solidFill>
            <a:srgbClr val="D9E1F2"/>
          </a:solidFill>
          <a:ln w="9525">
            <a:solidFill>
              <a:srgbClr val="BDCB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321808"/>
            <a:ext cx="11155680" cy="329184"/>
          </a:xfrm>
          <a:prstGeom prst="rect">
            <a:avLst/>
          </a:prstGeom>
          <a:noFill/>
        </p:spPr>
        <p:txBody>
          <a:bodyPr wrap="square">
            <a:spAutoFit/>
          </a:bodyPr>
          <a:lstStyle/>
          <a:p>
            <a:pPr algn="l"/>
            <a:r>
              <a:rPr sz="1300" b="1" i="0">
                <a:solidFill>
                  <a:srgbClr val="1F3564"/>
                </a:solidFill>
                <a:latin typeface="Calibri"/>
              </a:rPr>
              <a:t>5  Hyperscaler-Agnostic</a:t>
            </a:r>
          </a:p>
        </p:txBody>
      </p:sp>
      <p:sp>
        <p:nvSpPr>
          <p:cNvPr id="23" name="TextBox 22"/>
          <p:cNvSpPr txBox="1"/>
          <p:nvPr/>
        </p:nvSpPr>
        <p:spPr>
          <a:xfrm>
            <a:off x="658368" y="5632704"/>
            <a:ext cx="11155680" cy="566928"/>
          </a:xfrm>
          <a:prstGeom prst="rect">
            <a:avLst/>
          </a:prstGeom>
          <a:noFill/>
        </p:spPr>
        <p:txBody>
          <a:bodyPr wrap="square">
            <a:spAutoFit/>
          </a:bodyPr>
          <a:lstStyle/>
          <a:p>
            <a:pPr algn="l"/>
            <a:r>
              <a:rPr sz="1200" b="0" i="0">
                <a:solidFill>
                  <a:srgbClr val="595959"/>
                </a:solidFill>
                <a:latin typeface="Calibri"/>
              </a:rPr>
              <a:t>AWS and Azure equivalents for every component. No proprietary lock-in.</a:t>
            </a:r>
          </a:p>
        </p:txBody>
      </p:sp>
      <p:sp>
        <p:nvSpPr>
          <p:cNvPr id="24" name="Rectangle 23"/>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5-Layer Reference Architecture</a:t>
            </a:r>
          </a:p>
        </p:txBody>
      </p:sp>
      <p:graphicFrame>
        <p:nvGraphicFramePr>
          <p:cNvPr id="4" name="Table 3"/>
          <p:cNvGraphicFramePr>
            <a:graphicFrameLocks noGrp="1"/>
          </p:cNvGraphicFramePr>
          <p:nvPr/>
        </p:nvGraphicFramePr>
        <p:xfrm>
          <a:off x="274320" y="713232"/>
          <a:ext cx="11887200" cy="5806440"/>
        </p:xfrm>
        <a:graphic>
          <a:graphicData uri="http://schemas.openxmlformats.org/drawingml/2006/table">
            <a:tbl>
              <a:tblPr firstRow="1" bandRow="1">
                <a:tableStyleId>{5C22544A-7EE6-4342-B048-85BDC9FD1C3A}</a:tableStyleId>
              </a:tblPr>
              <a:tblGrid>
                <a:gridCol w="1005840"/>
                <a:gridCol w="2011680"/>
                <a:gridCol w="8869680"/>
              </a:tblGrid>
              <a:tr h="967740">
                <a:tc>
                  <a:txBody>
                    <a:bodyPr wrap="square"/>
                    <a:lstStyle/>
                    <a:p>
                      <a:pPr algn="ctr"/>
                      <a:r>
                        <a:rPr sz="1200" b="1">
                          <a:solidFill>
                            <a:srgbClr val="FFFFFF"/>
                          </a:solidFill>
                          <a:latin typeface="Calibri"/>
                        </a:rPr>
                        <a:t>Layer</a:t>
                      </a:r>
                    </a:p>
                  </a:txBody>
                  <a:tcPr>
                    <a:solidFill>
                      <a:srgbClr val="1F3564"/>
                    </a:solidFill>
                  </a:tcPr>
                </a:tc>
                <a:tc>
                  <a:txBody>
                    <a:bodyPr wrap="square"/>
                    <a:lstStyle/>
                    <a:p>
                      <a:pPr algn="ctr"/>
                      <a:r>
                        <a:rPr sz="1200" b="1">
                          <a:solidFill>
                            <a:srgbClr val="FFFFFF"/>
                          </a:solidFill>
                          <a:latin typeface="Calibri"/>
                        </a:rPr>
                        <a:t>Name</a:t>
                      </a:r>
                    </a:p>
                  </a:txBody>
                  <a:tcPr>
                    <a:solidFill>
                      <a:srgbClr val="1F3564"/>
                    </a:solidFill>
                  </a:tcPr>
                </a:tc>
                <a:tc>
                  <a:txBody>
                    <a:bodyPr wrap="square"/>
                    <a:lstStyle/>
                    <a:p>
                      <a:pPr algn="ctr"/>
                      <a:r>
                        <a:rPr sz="1200" b="1">
                          <a:solidFill>
                            <a:srgbClr val="FFFFFF"/>
                          </a:solidFill>
                          <a:latin typeface="Calibri"/>
                        </a:rPr>
                        <a:t>Components</a:t>
                      </a:r>
                    </a:p>
                  </a:txBody>
                  <a:tcPr>
                    <a:solidFill>
                      <a:srgbClr val="1F3564"/>
                    </a:solidFill>
                  </a:tcPr>
                </a:tc>
              </a:tr>
              <a:tr h="967740">
                <a:tc>
                  <a:txBody>
                    <a:bodyPr wrap="square"/>
                    <a:lstStyle/>
                    <a:p>
                      <a:pPr algn="l"/>
                      <a:r>
                        <a:rPr sz="1100">
                          <a:solidFill>
                            <a:srgbClr val="595959"/>
                          </a:solidFill>
                          <a:latin typeface="Calibri"/>
                        </a:rPr>
                        <a:t>Layer 1</a:t>
                      </a:r>
                    </a:p>
                  </a:txBody>
                  <a:tcPr>
                    <a:solidFill>
                      <a:srgbClr val="D9E1F2"/>
                    </a:solidFill>
                  </a:tcPr>
                </a:tc>
                <a:tc>
                  <a:txBody>
                    <a:bodyPr wrap="square"/>
                    <a:lstStyle/>
                    <a:p>
                      <a:pPr algn="l"/>
                      <a:r>
                        <a:rPr sz="1100">
                          <a:solidFill>
                            <a:srgbClr val="595959"/>
                          </a:solidFill>
                          <a:latin typeface="Calibri"/>
                        </a:rPr>
                        <a:t>Device &amp; Edge</a:t>
                      </a:r>
                    </a:p>
                  </a:txBody>
                  <a:tcPr>
                    <a:solidFill>
                      <a:srgbClr val="D9E1F2"/>
                    </a:solidFill>
                  </a:tcPr>
                </a:tc>
                <a:tc>
                  <a:txBody>
                    <a:bodyPr wrap="square"/>
                    <a:lstStyle/>
                    <a:p>
                      <a:pPr algn="l"/>
                      <a:r>
                        <a:rPr sz="1100">
                          <a:solidFill>
                            <a:srgbClr val="595959"/>
                          </a:solidFill>
                          <a:latin typeface="Calibri"/>
                        </a:rPr>
                        <a:t>Wearable Device → BLE/LTE → IoT Greengrass / IoT Edge → packet validation</a:t>
                      </a:r>
                    </a:p>
                  </a:txBody>
                  <a:tcPr>
                    <a:solidFill>
                      <a:srgbClr val="D9E1F2"/>
                    </a:solidFill>
                  </a:tcPr>
                </a:tc>
              </a:tr>
              <a:tr h="967740">
                <a:tc>
                  <a:txBody>
                    <a:bodyPr wrap="square"/>
                    <a:lstStyle/>
                    <a:p>
                      <a:pPr algn="l"/>
                      <a:r>
                        <a:rPr sz="1100">
                          <a:solidFill>
                            <a:srgbClr val="595959"/>
                          </a:solidFill>
                          <a:latin typeface="Calibri"/>
                        </a:rPr>
                        <a:t>Layer 2</a:t>
                      </a:r>
                    </a:p>
                  </a:txBody>
                  <a:tcPr>
                    <a:solidFill>
                      <a:srgbClr val="FFFFFF"/>
                    </a:solidFill>
                  </a:tcPr>
                </a:tc>
                <a:tc>
                  <a:txBody>
                    <a:bodyPr wrap="square"/>
                    <a:lstStyle/>
                    <a:p>
                      <a:pPr algn="l"/>
                      <a:r>
                        <a:rPr sz="1100">
                          <a:solidFill>
                            <a:srgbClr val="595959"/>
                          </a:solidFill>
                          <a:latin typeface="Calibri"/>
                        </a:rPr>
                        <a:t>Connectivity &amp; Identity</a:t>
                      </a:r>
                    </a:p>
                  </a:txBody>
                  <a:tcPr>
                    <a:solidFill>
                      <a:srgbClr val="FFFFFF"/>
                    </a:solidFill>
                  </a:tcPr>
                </a:tc>
                <a:tc>
                  <a:txBody>
                    <a:bodyPr wrap="square"/>
                    <a:lstStyle/>
                    <a:p>
                      <a:pPr algn="l"/>
                      <a:r>
                        <a:rPr sz="1100">
                          <a:solidFill>
                            <a:srgbClr val="595959"/>
                          </a:solidFill>
                          <a:latin typeface="Calibri"/>
                        </a:rPr>
                        <a:t>Device Connectivity · Device Identity &amp; Binding (serial# → HMAC token → PatientReference)</a:t>
                      </a:r>
                    </a:p>
                  </a:txBody>
                  <a:tcPr>
                    <a:solidFill>
                      <a:srgbClr val="FFFFFF"/>
                    </a:solidFill>
                  </a:tcPr>
                </a:tc>
              </a:tr>
              <a:tr h="967740">
                <a:tc>
                  <a:txBody>
                    <a:bodyPr wrap="square"/>
                    <a:lstStyle/>
                    <a:p>
                      <a:pPr algn="l"/>
                      <a:r>
                        <a:rPr sz="1100">
                          <a:solidFill>
                            <a:srgbClr val="595959"/>
                          </a:solidFill>
                          <a:latin typeface="Calibri"/>
                        </a:rPr>
                        <a:t>Layer 3</a:t>
                      </a:r>
                    </a:p>
                  </a:txBody>
                  <a:tcPr>
                    <a:solidFill>
                      <a:srgbClr val="D9E1F2"/>
                    </a:solidFill>
                  </a:tcPr>
                </a:tc>
                <a:tc>
                  <a:txBody>
                    <a:bodyPr wrap="square"/>
                    <a:lstStyle/>
                    <a:p>
                      <a:pPr algn="l"/>
                      <a:r>
                        <a:rPr sz="1100">
                          <a:solidFill>
                            <a:srgbClr val="595959"/>
                          </a:solidFill>
                          <a:latin typeface="Calibri"/>
                        </a:rPr>
                        <a:t>Processing &amp; Intelligence</a:t>
                      </a:r>
                    </a:p>
                  </a:txBody>
                  <a:tcPr>
                    <a:solidFill>
                      <a:srgbClr val="D9E1F2"/>
                    </a:solidFill>
                  </a:tcPr>
                </a:tc>
                <a:tc>
                  <a:txBody>
                    <a:bodyPr wrap="square"/>
                    <a:lstStyle/>
                    <a:p>
                      <a:pPr algn="l"/>
                      <a:r>
                        <a:rPr sz="1100">
                          <a:solidFill>
                            <a:srgbClr val="595959"/>
                          </a:solidFill>
                          <a:latin typeface="Calibri"/>
                        </a:rPr>
                        <a:t>Signal Processing (6-signal fusion, derived metrics, baseline) · CDS (risk scoring, anomaly detection, Claude API LLM)</a:t>
                      </a:r>
                    </a:p>
                  </a:txBody>
                  <a:tcPr>
                    <a:solidFill>
                      <a:srgbClr val="D9E1F2"/>
                    </a:solidFill>
                  </a:tcPr>
                </a:tc>
              </a:tr>
              <a:tr h="967740">
                <a:tc>
                  <a:txBody>
                    <a:bodyPr wrap="square"/>
                    <a:lstStyle/>
                    <a:p>
                      <a:pPr algn="l"/>
                      <a:r>
                        <a:rPr sz="1100">
                          <a:solidFill>
                            <a:srgbClr val="595959"/>
                          </a:solidFill>
                          <a:latin typeface="Calibri"/>
                        </a:rPr>
                        <a:t>Layer 4</a:t>
                      </a:r>
                    </a:p>
                  </a:txBody>
                  <a:tcPr>
                    <a:solidFill>
                      <a:srgbClr val="FFFFFF"/>
                    </a:solidFill>
                  </a:tcPr>
                </a:tc>
                <a:tc>
                  <a:txBody>
                    <a:bodyPr wrap="square"/>
                    <a:lstStyle/>
                    <a:p>
                      <a:pPr algn="l"/>
                      <a:r>
                        <a:rPr sz="1100">
                          <a:solidFill>
                            <a:srgbClr val="595959"/>
                          </a:solidFill>
                          <a:latin typeface="Calibri"/>
                        </a:rPr>
                        <a:t>Domain Services</a:t>
                      </a:r>
                    </a:p>
                  </a:txBody>
                  <a:tcPr>
                    <a:solidFill>
                      <a:srgbClr val="FFFFFF"/>
                    </a:solidFill>
                  </a:tcPr>
                </a:tc>
                <a:tc>
                  <a:txBody>
                    <a:bodyPr wrap="square"/>
                    <a:lstStyle/>
                    <a:p>
                      <a:pPr algn="l"/>
                      <a:r>
                        <a:rPr sz="1100">
                          <a:solidFill>
                            <a:srgbClr val="595959"/>
                          </a:solidFill>
                          <a:latin typeface="Calibri"/>
                        </a:rPr>
                        <a:t>Care Coordination · Patient Engagement · Research Analytics · Population Health · Platform Observability · Audit &amp; Compliance</a:t>
                      </a:r>
                    </a:p>
                  </a:txBody>
                  <a:tcPr>
                    <a:solidFill>
                      <a:srgbClr val="FFFFFF"/>
                    </a:solidFill>
                  </a:tcPr>
                </a:tc>
              </a:tr>
              <a:tr h="967740">
                <a:tc>
                  <a:txBody>
                    <a:bodyPr wrap="square"/>
                    <a:lstStyle/>
                    <a:p>
                      <a:pPr algn="l"/>
                      <a:r>
                        <a:rPr sz="1100">
                          <a:solidFill>
                            <a:srgbClr val="595959"/>
                          </a:solidFill>
                          <a:latin typeface="Calibri"/>
                        </a:rPr>
                        <a:t>Layer 5</a:t>
                      </a:r>
                    </a:p>
                  </a:txBody>
                  <a:tcPr>
                    <a:solidFill>
                      <a:srgbClr val="D9E1F2"/>
                    </a:solidFill>
                  </a:tcPr>
                </a:tc>
                <a:tc>
                  <a:txBody>
                    <a:bodyPr wrap="square"/>
                    <a:lstStyle/>
                    <a:p>
                      <a:pPr algn="l"/>
                      <a:r>
                        <a:rPr sz="1100">
                          <a:solidFill>
                            <a:srgbClr val="595959"/>
                          </a:solidFill>
                          <a:latin typeface="Calibri"/>
                        </a:rPr>
                        <a:t>Integration &amp; Access</a:t>
                      </a:r>
                    </a:p>
                  </a:txBody>
                  <a:tcPr>
                    <a:solidFill>
                      <a:srgbClr val="D9E1F2"/>
                    </a:solidFill>
                  </a:tcPr>
                </a:tc>
                <a:tc>
                  <a:txBody>
                    <a:bodyPr wrap="square"/>
                    <a:lstStyle/>
                    <a:p>
                      <a:pPr algn="l"/>
                      <a:r>
                        <a:rPr sz="1100">
                          <a:solidFill>
                            <a:srgbClr val="595959"/>
                          </a:solidFill>
                          <a:latin typeface="Calibri"/>
                        </a:rPr>
                        <a:t>IEMRGateway (EpicAdapter · CernerAdapter · GenericFHIRAdapter) · Platform Web App · Patient Mobile App</a:t>
                      </a:r>
                    </a:p>
                  </a:txBody>
                  <a:tcPr>
                    <a:solidFill>
                      <a:srgbClr val="D9E1F2"/>
                    </a:solidFill>
                  </a:tcPr>
                </a:tc>
              </a:tr>
            </a:tbl>
          </a:graphicData>
        </a:graphic>
      </p:graphicFrame>
      <p:sp>
        <p:nvSpPr>
          <p:cNvPr id="5" name="Rectangle 4"/>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Device-to-Patient Identity: No PII Storage Problem Solved</a:t>
            </a:r>
          </a:p>
        </p:txBody>
      </p:sp>
      <p:sp>
        <p:nvSpPr>
          <p:cNvPr id="4" name="TextBox 3"/>
          <p:cNvSpPr txBox="1"/>
          <p:nvPr/>
        </p:nvSpPr>
        <p:spPr>
          <a:xfrm>
            <a:off x="365760" y="713232"/>
            <a:ext cx="11430000" cy="658368"/>
          </a:xfrm>
          <a:prstGeom prst="rect">
            <a:avLst/>
          </a:prstGeom>
          <a:noFill/>
        </p:spPr>
        <p:txBody>
          <a:bodyPr wrap="square">
            <a:spAutoFit/>
          </a:bodyPr>
          <a:lstStyle/>
          <a:p>
            <a:pPr algn="l"/>
            <a:r>
              <a:rPr sz="1300" b="0" i="0">
                <a:solidFill>
                  <a:srgbClr val="595959"/>
                </a:solidFill>
                <a:latin typeface="Calibri"/>
              </a:rPr>
              <a:t>1.  Clinician launches platform via SMART on FHIR → receives FHIR PatientReference.</a:t>
            </a:r>
          </a:p>
        </p:txBody>
      </p:sp>
      <p:sp>
        <p:nvSpPr>
          <p:cNvPr id="5" name="TextBox 4"/>
          <p:cNvSpPr txBox="1"/>
          <p:nvPr/>
        </p:nvSpPr>
        <p:spPr>
          <a:xfrm>
            <a:off x="365760" y="1463040"/>
            <a:ext cx="11430000" cy="658368"/>
          </a:xfrm>
          <a:prstGeom prst="rect">
            <a:avLst/>
          </a:prstGeom>
          <a:noFill/>
        </p:spPr>
        <p:txBody>
          <a:bodyPr wrap="square">
            <a:spAutoFit/>
          </a:bodyPr>
          <a:lstStyle/>
          <a:p>
            <a:pPr algn="l"/>
            <a:r>
              <a:rPr sz="1300" b="0" i="0">
                <a:solidFill>
                  <a:srgbClr val="595959"/>
                </a:solidFill>
                <a:latin typeface="Calibri"/>
              </a:rPr>
              <a:t>2.  Platform creates DevicePatientBinding: SerialNumber → HMAC-SHA256(TenantID + FHIR PatientID).</a:t>
            </a:r>
          </a:p>
        </p:txBody>
      </p:sp>
      <p:sp>
        <p:nvSpPr>
          <p:cNvPr id="6" name="TextBox 5"/>
          <p:cNvSpPr txBox="1"/>
          <p:nvPr/>
        </p:nvSpPr>
        <p:spPr>
          <a:xfrm>
            <a:off x="365760" y="2212848"/>
            <a:ext cx="11430000" cy="658368"/>
          </a:xfrm>
          <a:prstGeom prst="rect">
            <a:avLst/>
          </a:prstGeom>
          <a:noFill/>
        </p:spPr>
        <p:txBody>
          <a:bodyPr wrap="square">
            <a:spAutoFit/>
          </a:bodyPr>
          <a:lstStyle/>
          <a:p>
            <a:pPr algn="l"/>
            <a:r>
              <a:rPr sz="1300" b="0" i="0">
                <a:solidFill>
                  <a:srgbClr val="595959"/>
                </a:solidFill>
                <a:latin typeface="Calibri"/>
              </a:rPr>
              <a:t>3.  Token stored in PostgreSQL (binding store) + Redis (active lookup cache).</a:t>
            </a:r>
          </a:p>
        </p:txBody>
      </p:sp>
      <p:sp>
        <p:nvSpPr>
          <p:cNvPr id="7" name="TextBox 6"/>
          <p:cNvSpPr txBox="1"/>
          <p:nvPr/>
        </p:nvSpPr>
        <p:spPr>
          <a:xfrm>
            <a:off x="365760" y="2962656"/>
            <a:ext cx="11430000" cy="658368"/>
          </a:xfrm>
          <a:prstGeom prst="rect">
            <a:avLst/>
          </a:prstGeom>
          <a:noFill/>
        </p:spPr>
        <p:txBody>
          <a:bodyPr wrap="square">
            <a:spAutoFit/>
          </a:bodyPr>
          <a:lstStyle/>
          <a:p>
            <a:pPr algn="l"/>
            <a:r>
              <a:rPr sz="1300" b="0" i="0">
                <a:solidFill>
                  <a:srgbClr val="595959"/>
                </a:solidFill>
                <a:latin typeface="Calibri"/>
              </a:rPr>
              <a:t>4.  Device transmits signal packet with SerialNumber only — no patient data on device.</a:t>
            </a:r>
          </a:p>
        </p:txBody>
      </p:sp>
      <p:sp>
        <p:nvSpPr>
          <p:cNvPr id="8" name="TextBox 7"/>
          <p:cNvSpPr txBox="1"/>
          <p:nvPr/>
        </p:nvSpPr>
        <p:spPr>
          <a:xfrm>
            <a:off x="365760" y="3712464"/>
            <a:ext cx="11430000" cy="658368"/>
          </a:xfrm>
          <a:prstGeom prst="rect">
            <a:avLst/>
          </a:prstGeom>
          <a:noFill/>
        </p:spPr>
        <p:txBody>
          <a:bodyPr wrap="square">
            <a:spAutoFit/>
          </a:bodyPr>
          <a:lstStyle/>
          <a:p>
            <a:pPr algn="l"/>
            <a:r>
              <a:rPr sz="1300" b="0" i="0">
                <a:solidFill>
                  <a:srgbClr val="595959"/>
                </a:solidFill>
                <a:latin typeface="Calibri"/>
              </a:rPr>
              <a:t>5.  Device Connectivity looks up token → IEMRGateway.resolve_patient_from_token() → adapter fetches Patient/{id}.</a:t>
            </a:r>
          </a:p>
        </p:txBody>
      </p:sp>
      <p:sp>
        <p:nvSpPr>
          <p:cNvPr id="9" name="TextBox 8"/>
          <p:cNvSpPr txBox="1"/>
          <p:nvPr/>
        </p:nvSpPr>
        <p:spPr>
          <a:xfrm>
            <a:off x="365760" y="4462272"/>
            <a:ext cx="11430000" cy="658368"/>
          </a:xfrm>
          <a:prstGeom prst="rect">
            <a:avLst/>
          </a:prstGeom>
          <a:noFill/>
        </p:spPr>
        <p:txBody>
          <a:bodyPr wrap="square">
            <a:spAutoFit/>
          </a:bodyPr>
          <a:lstStyle/>
          <a:p>
            <a:pPr algn="l"/>
            <a:r>
              <a:rPr sz="1300" b="0" i="0">
                <a:solidFill>
                  <a:srgbClr val="595959"/>
                </a:solidFill>
                <a:latin typeface="Calibri"/>
              </a:rPr>
              <a:t>6.  PatientReference used for signal pipeline — never written to database.</a:t>
            </a:r>
          </a:p>
        </p:txBody>
      </p:sp>
      <p:sp>
        <p:nvSpPr>
          <p:cNvPr id="10" name="Rectangle 9"/>
          <p:cNvSpPr/>
          <p:nvPr/>
        </p:nvSpPr>
        <p:spPr>
          <a:xfrm>
            <a:off x="365760" y="5760720"/>
            <a:ext cx="11430000" cy="804672"/>
          </a:xfrm>
          <a:prstGeom prst="rect">
            <a:avLst/>
          </a:prstGeom>
          <a:solidFill>
            <a:srgbClr val="D9E1F2"/>
          </a:solid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wrap="square" tIns="54864"/>
          <a:lstStyle/>
          <a:p>
            <a:pPr algn="l"/>
            <a:r>
              <a:rPr sz="1200" b="0">
                <a:solidFill>
                  <a:srgbClr val="1F3564"/>
                </a:solidFill>
                <a:latin typeface="Calibri"/>
              </a:rPr>
              <a:t>⬛  One active binding per SerialNumber.  Token is write-once.  Rebinding requires explicit revocation.</a:t>
            </a:r>
          </a:p>
        </p:txBody>
      </p:sp>
      <p:sp>
        <p:nvSpPr>
          <p:cNvPr id="11" name="Rectangle 10"/>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IEMRGateway — Vendor-Agnostic FHIR Integration</a:t>
            </a:r>
          </a:p>
        </p:txBody>
      </p:sp>
      <p:sp>
        <p:nvSpPr>
          <p:cNvPr id="4" name="Rectangle 3"/>
          <p:cNvSpPr/>
          <p:nvPr/>
        </p:nvSpPr>
        <p:spPr>
          <a:xfrm>
            <a:off x="320040" y="713232"/>
            <a:ext cx="11548872" cy="1828800"/>
          </a:xfrm>
          <a:prstGeom prst="rect">
            <a:avLst/>
          </a:prstGeom>
          <a:solidFill>
            <a:srgbClr val="F2F2F2"/>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none" lIns="109728" tIns="73152"/>
          <a:lstStyle/>
          <a:p>
            <a:pPr algn="ctr"/>
            <a:r>
              <a:rPr sz="1000">
                <a:solidFill>
                  <a:srgbClr val="1A1A2E"/>
                </a:solidFill>
                <a:latin typeface="Courier New"/>
              </a:rPr>
              <a:t>class IEMRGateway:</a:t>
            </a:r>
          </a:p>
          <a:p>
            <a:r>
              <a:rPr sz="1000">
                <a:solidFill>
                  <a:srgbClr val="1A1A2E"/>
                </a:solidFill>
                <a:latin typeface="Courier New"/>
              </a:rPr>
              <a:t>    def get_patient_reference(self, launch_token) -&gt; PatientReference</a:t>
            </a:r>
          </a:p>
          <a:p>
            <a:r>
              <a:rPr sz="1000">
                <a:solidFill>
                  <a:srgbClr val="1A1A2E"/>
                </a:solidFill>
                <a:latin typeface="Courier New"/>
              </a:rPr>
              <a:t>    def resolve_patient_from_token(self, token, tenant_id) -&gt; PatientReference</a:t>
            </a:r>
          </a:p>
          <a:p>
            <a:r>
              <a:rPr sz="1000">
                <a:solidFill>
                  <a:srgbClr val="1A1A2E"/>
                </a:solidFill>
                <a:latin typeface="Courier New"/>
              </a:rPr>
              <a:t>    def write_observation(self, ref, obs) -&gt; str</a:t>
            </a:r>
          </a:p>
          <a:p>
            <a:r>
              <a:rPr sz="1000">
                <a:solidFill>
                  <a:srgbClr val="1A1A2E"/>
                </a:solidFill>
                <a:latin typeface="Courier New"/>
              </a:rPr>
              <a:t>    def write_risk_score(self, ref, assessment) -&gt; str</a:t>
            </a:r>
          </a:p>
          <a:p>
            <a:r>
              <a:rPr sz="1000">
                <a:solidFill>
                  <a:srgbClr val="1A1A2E"/>
                </a:solidFill>
                <a:latin typeface="Courier New"/>
              </a:rPr>
              <a:t>    def write_soap_draft(self, ref, assessment) -&gt; str</a:t>
            </a:r>
          </a:p>
          <a:p>
            <a:r>
              <a:rPr sz="1000">
                <a:solidFill>
                  <a:srgbClr val="1A1A2E"/>
                </a:solidFill>
                <a:latin typeface="Courier New"/>
              </a:rPr>
              <a:t>    def write_escalation_alert(self, ref, escalation) -&gt; str</a:t>
            </a:r>
          </a:p>
        </p:txBody>
      </p:sp>
      <p:graphicFrame>
        <p:nvGraphicFramePr>
          <p:cNvPr id="5" name="Table 4"/>
          <p:cNvGraphicFramePr>
            <a:graphicFrameLocks noGrp="1"/>
          </p:cNvGraphicFramePr>
          <p:nvPr/>
        </p:nvGraphicFramePr>
        <p:xfrm>
          <a:off x="320040" y="2670048"/>
          <a:ext cx="11430000" cy="2011680"/>
        </p:xfrm>
        <a:graphic>
          <a:graphicData uri="http://schemas.openxmlformats.org/drawingml/2006/table">
            <a:tbl>
              <a:tblPr firstRow="1" bandRow="1">
                <a:tableStyleId>{5C22544A-7EE6-4342-B048-85BDC9FD1C3A}</a:tableStyleId>
              </a:tblPr>
              <a:tblGrid>
                <a:gridCol w="2194560"/>
                <a:gridCol w="2560320"/>
                <a:gridCol w="2560320"/>
                <a:gridCol w="4114800"/>
              </a:tblGrid>
              <a:tr h="502920">
                <a:tc>
                  <a:txBody>
                    <a:bodyPr wrap="square"/>
                    <a:lstStyle/>
                    <a:p>
                      <a:pPr algn="ctr"/>
                      <a:r>
                        <a:rPr sz="1200" b="1">
                          <a:solidFill>
                            <a:srgbClr val="FFFFFF"/>
                          </a:solidFill>
                          <a:latin typeface="Calibri"/>
                        </a:rPr>
                        <a:t>Adapter</a:t>
                      </a:r>
                    </a:p>
                  </a:txBody>
                  <a:tcPr>
                    <a:solidFill>
                      <a:srgbClr val="1F3564"/>
                    </a:solidFill>
                  </a:tcPr>
                </a:tc>
                <a:tc>
                  <a:txBody>
                    <a:bodyPr wrap="square"/>
                    <a:lstStyle/>
                    <a:p>
                      <a:pPr algn="ctr"/>
                      <a:r>
                        <a:rPr sz="1200" b="1">
                          <a:solidFill>
                            <a:srgbClr val="FFFFFF"/>
                          </a:solidFill>
                          <a:latin typeface="Calibri"/>
                        </a:rPr>
                        <a:t>Marketplace</a:t>
                      </a:r>
                    </a:p>
                  </a:txBody>
                  <a:tcPr>
                    <a:solidFill>
                      <a:srgbClr val="1F3564"/>
                    </a:solidFill>
                  </a:tcPr>
                </a:tc>
                <a:tc>
                  <a:txBody>
                    <a:bodyPr wrap="square"/>
                    <a:lstStyle/>
                    <a:p>
                      <a:pPr algn="ctr"/>
                      <a:r>
                        <a:rPr sz="1200" b="1">
                          <a:solidFill>
                            <a:srgbClr val="FFFFFF"/>
                          </a:solidFill>
                          <a:latin typeface="Calibri"/>
                        </a:rPr>
                        <a:t>Auth Method</a:t>
                      </a:r>
                    </a:p>
                  </a:txBody>
                  <a:tcPr>
                    <a:solidFill>
                      <a:srgbClr val="1F3564"/>
                    </a:solidFill>
                  </a:tcPr>
                </a:tc>
                <a:tc>
                  <a:txBody>
                    <a:bodyPr wrap="square"/>
                    <a:lstStyle/>
                    <a:p>
                      <a:pPr algn="ctr"/>
                      <a:r>
                        <a:rPr sz="1200" b="1">
                          <a:solidFill>
                            <a:srgbClr val="FFFFFF"/>
                          </a:solidFill>
                          <a:latin typeface="Calibri"/>
                        </a:rPr>
                        <a:t>Write Targets</a:t>
                      </a:r>
                    </a:p>
                  </a:txBody>
                  <a:tcPr>
                    <a:solidFill>
                      <a:srgbClr val="1F3564"/>
                    </a:solidFill>
                  </a:tcPr>
                </a:tc>
              </a:tr>
              <a:tr h="502920">
                <a:tc>
                  <a:txBody>
                    <a:bodyPr wrap="square"/>
                    <a:lstStyle/>
                    <a:p>
                      <a:pPr algn="l"/>
                      <a:r>
                        <a:rPr sz="1100">
                          <a:solidFill>
                            <a:srgbClr val="595959"/>
                          </a:solidFill>
                          <a:latin typeface="Calibri"/>
                        </a:rPr>
                        <a:t>EpicAdapter</a:t>
                      </a:r>
                    </a:p>
                  </a:txBody>
                  <a:tcPr>
                    <a:solidFill>
                      <a:srgbClr val="D9E1F2"/>
                    </a:solidFill>
                  </a:tcPr>
                </a:tc>
                <a:tc>
                  <a:txBody>
                    <a:bodyPr wrap="square"/>
                    <a:lstStyle/>
                    <a:p>
                      <a:pPr algn="l"/>
                      <a:r>
                        <a:rPr sz="1100">
                          <a:solidFill>
                            <a:srgbClr val="595959"/>
                          </a:solidFill>
                          <a:latin typeface="Calibri"/>
                        </a:rPr>
                        <a:t>Epic App Orchard</a:t>
                      </a:r>
                    </a:p>
                  </a:txBody>
                  <a:tcPr>
                    <a:solidFill>
                      <a:srgbClr val="D9E1F2"/>
                    </a:solidFill>
                  </a:tcPr>
                </a:tc>
                <a:tc>
                  <a:txBody>
                    <a:bodyPr wrap="square"/>
                    <a:lstStyle/>
                    <a:p>
                      <a:pPr algn="l"/>
                      <a:r>
                        <a:rPr sz="1100">
                          <a:solidFill>
                            <a:srgbClr val="595959"/>
                          </a:solidFill>
                          <a:latin typeface="Calibri"/>
                        </a:rPr>
                        <a:t>SMART on FHIR</a:t>
                      </a:r>
                    </a:p>
                  </a:txBody>
                  <a:tcPr>
                    <a:solidFill>
                      <a:srgbClr val="D9E1F2"/>
                    </a:solidFill>
                  </a:tcPr>
                </a:tc>
                <a:tc>
                  <a:txBody>
                    <a:bodyPr wrap="square"/>
                    <a:lstStyle/>
                    <a:p>
                      <a:pPr algn="l"/>
                      <a:r>
                        <a:rPr sz="1100">
                          <a:solidFill>
                            <a:srgbClr val="595959"/>
                          </a:solidFill>
                          <a:latin typeface="Calibri"/>
                        </a:rPr>
                        <a:t>Epic FHIR R4 + In-Basket</a:t>
                      </a:r>
                    </a:p>
                  </a:txBody>
                  <a:tcPr>
                    <a:solidFill>
                      <a:srgbClr val="D9E1F2"/>
                    </a:solidFill>
                  </a:tcPr>
                </a:tc>
              </a:tr>
              <a:tr h="502920">
                <a:tc>
                  <a:txBody>
                    <a:bodyPr wrap="square"/>
                    <a:lstStyle/>
                    <a:p>
                      <a:pPr algn="l"/>
                      <a:r>
                        <a:rPr sz="1100">
                          <a:solidFill>
                            <a:srgbClr val="595959"/>
                          </a:solidFill>
                          <a:latin typeface="Calibri"/>
                        </a:rPr>
                        <a:t>CernerAdapter</a:t>
                      </a:r>
                    </a:p>
                  </a:txBody>
                  <a:tcPr>
                    <a:solidFill>
                      <a:srgbClr val="FFFFFF"/>
                    </a:solidFill>
                  </a:tcPr>
                </a:tc>
                <a:tc>
                  <a:txBody>
                    <a:bodyPr wrap="square"/>
                    <a:lstStyle/>
                    <a:p>
                      <a:pPr algn="l"/>
                      <a:r>
                        <a:rPr sz="1100">
                          <a:solidFill>
                            <a:srgbClr val="595959"/>
                          </a:solidFill>
                          <a:latin typeface="Calibri"/>
                        </a:rPr>
                        <a:t>Cerner App Gallery</a:t>
                      </a:r>
                    </a:p>
                  </a:txBody>
                  <a:tcPr>
                    <a:solidFill>
                      <a:srgbClr val="FFFFFF"/>
                    </a:solidFill>
                  </a:tcPr>
                </a:tc>
                <a:tc>
                  <a:txBody>
                    <a:bodyPr wrap="square"/>
                    <a:lstStyle/>
                    <a:p>
                      <a:pPr algn="l"/>
                      <a:r>
                        <a:rPr sz="1100">
                          <a:solidFill>
                            <a:srgbClr val="595959"/>
                          </a:solidFill>
                          <a:latin typeface="Calibri"/>
                        </a:rPr>
                        <a:t>SMART on FHIR</a:t>
                      </a:r>
                    </a:p>
                  </a:txBody>
                  <a:tcPr>
                    <a:solidFill>
                      <a:srgbClr val="FFFFFF"/>
                    </a:solidFill>
                  </a:tcPr>
                </a:tc>
                <a:tc>
                  <a:txBody>
                    <a:bodyPr wrap="square"/>
                    <a:lstStyle/>
                    <a:p>
                      <a:pPr algn="l"/>
                      <a:r>
                        <a:rPr sz="1100">
                          <a:solidFill>
                            <a:srgbClr val="595959"/>
                          </a:solidFill>
                          <a:latin typeface="Calibri"/>
                        </a:rPr>
                        <a:t>Cerner FHIR R4 + Message Center</a:t>
                      </a:r>
                    </a:p>
                  </a:txBody>
                  <a:tcPr>
                    <a:solidFill>
                      <a:srgbClr val="FFFFFF"/>
                    </a:solidFill>
                  </a:tcPr>
                </a:tc>
              </a:tr>
              <a:tr h="502920">
                <a:tc>
                  <a:txBody>
                    <a:bodyPr wrap="square"/>
                    <a:lstStyle/>
                    <a:p>
                      <a:pPr algn="l"/>
                      <a:r>
                        <a:rPr sz="1100">
                          <a:solidFill>
                            <a:srgbClr val="595959"/>
                          </a:solidFill>
                          <a:latin typeface="Calibri"/>
                        </a:rPr>
                        <a:t>GenericFHIRAdapter</a:t>
                      </a:r>
                    </a:p>
                  </a:txBody>
                  <a:tcPr>
                    <a:solidFill>
                      <a:srgbClr val="D9E1F2"/>
                    </a:solidFill>
                  </a:tcPr>
                </a:tc>
                <a:tc>
                  <a:txBody>
                    <a:bodyPr wrap="square"/>
                    <a:lstStyle/>
                    <a:p>
                      <a:pPr algn="l"/>
                      <a:r>
                        <a:rPr sz="1100">
                          <a:solidFill>
                            <a:srgbClr val="595959"/>
                          </a:solidFill>
                          <a:latin typeface="Calibri"/>
                        </a:rPr>
                        <a:t>Per-vendor config</a:t>
                      </a:r>
                    </a:p>
                  </a:txBody>
                  <a:tcPr>
                    <a:solidFill>
                      <a:srgbClr val="D9E1F2"/>
                    </a:solidFill>
                  </a:tcPr>
                </a:tc>
                <a:tc>
                  <a:txBody>
                    <a:bodyPr wrap="square"/>
                    <a:lstStyle/>
                    <a:p>
                      <a:pPr algn="l"/>
                      <a:r>
                        <a:rPr sz="1100">
                          <a:solidFill>
                            <a:srgbClr val="595959"/>
                          </a:solidFill>
                          <a:latin typeface="Calibri"/>
                        </a:rPr>
                        <a:t>OAuth 2.0 / SMART</a:t>
                      </a:r>
                    </a:p>
                  </a:txBody>
                  <a:tcPr>
                    <a:solidFill>
                      <a:srgbClr val="D9E1F2"/>
                    </a:solidFill>
                  </a:tcPr>
                </a:tc>
                <a:tc>
                  <a:txBody>
                    <a:bodyPr wrap="square"/>
                    <a:lstStyle/>
                    <a:p>
                      <a:pPr algn="l"/>
                      <a:r>
                        <a:rPr sz="1100">
                          <a:solidFill>
                            <a:srgbClr val="595959"/>
                          </a:solidFill>
                          <a:latin typeface="Calibri"/>
                        </a:rPr>
                        <a:t>Standard FHIR R4</a:t>
                      </a:r>
                    </a:p>
                  </a:txBody>
                  <a:tcPr>
                    <a:solidFill>
                      <a:srgbClr val="D9E1F2"/>
                    </a:solidFill>
                  </a:tcPr>
                </a:tc>
              </a:tr>
            </a:tbl>
          </a:graphicData>
        </a:graphic>
      </p:graphicFrame>
      <p:sp>
        <p:nvSpPr>
          <p:cNvPr id="6" name="TextBox 5"/>
          <p:cNvSpPr txBox="1"/>
          <p:nvPr/>
        </p:nvSpPr>
        <p:spPr>
          <a:xfrm>
            <a:off x="320040" y="4800600"/>
            <a:ext cx="11521440" cy="457200"/>
          </a:xfrm>
          <a:prstGeom prst="rect">
            <a:avLst/>
          </a:prstGeom>
          <a:noFill/>
        </p:spPr>
        <p:txBody>
          <a:bodyPr wrap="square">
            <a:spAutoFit/>
          </a:bodyPr>
          <a:lstStyle/>
          <a:p>
            <a:pPr algn="l"/>
            <a:r>
              <a:rPr sz="1200" b="0" i="1">
                <a:solidFill>
                  <a:srgbClr val="0070C0"/>
                </a:solidFill>
                <a:latin typeface="Calibri"/>
              </a:rPr>
              <a:t>New EMR integration = implement IEMRGateway interface only. Zero changes to platform core services.</a:t>
            </a:r>
          </a:p>
        </p:txBody>
      </p:sp>
      <p:sp>
        <p:nvSpPr>
          <p:cNvPr id="7" name="Rectangle 6"/>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Event-Driven Architecture — Key Domain Events</a:t>
            </a:r>
          </a:p>
        </p:txBody>
      </p:sp>
      <p:graphicFrame>
        <p:nvGraphicFramePr>
          <p:cNvPr id="4" name="Table 3"/>
          <p:cNvGraphicFramePr>
            <a:graphicFrameLocks noGrp="1"/>
          </p:cNvGraphicFramePr>
          <p:nvPr/>
        </p:nvGraphicFramePr>
        <p:xfrm>
          <a:off x="274320" y="713232"/>
          <a:ext cx="11640312" cy="5870448"/>
        </p:xfrm>
        <a:graphic>
          <a:graphicData uri="http://schemas.openxmlformats.org/drawingml/2006/table">
            <a:tbl>
              <a:tblPr firstRow="1" bandRow="1">
                <a:tableStyleId>{5C22544A-7EE6-4342-B048-85BDC9FD1C3A}</a:tableStyleId>
              </a:tblPr>
              <a:tblGrid>
                <a:gridCol w="3840480"/>
                <a:gridCol w="2926080"/>
                <a:gridCol w="4873752"/>
              </a:tblGrid>
              <a:tr h="533677">
                <a:tc>
                  <a:txBody>
                    <a:bodyPr wrap="square"/>
                    <a:lstStyle/>
                    <a:p>
                      <a:pPr algn="ctr"/>
                      <a:r>
                        <a:rPr sz="1200" b="1">
                          <a:solidFill>
                            <a:srgbClr val="FFFFFF"/>
                          </a:solidFill>
                          <a:latin typeface="Calibri"/>
                        </a:rPr>
                        <a:t>Event</a:t>
                      </a:r>
                    </a:p>
                  </a:txBody>
                  <a:tcPr>
                    <a:solidFill>
                      <a:srgbClr val="1F3564"/>
                    </a:solidFill>
                  </a:tcPr>
                </a:tc>
                <a:tc>
                  <a:txBody>
                    <a:bodyPr wrap="square"/>
                    <a:lstStyle/>
                    <a:p>
                      <a:pPr algn="ctr"/>
                      <a:r>
                        <a:rPr sz="1200" b="1">
                          <a:solidFill>
                            <a:srgbClr val="FFFFFF"/>
                          </a:solidFill>
                          <a:latin typeface="Calibri"/>
                        </a:rPr>
                        <a:t>Raised By</a:t>
                      </a:r>
                    </a:p>
                  </a:txBody>
                  <a:tcPr>
                    <a:solidFill>
                      <a:srgbClr val="1F3564"/>
                    </a:solidFill>
                  </a:tcPr>
                </a:tc>
                <a:tc>
                  <a:txBody>
                    <a:bodyPr wrap="square"/>
                    <a:lstStyle/>
                    <a:p>
                      <a:pPr algn="ctr"/>
                      <a:r>
                        <a:rPr sz="1200" b="1">
                          <a:solidFill>
                            <a:srgbClr val="FFFFFF"/>
                          </a:solidFill>
                          <a:latin typeface="Calibri"/>
                        </a:rPr>
                        <a:t>Consumed By</a:t>
                      </a:r>
                    </a:p>
                  </a:txBody>
                  <a:tcPr>
                    <a:solidFill>
                      <a:srgbClr val="1F3564"/>
                    </a:solidFill>
                  </a:tcPr>
                </a:tc>
              </a:tr>
              <a:tr h="533677">
                <a:tc>
                  <a:txBody>
                    <a:bodyPr wrap="square"/>
                    <a:lstStyle/>
                    <a:p>
                      <a:pPr algn="l"/>
                      <a:r>
                        <a:rPr sz="1100">
                          <a:solidFill>
                            <a:srgbClr val="595959"/>
                          </a:solidFill>
                          <a:latin typeface="Calibri"/>
                        </a:rPr>
                        <a:t>SignalObservationRecorded</a:t>
                      </a:r>
                    </a:p>
                  </a:txBody>
                  <a:tcPr>
                    <a:solidFill>
                      <a:srgbClr val="D9E1F2"/>
                    </a:solidFill>
                  </a:tcPr>
                </a:tc>
                <a:tc>
                  <a:txBody>
                    <a:bodyPr wrap="square"/>
                    <a:lstStyle/>
                    <a:p>
                      <a:pPr algn="l"/>
                      <a:r>
                        <a:rPr sz="1100">
                          <a:solidFill>
                            <a:srgbClr val="595959"/>
                          </a:solidFill>
                          <a:latin typeface="Calibri"/>
                        </a:rPr>
                        <a:t>Signal Processing</a:t>
                      </a:r>
                    </a:p>
                  </a:txBody>
                  <a:tcPr>
                    <a:solidFill>
                      <a:srgbClr val="D9E1F2"/>
                    </a:solidFill>
                  </a:tcPr>
                </a:tc>
                <a:tc>
                  <a:txBody>
                    <a:bodyPr wrap="square"/>
                    <a:lstStyle/>
                    <a:p>
                      <a:pPr algn="l"/>
                      <a:r>
                        <a:rPr sz="1100">
                          <a:solidFill>
                            <a:srgbClr val="595959"/>
                          </a:solidFill>
                          <a:latin typeface="Calibri"/>
                        </a:rPr>
                        <a:t>CDS, Patient Engagement, Research Analytics</a:t>
                      </a:r>
                    </a:p>
                  </a:txBody>
                  <a:tcPr>
                    <a:solidFill>
                      <a:srgbClr val="D9E1F2"/>
                    </a:solidFill>
                  </a:tcPr>
                </a:tc>
              </a:tr>
              <a:tr h="533677">
                <a:tc>
                  <a:txBody>
                    <a:bodyPr wrap="square"/>
                    <a:lstStyle/>
                    <a:p>
                      <a:pPr algn="l"/>
                      <a:r>
                        <a:rPr sz="1100">
                          <a:solidFill>
                            <a:srgbClr val="595959"/>
                          </a:solidFill>
                          <a:latin typeface="Calibri"/>
                        </a:rPr>
                        <a:t>HypoxiaFlagRaised</a:t>
                      </a:r>
                    </a:p>
                  </a:txBody>
                  <a:tcPr>
                    <a:solidFill>
                      <a:srgbClr val="FFFFFF"/>
                    </a:solidFill>
                  </a:tcPr>
                </a:tc>
                <a:tc>
                  <a:txBody>
                    <a:bodyPr wrap="square"/>
                    <a:lstStyle/>
                    <a:p>
                      <a:pPr algn="l"/>
                      <a:r>
                        <a:rPr sz="1100">
                          <a:solidFill>
                            <a:srgbClr val="595959"/>
                          </a:solidFill>
                          <a:latin typeface="Calibri"/>
                        </a:rPr>
                        <a:t>Signal Processing</a:t>
                      </a:r>
                    </a:p>
                  </a:txBody>
                  <a:tcPr>
                    <a:solidFill>
                      <a:srgbClr val="FFFFFF"/>
                    </a:solidFill>
                  </a:tcPr>
                </a:tc>
                <a:tc>
                  <a:txBody>
                    <a:bodyPr wrap="square"/>
                    <a:lstStyle/>
                    <a:p>
                      <a:pPr algn="l"/>
                      <a:r>
                        <a:rPr sz="1100">
                          <a:solidFill>
                            <a:srgbClr val="595959"/>
                          </a:solidFill>
                          <a:latin typeface="Calibri"/>
                        </a:rPr>
                        <a:t>CDS, Care Coordination</a:t>
                      </a:r>
                    </a:p>
                  </a:txBody>
                  <a:tcPr>
                    <a:solidFill>
                      <a:srgbClr val="FFFFFF"/>
                    </a:solidFill>
                  </a:tcPr>
                </a:tc>
              </a:tr>
              <a:tr h="533677">
                <a:tc>
                  <a:txBody>
                    <a:bodyPr wrap="square"/>
                    <a:lstStyle/>
                    <a:p>
                      <a:pPr algn="l"/>
                      <a:r>
                        <a:rPr sz="1100">
                          <a:solidFill>
                            <a:srgbClr val="595959"/>
                          </a:solidFill>
                          <a:latin typeface="Calibri"/>
                        </a:rPr>
                        <a:t>RiskAssessmentCompleted</a:t>
                      </a:r>
                    </a:p>
                  </a:txBody>
                  <a:tcPr>
                    <a:solidFill>
                      <a:srgbClr val="D9E1F2"/>
                    </a:solidFill>
                  </a:tcPr>
                </a:tc>
                <a:tc>
                  <a:txBody>
                    <a:bodyPr wrap="square"/>
                    <a:lstStyle/>
                    <a:p>
                      <a:pPr algn="l"/>
                      <a:r>
                        <a:rPr sz="1100">
                          <a:solidFill>
                            <a:srgbClr val="595959"/>
                          </a:solidFill>
                          <a:latin typeface="Calibri"/>
                        </a:rPr>
                        <a:t>CDS</a:t>
                      </a:r>
                    </a:p>
                  </a:txBody>
                  <a:tcPr>
                    <a:solidFill>
                      <a:srgbClr val="D9E1F2"/>
                    </a:solidFill>
                  </a:tcPr>
                </a:tc>
                <a:tc>
                  <a:txBody>
                    <a:bodyPr wrap="square"/>
                    <a:lstStyle/>
                    <a:p>
                      <a:pPr algn="l"/>
                      <a:r>
                        <a:rPr sz="1100">
                          <a:solidFill>
                            <a:srgbClr val="595959"/>
                          </a:solidFill>
                          <a:latin typeface="Calibri"/>
                        </a:rPr>
                        <a:t>Care Coordination, Patient Engagement, Population Health</a:t>
                      </a:r>
                    </a:p>
                  </a:txBody>
                  <a:tcPr>
                    <a:solidFill>
                      <a:srgbClr val="D9E1F2"/>
                    </a:solidFill>
                  </a:tcPr>
                </a:tc>
              </a:tr>
              <a:tr h="533677">
                <a:tc>
                  <a:txBody>
                    <a:bodyPr wrap="square"/>
                    <a:lstStyle/>
                    <a:p>
                      <a:pPr algn="l"/>
                      <a:r>
                        <a:rPr sz="1100">
                          <a:solidFill>
                            <a:srgbClr val="595959"/>
                          </a:solidFill>
                          <a:latin typeface="Calibri"/>
                        </a:rPr>
                        <a:t>EscalationTriggered</a:t>
                      </a:r>
                    </a:p>
                  </a:txBody>
                  <a:tcPr>
                    <a:solidFill>
                      <a:srgbClr val="FFFFFF"/>
                    </a:solidFill>
                  </a:tcPr>
                </a:tc>
                <a:tc>
                  <a:txBody>
                    <a:bodyPr wrap="square"/>
                    <a:lstStyle/>
                    <a:p>
                      <a:pPr algn="l"/>
                      <a:r>
                        <a:rPr sz="1100">
                          <a:solidFill>
                            <a:srgbClr val="595959"/>
                          </a:solidFill>
                          <a:latin typeface="Calibri"/>
                        </a:rPr>
                        <a:t>Care Coordination</a:t>
                      </a:r>
                    </a:p>
                  </a:txBody>
                  <a:tcPr>
                    <a:solidFill>
                      <a:srgbClr val="FFFFFF"/>
                    </a:solidFill>
                  </a:tcPr>
                </a:tc>
                <a:tc>
                  <a:txBody>
                    <a:bodyPr wrap="square"/>
                    <a:lstStyle/>
                    <a:p>
                      <a:pPr algn="l"/>
                      <a:r>
                        <a:rPr sz="1100">
                          <a:solidFill>
                            <a:srgbClr val="595959"/>
                          </a:solidFill>
                          <a:latin typeface="Calibri"/>
                        </a:rPr>
                        <a:t>Patient Engagement</a:t>
                      </a:r>
                    </a:p>
                  </a:txBody>
                  <a:tcPr>
                    <a:solidFill>
                      <a:srgbClr val="FFFFFF"/>
                    </a:solidFill>
                  </a:tcPr>
                </a:tc>
              </a:tr>
              <a:tr h="533677">
                <a:tc>
                  <a:txBody>
                    <a:bodyPr wrap="square"/>
                    <a:lstStyle/>
                    <a:p>
                      <a:pPr algn="l"/>
                      <a:r>
                        <a:rPr sz="1100">
                          <a:solidFill>
                            <a:srgbClr val="595959"/>
                          </a:solidFill>
                          <a:latin typeface="Calibri"/>
                        </a:rPr>
                        <a:t>PatientSessionEstablished</a:t>
                      </a:r>
                    </a:p>
                  </a:txBody>
                  <a:tcPr>
                    <a:solidFill>
                      <a:srgbClr val="D9E1F2"/>
                    </a:solidFill>
                  </a:tcPr>
                </a:tc>
                <a:tc>
                  <a:txBody>
                    <a:bodyPr wrap="square"/>
                    <a:lstStyle/>
                    <a:p>
                      <a:pPr algn="l"/>
                      <a:r>
                        <a:rPr sz="1100">
                          <a:solidFill>
                            <a:srgbClr val="595959"/>
                          </a:solidFill>
                          <a:latin typeface="Calibri"/>
                        </a:rPr>
                        <a:t>EMR Gateway</a:t>
                      </a:r>
                    </a:p>
                  </a:txBody>
                  <a:tcPr>
                    <a:solidFill>
                      <a:srgbClr val="D9E1F2"/>
                    </a:solidFill>
                  </a:tcPr>
                </a:tc>
                <a:tc>
                  <a:txBody>
                    <a:bodyPr wrap="square"/>
                    <a:lstStyle/>
                    <a:p>
                      <a:pPr algn="l"/>
                      <a:r>
                        <a:rPr sz="1100">
                          <a:solidFill>
                            <a:srgbClr val="595959"/>
                          </a:solidFill>
                          <a:latin typeface="Calibri"/>
                        </a:rPr>
                        <a:t>Signal Processing, CDS</a:t>
                      </a:r>
                    </a:p>
                  </a:txBody>
                  <a:tcPr>
                    <a:solidFill>
                      <a:srgbClr val="D9E1F2"/>
                    </a:solidFill>
                  </a:tcPr>
                </a:tc>
              </a:tr>
              <a:tr h="533677">
                <a:tc>
                  <a:txBody>
                    <a:bodyPr wrap="square"/>
                    <a:lstStyle/>
                    <a:p>
                      <a:pPr algn="l"/>
                      <a:r>
                        <a:rPr sz="1100">
                          <a:solidFill>
                            <a:srgbClr val="595959"/>
                          </a:solidFill>
                          <a:latin typeface="Calibri"/>
                        </a:rPr>
                        <a:t>DevicePatientBindingCreated</a:t>
                      </a:r>
                    </a:p>
                  </a:txBody>
                  <a:tcPr>
                    <a:solidFill>
                      <a:srgbClr val="FFFFFF"/>
                    </a:solidFill>
                  </a:tcPr>
                </a:tc>
                <a:tc>
                  <a:txBody>
                    <a:bodyPr wrap="square"/>
                    <a:lstStyle/>
                    <a:p>
                      <a:pPr algn="l"/>
                      <a:r>
                        <a:rPr sz="1100">
                          <a:solidFill>
                            <a:srgbClr val="595959"/>
                          </a:solidFill>
                          <a:latin typeface="Calibri"/>
                        </a:rPr>
                        <a:t>Device Identity &amp; Binding</a:t>
                      </a:r>
                    </a:p>
                  </a:txBody>
                  <a:tcPr>
                    <a:solidFill>
                      <a:srgbClr val="FFFFFF"/>
                    </a:solidFill>
                  </a:tcPr>
                </a:tc>
                <a:tc>
                  <a:txBody>
                    <a:bodyPr wrap="square"/>
                    <a:lstStyle/>
                    <a:p>
                      <a:pPr algn="l"/>
                      <a:r>
                        <a:rPr sz="1100">
                          <a:solidFill>
                            <a:srgbClr val="595959"/>
                          </a:solidFill>
                          <a:latin typeface="Calibri"/>
                        </a:rPr>
                        <a:t>EMR Gateway, Audit</a:t>
                      </a:r>
                    </a:p>
                  </a:txBody>
                  <a:tcPr>
                    <a:solidFill>
                      <a:srgbClr val="FFFFFF"/>
                    </a:solidFill>
                  </a:tcPr>
                </a:tc>
              </a:tr>
              <a:tr h="533677">
                <a:tc>
                  <a:txBody>
                    <a:bodyPr wrap="square"/>
                    <a:lstStyle/>
                    <a:p>
                      <a:pPr algn="l"/>
                      <a:r>
                        <a:rPr sz="1100">
                          <a:solidFill>
                            <a:srgbClr val="595959"/>
                          </a:solidFill>
                          <a:latin typeface="Calibri"/>
                        </a:rPr>
                        <a:t>DevicePatientBindingRevoked</a:t>
                      </a:r>
                    </a:p>
                  </a:txBody>
                  <a:tcPr>
                    <a:solidFill>
                      <a:srgbClr val="D9E1F2"/>
                    </a:solidFill>
                  </a:tcPr>
                </a:tc>
                <a:tc>
                  <a:txBody>
                    <a:bodyPr wrap="square"/>
                    <a:lstStyle/>
                    <a:p>
                      <a:pPr algn="l"/>
                      <a:r>
                        <a:rPr sz="1100">
                          <a:solidFill>
                            <a:srgbClr val="595959"/>
                          </a:solidFill>
                          <a:latin typeface="Calibri"/>
                        </a:rPr>
                        <a:t>Device Identity &amp; Binding</a:t>
                      </a:r>
                    </a:p>
                  </a:txBody>
                  <a:tcPr>
                    <a:solidFill>
                      <a:srgbClr val="D9E1F2"/>
                    </a:solidFill>
                  </a:tcPr>
                </a:tc>
                <a:tc>
                  <a:txBody>
                    <a:bodyPr wrap="square"/>
                    <a:lstStyle/>
                    <a:p>
                      <a:pPr algn="l"/>
                      <a:r>
                        <a:rPr sz="1100">
                          <a:solidFill>
                            <a:srgbClr val="595959"/>
                          </a:solidFill>
                          <a:latin typeface="Calibri"/>
                        </a:rPr>
                        <a:t>EMR Gateway, Audit</a:t>
                      </a:r>
                    </a:p>
                  </a:txBody>
                  <a:tcPr>
                    <a:solidFill>
                      <a:srgbClr val="D9E1F2"/>
                    </a:solidFill>
                  </a:tcPr>
                </a:tc>
              </a:tr>
              <a:tr h="533677">
                <a:tc>
                  <a:txBody>
                    <a:bodyPr wrap="square"/>
                    <a:lstStyle/>
                    <a:p>
                      <a:pPr algn="l"/>
                      <a:r>
                        <a:rPr sz="1100">
                          <a:solidFill>
                            <a:srgbClr val="595959"/>
                          </a:solidFill>
                          <a:latin typeface="Calibri"/>
                        </a:rPr>
                        <a:t>RiskScoreWrittenToEMR</a:t>
                      </a:r>
                    </a:p>
                  </a:txBody>
                  <a:tcPr>
                    <a:solidFill>
                      <a:srgbClr val="FFFFFF"/>
                    </a:solidFill>
                  </a:tcPr>
                </a:tc>
                <a:tc>
                  <a:txBody>
                    <a:bodyPr wrap="square"/>
                    <a:lstStyle/>
                    <a:p>
                      <a:pPr algn="l"/>
                      <a:r>
                        <a:rPr sz="1100">
                          <a:solidFill>
                            <a:srgbClr val="595959"/>
                          </a:solidFill>
                          <a:latin typeface="Calibri"/>
                        </a:rPr>
                        <a:t>EMR Gateway</a:t>
                      </a:r>
                    </a:p>
                  </a:txBody>
                  <a:tcPr>
                    <a:solidFill>
                      <a:srgbClr val="FFFFFF"/>
                    </a:solidFill>
                  </a:tcPr>
                </a:tc>
                <a:tc>
                  <a:txBody>
                    <a:bodyPr wrap="square"/>
                    <a:lstStyle/>
                    <a:p>
                      <a:pPr algn="l"/>
                      <a:r>
                        <a:rPr sz="1100">
                          <a:solidFill>
                            <a:srgbClr val="595959"/>
                          </a:solidFill>
                          <a:latin typeface="Calibri"/>
                        </a:rPr>
                        <a:t>Audit &amp; Compliance</a:t>
                      </a:r>
                    </a:p>
                  </a:txBody>
                  <a:tcPr>
                    <a:solidFill>
                      <a:srgbClr val="FFFFFF"/>
                    </a:solidFill>
                  </a:tcPr>
                </a:tc>
              </a:tr>
              <a:tr h="533677">
                <a:tc>
                  <a:txBody>
                    <a:bodyPr wrap="square"/>
                    <a:lstStyle/>
                    <a:p>
                      <a:pPr algn="l"/>
                      <a:r>
                        <a:rPr sz="1100">
                          <a:solidFill>
                            <a:srgbClr val="595959"/>
                          </a:solidFill>
                          <a:latin typeface="Calibri"/>
                        </a:rPr>
                        <a:t>DeviceOfflineDetected</a:t>
                      </a:r>
                    </a:p>
                  </a:txBody>
                  <a:tcPr>
                    <a:solidFill>
                      <a:srgbClr val="D9E1F2"/>
                    </a:solidFill>
                  </a:tcPr>
                </a:tc>
                <a:tc>
                  <a:txBody>
                    <a:bodyPr wrap="square"/>
                    <a:lstStyle/>
                    <a:p>
                      <a:pPr algn="l"/>
                      <a:r>
                        <a:rPr sz="1100">
                          <a:solidFill>
                            <a:srgbClr val="595959"/>
                          </a:solidFill>
                          <a:latin typeface="Calibri"/>
                        </a:rPr>
                        <a:t>Device Connectivity</a:t>
                      </a:r>
                    </a:p>
                  </a:txBody>
                  <a:tcPr>
                    <a:solidFill>
                      <a:srgbClr val="D9E1F2"/>
                    </a:solidFill>
                  </a:tcPr>
                </a:tc>
                <a:tc>
                  <a:txBody>
                    <a:bodyPr wrap="square"/>
                    <a:lstStyle/>
                    <a:p>
                      <a:pPr algn="l"/>
                      <a:r>
                        <a:rPr sz="1100">
                          <a:solidFill>
                            <a:srgbClr val="595959"/>
                          </a:solidFill>
                          <a:latin typeface="Calibri"/>
                        </a:rPr>
                        <a:t>Platform Observability</a:t>
                      </a:r>
                    </a:p>
                  </a:txBody>
                  <a:tcPr>
                    <a:solidFill>
                      <a:srgbClr val="D9E1F2"/>
                    </a:solidFill>
                  </a:tcPr>
                </a:tc>
              </a:tr>
              <a:tr h="533678">
                <a:tc>
                  <a:txBody>
                    <a:bodyPr wrap="square"/>
                    <a:lstStyle/>
                    <a:p>
                      <a:pPr algn="l"/>
                      <a:r>
                        <a:rPr sz="1100">
                          <a:solidFill>
                            <a:srgbClr val="595959"/>
                          </a:solidFill>
                          <a:latin typeface="Calibri"/>
                        </a:rPr>
                        <a:t>SLABreachTriggered</a:t>
                      </a:r>
                    </a:p>
                  </a:txBody>
                  <a:tcPr>
                    <a:solidFill>
                      <a:srgbClr val="FFFFFF"/>
                    </a:solidFill>
                  </a:tcPr>
                </a:tc>
                <a:tc>
                  <a:txBody>
                    <a:bodyPr wrap="square"/>
                    <a:lstStyle/>
                    <a:p>
                      <a:pPr algn="l"/>
                      <a:r>
                        <a:rPr sz="1100">
                          <a:solidFill>
                            <a:srgbClr val="595959"/>
                          </a:solidFill>
                          <a:latin typeface="Calibri"/>
                        </a:rPr>
                        <a:t>Platform Observability</a:t>
                      </a:r>
                    </a:p>
                  </a:txBody>
                  <a:tcPr>
                    <a:solidFill>
                      <a:srgbClr val="FFFFFF"/>
                    </a:solidFill>
                  </a:tcPr>
                </a:tc>
                <a:tc>
                  <a:txBody>
                    <a:bodyPr wrap="square"/>
                    <a:lstStyle/>
                    <a:p>
                      <a:pPr algn="l"/>
                      <a:r>
                        <a:rPr sz="1100">
                          <a:solidFill>
                            <a:srgbClr val="595959"/>
                          </a:solidFill>
                          <a:latin typeface="Calibri"/>
                        </a:rPr>
                        <a:t>Corporate Administrator</a:t>
                      </a:r>
                    </a:p>
                  </a:txBody>
                  <a:tcPr>
                    <a:solidFill>
                      <a:srgbClr val="FFFFFF"/>
                    </a:solidFill>
                  </a:tcPr>
                </a:tc>
              </a:tr>
            </a:tbl>
          </a:graphicData>
        </a:graphic>
      </p:graphicFrame>
      <p:sp>
        <p:nvSpPr>
          <p:cNvPr id="5" name="Rectangle 4"/>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Core Technology Decisions</a:t>
            </a:r>
          </a:p>
        </p:txBody>
      </p:sp>
      <p:graphicFrame>
        <p:nvGraphicFramePr>
          <p:cNvPr id="4" name="Table 3"/>
          <p:cNvGraphicFramePr>
            <a:graphicFrameLocks noGrp="1"/>
          </p:cNvGraphicFramePr>
          <p:nvPr/>
        </p:nvGraphicFramePr>
        <p:xfrm>
          <a:off x="274320" y="713232"/>
          <a:ext cx="11338560" cy="5760720"/>
        </p:xfrm>
        <a:graphic>
          <a:graphicData uri="http://schemas.openxmlformats.org/drawingml/2006/table">
            <a:tbl>
              <a:tblPr firstRow="1" bandRow="1">
                <a:tableStyleId>{5C22544A-7EE6-4342-B048-85BDC9FD1C3A}</a:tableStyleId>
              </a:tblPr>
              <a:tblGrid>
                <a:gridCol w="2011680"/>
                <a:gridCol w="2926080"/>
                <a:gridCol w="2926080"/>
                <a:gridCol w="3474720"/>
              </a:tblGrid>
              <a:tr h="576072">
                <a:tc>
                  <a:txBody>
                    <a:bodyPr wrap="square"/>
                    <a:lstStyle/>
                    <a:p>
                      <a:pPr algn="ctr"/>
                      <a:r>
                        <a:rPr sz="1200" b="1">
                          <a:solidFill>
                            <a:srgbClr val="FFFFFF"/>
                          </a:solidFill>
                          <a:latin typeface="Calibri"/>
                        </a:rPr>
                        <a:t>Component</a:t>
                      </a:r>
                    </a:p>
                  </a:txBody>
                  <a:tcPr>
                    <a:solidFill>
                      <a:srgbClr val="1F3564"/>
                    </a:solidFill>
                  </a:tcPr>
                </a:tc>
                <a:tc>
                  <a:txBody>
                    <a:bodyPr wrap="square"/>
                    <a:lstStyle/>
                    <a:p>
                      <a:pPr algn="ctr"/>
                      <a:r>
                        <a:rPr sz="1200" b="1">
                          <a:solidFill>
                            <a:srgbClr val="FFFFFF"/>
                          </a:solidFill>
                          <a:latin typeface="Calibri"/>
                        </a:rPr>
                        <a:t>Recommended</a:t>
                      </a:r>
                    </a:p>
                  </a:txBody>
                  <a:tcPr>
                    <a:solidFill>
                      <a:srgbClr val="1F3564"/>
                    </a:solidFill>
                  </a:tcPr>
                </a:tc>
                <a:tc>
                  <a:txBody>
                    <a:bodyPr wrap="square"/>
                    <a:lstStyle/>
                    <a:p>
                      <a:pPr algn="ctr"/>
                      <a:r>
                        <a:rPr sz="1200" b="1">
                          <a:solidFill>
                            <a:srgbClr val="FFFFFF"/>
                          </a:solidFill>
                          <a:latin typeface="Calibri"/>
                        </a:rPr>
                        <a:t>AWS Alternative</a:t>
                      </a:r>
                    </a:p>
                  </a:txBody>
                  <a:tcPr>
                    <a:solidFill>
                      <a:srgbClr val="1F3564"/>
                    </a:solidFill>
                  </a:tcPr>
                </a:tc>
                <a:tc>
                  <a:txBody>
                    <a:bodyPr wrap="square"/>
                    <a:lstStyle/>
                    <a:p>
                      <a:pPr algn="ctr"/>
                      <a:r>
                        <a:rPr sz="1200" b="1">
                          <a:solidFill>
                            <a:srgbClr val="FFFFFF"/>
                          </a:solidFill>
                          <a:latin typeface="Calibri"/>
                        </a:rPr>
                        <a:t>Azure Alternative</a:t>
                      </a:r>
                    </a:p>
                  </a:txBody>
                  <a:tcPr>
                    <a:solidFill>
                      <a:srgbClr val="1F3564"/>
                    </a:solidFill>
                  </a:tcPr>
                </a:tc>
              </a:tr>
              <a:tr h="576072">
                <a:tc>
                  <a:txBody>
                    <a:bodyPr wrap="square"/>
                    <a:lstStyle/>
                    <a:p>
                      <a:pPr algn="l"/>
                      <a:r>
                        <a:rPr sz="1100">
                          <a:solidFill>
                            <a:srgbClr val="595959"/>
                          </a:solidFill>
                          <a:latin typeface="Calibri"/>
                        </a:rPr>
                        <a:t>Event Bus</a:t>
                      </a:r>
                    </a:p>
                  </a:txBody>
                  <a:tcPr>
                    <a:solidFill>
                      <a:srgbClr val="D9E1F2"/>
                    </a:solidFill>
                  </a:tcPr>
                </a:tc>
                <a:tc>
                  <a:txBody>
                    <a:bodyPr wrap="square"/>
                    <a:lstStyle/>
                    <a:p>
                      <a:pPr algn="l"/>
                      <a:r>
                        <a:rPr sz="1100">
                          <a:solidFill>
                            <a:srgbClr val="595959"/>
                          </a:solidFill>
                          <a:latin typeface="Calibri"/>
                        </a:rPr>
                        <a:t>Apache Kafka (MSK)</a:t>
                      </a:r>
                    </a:p>
                  </a:txBody>
                  <a:tcPr>
                    <a:solidFill>
                      <a:srgbClr val="D9E1F2"/>
                    </a:solidFill>
                  </a:tcPr>
                </a:tc>
                <a:tc>
                  <a:txBody>
                    <a:bodyPr wrap="square"/>
                    <a:lstStyle/>
                    <a:p>
                      <a:pPr algn="l"/>
                      <a:r>
                        <a:rPr sz="1100">
                          <a:solidFill>
                            <a:srgbClr val="595959"/>
                          </a:solidFill>
                          <a:latin typeface="Calibri"/>
                        </a:rPr>
                        <a:t>Kinesis Data Streams</a:t>
                      </a:r>
                    </a:p>
                  </a:txBody>
                  <a:tcPr>
                    <a:solidFill>
                      <a:srgbClr val="D9E1F2"/>
                    </a:solidFill>
                  </a:tcPr>
                </a:tc>
                <a:tc>
                  <a:txBody>
                    <a:bodyPr wrap="square"/>
                    <a:lstStyle/>
                    <a:p>
                      <a:pPr algn="l"/>
                      <a:r>
                        <a:rPr sz="1100">
                          <a:solidFill>
                            <a:srgbClr val="595959"/>
                          </a:solidFill>
                          <a:latin typeface="Calibri"/>
                        </a:rPr>
                        <a:t>Azure Event Hubs</a:t>
                      </a:r>
                    </a:p>
                  </a:txBody>
                  <a:tcPr>
                    <a:solidFill>
                      <a:srgbClr val="D9E1F2"/>
                    </a:solidFill>
                  </a:tcPr>
                </a:tc>
              </a:tr>
              <a:tr h="576072">
                <a:tc>
                  <a:txBody>
                    <a:bodyPr wrap="square"/>
                    <a:lstStyle/>
                    <a:p>
                      <a:pPr algn="l"/>
                      <a:r>
                        <a:rPr sz="1100">
                          <a:solidFill>
                            <a:srgbClr val="595959"/>
                          </a:solidFill>
                          <a:latin typeface="Calibri"/>
                        </a:rPr>
                        <a:t>Time-Series DB</a:t>
                      </a:r>
                    </a:p>
                  </a:txBody>
                  <a:tcPr>
                    <a:solidFill>
                      <a:srgbClr val="FFFFFF"/>
                    </a:solidFill>
                  </a:tcPr>
                </a:tc>
                <a:tc>
                  <a:txBody>
                    <a:bodyPr wrap="square"/>
                    <a:lstStyle/>
                    <a:p>
                      <a:pPr algn="l"/>
                      <a:r>
                        <a:rPr sz="1100">
                          <a:solidFill>
                            <a:srgbClr val="595959"/>
                          </a:solidFill>
                          <a:latin typeface="Calibri"/>
                        </a:rPr>
                        <a:t>InfluxDB</a:t>
                      </a:r>
                    </a:p>
                  </a:txBody>
                  <a:tcPr>
                    <a:solidFill>
                      <a:srgbClr val="FFFFFF"/>
                    </a:solidFill>
                  </a:tcPr>
                </a:tc>
                <a:tc>
                  <a:txBody>
                    <a:bodyPr wrap="square"/>
                    <a:lstStyle/>
                    <a:p>
                      <a:pPr algn="l"/>
                      <a:r>
                        <a:rPr sz="1100">
                          <a:solidFill>
                            <a:srgbClr val="595959"/>
                          </a:solidFill>
                          <a:latin typeface="Calibri"/>
                        </a:rPr>
                        <a:t>AWS Timestream</a:t>
                      </a:r>
                    </a:p>
                  </a:txBody>
                  <a:tcPr>
                    <a:solidFill>
                      <a:srgbClr val="FFFFFF"/>
                    </a:solidFill>
                  </a:tcPr>
                </a:tc>
                <a:tc>
                  <a:txBody>
                    <a:bodyPr wrap="square"/>
                    <a:lstStyle/>
                    <a:p>
                      <a:pPr algn="l"/>
                      <a:r>
                        <a:rPr sz="1100">
                          <a:solidFill>
                            <a:srgbClr val="595959"/>
                          </a:solidFill>
                          <a:latin typeface="Calibri"/>
                        </a:rPr>
                        <a:t>Azure Data Explorer</a:t>
                      </a:r>
                    </a:p>
                  </a:txBody>
                  <a:tcPr>
                    <a:solidFill>
                      <a:srgbClr val="FFFFFF"/>
                    </a:solidFill>
                  </a:tcPr>
                </a:tc>
              </a:tr>
              <a:tr h="576072">
                <a:tc>
                  <a:txBody>
                    <a:bodyPr wrap="square"/>
                    <a:lstStyle/>
                    <a:p>
                      <a:pPr algn="l"/>
                      <a:r>
                        <a:rPr sz="1100">
                          <a:solidFill>
                            <a:srgbClr val="595959"/>
                          </a:solidFill>
                          <a:latin typeface="Calibri"/>
                        </a:rPr>
                        <a:t>ML Platform</a:t>
                      </a:r>
                    </a:p>
                  </a:txBody>
                  <a:tcPr>
                    <a:solidFill>
                      <a:srgbClr val="D9E1F2"/>
                    </a:solidFill>
                  </a:tcPr>
                </a:tc>
                <a:tc>
                  <a:txBody>
                    <a:bodyPr wrap="square"/>
                    <a:lstStyle/>
                    <a:p>
                      <a:pPr algn="l"/>
                      <a:r>
                        <a:rPr sz="1100">
                          <a:solidFill>
                            <a:srgbClr val="595959"/>
                          </a:solidFill>
                          <a:latin typeface="Calibri"/>
                        </a:rPr>
                        <a:t>MLflow + SageMaker</a:t>
                      </a:r>
                    </a:p>
                  </a:txBody>
                  <a:tcPr>
                    <a:solidFill>
                      <a:srgbClr val="D9E1F2"/>
                    </a:solidFill>
                  </a:tcPr>
                </a:tc>
                <a:tc>
                  <a:txBody>
                    <a:bodyPr wrap="square"/>
                    <a:lstStyle/>
                    <a:p>
                      <a:pPr algn="l"/>
                      <a:r>
                        <a:rPr sz="1100">
                          <a:solidFill>
                            <a:srgbClr val="595959"/>
                          </a:solidFill>
                          <a:latin typeface="Calibri"/>
                        </a:rPr>
                        <a:t>SageMaker Autopilot</a:t>
                      </a:r>
                    </a:p>
                  </a:txBody>
                  <a:tcPr>
                    <a:solidFill>
                      <a:srgbClr val="D9E1F2"/>
                    </a:solidFill>
                  </a:tcPr>
                </a:tc>
                <a:tc>
                  <a:txBody>
                    <a:bodyPr wrap="square"/>
                    <a:lstStyle/>
                    <a:p>
                      <a:pPr algn="l"/>
                      <a:r>
                        <a:rPr sz="1100">
                          <a:solidFill>
                            <a:srgbClr val="595959"/>
                          </a:solidFill>
                          <a:latin typeface="Calibri"/>
                        </a:rPr>
                        <a:t>Azure Machine Learning</a:t>
                      </a:r>
                    </a:p>
                  </a:txBody>
                  <a:tcPr>
                    <a:solidFill>
                      <a:srgbClr val="D9E1F2"/>
                    </a:solidFill>
                  </a:tcPr>
                </a:tc>
              </a:tr>
              <a:tr h="576072">
                <a:tc>
                  <a:txBody>
                    <a:bodyPr wrap="square"/>
                    <a:lstStyle/>
                    <a:p>
                      <a:pPr algn="l"/>
                      <a:r>
                        <a:rPr sz="1100">
                          <a:solidFill>
                            <a:srgbClr val="595959"/>
                          </a:solidFill>
                          <a:latin typeface="Calibri"/>
                        </a:rPr>
                        <a:t>LLM</a:t>
                      </a:r>
                    </a:p>
                  </a:txBody>
                  <a:tcPr>
                    <a:solidFill>
                      <a:srgbClr val="FFFFFF"/>
                    </a:solidFill>
                  </a:tcPr>
                </a:tc>
                <a:tc>
                  <a:txBody>
                    <a:bodyPr wrap="square"/>
                    <a:lstStyle/>
                    <a:p>
                      <a:pPr algn="l"/>
                      <a:r>
                        <a:rPr sz="1100">
                          <a:solidFill>
                            <a:srgbClr val="595959"/>
                          </a:solidFill>
                          <a:latin typeface="Calibri"/>
                        </a:rPr>
                        <a:t>Claude API (Haiku / Sonnet)</a:t>
                      </a:r>
                    </a:p>
                  </a:txBody>
                  <a:tcPr>
                    <a:solidFill>
                      <a:srgbClr val="FFFFFF"/>
                    </a:solidFill>
                  </a:tcPr>
                </a:tc>
                <a:tc>
                  <a:txBody>
                    <a:bodyPr wrap="square"/>
                    <a:lstStyle/>
                    <a:p>
                      <a:pPr algn="l"/>
                      <a:r>
                        <a:rPr sz="1100">
                          <a:solidFill>
                            <a:srgbClr val="595959"/>
                          </a:solidFill>
                          <a:latin typeface="Calibri"/>
                        </a:rPr>
                        <a:t>Bedrock (Claude)</a:t>
                      </a:r>
                    </a:p>
                  </a:txBody>
                  <a:tcPr>
                    <a:solidFill>
                      <a:srgbClr val="FFFFFF"/>
                    </a:solidFill>
                  </a:tcPr>
                </a:tc>
                <a:tc>
                  <a:txBody>
                    <a:bodyPr wrap="square"/>
                    <a:lstStyle/>
                    <a:p>
                      <a:pPr algn="l"/>
                      <a:r>
                        <a:rPr sz="1100">
                          <a:solidFill>
                            <a:srgbClr val="595959"/>
                          </a:solidFill>
                          <a:latin typeface="Calibri"/>
                        </a:rPr>
                        <a:t>Azure AI (Claude)</a:t>
                      </a:r>
                    </a:p>
                  </a:txBody>
                  <a:tcPr>
                    <a:solidFill>
                      <a:srgbClr val="FFFFFF"/>
                    </a:solidFill>
                  </a:tcPr>
                </a:tc>
              </a:tr>
              <a:tr h="576072">
                <a:tc>
                  <a:txBody>
                    <a:bodyPr wrap="square"/>
                    <a:lstStyle/>
                    <a:p>
                      <a:pPr algn="l"/>
                      <a:r>
                        <a:rPr sz="1100">
                          <a:solidFill>
                            <a:srgbClr val="595959"/>
                          </a:solidFill>
                          <a:latin typeface="Calibri"/>
                        </a:rPr>
                        <a:t>Identity Store</a:t>
                      </a:r>
                    </a:p>
                  </a:txBody>
                  <a:tcPr>
                    <a:solidFill>
                      <a:srgbClr val="D9E1F2"/>
                    </a:solidFill>
                  </a:tcPr>
                </a:tc>
                <a:tc>
                  <a:txBody>
                    <a:bodyPr wrap="square"/>
                    <a:lstStyle/>
                    <a:p>
                      <a:pPr algn="l"/>
                      <a:r>
                        <a:rPr sz="1100">
                          <a:solidFill>
                            <a:srgbClr val="595959"/>
                          </a:solidFill>
                          <a:latin typeface="Calibri"/>
                        </a:rPr>
                        <a:t>PostgreSQL + Redis</a:t>
                      </a:r>
                    </a:p>
                  </a:txBody>
                  <a:tcPr>
                    <a:solidFill>
                      <a:srgbClr val="D9E1F2"/>
                    </a:solidFill>
                  </a:tcPr>
                </a:tc>
                <a:tc>
                  <a:txBody>
                    <a:bodyPr wrap="square"/>
                    <a:lstStyle/>
                    <a:p>
                      <a:pPr algn="l"/>
                      <a:r>
                        <a:rPr sz="1100">
                          <a:solidFill>
                            <a:srgbClr val="595959"/>
                          </a:solidFill>
                          <a:latin typeface="Calibri"/>
                        </a:rPr>
                        <a:t>RDS + ElastiCache</a:t>
                      </a:r>
                    </a:p>
                  </a:txBody>
                  <a:tcPr>
                    <a:solidFill>
                      <a:srgbClr val="D9E1F2"/>
                    </a:solidFill>
                  </a:tcPr>
                </a:tc>
                <a:tc>
                  <a:txBody>
                    <a:bodyPr wrap="square"/>
                    <a:lstStyle/>
                    <a:p>
                      <a:pPr algn="l"/>
                      <a:r>
                        <a:rPr sz="1100">
                          <a:solidFill>
                            <a:srgbClr val="595959"/>
                          </a:solidFill>
                          <a:latin typeface="Calibri"/>
                        </a:rPr>
                        <a:t>Azure DB + Azure Cache</a:t>
                      </a:r>
                    </a:p>
                  </a:txBody>
                  <a:tcPr>
                    <a:solidFill>
                      <a:srgbClr val="D9E1F2"/>
                    </a:solidFill>
                  </a:tcPr>
                </a:tc>
              </a:tr>
              <a:tr h="576072">
                <a:tc>
                  <a:txBody>
                    <a:bodyPr wrap="square"/>
                    <a:lstStyle/>
                    <a:p>
                      <a:pPr algn="l"/>
                      <a:r>
                        <a:rPr sz="1100">
                          <a:solidFill>
                            <a:srgbClr val="595959"/>
                          </a:solidFill>
                          <a:latin typeface="Calibri"/>
                        </a:rPr>
                        <a:t>Secrets Mgmt</a:t>
                      </a:r>
                    </a:p>
                  </a:txBody>
                  <a:tcPr>
                    <a:solidFill>
                      <a:srgbClr val="FFFFFF"/>
                    </a:solidFill>
                  </a:tcPr>
                </a:tc>
                <a:tc>
                  <a:txBody>
                    <a:bodyPr wrap="square"/>
                    <a:lstStyle/>
                    <a:p>
                      <a:pPr algn="l"/>
                      <a:r>
                        <a:rPr sz="1100">
                          <a:solidFill>
                            <a:srgbClr val="595959"/>
                          </a:solidFill>
                          <a:latin typeface="Calibri"/>
                        </a:rPr>
                        <a:t>AWS Secrets Manager</a:t>
                      </a:r>
                    </a:p>
                  </a:txBody>
                  <a:tcPr>
                    <a:solidFill>
                      <a:srgbClr val="FFFFFF"/>
                    </a:solidFill>
                  </a:tcPr>
                </a:tc>
                <a:tc>
                  <a:txBody>
                    <a:bodyPr wrap="square"/>
                    <a:lstStyle/>
                    <a:p>
                      <a:pPr algn="l"/>
                      <a:r>
                        <a:rPr sz="1100">
                          <a:solidFill>
                            <a:srgbClr val="595959"/>
                          </a:solidFill>
                          <a:latin typeface="Calibri"/>
                        </a:rPr>
                        <a:t>—</a:t>
                      </a:r>
                    </a:p>
                  </a:txBody>
                  <a:tcPr>
                    <a:solidFill>
                      <a:srgbClr val="FFFFFF"/>
                    </a:solidFill>
                  </a:tcPr>
                </a:tc>
                <a:tc>
                  <a:txBody>
                    <a:bodyPr wrap="square"/>
                    <a:lstStyle/>
                    <a:p>
                      <a:pPr algn="l"/>
                      <a:r>
                        <a:rPr sz="1100">
                          <a:solidFill>
                            <a:srgbClr val="595959"/>
                          </a:solidFill>
                          <a:latin typeface="Calibri"/>
                        </a:rPr>
                        <a:t>Azure Key Vault</a:t>
                      </a:r>
                    </a:p>
                  </a:txBody>
                  <a:tcPr>
                    <a:solidFill>
                      <a:srgbClr val="FFFFFF"/>
                    </a:solidFill>
                  </a:tcPr>
                </a:tc>
              </a:tr>
              <a:tr h="576072">
                <a:tc>
                  <a:txBody>
                    <a:bodyPr wrap="square"/>
                    <a:lstStyle/>
                    <a:p>
                      <a:pPr algn="l"/>
                      <a:r>
                        <a:rPr sz="1100">
                          <a:solidFill>
                            <a:srgbClr val="595959"/>
                          </a:solidFill>
                          <a:latin typeface="Calibri"/>
                        </a:rPr>
                        <a:t>Audit Log</a:t>
                      </a:r>
                    </a:p>
                  </a:txBody>
                  <a:tcPr>
                    <a:solidFill>
                      <a:srgbClr val="D9E1F2"/>
                    </a:solidFill>
                  </a:tcPr>
                </a:tc>
                <a:tc>
                  <a:txBody>
                    <a:bodyPr wrap="square"/>
                    <a:lstStyle/>
                    <a:p>
                      <a:pPr algn="l"/>
                      <a:r>
                        <a:rPr sz="1100">
                          <a:solidFill>
                            <a:srgbClr val="595959"/>
                          </a:solidFill>
                          <a:latin typeface="Calibri"/>
                        </a:rPr>
                        <a:t>Kafka + S3 WORM</a:t>
                      </a:r>
                    </a:p>
                  </a:txBody>
                  <a:tcPr>
                    <a:solidFill>
                      <a:srgbClr val="D9E1F2"/>
                    </a:solidFill>
                  </a:tcPr>
                </a:tc>
                <a:tc>
                  <a:txBody>
                    <a:bodyPr wrap="square"/>
                    <a:lstStyle/>
                    <a:p>
                      <a:pPr algn="l"/>
                      <a:r>
                        <a:rPr sz="1100">
                          <a:solidFill>
                            <a:srgbClr val="595959"/>
                          </a:solidFill>
                          <a:latin typeface="Calibri"/>
                        </a:rPr>
                        <a:t>S3 Object Lock</a:t>
                      </a:r>
                    </a:p>
                  </a:txBody>
                  <a:tcPr>
                    <a:solidFill>
                      <a:srgbClr val="D9E1F2"/>
                    </a:solidFill>
                  </a:tcPr>
                </a:tc>
                <a:tc>
                  <a:txBody>
                    <a:bodyPr wrap="square"/>
                    <a:lstStyle/>
                    <a:p>
                      <a:pPr algn="l"/>
                      <a:r>
                        <a:rPr sz="1100">
                          <a:solidFill>
                            <a:srgbClr val="595959"/>
                          </a:solidFill>
                          <a:latin typeface="Calibri"/>
                        </a:rPr>
                        <a:t>ADLS Gen2 WORM</a:t>
                      </a:r>
                    </a:p>
                  </a:txBody>
                  <a:tcPr>
                    <a:solidFill>
                      <a:srgbClr val="D9E1F2"/>
                    </a:solidFill>
                  </a:tcPr>
                </a:tc>
              </a:tr>
              <a:tr h="576072">
                <a:tc>
                  <a:txBody>
                    <a:bodyPr wrap="square"/>
                    <a:lstStyle/>
                    <a:p>
                      <a:pPr algn="l"/>
                      <a:r>
                        <a:rPr sz="1100">
                          <a:solidFill>
                            <a:srgbClr val="595959"/>
                          </a:solidFill>
                          <a:latin typeface="Calibri"/>
                        </a:rPr>
                        <a:t>Data Lineage</a:t>
                      </a:r>
                    </a:p>
                  </a:txBody>
                  <a:tcPr>
                    <a:solidFill>
                      <a:srgbClr val="FFFFFF"/>
                    </a:solidFill>
                  </a:tcPr>
                </a:tc>
                <a:tc>
                  <a:txBody>
                    <a:bodyPr wrap="square"/>
                    <a:lstStyle/>
                    <a:p>
                      <a:pPr algn="l"/>
                      <a:r>
                        <a:rPr sz="1100">
                          <a:solidFill>
                            <a:srgbClr val="595959"/>
                          </a:solidFill>
                          <a:latin typeface="Calibri"/>
                        </a:rPr>
                        <a:t>OpenLineage + Marquez</a:t>
                      </a:r>
                    </a:p>
                  </a:txBody>
                  <a:tcPr>
                    <a:solidFill>
                      <a:srgbClr val="FFFFFF"/>
                    </a:solidFill>
                  </a:tcPr>
                </a:tc>
                <a:tc>
                  <a:txBody>
                    <a:bodyPr wrap="square"/>
                    <a:lstStyle/>
                    <a:p>
                      <a:pPr algn="l"/>
                      <a:r>
                        <a:rPr sz="1100">
                          <a:solidFill>
                            <a:srgbClr val="595959"/>
                          </a:solidFill>
                          <a:latin typeface="Calibri"/>
                        </a:rPr>
                        <a:t>—</a:t>
                      </a:r>
                    </a:p>
                  </a:txBody>
                  <a:tcPr>
                    <a:solidFill>
                      <a:srgbClr val="FFFFFF"/>
                    </a:solidFill>
                  </a:tcPr>
                </a:tc>
                <a:tc>
                  <a:txBody>
                    <a:bodyPr wrap="square"/>
                    <a:lstStyle/>
                    <a:p>
                      <a:pPr algn="l"/>
                      <a:r>
                        <a:rPr sz="1100">
                          <a:solidFill>
                            <a:srgbClr val="595959"/>
                          </a:solidFill>
                          <a:latin typeface="Calibri"/>
                        </a:rPr>
                        <a:t>Microsoft Purview</a:t>
                      </a:r>
                    </a:p>
                  </a:txBody>
                  <a:tcPr>
                    <a:solidFill>
                      <a:srgbClr val="FFFFFF"/>
                    </a:solidFill>
                  </a:tcPr>
                </a:tc>
              </a:tr>
              <a:tr h="576072">
                <a:tc>
                  <a:txBody>
                    <a:bodyPr wrap="square"/>
                    <a:lstStyle/>
                    <a:p>
                      <a:pPr algn="l"/>
                      <a:r>
                        <a:rPr sz="1100">
                          <a:solidFill>
                            <a:srgbClr val="595959"/>
                          </a:solidFill>
                          <a:latin typeface="Calibri"/>
                        </a:rPr>
                        <a:t>EMR Auth</a:t>
                      </a:r>
                    </a:p>
                  </a:txBody>
                  <a:tcPr>
                    <a:solidFill>
                      <a:srgbClr val="D9E1F2"/>
                    </a:solidFill>
                  </a:tcPr>
                </a:tc>
                <a:tc>
                  <a:txBody>
                    <a:bodyPr wrap="square"/>
                    <a:lstStyle/>
                    <a:p>
                      <a:pPr algn="l"/>
                      <a:r>
                        <a:rPr sz="1100">
                          <a:solidFill>
                            <a:srgbClr val="595959"/>
                          </a:solidFill>
                          <a:latin typeface="Calibri"/>
                        </a:rPr>
                        <a:t>smart-on-fhir (Python)</a:t>
                      </a:r>
                    </a:p>
                  </a:txBody>
                  <a:tcPr>
                    <a:solidFill>
                      <a:srgbClr val="D9E1F2"/>
                    </a:solidFill>
                  </a:tcPr>
                </a:tc>
                <a:tc>
                  <a:txBody>
                    <a:bodyPr wrap="square"/>
                    <a:lstStyle/>
                    <a:p>
                      <a:pPr algn="l"/>
                      <a:r>
                        <a:rPr sz="1100">
                          <a:solidFill>
                            <a:srgbClr val="595959"/>
                          </a:solidFill>
                          <a:latin typeface="Calibri"/>
                        </a:rPr>
                        <a:t>—</a:t>
                      </a:r>
                    </a:p>
                  </a:txBody>
                  <a:tcPr>
                    <a:solidFill>
                      <a:srgbClr val="D9E1F2"/>
                    </a:solidFill>
                  </a:tcPr>
                </a:tc>
                <a:tc>
                  <a:txBody>
                    <a:bodyPr wrap="square"/>
                    <a:lstStyle/>
                    <a:p>
                      <a:pPr algn="l"/>
                      <a:r>
                        <a:rPr sz="1100">
                          <a:solidFill>
                            <a:srgbClr val="595959"/>
                          </a:solidFill>
                          <a:latin typeface="Calibri"/>
                        </a:rPr>
                        <a:t>HAPI FHIR (Java)</a:t>
                      </a:r>
                    </a:p>
                  </a:txBody>
                  <a:tcPr>
                    <a:solidFill>
                      <a:srgbClr val="D9E1F2"/>
                    </a:solidFill>
                  </a:tcPr>
                </a:tc>
              </a:tr>
            </a:tbl>
          </a:graphicData>
        </a:graphic>
      </p:graphicFrame>
      <p:sp>
        <p:nvSpPr>
          <p:cNvPr id="5" name="Rectangle 4"/>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6-Phase Delivery Plan</a:t>
            </a:r>
          </a:p>
        </p:txBody>
      </p:sp>
      <p:graphicFrame>
        <p:nvGraphicFramePr>
          <p:cNvPr id="4" name="Table 3"/>
          <p:cNvGraphicFramePr>
            <a:graphicFrameLocks noGrp="1"/>
          </p:cNvGraphicFramePr>
          <p:nvPr/>
        </p:nvGraphicFramePr>
        <p:xfrm>
          <a:off x="274320" y="713232"/>
          <a:ext cx="11612880" cy="5806440"/>
        </p:xfrm>
        <a:graphic>
          <a:graphicData uri="http://schemas.openxmlformats.org/drawingml/2006/table">
            <a:tbl>
              <a:tblPr firstRow="1" bandRow="1">
                <a:tableStyleId>{5C22544A-7EE6-4342-B048-85BDC9FD1C3A}</a:tableStyleId>
              </a:tblPr>
              <a:tblGrid>
                <a:gridCol w="2286000"/>
                <a:gridCol w="1097280"/>
                <a:gridCol w="1920240"/>
                <a:gridCol w="6309360"/>
              </a:tblGrid>
              <a:tr h="829491">
                <a:tc>
                  <a:txBody>
                    <a:bodyPr wrap="square"/>
                    <a:lstStyle/>
                    <a:p>
                      <a:pPr algn="ctr"/>
                      <a:r>
                        <a:rPr sz="1200" b="1">
                          <a:solidFill>
                            <a:srgbClr val="FFFFFF"/>
                          </a:solidFill>
                          <a:latin typeface="Calibri"/>
                        </a:rPr>
                        <a:t>Phase</a:t>
                      </a:r>
                    </a:p>
                  </a:txBody>
                  <a:tcPr>
                    <a:solidFill>
                      <a:srgbClr val="1F3564"/>
                    </a:solidFill>
                  </a:tcPr>
                </a:tc>
                <a:tc>
                  <a:txBody>
                    <a:bodyPr wrap="square"/>
                    <a:lstStyle/>
                    <a:p>
                      <a:pPr algn="ctr"/>
                      <a:r>
                        <a:rPr sz="1200" b="1">
                          <a:solidFill>
                            <a:srgbClr val="FFFFFF"/>
                          </a:solidFill>
                          <a:latin typeface="Calibri"/>
                        </a:rPr>
                        <a:t>Duration</a:t>
                      </a:r>
                    </a:p>
                  </a:txBody>
                  <a:tcPr>
                    <a:solidFill>
                      <a:srgbClr val="1F3564"/>
                    </a:solidFill>
                  </a:tcPr>
                </a:tc>
                <a:tc>
                  <a:txBody>
                    <a:bodyPr wrap="square"/>
                    <a:lstStyle/>
                    <a:p>
                      <a:pPr algn="ctr"/>
                      <a:r>
                        <a:rPr sz="1200" b="1">
                          <a:solidFill>
                            <a:srgbClr val="FFFFFF"/>
                          </a:solidFill>
                          <a:latin typeface="Calibri"/>
                        </a:rPr>
                        <a:t>Signals</a:t>
                      </a:r>
                    </a:p>
                  </a:txBody>
                  <a:tcPr>
                    <a:solidFill>
                      <a:srgbClr val="1F3564"/>
                    </a:solidFill>
                  </a:tcPr>
                </a:tc>
                <a:tc>
                  <a:txBody>
                    <a:bodyPr wrap="square"/>
                    <a:lstStyle/>
                    <a:p>
                      <a:pPr algn="ctr"/>
                      <a:r>
                        <a:rPr sz="1200" b="1">
                          <a:solidFill>
                            <a:srgbClr val="FFFFFF"/>
                          </a:solidFill>
                          <a:latin typeface="Calibri"/>
                        </a:rPr>
                        <a:t>Key Deliverables</a:t>
                      </a:r>
                    </a:p>
                  </a:txBody>
                  <a:tcPr>
                    <a:solidFill>
                      <a:srgbClr val="1F3564"/>
                    </a:solidFill>
                  </a:tcPr>
                </a:tc>
              </a:tr>
              <a:tr h="829491">
                <a:tc>
                  <a:txBody>
                    <a:bodyPr wrap="square"/>
                    <a:lstStyle/>
                    <a:p>
                      <a:pPr algn="l"/>
                      <a:r>
                        <a:rPr sz="1100">
                          <a:solidFill>
                            <a:srgbClr val="595959"/>
                          </a:solidFill>
                          <a:latin typeface="Calibri"/>
                        </a:rPr>
                        <a:t>Phase 0 — Foundation</a:t>
                      </a:r>
                    </a:p>
                  </a:txBody>
                  <a:tcPr>
                    <a:solidFill>
                      <a:srgbClr val="D9E1F2"/>
                    </a:solidFill>
                  </a:tcPr>
                </a:tc>
                <a:tc>
                  <a:txBody>
                    <a:bodyPr wrap="square"/>
                    <a:lstStyle/>
                    <a:p>
                      <a:pPr algn="l"/>
                      <a:r>
                        <a:rPr sz="1100">
                          <a:solidFill>
                            <a:srgbClr val="595959"/>
                          </a:solidFill>
                          <a:latin typeface="Calibri"/>
                        </a:rPr>
                        <a:t>8 wks</a:t>
                      </a:r>
                    </a:p>
                  </a:txBody>
                  <a:tcPr>
                    <a:solidFill>
                      <a:srgbClr val="D9E1F2"/>
                    </a:solidFill>
                  </a:tcPr>
                </a:tc>
                <a:tc>
                  <a:txBody>
                    <a:bodyPr wrap="square"/>
                    <a:lstStyle/>
                    <a:p>
                      <a:pPr algn="l"/>
                      <a:r>
                        <a:rPr sz="1100">
                          <a:solidFill>
                            <a:srgbClr val="595959"/>
                          </a:solidFill>
                          <a:latin typeface="Calibri"/>
                        </a:rPr>
                        <a:t>None</a:t>
                      </a:r>
                    </a:p>
                  </a:txBody>
                  <a:tcPr>
                    <a:solidFill>
                      <a:srgbClr val="D9E1F2"/>
                    </a:solidFill>
                  </a:tcPr>
                </a:tc>
                <a:tc>
                  <a:txBody>
                    <a:bodyPr wrap="square"/>
                    <a:lstStyle/>
                    <a:p>
                      <a:pPr algn="l"/>
                      <a:r>
                        <a:rPr sz="1100">
                          <a:solidFill>
                            <a:srgbClr val="595959"/>
                          </a:solidFill>
                          <a:latin typeface="Calibri"/>
                        </a:rPr>
                        <a:t>Infra, Kafka, IEMRGateway scaffold, Device Identity &amp; Binding service, HIPAA BAA</a:t>
                      </a:r>
                    </a:p>
                  </a:txBody>
                  <a:tcPr>
                    <a:solidFill>
                      <a:srgbClr val="D9E1F2"/>
                    </a:solidFill>
                  </a:tcPr>
                </a:tc>
              </a:tr>
              <a:tr h="829491">
                <a:tc>
                  <a:txBody>
                    <a:bodyPr wrap="square"/>
                    <a:lstStyle/>
                    <a:p>
                      <a:pPr algn="l"/>
                      <a:r>
                        <a:rPr sz="1100">
                          <a:solidFill>
                            <a:srgbClr val="595959"/>
                          </a:solidFill>
                          <a:latin typeface="Calibri"/>
                        </a:rPr>
                        <a:t>Phase 1 — Gen 1 MVP</a:t>
                      </a:r>
                    </a:p>
                  </a:txBody>
                  <a:tcPr>
                    <a:solidFill>
                      <a:srgbClr val="FFFFFF"/>
                    </a:solidFill>
                  </a:tcPr>
                </a:tc>
                <a:tc>
                  <a:txBody>
                    <a:bodyPr wrap="square"/>
                    <a:lstStyle/>
                    <a:p>
                      <a:pPr algn="l"/>
                      <a:r>
                        <a:rPr sz="1100">
                          <a:solidFill>
                            <a:srgbClr val="595959"/>
                          </a:solidFill>
                          <a:latin typeface="Calibri"/>
                        </a:rPr>
                        <a:t>12 wks</a:t>
                      </a:r>
                    </a:p>
                  </a:txBody>
                  <a:tcPr>
                    <a:solidFill>
                      <a:srgbClr val="FFFFFF"/>
                    </a:solidFill>
                  </a:tcPr>
                </a:tc>
                <a:tc>
                  <a:txBody>
                    <a:bodyPr wrap="square"/>
                    <a:lstStyle/>
                    <a:p>
                      <a:pPr algn="l"/>
                      <a:r>
                        <a:rPr sz="1100">
                          <a:solidFill>
                            <a:srgbClr val="595959"/>
                          </a:solidFill>
                          <a:latin typeface="Calibri"/>
                        </a:rPr>
                        <a:t>Bio-impedance + Temp</a:t>
                      </a:r>
                    </a:p>
                  </a:txBody>
                  <a:tcPr>
                    <a:solidFill>
                      <a:srgbClr val="FFFFFF"/>
                    </a:solidFill>
                  </a:tcPr>
                </a:tc>
                <a:tc>
                  <a:txBody>
                    <a:bodyPr wrap="square"/>
                    <a:lstStyle/>
                    <a:p>
                      <a:pPr algn="l"/>
                      <a:r>
                        <a:rPr sz="1100">
                          <a:solidFill>
                            <a:srgbClr val="595959"/>
                          </a:solidFill>
                          <a:latin typeface="Calibri"/>
                        </a:rPr>
                        <a:t>Device Connectivity, Signal Processing, threshold alerting, Patient Mobile App</a:t>
                      </a:r>
                    </a:p>
                  </a:txBody>
                  <a:tcPr>
                    <a:solidFill>
                      <a:srgbClr val="FFFFFF"/>
                    </a:solidFill>
                  </a:tcPr>
                </a:tc>
              </a:tr>
              <a:tr h="829491">
                <a:tc>
                  <a:txBody>
                    <a:bodyPr wrap="square"/>
                    <a:lstStyle/>
                    <a:p>
                      <a:pPr algn="l"/>
                      <a:r>
                        <a:rPr sz="1100">
                          <a:solidFill>
                            <a:srgbClr val="595959"/>
                          </a:solidFill>
                          <a:latin typeface="Calibri"/>
                        </a:rPr>
                        <a:t>Phase 2 — Gen 1 Complete</a:t>
                      </a:r>
                    </a:p>
                  </a:txBody>
                  <a:tcPr>
                    <a:solidFill>
                      <a:srgbClr val="D9E1F2"/>
                    </a:solidFill>
                  </a:tcPr>
                </a:tc>
                <a:tc>
                  <a:txBody>
                    <a:bodyPr wrap="square"/>
                    <a:lstStyle/>
                    <a:p>
                      <a:pPr algn="l"/>
                      <a:r>
                        <a:rPr sz="1100">
                          <a:solidFill>
                            <a:srgbClr val="595959"/>
                          </a:solidFill>
                          <a:latin typeface="Calibri"/>
                        </a:rPr>
                        <a:t>8 wks</a:t>
                      </a:r>
                    </a:p>
                  </a:txBody>
                  <a:tcPr>
                    <a:solidFill>
                      <a:srgbClr val="D9E1F2"/>
                    </a:solidFill>
                  </a:tcPr>
                </a:tc>
                <a:tc>
                  <a:txBody>
                    <a:bodyPr wrap="square"/>
                    <a:lstStyle/>
                    <a:p>
                      <a:pPr algn="l"/>
                      <a:r>
                        <a:rPr sz="1100">
                          <a:solidFill>
                            <a:srgbClr val="595959"/>
                          </a:solidFill>
                          <a:latin typeface="Calibri"/>
                        </a:rPr>
                        <a:t>Bio-impedance + Temp</a:t>
                      </a:r>
                    </a:p>
                  </a:txBody>
                  <a:tcPr>
                    <a:solidFill>
                      <a:srgbClr val="D9E1F2"/>
                    </a:solidFill>
                  </a:tcPr>
                </a:tc>
                <a:tc>
                  <a:txBody>
                    <a:bodyPr wrap="square"/>
                    <a:lstStyle/>
                    <a:p>
                      <a:pPr algn="l"/>
                      <a:r>
                        <a:rPr sz="1100">
                          <a:solidFill>
                            <a:srgbClr val="595959"/>
                          </a:solidFill>
                          <a:latin typeface="Calibri"/>
                        </a:rPr>
                        <a:t>Baseline engine, SLA alerting, Platform Observability, Audit &amp; Compliance, pen test</a:t>
                      </a:r>
                    </a:p>
                  </a:txBody>
                  <a:tcPr>
                    <a:solidFill>
                      <a:srgbClr val="D9E1F2"/>
                    </a:solidFill>
                  </a:tcPr>
                </a:tc>
              </a:tr>
              <a:tr h="829491">
                <a:tc>
                  <a:txBody>
                    <a:bodyPr wrap="square"/>
                    <a:lstStyle/>
                    <a:p>
                      <a:pPr algn="l"/>
                      <a:r>
                        <a:rPr sz="1100">
                          <a:solidFill>
                            <a:srgbClr val="595959"/>
                          </a:solidFill>
                          <a:latin typeface="Calibri"/>
                        </a:rPr>
                        <a:t>Phase 3 — Gen 2 Alpha</a:t>
                      </a:r>
                    </a:p>
                  </a:txBody>
                  <a:tcPr>
                    <a:solidFill>
                      <a:srgbClr val="FFFFFF"/>
                    </a:solidFill>
                  </a:tcPr>
                </a:tc>
                <a:tc>
                  <a:txBody>
                    <a:bodyPr wrap="square"/>
                    <a:lstStyle/>
                    <a:p>
                      <a:pPr algn="l"/>
                      <a:r>
                        <a:rPr sz="1100">
                          <a:solidFill>
                            <a:srgbClr val="595959"/>
                          </a:solidFill>
                          <a:latin typeface="Calibri"/>
                        </a:rPr>
                        <a:t>12 wks</a:t>
                      </a:r>
                    </a:p>
                  </a:txBody>
                  <a:tcPr>
                    <a:solidFill>
                      <a:srgbClr val="FFFFFF"/>
                    </a:solidFill>
                  </a:tcPr>
                </a:tc>
                <a:tc>
                  <a:txBody>
                    <a:bodyPr wrap="square"/>
                    <a:lstStyle/>
                    <a:p>
                      <a:pPr algn="l"/>
                      <a:r>
                        <a:rPr sz="1100">
                          <a:solidFill>
                            <a:srgbClr val="595959"/>
                          </a:solidFill>
                          <a:latin typeface="Calibri"/>
                        </a:rPr>
                        <a:t>+ pH + SpO₂</a:t>
                      </a:r>
                    </a:p>
                  </a:txBody>
                  <a:tcPr>
                    <a:solidFill>
                      <a:srgbClr val="FFFFFF"/>
                    </a:solidFill>
                  </a:tcPr>
                </a:tc>
                <a:tc>
                  <a:txBody>
                    <a:bodyPr wrap="square"/>
                    <a:lstStyle/>
                    <a:p>
                      <a:pPr algn="l"/>
                      <a:r>
                        <a:rPr sz="1100">
                          <a:solidFill>
                            <a:srgbClr val="595959"/>
                          </a:solidFill>
                          <a:latin typeface="Calibri"/>
                        </a:rPr>
                        <a:t>CDS risk scoring, Claude API LLM, EpicAdapter, SMART on FHIR, Escalation queue</a:t>
                      </a:r>
                    </a:p>
                  </a:txBody>
                  <a:tcPr>
                    <a:solidFill>
                      <a:srgbClr val="FFFFFF"/>
                    </a:solidFill>
                  </a:tcPr>
                </a:tc>
              </a:tr>
              <a:tr h="829491">
                <a:tc>
                  <a:txBody>
                    <a:bodyPr wrap="square"/>
                    <a:lstStyle/>
                    <a:p>
                      <a:pPr algn="l"/>
                      <a:r>
                        <a:rPr sz="1100">
                          <a:solidFill>
                            <a:srgbClr val="595959"/>
                          </a:solidFill>
                          <a:latin typeface="Calibri"/>
                        </a:rPr>
                        <a:t>Phase 4 — Gen 2 Complete</a:t>
                      </a:r>
                    </a:p>
                  </a:txBody>
                  <a:tcPr>
                    <a:solidFill>
                      <a:srgbClr val="D9E1F2"/>
                    </a:solidFill>
                  </a:tcPr>
                </a:tc>
                <a:tc>
                  <a:txBody>
                    <a:bodyPr wrap="square"/>
                    <a:lstStyle/>
                    <a:p>
                      <a:pPr algn="l"/>
                      <a:r>
                        <a:rPr sz="1100">
                          <a:solidFill>
                            <a:srgbClr val="595959"/>
                          </a:solidFill>
                          <a:latin typeface="Calibri"/>
                        </a:rPr>
                        <a:t>10 wks</a:t>
                      </a:r>
                    </a:p>
                  </a:txBody>
                  <a:tcPr>
                    <a:solidFill>
                      <a:srgbClr val="D9E1F2"/>
                    </a:solidFill>
                  </a:tcPr>
                </a:tc>
                <a:tc>
                  <a:txBody>
                    <a:bodyPr wrap="square"/>
                    <a:lstStyle/>
                    <a:p>
                      <a:pPr algn="l"/>
                      <a:r>
                        <a:rPr sz="1100">
                          <a:solidFill>
                            <a:srgbClr val="595959"/>
                          </a:solidFill>
                          <a:latin typeface="Calibri"/>
                        </a:rPr>
                        <a:t>+ pH + SpO₂</a:t>
                      </a:r>
                    </a:p>
                  </a:txBody>
                  <a:tcPr>
                    <a:solidFill>
                      <a:srgbClr val="D9E1F2"/>
                    </a:solidFill>
                  </a:tcPr>
                </a:tc>
                <a:tc>
                  <a:txBody>
                    <a:bodyPr wrap="square"/>
                    <a:lstStyle/>
                    <a:p>
                      <a:pPr algn="l"/>
                      <a:r>
                        <a:rPr sz="1100">
                          <a:solidFill>
                            <a:srgbClr val="595959"/>
                          </a:solidFill>
                          <a:latin typeface="Calibri"/>
                        </a:rPr>
                        <a:t>SOAP draft write-back, CernerAdapter, Research Analytics, clinical pilot</a:t>
                      </a:r>
                    </a:p>
                  </a:txBody>
                  <a:tcPr>
                    <a:solidFill>
                      <a:srgbClr val="D9E1F2"/>
                    </a:solidFill>
                  </a:tcPr>
                </a:tc>
              </a:tr>
              <a:tr h="829494">
                <a:tc>
                  <a:txBody>
                    <a:bodyPr wrap="square"/>
                    <a:lstStyle/>
                    <a:p>
                      <a:pPr algn="l"/>
                      <a:r>
                        <a:rPr sz="1100">
                          <a:solidFill>
                            <a:srgbClr val="595959"/>
                          </a:solidFill>
                          <a:latin typeface="Calibri"/>
                        </a:rPr>
                        <a:t>Phase 5 — Gen 3</a:t>
                      </a:r>
                    </a:p>
                  </a:txBody>
                  <a:tcPr>
                    <a:solidFill>
                      <a:srgbClr val="FFFFFF"/>
                    </a:solidFill>
                  </a:tcPr>
                </a:tc>
                <a:tc>
                  <a:txBody>
                    <a:bodyPr wrap="square"/>
                    <a:lstStyle/>
                    <a:p>
                      <a:pPr algn="l"/>
                      <a:r>
                        <a:rPr sz="1100">
                          <a:solidFill>
                            <a:srgbClr val="595959"/>
                          </a:solidFill>
                          <a:latin typeface="Calibri"/>
                        </a:rPr>
                        <a:t>14 wks</a:t>
                      </a:r>
                    </a:p>
                  </a:txBody>
                  <a:tcPr>
                    <a:solidFill>
                      <a:srgbClr val="FFFFFF"/>
                    </a:solidFill>
                  </a:tcPr>
                </a:tc>
                <a:tc>
                  <a:txBody>
                    <a:bodyPr wrap="square"/>
                    <a:lstStyle/>
                    <a:p>
                      <a:pPr algn="l"/>
                      <a:r>
                        <a:rPr sz="1100">
                          <a:solidFill>
                            <a:srgbClr val="595959"/>
                          </a:solidFill>
                          <a:latin typeface="Calibri"/>
                        </a:rPr>
                        <a:t>+ H₂O₂</a:t>
                      </a:r>
                    </a:p>
                  </a:txBody>
                  <a:tcPr>
                    <a:solidFill>
                      <a:srgbClr val="FFFFFF"/>
                    </a:solidFill>
                  </a:tcPr>
                </a:tc>
                <a:tc>
                  <a:txBody>
                    <a:bodyPr wrap="square"/>
                    <a:lstStyle/>
                    <a:p>
                      <a:pPr algn="l"/>
                      <a:r>
                        <a:rPr sz="1100">
                          <a:solidFill>
                            <a:srgbClr val="595959"/>
                          </a:solidFill>
                          <a:latin typeface="Calibri"/>
                        </a:rPr>
                        <a:t>Full 6-signal composite risk, oxidative stress, population ML, FDA SaMD determination</a:t>
                      </a:r>
                    </a:p>
                  </a:txBody>
                  <a:tcPr>
                    <a:solidFill>
                      <a:srgbClr val="FFFFFF"/>
                    </a:solidFill>
                  </a:tcPr>
                </a:tc>
              </a:tr>
            </a:tbl>
          </a:graphicData>
        </a:graphic>
      </p:graphicFrame>
      <p:sp>
        <p:nvSpPr>
          <p:cNvPr id="5" name="Rectangle 4"/>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Top Risks &amp; Decisions to Resolve</a:t>
            </a:r>
          </a:p>
        </p:txBody>
      </p:sp>
      <p:sp>
        <p:nvSpPr>
          <p:cNvPr id="4" name="TextBox 3"/>
          <p:cNvSpPr txBox="1"/>
          <p:nvPr/>
        </p:nvSpPr>
        <p:spPr>
          <a:xfrm>
            <a:off x="365760" y="749808"/>
            <a:ext cx="5303520" cy="347472"/>
          </a:xfrm>
          <a:prstGeom prst="rect">
            <a:avLst/>
          </a:prstGeom>
          <a:noFill/>
        </p:spPr>
        <p:txBody>
          <a:bodyPr wrap="square">
            <a:spAutoFit/>
          </a:bodyPr>
          <a:lstStyle/>
          <a:p>
            <a:pPr algn="l"/>
            <a:r>
              <a:rPr sz="1300" b="1" i="0">
                <a:solidFill>
                  <a:srgbClr val="1F3564"/>
                </a:solidFill>
                <a:latin typeface="Calibri"/>
              </a:rPr>
              <a:t>RISKS</a:t>
            </a:r>
          </a:p>
        </p:txBody>
      </p:sp>
      <p:sp>
        <p:nvSpPr>
          <p:cNvPr id="5" name="TextBox 4"/>
          <p:cNvSpPr txBox="1"/>
          <p:nvPr/>
        </p:nvSpPr>
        <p:spPr>
          <a:xfrm>
            <a:off x="365760" y="1170432"/>
            <a:ext cx="5486400" cy="1051560"/>
          </a:xfrm>
          <a:prstGeom prst="rect">
            <a:avLst/>
          </a:prstGeom>
          <a:noFill/>
        </p:spPr>
        <p:txBody>
          <a:bodyPr wrap="square">
            <a:spAutoFit/>
          </a:bodyPr>
          <a:lstStyle/>
          <a:p>
            <a:pPr algn="l"/>
            <a:r>
              <a:rPr sz="1200" b="0" i="0">
                <a:solidFill>
                  <a:srgbClr val="595959"/>
                </a:solidFill>
                <a:latin typeface="Calibri"/>
              </a:rPr>
              <a:t>▸  Epic App Orchard review: 8–12 weeks — submit in Phase 0 to avoid Gen 2 delay.</a:t>
            </a:r>
          </a:p>
        </p:txBody>
      </p:sp>
      <p:sp>
        <p:nvSpPr>
          <p:cNvPr id="6" name="TextBox 5"/>
          <p:cNvSpPr txBox="1"/>
          <p:nvPr/>
        </p:nvSpPr>
        <p:spPr>
          <a:xfrm>
            <a:off x="365760" y="2359152"/>
            <a:ext cx="5486400" cy="1051560"/>
          </a:xfrm>
          <a:prstGeom prst="rect">
            <a:avLst/>
          </a:prstGeom>
          <a:noFill/>
        </p:spPr>
        <p:txBody>
          <a:bodyPr wrap="square">
            <a:spAutoFit/>
          </a:bodyPr>
          <a:lstStyle/>
          <a:p>
            <a:pPr algn="l"/>
            <a:r>
              <a:rPr sz="1200" b="0" i="0">
                <a:solidFill>
                  <a:srgbClr val="595959"/>
                </a:solidFill>
                <a:latin typeface="Calibri"/>
              </a:rPr>
              <a:t>▸  SMART on FHIR token expiry during long sessions — implement refresh logic in all adapters.</a:t>
            </a:r>
          </a:p>
        </p:txBody>
      </p:sp>
      <p:sp>
        <p:nvSpPr>
          <p:cNvPr id="7" name="TextBox 6"/>
          <p:cNvSpPr txBox="1"/>
          <p:nvPr/>
        </p:nvSpPr>
        <p:spPr>
          <a:xfrm>
            <a:off x="365760" y="3547872"/>
            <a:ext cx="5486400" cy="1051560"/>
          </a:xfrm>
          <a:prstGeom prst="rect">
            <a:avLst/>
          </a:prstGeom>
          <a:noFill/>
        </p:spPr>
        <p:txBody>
          <a:bodyPr wrap="square">
            <a:spAutoFit/>
          </a:bodyPr>
          <a:lstStyle/>
          <a:p>
            <a:pPr algn="l"/>
            <a:r>
              <a:rPr sz="1200" b="0" i="0">
                <a:solidFill>
                  <a:srgbClr val="595959"/>
                </a:solidFill>
                <a:latin typeface="Calibri"/>
              </a:rPr>
              <a:t>▸  Device serial number uniqueness — enforce at manufacturing + database constraint.</a:t>
            </a:r>
          </a:p>
        </p:txBody>
      </p:sp>
      <p:sp>
        <p:nvSpPr>
          <p:cNvPr id="8" name="TextBox 7"/>
          <p:cNvSpPr txBox="1"/>
          <p:nvPr/>
        </p:nvSpPr>
        <p:spPr>
          <a:xfrm>
            <a:off x="365760" y="4736592"/>
            <a:ext cx="5486400" cy="1051560"/>
          </a:xfrm>
          <a:prstGeom prst="rect">
            <a:avLst/>
          </a:prstGeom>
          <a:noFill/>
        </p:spPr>
        <p:txBody>
          <a:bodyPr wrap="square">
            <a:spAutoFit/>
          </a:bodyPr>
          <a:lstStyle/>
          <a:p>
            <a:pPr algn="l"/>
            <a:r>
              <a:rPr sz="1200" b="0" i="0">
                <a:solidFill>
                  <a:srgbClr val="595959"/>
                </a:solidFill>
                <a:latin typeface="Calibri"/>
              </a:rPr>
              <a:t>▸  FDA SaMD classification: engage regulatory counsel in Phase 3 planning.</a:t>
            </a:r>
          </a:p>
        </p:txBody>
      </p:sp>
      <p:sp>
        <p:nvSpPr>
          <p:cNvPr id="9" name="Rectangle 8"/>
          <p:cNvSpPr/>
          <p:nvPr/>
        </p:nvSpPr>
        <p:spPr>
          <a:xfrm>
            <a:off x="6126480" y="749808"/>
            <a:ext cx="36576" cy="56692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749808"/>
            <a:ext cx="5486400" cy="347472"/>
          </a:xfrm>
          <a:prstGeom prst="rect">
            <a:avLst/>
          </a:prstGeom>
          <a:noFill/>
        </p:spPr>
        <p:txBody>
          <a:bodyPr wrap="square">
            <a:spAutoFit/>
          </a:bodyPr>
          <a:lstStyle/>
          <a:p>
            <a:pPr algn="l"/>
            <a:r>
              <a:rPr sz="1300" b="1" i="0">
                <a:solidFill>
                  <a:srgbClr val="1F3564"/>
                </a:solidFill>
                <a:latin typeface="Calibri"/>
              </a:rPr>
              <a:t>OPEN DECISIONS</a:t>
            </a:r>
          </a:p>
        </p:txBody>
      </p:sp>
      <p:sp>
        <p:nvSpPr>
          <p:cNvPr id="11" name="TextBox 10"/>
          <p:cNvSpPr txBox="1"/>
          <p:nvPr/>
        </p:nvSpPr>
        <p:spPr>
          <a:xfrm>
            <a:off x="6309360" y="1170432"/>
            <a:ext cx="5486400" cy="292608"/>
          </a:xfrm>
          <a:prstGeom prst="rect">
            <a:avLst/>
          </a:prstGeom>
          <a:noFill/>
        </p:spPr>
        <p:txBody>
          <a:bodyPr wrap="square">
            <a:spAutoFit/>
          </a:bodyPr>
          <a:lstStyle/>
          <a:p>
            <a:pPr algn="l"/>
            <a:r>
              <a:rPr sz="1200" b="1" i="0">
                <a:solidFill>
                  <a:srgbClr val="0070C0"/>
                </a:solidFill>
                <a:latin typeface="Calibri"/>
              </a:rPr>
              <a:t>Hyperscaler</a:t>
            </a:r>
          </a:p>
        </p:txBody>
      </p:sp>
      <p:sp>
        <p:nvSpPr>
          <p:cNvPr id="12" name="TextBox 11"/>
          <p:cNvSpPr txBox="1"/>
          <p:nvPr/>
        </p:nvSpPr>
        <p:spPr>
          <a:xfrm>
            <a:off x="6309360" y="1444752"/>
            <a:ext cx="5486400" cy="621792"/>
          </a:xfrm>
          <a:prstGeom prst="rect">
            <a:avLst/>
          </a:prstGeom>
          <a:noFill/>
        </p:spPr>
        <p:txBody>
          <a:bodyPr wrap="square">
            <a:spAutoFit/>
          </a:bodyPr>
          <a:lstStyle/>
          <a:p>
            <a:pPr algn="l"/>
            <a:r>
              <a:rPr sz="1100" b="0" i="0">
                <a:solidFill>
                  <a:srgbClr val="595959"/>
                </a:solidFill>
                <a:latin typeface="Calibri"/>
              </a:rPr>
              <a:t>AWS vs Azure — pending IT infrastructure decision.</a:t>
            </a:r>
          </a:p>
        </p:txBody>
      </p:sp>
      <p:sp>
        <p:nvSpPr>
          <p:cNvPr id="13" name="TextBox 12"/>
          <p:cNvSpPr txBox="1"/>
          <p:nvPr/>
        </p:nvSpPr>
        <p:spPr>
          <a:xfrm>
            <a:off x="6309360" y="2176272"/>
            <a:ext cx="5486400" cy="292608"/>
          </a:xfrm>
          <a:prstGeom prst="rect">
            <a:avLst/>
          </a:prstGeom>
          <a:noFill/>
        </p:spPr>
        <p:txBody>
          <a:bodyPr wrap="square">
            <a:spAutoFit/>
          </a:bodyPr>
          <a:lstStyle/>
          <a:p>
            <a:pPr algn="l"/>
            <a:r>
              <a:rPr sz="1200" b="1" i="0">
                <a:solidFill>
                  <a:srgbClr val="0070C0"/>
                </a:solidFill>
                <a:latin typeface="Calibri"/>
              </a:rPr>
              <a:t>LLM Selection</a:t>
            </a:r>
          </a:p>
        </p:txBody>
      </p:sp>
      <p:sp>
        <p:nvSpPr>
          <p:cNvPr id="14" name="TextBox 13"/>
          <p:cNvSpPr txBox="1"/>
          <p:nvPr/>
        </p:nvSpPr>
        <p:spPr>
          <a:xfrm>
            <a:off x="6309360" y="2450592"/>
            <a:ext cx="5486400" cy="621792"/>
          </a:xfrm>
          <a:prstGeom prst="rect">
            <a:avLst/>
          </a:prstGeom>
          <a:noFill/>
        </p:spPr>
        <p:txBody>
          <a:bodyPr wrap="square">
            <a:spAutoFit/>
          </a:bodyPr>
          <a:lstStyle/>
          <a:p>
            <a:pPr algn="l"/>
            <a:r>
              <a:rPr sz="1100" b="0" i="0">
                <a:solidFill>
                  <a:srgbClr val="595959"/>
                </a:solidFill>
                <a:latin typeface="Calibri"/>
              </a:rPr>
              <a:t>Haiku (latency-optimized) vs Sonnet (quality-optimized) — define quality threshold with CDS team.</a:t>
            </a:r>
          </a:p>
        </p:txBody>
      </p:sp>
      <p:sp>
        <p:nvSpPr>
          <p:cNvPr id="15" name="TextBox 14"/>
          <p:cNvSpPr txBox="1"/>
          <p:nvPr/>
        </p:nvSpPr>
        <p:spPr>
          <a:xfrm>
            <a:off x="6309360" y="3182112"/>
            <a:ext cx="5486400" cy="292608"/>
          </a:xfrm>
          <a:prstGeom prst="rect">
            <a:avLst/>
          </a:prstGeom>
          <a:noFill/>
        </p:spPr>
        <p:txBody>
          <a:bodyPr wrap="square">
            <a:spAutoFit/>
          </a:bodyPr>
          <a:lstStyle/>
          <a:p>
            <a:pPr algn="l"/>
            <a:r>
              <a:rPr sz="1200" b="1" i="0">
                <a:solidFill>
                  <a:srgbClr val="0070C0"/>
                </a:solidFill>
                <a:latin typeface="Calibri"/>
              </a:rPr>
              <a:t>Mobile Framework</a:t>
            </a:r>
          </a:p>
        </p:txBody>
      </p:sp>
      <p:sp>
        <p:nvSpPr>
          <p:cNvPr id="16" name="TextBox 15"/>
          <p:cNvSpPr txBox="1"/>
          <p:nvPr/>
        </p:nvSpPr>
        <p:spPr>
          <a:xfrm>
            <a:off x="6309360" y="3456432"/>
            <a:ext cx="5486400" cy="621792"/>
          </a:xfrm>
          <a:prstGeom prst="rect">
            <a:avLst/>
          </a:prstGeom>
          <a:noFill/>
        </p:spPr>
        <p:txBody>
          <a:bodyPr wrap="square">
            <a:spAutoFit/>
          </a:bodyPr>
          <a:lstStyle/>
          <a:p>
            <a:pPr algn="l"/>
            <a:r>
              <a:rPr sz="1100" b="0" i="0">
                <a:solidFill>
                  <a:srgbClr val="595959"/>
                </a:solidFill>
                <a:latin typeface="Calibri"/>
              </a:rPr>
              <a:t>React Native vs Flutter for Patient Mobile App.</a:t>
            </a:r>
          </a:p>
        </p:txBody>
      </p:sp>
      <p:sp>
        <p:nvSpPr>
          <p:cNvPr id="17" name="TextBox 16"/>
          <p:cNvSpPr txBox="1"/>
          <p:nvPr/>
        </p:nvSpPr>
        <p:spPr>
          <a:xfrm>
            <a:off x="6309360" y="4187952"/>
            <a:ext cx="5486400" cy="292608"/>
          </a:xfrm>
          <a:prstGeom prst="rect">
            <a:avLst/>
          </a:prstGeom>
          <a:noFill/>
        </p:spPr>
        <p:txBody>
          <a:bodyPr wrap="square">
            <a:spAutoFit/>
          </a:bodyPr>
          <a:lstStyle/>
          <a:p>
            <a:pPr algn="l"/>
            <a:r>
              <a:rPr sz="1200" b="1" i="0">
                <a:solidFill>
                  <a:srgbClr val="0070C0"/>
                </a:solidFill>
                <a:latin typeface="Calibri"/>
              </a:rPr>
              <a:t>Service Mesh</a:t>
            </a:r>
          </a:p>
        </p:txBody>
      </p:sp>
      <p:sp>
        <p:nvSpPr>
          <p:cNvPr id="18" name="TextBox 17"/>
          <p:cNvSpPr txBox="1"/>
          <p:nvPr/>
        </p:nvSpPr>
        <p:spPr>
          <a:xfrm>
            <a:off x="6309360" y="4462272"/>
            <a:ext cx="5486400" cy="621792"/>
          </a:xfrm>
          <a:prstGeom prst="rect">
            <a:avLst/>
          </a:prstGeom>
          <a:noFill/>
        </p:spPr>
        <p:txBody>
          <a:bodyPr wrap="square">
            <a:spAutoFit/>
          </a:bodyPr>
          <a:lstStyle/>
          <a:p>
            <a:pPr algn="l"/>
            <a:r>
              <a:rPr sz="1100" b="0" i="0">
                <a:solidFill>
                  <a:srgbClr val="595959"/>
                </a:solidFill>
                <a:latin typeface="Calibri"/>
              </a:rPr>
              <a:t>Istio vs Linkerd for inter-service mTLS.</a:t>
            </a:r>
          </a:p>
        </p:txBody>
      </p:sp>
      <p:sp>
        <p:nvSpPr>
          <p:cNvPr id="19" name="TextBox 18"/>
          <p:cNvSpPr txBox="1"/>
          <p:nvPr/>
        </p:nvSpPr>
        <p:spPr>
          <a:xfrm>
            <a:off x="6309360" y="5193792"/>
            <a:ext cx="5486400" cy="292608"/>
          </a:xfrm>
          <a:prstGeom prst="rect">
            <a:avLst/>
          </a:prstGeom>
          <a:noFill/>
        </p:spPr>
        <p:txBody>
          <a:bodyPr wrap="square">
            <a:spAutoFit/>
          </a:bodyPr>
          <a:lstStyle/>
          <a:p>
            <a:pPr algn="l"/>
            <a:r>
              <a:rPr sz="1200" b="1" i="0">
                <a:solidFill>
                  <a:srgbClr val="0070C0"/>
                </a:solidFill>
                <a:latin typeface="Calibri"/>
              </a:rPr>
              <a:t>Binding Expiry</a:t>
            </a:r>
          </a:p>
        </p:txBody>
      </p:sp>
      <p:sp>
        <p:nvSpPr>
          <p:cNvPr id="20" name="TextBox 19"/>
          <p:cNvSpPr txBox="1"/>
          <p:nvPr/>
        </p:nvSpPr>
        <p:spPr>
          <a:xfrm>
            <a:off x="6309360" y="5468112"/>
            <a:ext cx="5486400" cy="621792"/>
          </a:xfrm>
          <a:prstGeom prst="rect">
            <a:avLst/>
          </a:prstGeom>
          <a:noFill/>
        </p:spPr>
        <p:txBody>
          <a:bodyPr wrap="square">
            <a:spAutoFit/>
          </a:bodyPr>
          <a:lstStyle/>
          <a:p>
            <a:pPr algn="l"/>
            <a:r>
              <a:rPr sz="1100" b="0" i="0">
                <a:solidFill>
                  <a:srgbClr val="595959"/>
                </a:solidFill>
                <a:latin typeface="Calibri"/>
              </a:rPr>
              <a:t>Discharge event vs session end vs fixed time window.</a:t>
            </a:r>
          </a:p>
        </p:txBody>
      </p:sp>
      <p:sp>
        <p:nvSpPr>
          <p:cNvPr id="21" name="Rectangle 20"/>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457200"/>
          </a:xfrm>
          <a:prstGeom prst="rect">
            <a:avLst/>
          </a:prstGeom>
          <a:noFill/>
        </p:spPr>
        <p:txBody>
          <a:bodyPr wrap="square">
            <a:spAutoFit/>
          </a:bodyPr>
          <a:lstStyle/>
          <a:p>
            <a:pPr algn="l"/>
            <a:r>
              <a:rPr sz="2600" b="1" i="0">
                <a:solidFill>
                  <a:srgbClr val="1F3564"/>
                </a:solidFill>
                <a:latin typeface="Calibri"/>
              </a:rPr>
              <a:t>Next Steps</a:t>
            </a:r>
          </a:p>
        </p:txBody>
      </p:sp>
      <p:sp>
        <p:nvSpPr>
          <p:cNvPr id="4" name="Oval 3"/>
          <p:cNvSpPr/>
          <p:nvPr/>
        </p:nvSpPr>
        <p:spPr>
          <a:xfrm>
            <a:off x="274320" y="822960"/>
            <a:ext cx="411480" cy="41148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r>
              <a:rPr sz="1300" b="1">
                <a:solidFill>
                  <a:srgbClr val="FFFFFF"/>
                </a:solidFill>
                <a:latin typeface="Calibri"/>
              </a:rPr>
              <a:t>1</a:t>
            </a:r>
          </a:p>
        </p:txBody>
      </p:sp>
      <p:sp>
        <p:nvSpPr>
          <p:cNvPr id="5" name="TextBox 4"/>
          <p:cNvSpPr txBox="1"/>
          <p:nvPr/>
        </p:nvSpPr>
        <p:spPr>
          <a:xfrm>
            <a:off x="804672" y="777240"/>
            <a:ext cx="11064240" cy="347472"/>
          </a:xfrm>
          <a:prstGeom prst="rect">
            <a:avLst/>
          </a:prstGeom>
          <a:noFill/>
        </p:spPr>
        <p:txBody>
          <a:bodyPr wrap="square">
            <a:spAutoFit/>
          </a:bodyPr>
          <a:lstStyle/>
          <a:p>
            <a:pPr algn="l"/>
            <a:r>
              <a:rPr sz="1400" b="1" i="0">
                <a:solidFill>
                  <a:srgbClr val="1F3564"/>
                </a:solidFill>
                <a:latin typeface="Calibri"/>
              </a:rPr>
              <a:t>Phase 0 Kickoff</a:t>
            </a:r>
          </a:p>
        </p:txBody>
      </p:sp>
      <p:sp>
        <p:nvSpPr>
          <p:cNvPr id="6" name="TextBox 5"/>
          <p:cNvSpPr txBox="1"/>
          <p:nvPr/>
        </p:nvSpPr>
        <p:spPr>
          <a:xfrm>
            <a:off x="804672" y="1124712"/>
            <a:ext cx="11064240" cy="658368"/>
          </a:xfrm>
          <a:prstGeom prst="rect">
            <a:avLst/>
          </a:prstGeom>
          <a:noFill/>
        </p:spPr>
        <p:txBody>
          <a:bodyPr wrap="square">
            <a:spAutoFit/>
          </a:bodyPr>
          <a:lstStyle/>
          <a:p>
            <a:pPr algn="l"/>
            <a:r>
              <a:rPr sz="1200" b="0" i="0">
                <a:solidFill>
                  <a:srgbClr val="595959"/>
                </a:solidFill>
                <a:latin typeface="Calibri"/>
              </a:rPr>
              <a:t>Cloud provisioning, HIPAA BAA execution, Kafka cluster setup, IEMRGateway scaffold.</a:t>
            </a:r>
          </a:p>
        </p:txBody>
      </p:sp>
      <p:sp>
        <p:nvSpPr>
          <p:cNvPr id="7" name="Oval 6"/>
          <p:cNvSpPr/>
          <p:nvPr/>
        </p:nvSpPr>
        <p:spPr>
          <a:xfrm>
            <a:off x="274320" y="1938528"/>
            <a:ext cx="411480" cy="41148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r>
              <a:rPr sz="1300" b="1">
                <a:solidFill>
                  <a:srgbClr val="FFFFFF"/>
                </a:solidFill>
                <a:latin typeface="Calibri"/>
              </a:rPr>
              <a:t>2</a:t>
            </a:r>
          </a:p>
        </p:txBody>
      </p:sp>
      <p:sp>
        <p:nvSpPr>
          <p:cNvPr id="8" name="TextBox 7"/>
          <p:cNvSpPr txBox="1"/>
          <p:nvPr/>
        </p:nvSpPr>
        <p:spPr>
          <a:xfrm>
            <a:off x="804672" y="1892808"/>
            <a:ext cx="11064240" cy="347472"/>
          </a:xfrm>
          <a:prstGeom prst="rect">
            <a:avLst/>
          </a:prstGeom>
          <a:noFill/>
        </p:spPr>
        <p:txBody>
          <a:bodyPr wrap="square">
            <a:spAutoFit/>
          </a:bodyPr>
          <a:lstStyle/>
          <a:p>
            <a:pPr algn="l"/>
            <a:r>
              <a:rPr sz="1400" b="1" i="0">
                <a:solidFill>
                  <a:srgbClr val="1F3564"/>
                </a:solidFill>
                <a:latin typeface="Calibri"/>
              </a:rPr>
              <a:t>Epic App Orchard Application</a:t>
            </a:r>
          </a:p>
        </p:txBody>
      </p:sp>
      <p:sp>
        <p:nvSpPr>
          <p:cNvPr id="9" name="TextBox 8"/>
          <p:cNvSpPr txBox="1"/>
          <p:nvPr/>
        </p:nvSpPr>
        <p:spPr>
          <a:xfrm>
            <a:off x="804672" y="2240280"/>
            <a:ext cx="11064240" cy="658368"/>
          </a:xfrm>
          <a:prstGeom prst="rect">
            <a:avLst/>
          </a:prstGeom>
          <a:noFill/>
        </p:spPr>
        <p:txBody>
          <a:bodyPr wrap="square">
            <a:spAutoFit/>
          </a:bodyPr>
          <a:lstStyle/>
          <a:p>
            <a:pPr algn="l"/>
            <a:r>
              <a:rPr sz="1200" b="0" i="0">
                <a:solidFill>
                  <a:srgbClr val="595959"/>
                </a:solidFill>
                <a:latin typeface="Calibri"/>
              </a:rPr>
              <a:t>Submit in Phase 0 to avoid blocking Gen 2 delivery. 8–12 week review lead time.</a:t>
            </a:r>
          </a:p>
        </p:txBody>
      </p:sp>
      <p:sp>
        <p:nvSpPr>
          <p:cNvPr id="10" name="Oval 9"/>
          <p:cNvSpPr/>
          <p:nvPr/>
        </p:nvSpPr>
        <p:spPr>
          <a:xfrm>
            <a:off x="274320" y="3054096"/>
            <a:ext cx="411480" cy="41148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r>
              <a:rPr sz="1300" b="1">
                <a:solidFill>
                  <a:srgbClr val="FFFFFF"/>
                </a:solidFill>
                <a:latin typeface="Calibri"/>
              </a:rPr>
              <a:t>3</a:t>
            </a:r>
          </a:p>
        </p:txBody>
      </p:sp>
      <p:sp>
        <p:nvSpPr>
          <p:cNvPr id="11" name="TextBox 10"/>
          <p:cNvSpPr txBox="1"/>
          <p:nvPr/>
        </p:nvSpPr>
        <p:spPr>
          <a:xfrm>
            <a:off x="804672" y="3008376"/>
            <a:ext cx="11064240" cy="347472"/>
          </a:xfrm>
          <a:prstGeom prst="rect">
            <a:avLst/>
          </a:prstGeom>
          <a:noFill/>
        </p:spPr>
        <p:txBody>
          <a:bodyPr wrap="square">
            <a:spAutoFit/>
          </a:bodyPr>
          <a:lstStyle/>
          <a:p>
            <a:pPr algn="l"/>
            <a:r>
              <a:rPr sz="1400" b="1" i="0">
                <a:solidFill>
                  <a:srgbClr val="1F3564"/>
                </a:solidFill>
                <a:latin typeface="Calibri"/>
              </a:rPr>
              <a:t>Device Identity &amp; Binding</a:t>
            </a:r>
          </a:p>
        </p:txBody>
      </p:sp>
      <p:sp>
        <p:nvSpPr>
          <p:cNvPr id="12" name="TextBox 11"/>
          <p:cNvSpPr txBox="1"/>
          <p:nvPr/>
        </p:nvSpPr>
        <p:spPr>
          <a:xfrm>
            <a:off x="804672" y="3355848"/>
            <a:ext cx="11064240" cy="658368"/>
          </a:xfrm>
          <a:prstGeom prst="rect">
            <a:avLst/>
          </a:prstGeom>
          <a:noFill/>
        </p:spPr>
        <p:txBody>
          <a:bodyPr wrap="square">
            <a:spAutoFit/>
          </a:bodyPr>
          <a:lstStyle/>
          <a:p>
            <a:pPr algn="l"/>
            <a:r>
              <a:rPr sz="1200" b="0" i="0">
                <a:solidFill>
                  <a:srgbClr val="595959"/>
                </a:solidFill>
                <a:latin typeface="Calibri"/>
              </a:rPr>
              <a:t>Finalize binding expiry policy and token revocation SLA with clinical and security teams.</a:t>
            </a:r>
          </a:p>
        </p:txBody>
      </p:sp>
      <p:sp>
        <p:nvSpPr>
          <p:cNvPr id="13" name="Oval 12"/>
          <p:cNvSpPr/>
          <p:nvPr/>
        </p:nvSpPr>
        <p:spPr>
          <a:xfrm>
            <a:off x="274320" y="4169664"/>
            <a:ext cx="411480" cy="41148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r>
              <a:rPr sz="1300" b="1">
                <a:solidFill>
                  <a:srgbClr val="FFFFFF"/>
                </a:solidFill>
                <a:latin typeface="Calibri"/>
              </a:rPr>
              <a:t>4</a:t>
            </a:r>
          </a:p>
        </p:txBody>
      </p:sp>
      <p:sp>
        <p:nvSpPr>
          <p:cNvPr id="14" name="TextBox 13"/>
          <p:cNvSpPr txBox="1"/>
          <p:nvPr/>
        </p:nvSpPr>
        <p:spPr>
          <a:xfrm>
            <a:off x="804672" y="4123944"/>
            <a:ext cx="11064240" cy="347472"/>
          </a:xfrm>
          <a:prstGeom prst="rect">
            <a:avLst/>
          </a:prstGeom>
          <a:noFill/>
        </p:spPr>
        <p:txBody>
          <a:bodyPr wrap="square">
            <a:spAutoFit/>
          </a:bodyPr>
          <a:lstStyle/>
          <a:p>
            <a:pPr algn="l"/>
            <a:r>
              <a:rPr sz="1400" b="1" i="0">
                <a:solidFill>
                  <a:srgbClr val="1F3564"/>
                </a:solidFill>
                <a:latin typeface="Calibri"/>
              </a:rPr>
              <a:t>LLM Quality Threshold</a:t>
            </a:r>
          </a:p>
        </p:txBody>
      </p:sp>
      <p:sp>
        <p:nvSpPr>
          <p:cNvPr id="15" name="TextBox 14"/>
          <p:cNvSpPr txBox="1"/>
          <p:nvPr/>
        </p:nvSpPr>
        <p:spPr>
          <a:xfrm>
            <a:off x="804672" y="4471416"/>
            <a:ext cx="11064240" cy="658368"/>
          </a:xfrm>
          <a:prstGeom prst="rect">
            <a:avLst/>
          </a:prstGeom>
          <a:noFill/>
        </p:spPr>
        <p:txBody>
          <a:bodyPr wrap="square">
            <a:spAutoFit/>
          </a:bodyPr>
          <a:lstStyle/>
          <a:p>
            <a:pPr algn="l"/>
            <a:r>
              <a:rPr sz="1200" b="0" i="0">
                <a:solidFill>
                  <a:srgbClr val="595959"/>
                </a:solidFill>
                <a:latin typeface="Calibri"/>
              </a:rPr>
              <a:t>Define Haiku vs Sonnet selection criteria with CDS team — latency budget vs clinical accuracy.</a:t>
            </a:r>
          </a:p>
        </p:txBody>
      </p:sp>
      <p:sp>
        <p:nvSpPr>
          <p:cNvPr id="16" name="Oval 15"/>
          <p:cNvSpPr/>
          <p:nvPr/>
        </p:nvSpPr>
        <p:spPr>
          <a:xfrm>
            <a:off x="274320" y="5285232"/>
            <a:ext cx="411480" cy="411480"/>
          </a:xfrm>
          <a:prstGeom prst="ellipse">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tIns="36576"/>
          <a:lstStyle/>
          <a:p>
            <a:pPr algn="ctr"/>
            <a:r>
              <a:rPr sz="1300" b="1">
                <a:solidFill>
                  <a:srgbClr val="FFFFFF"/>
                </a:solidFill>
                <a:latin typeface="Calibri"/>
              </a:rPr>
              <a:t>5</a:t>
            </a:r>
          </a:p>
        </p:txBody>
      </p:sp>
      <p:sp>
        <p:nvSpPr>
          <p:cNvPr id="17" name="TextBox 16"/>
          <p:cNvSpPr txBox="1"/>
          <p:nvPr/>
        </p:nvSpPr>
        <p:spPr>
          <a:xfrm>
            <a:off x="804672" y="5239512"/>
            <a:ext cx="11064240" cy="347472"/>
          </a:xfrm>
          <a:prstGeom prst="rect">
            <a:avLst/>
          </a:prstGeom>
          <a:noFill/>
        </p:spPr>
        <p:txBody>
          <a:bodyPr wrap="square">
            <a:spAutoFit/>
          </a:bodyPr>
          <a:lstStyle/>
          <a:p>
            <a:pPr algn="l"/>
            <a:r>
              <a:rPr sz="1400" b="1" i="0">
                <a:solidFill>
                  <a:srgbClr val="1F3564"/>
                </a:solidFill>
                <a:latin typeface="Calibri"/>
              </a:rPr>
              <a:t>FDA Regulatory Consultation</a:t>
            </a:r>
          </a:p>
        </p:txBody>
      </p:sp>
      <p:sp>
        <p:nvSpPr>
          <p:cNvPr id="18" name="TextBox 17"/>
          <p:cNvSpPr txBox="1"/>
          <p:nvPr/>
        </p:nvSpPr>
        <p:spPr>
          <a:xfrm>
            <a:off x="804672" y="5586984"/>
            <a:ext cx="11064240" cy="658368"/>
          </a:xfrm>
          <a:prstGeom prst="rect">
            <a:avLst/>
          </a:prstGeom>
          <a:noFill/>
        </p:spPr>
        <p:txBody>
          <a:bodyPr wrap="square">
            <a:spAutoFit/>
          </a:bodyPr>
          <a:lstStyle/>
          <a:p>
            <a:pPr algn="l"/>
            <a:r>
              <a:rPr sz="1200" b="0" i="0">
                <a:solidFill>
                  <a:srgbClr val="595959"/>
                </a:solidFill>
                <a:latin typeface="Calibri"/>
              </a:rPr>
              <a:t>Initiate SaMD determination discussion in Phase 3 planning with regulatory counsel.</a:t>
            </a:r>
          </a:p>
        </p:txBody>
      </p:sp>
      <p:sp>
        <p:nvSpPr>
          <p:cNvPr id="19" name="Rectangle 18"/>
          <p:cNvSpPr/>
          <p:nvPr/>
        </p:nvSpPr>
        <p:spPr>
          <a:xfrm>
            <a:off x="0" y="6748272"/>
            <a:ext cx="12188952" cy="109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3564"/>
        </a:solidFill>
        <a:effectLst/>
      </p:bgPr>
    </p:bg>
    <p:spTree>
      <p:nvGrpSpPr>
        <p:cNvPr id="1" name=""/>
        <p:cNvGrpSpPr/>
        <p:nvPr/>
      </p:nvGrpSpPr>
      <p:grpSpPr/>
      <p:sp>
        <p:nvSpPr>
          <p:cNvPr id="2" name="TextBox 1"/>
          <p:cNvSpPr txBox="1"/>
          <p:nvPr/>
        </p:nvSpPr>
        <p:spPr>
          <a:xfrm>
            <a:off x="914400" y="2560320"/>
            <a:ext cx="10360152" cy="1097280"/>
          </a:xfrm>
          <a:prstGeom prst="rect">
            <a:avLst/>
          </a:prstGeom>
          <a:noFill/>
        </p:spPr>
        <p:txBody>
          <a:bodyPr wrap="none">
            <a:spAutoFit/>
          </a:bodyPr>
          <a:lstStyle/>
          <a:p>
            <a:pPr algn="ctr"/>
            <a:r>
              <a:rPr b="1" sz="4000">
                <a:solidFill>
                  <a:srgbClr val="FFFFFF"/>
                </a:solidFill>
                <a:latin typeface="Calibri"/>
              </a:rPr>
              <a:t>APPENDIX</a:t>
            </a:r>
          </a:p>
        </p:txBody>
      </p:sp>
      <p:sp>
        <p:nvSpPr>
          <p:cNvPr id="3" name="TextBox 2"/>
          <p:cNvSpPr txBox="1"/>
          <p:nvPr/>
        </p:nvSpPr>
        <p:spPr>
          <a:xfrm>
            <a:off x="914400" y="3749039"/>
            <a:ext cx="10360152" cy="731520"/>
          </a:xfrm>
          <a:prstGeom prst="rect">
            <a:avLst/>
          </a:prstGeom>
          <a:noFill/>
        </p:spPr>
        <p:txBody>
          <a:bodyPr wrap="none">
            <a:spAutoFit/>
          </a:bodyPr>
          <a:lstStyle/>
          <a:p>
            <a:pPr algn="ctr"/>
            <a:r>
              <a:rPr sz="1800">
                <a:solidFill>
                  <a:srgbClr val="FFFFFF"/>
                </a:solidFill>
                <a:latin typeface="Calibri"/>
              </a:rPr>
              <a:t>Architecture Diagrams &amp; Reference 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A: Reference Architecture</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ference-architecture.png"/>
          <p:cNvPicPr>
            <a:picLocks noChangeAspect="1"/>
          </p:cNvPicPr>
          <p:nvPr/>
        </p:nvPicPr>
        <p:blipFill>
          <a:blip r:embed="rId2"/>
          <a:stretch>
            <a:fillRect/>
          </a:stretch>
        </p:blipFill>
        <p:spPr>
          <a:xfrm>
            <a:off x="3226787" y="868680"/>
            <a:ext cx="5735377"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reference architecture organizes the platform into five horizontal layers: Device &amp; Edge (IoT capture and transmission), Connectivity &amp; Identity (packet ingestion and device-patient token binding), Processing &amp; Intelligence (6-signal fusion and AI risk scoring), Domain Services (care coordination, research, observability, audit), and Integration &amp; Access (EMR gateway, web app, mobile app). Data flows top-to-bottom; all inter-layer communication is event-driven via Apache Kafka.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B: Persona Capability Model</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pability-model.png"/>
          <p:cNvPicPr>
            <a:picLocks noChangeAspect="1"/>
          </p:cNvPicPr>
          <p:nvPr/>
        </p:nvPicPr>
        <p:blipFill>
          <a:blip r:embed="rId2"/>
          <a:stretch>
            <a:fillRect/>
          </a:stretch>
        </p:blipFill>
        <p:spPr>
          <a:xfrm>
            <a:off x="1419368" y="868680"/>
            <a:ext cx="9350216"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capability model maps platform capabilities across six persona swimlanes (Patient, Clinician, Care Team, Researcher, Hospital Administrator, Corporate Administrator) and three capability rows (View, Act, Manage). Each cell represents a specific capability delivered to that persona. The shared data platform footer underpins all personas with signal time-series, risk scores, and audit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C: Generational Capability Roadmap</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vice-generations.png"/>
          <p:cNvPicPr>
            <a:picLocks noChangeAspect="1"/>
          </p:cNvPicPr>
          <p:nvPr/>
        </p:nvPicPr>
        <p:blipFill>
          <a:blip r:embed="rId2"/>
          <a:stretch>
            <a:fillRect/>
          </a:stretch>
        </p:blipFill>
        <p:spPr>
          <a:xfrm>
            <a:off x="1065276" y="868680"/>
            <a:ext cx="10058400" cy="3849816"/>
          </a:xfrm>
          <a:prstGeom prst="rect">
            <a:avLst/>
          </a:prstGeom>
        </p:spPr>
      </p:pic>
      <p:sp>
        <p:nvSpPr>
          <p:cNvPr id="7" name="TextBox 6"/>
          <p:cNvSpPr txBox="1"/>
          <p:nvPr/>
        </p:nvSpPr>
        <p:spPr>
          <a:xfrm>
            <a:off x="914400" y="4809936"/>
            <a:ext cx="10058400" cy="1097280"/>
          </a:xfrm>
          <a:prstGeom prst="rect">
            <a:avLst/>
          </a:prstGeom>
          <a:noFill/>
        </p:spPr>
        <p:txBody>
          <a:bodyPr wrap="square">
            <a:spAutoFit/>
          </a:bodyPr>
          <a:lstStyle/>
          <a:p>
            <a:r>
              <a:rPr sz="1100" i="1">
                <a:solidFill>
                  <a:srgbClr val="595959"/>
                </a:solidFill>
                <a:latin typeface="Calibri"/>
              </a:rPr>
              <a:t>The generational roadmap defines three capability releases tied to signal activation. Gen 1 activates Bio-impedance and Temperature with threshold alerting. Gen 2 adds pH and SpO₂, enabling AI risk scoring, LLM summaries, and EMR embedding. Gen 3 activates Hydrogen Peroxide, completing the full 6-signal composite risk model and enabling population-scale analytics. This phased approach reduces clinical validation scope per release.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D: Domain Map — Bounded Contexts</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dd-domain-map.png"/>
          <p:cNvPicPr>
            <a:picLocks noChangeAspect="1"/>
          </p:cNvPicPr>
          <p:nvPr/>
        </p:nvPicPr>
        <p:blipFill>
          <a:blip r:embed="rId2"/>
          <a:stretch>
            <a:fillRect/>
          </a:stretch>
        </p:blipFill>
        <p:spPr>
          <a:xfrm>
            <a:off x="2819250" y="868680"/>
            <a:ext cx="6550452"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domain map shows all eleven bounded contexts classified as Core (Signal Processing, Clinical Decision Support), Supporting (Patient Engagement, Care Coordination, Research Analytics, Population Health, Platform Observability), and Generic (Device Connectivity, Device Identity &amp; Binding, Audit &amp; Compliance, EMR Integration Gateway). Arrows show domain event flow and relationship patterns (Customer-Supplier, Published Language, ACL, Open Host Service).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E: Aggregate Design</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dd-aggregates.png"/>
          <p:cNvPicPr>
            <a:picLocks noChangeAspect="1"/>
          </p:cNvPicPr>
          <p:nvPr/>
        </p:nvPicPr>
        <p:blipFill>
          <a:blip r:embed="rId2"/>
          <a:stretch>
            <a:fillRect/>
          </a:stretch>
        </p:blipFill>
        <p:spPr>
          <a:xfrm>
            <a:off x="5040709" y="868680"/>
            <a:ext cx="2107534"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aggregate diagram shows the internal structure of the three primary aggregates: SignalObservation (raw signals + derived metrics + quality score), RiskAssessment (risk score + factors + LLM clinical summary), and DevicePatientBinding (serial number → HMAC token + EMR vendor + status). Each aggregate enforces its own invariants and is the single unit of consistency within its bounded context.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F: Domain Events Sequence</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dd-events-sequence.png"/>
          <p:cNvPicPr>
            <a:picLocks noChangeAspect="1"/>
          </p:cNvPicPr>
          <p:nvPr/>
        </p:nvPicPr>
        <p:blipFill>
          <a:blip r:embed="rId2"/>
          <a:stretch>
            <a:fillRect/>
          </a:stretch>
        </p:blipFill>
        <p:spPr>
          <a:xfrm>
            <a:off x="1654890" y="868680"/>
            <a:ext cx="8879171"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sequence diagram traces the end-to-end event flow from device signal transmission through to EMR write-back. Key events include: SignalObservationRecorded (triggers CDS), RiskAssessmentCompleted (triggers escalation and patient alert), EscalationTriggered (notifies care team), and RiskScoreWrittenToEMR / SOAPDraftWrittenToEMR (FHIR write-back via EMR adapter). All events are simultaneously mirrored to the immutable Audit &amp; Compliance event 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0" y="155448"/>
            <a:ext cx="2011680" cy="228600"/>
          </a:xfrm>
          <a:prstGeom prst="rect">
            <a:avLst/>
          </a:prstGeom>
          <a:noFill/>
        </p:spPr>
        <p:txBody>
          <a:bodyPr wrap="none">
            <a:spAutoFit/>
          </a:bodyPr>
          <a:lstStyle/>
          <a:p>
            <a:pPr algn="r"/>
            <a:r>
              <a:rPr sz="900">
                <a:solidFill>
                  <a:srgbClr val="595959"/>
                </a:solidFill>
                <a:latin typeface="Calibri"/>
              </a:rPr>
              <a:t>APPENDIX</a:t>
            </a:r>
          </a:p>
        </p:txBody>
      </p:sp>
      <p:sp>
        <p:nvSpPr>
          <p:cNvPr id="4" name="TextBox 3"/>
          <p:cNvSpPr txBox="1"/>
          <p:nvPr/>
        </p:nvSpPr>
        <p:spPr>
          <a:xfrm>
            <a:off x="457200" y="182880"/>
            <a:ext cx="10972800" cy="502920"/>
          </a:xfrm>
          <a:prstGeom prst="rect">
            <a:avLst/>
          </a:prstGeom>
          <a:noFill/>
        </p:spPr>
        <p:txBody>
          <a:bodyPr wrap="none">
            <a:spAutoFit/>
          </a:bodyPr>
          <a:lstStyle/>
          <a:p>
            <a:r>
              <a:rPr b="1" sz="2200">
                <a:solidFill>
                  <a:srgbClr val="1F3564"/>
                </a:solidFill>
                <a:latin typeface="Calibri"/>
              </a:rPr>
              <a:t>Appendix G: Solution Architecture — Zone View</a:t>
            </a:r>
          </a:p>
        </p:txBody>
      </p:sp>
      <p:sp>
        <p:nvSpPr>
          <p:cNvPr id="5" name="Rectangle 4"/>
          <p:cNvSpPr/>
          <p:nvPr/>
        </p:nvSpPr>
        <p:spPr>
          <a:xfrm>
            <a:off x="457200" y="731520"/>
            <a:ext cx="11274552" cy="1828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olution-architecture.png"/>
          <p:cNvPicPr>
            <a:picLocks noChangeAspect="1"/>
          </p:cNvPicPr>
          <p:nvPr/>
        </p:nvPicPr>
        <p:blipFill>
          <a:blip r:embed="rId2"/>
          <a:stretch>
            <a:fillRect/>
          </a:stretch>
        </p:blipFill>
        <p:spPr>
          <a:xfrm>
            <a:off x="3136765" y="868680"/>
            <a:ext cx="5915422" cy="3931920"/>
          </a:xfrm>
          <a:prstGeom prst="rect">
            <a:avLst/>
          </a:prstGeom>
        </p:spPr>
      </p:pic>
      <p:sp>
        <p:nvSpPr>
          <p:cNvPr id="7" name="TextBox 6"/>
          <p:cNvSpPr txBox="1"/>
          <p:nvPr/>
        </p:nvSpPr>
        <p:spPr>
          <a:xfrm>
            <a:off x="914400" y="4892040"/>
            <a:ext cx="10058400" cy="1097280"/>
          </a:xfrm>
          <a:prstGeom prst="rect">
            <a:avLst/>
          </a:prstGeom>
          <a:noFill/>
        </p:spPr>
        <p:txBody>
          <a:bodyPr wrap="square">
            <a:spAutoFit/>
          </a:bodyPr>
          <a:lstStyle/>
          <a:p>
            <a:r>
              <a:rPr sz="1100" i="1">
                <a:solidFill>
                  <a:srgbClr val="595959"/>
                </a:solidFill>
                <a:latin typeface="Calibri"/>
              </a:rPr>
              <a:t>The solution architecture presents the platform as five deployment zones with explicit data flow arrows: Device Zone (wearable + edge gateway), Platform Zone (Kafka, microservices, ML), Integration Zone (IEMRGateway port + vendor adapters), Access Zone (web app, mobile app, EMR embedded UI), and Compliance Zone (WORM audit log, OpenLineage, consent store). Zone boundaries enforce security perimeters and data classification policies.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