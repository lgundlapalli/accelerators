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0" i="0">
                <a:solidFill>
                  <a:srgbClr val="FFFFFF"/>
                </a:solidFill>
                <a:latin typeface="Helvetica Neue"/>
              </a:defRPr>
            </a:pPr>
            <a:r>
              <a:t>Abbott GenAI Blueprint</a:t>
            </a:r>
            <a:br/>
            <a:r>
              <a:t>&amp; Capability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 i="0">
                <a:solidFill>
                  <a:srgbClr val="FFFFFF"/>
                </a:solidFill>
                <a:latin typeface="Helvetica Neue"/>
              </a:defRPr>
            </a:pPr>
            <a:r>
              <a:t>Enterprise AI Landscape — 220 Use Cases Across 15 Divisions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BBBBFF"/>
                </a:solidFill>
                <a:latin typeface="Helvetica Neue"/>
              </a:defRPr>
            </a:pPr>
            <a:r>
              <a:t>Building a scalable, governed GenAI capability foundation for Abbott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9999CC"/>
                </a:solidFill>
                <a:latin typeface="Helvetica Neue"/>
              </a:defRPr>
            </a:pPr>
            <a:r>
              <a:t>Abbott BTS-DTS | GenAI Center of Excellence |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 i="0">
                <a:solidFill>
                  <a:srgbClr val="000050"/>
                </a:solidFill>
                <a:latin typeface="Helvetica Neue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28016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0050"/>
                </a:solidFill>
                <a:latin typeface="Helvetica Neue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0050"/>
                </a:solidFill>
                <a:latin typeface="Helvetica Neue"/>
              </a:defRPr>
            </a:pPr>
            <a:r>
              <a:t>The GenAI Landscape at Abbott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600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1A"/>
                </a:solidFill>
                <a:latin typeface="Helvetica Neue"/>
              </a:defRPr>
            </a:pPr>
            <a:r>
              <a:t>220 use cases, 12 divisions, 1Q26 production snapshot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011680"/>
            <a:ext cx="96012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0050"/>
                </a:solidFill>
                <a:latin typeface="Helvetica Neue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194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0050"/>
                </a:solidFill>
                <a:latin typeface="Helvetica Neue"/>
              </a:defRPr>
            </a:pPr>
            <a:r>
              <a:t>Six Capability Domains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514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1A"/>
                </a:solidFill>
                <a:latin typeface="Helvetica Neue"/>
              </a:defRPr>
            </a:pPr>
            <a:r>
              <a:t>Logical grouping of 15 raw categories into strategic domains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926080"/>
            <a:ext cx="96012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10896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0050"/>
                </a:solidFill>
                <a:latin typeface="Helvetica Neue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108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0050"/>
                </a:solidFill>
                <a:latin typeface="Helvetica Neue"/>
              </a:defRPr>
            </a:pPr>
            <a:r>
              <a:t>Enterprise Blueprint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429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1A"/>
                </a:solidFill>
                <a:latin typeface="Helvetica Neue"/>
              </a:defRPr>
            </a:pPr>
            <a:r>
              <a:t>3-tier platform architecture and CoE governance 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3840480"/>
            <a:ext cx="96012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02336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0050"/>
                </a:solidFill>
                <a:latin typeface="Helvetica Neue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023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0050"/>
                </a:solidFill>
                <a:latin typeface="Helvetica Neue"/>
              </a:defRPr>
            </a:pPr>
            <a:r>
              <a:t>Platform Foundation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4343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1A"/>
                </a:solidFill>
                <a:latin typeface="Helvetica Neue"/>
              </a:defRPr>
            </a:pPr>
            <a:r>
              <a:t>Enterprise AI platform investments and rationalization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754880"/>
            <a:ext cx="96012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93776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0050"/>
                </a:solidFill>
                <a:latin typeface="Helvetica Neue"/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4937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0050"/>
                </a:solidFill>
                <a:latin typeface="Helvetica Neue"/>
              </a:defRPr>
            </a:pPr>
            <a:r>
              <a:t>Next 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5257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1A"/>
                </a:solidFill>
                <a:latin typeface="Helvetica Neue"/>
              </a:defRPr>
            </a:pPr>
            <a:r>
              <a:t>Priority actions for CoE and division leads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88888"/>
                </a:solidFill>
              </a:defRPr>
            </a:pPr>
            <a:r>
              <a:t>Proprietary and confidential — do not distribute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0" i="0">
                <a:solidFill>
                  <a:srgbClr val="FFFFFF"/>
                </a:solidFill>
                <a:latin typeface="Helvetica Neue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 i="0">
                <a:solidFill>
                  <a:srgbClr val="FFFFFF"/>
                </a:solidFill>
                <a:latin typeface="Helvetica Neue"/>
              </a:defRPr>
            </a:pPr>
            <a:r>
              <a:t>The GenAI Landscape at Abbott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1">
                <a:solidFill>
                  <a:srgbClr val="BBBBFF"/>
                </a:solidFill>
                <a:latin typeface="Helvetica Neue"/>
              </a:defRPr>
            </a:pPr>
            <a:r>
              <a:t>1Q26 Portfolio Snapshot — 220 Use Cases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000050"/>
                </a:solidFill>
                <a:latin typeface="Helvetica Neue"/>
              </a:defRPr>
            </a:pPr>
            <a:r>
              <a:t>Abbott GenAI — By the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A1A1A"/>
                </a:solidFill>
                <a:latin typeface="Helvetica Neue"/>
              </a:defRPr>
            </a:pPr>
            <a:r>
              <a:t>1Q26 snapshot across all divisions and capability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000050"/>
                </a:solidFill>
                <a:latin typeface="Helvetica Neue"/>
              </a:defRPr>
            </a:pPr>
            <a:r>
              <a:t>220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3333AA"/>
                </a:solidFill>
                <a:latin typeface="Helvetica Neue"/>
              </a:defRPr>
            </a:pPr>
            <a:r>
              <a:t>Total 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Catalogued across 12 divisions and 15 capability 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6459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000050"/>
                </a:solidFill>
                <a:latin typeface="Helvetica Neue"/>
              </a:defRPr>
            </a:pPr>
            <a: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651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3333AA"/>
                </a:solidFill>
                <a:latin typeface="Helvetica Neue"/>
              </a:defRPr>
            </a:pPr>
            <a:r>
              <a:t>In 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33832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18% of portfolio actively deployed and generating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6459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000050"/>
                </a:solidFill>
                <a:latin typeface="Helvetica Neue"/>
              </a:defRPr>
            </a:pPr>
            <a: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651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3333AA"/>
                </a:solidFill>
                <a:latin typeface="Helvetica Neue"/>
              </a:defRPr>
            </a:pPr>
            <a:r>
              <a:t>Divisions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33832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BTS, ADC, Corp, AN, RMDx, MD, EPD, CHR, GMEA, CoreDx, Lingo, Cyber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16459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000050"/>
                </a:solidFill>
                <a:latin typeface="Helvetica Neue"/>
              </a:defRPr>
            </a:pPr>
            <a:r>
              <a:t>61%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2651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3333AA"/>
                </a:solidFill>
                <a:latin typeface="Helvetica Neue"/>
              </a:defRPr>
            </a:pPr>
            <a:r>
              <a:t>Buy vs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3832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133 Buy / 86 Build — platform-first, custom-when-needed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572000"/>
            <a:ext cx="10972800" cy="640080"/>
          </a:xfrm>
          <a:prstGeom prst="rect">
            <a:avLst/>
          </a:prstGeom>
          <a:solidFill>
            <a:srgbClr val="DDD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663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0050"/>
                </a:solidFill>
                <a:latin typeface="Helvetica Neue"/>
              </a:defRPr>
            </a:pPr>
            <a:r>
              <a:t>43 use cases in active WIP + 29 pending ESC approval — accelerating the pipeline is the priority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69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888888"/>
                </a:solidFill>
                <a:latin typeface="Helvetica Neue"/>
              </a:defRPr>
            </a:pPr>
            <a:r>
              <a:t>Source: Abbott GenAI Historical Catalog of Use Cases — 1Q26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88888"/>
                </a:solidFill>
              </a:defRPr>
            </a:pPr>
            <a:r>
              <a:t>Proprietary and confidential — do not distribute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0" i="0">
                <a:solidFill>
                  <a:srgbClr val="FFFFFF"/>
                </a:solidFill>
                <a:latin typeface="Helvetica Neue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 i="0">
                <a:solidFill>
                  <a:srgbClr val="FFFFFF"/>
                </a:solidFill>
                <a:latin typeface="Helvetica Neue"/>
              </a:defRPr>
            </a:pPr>
            <a:r>
              <a:t>Six Capability Domains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1">
                <a:solidFill>
                  <a:srgbClr val="BBBBFF"/>
                </a:solidFill>
                <a:latin typeface="Helvetica Neue"/>
              </a:defRPr>
            </a:pPr>
            <a:r>
              <a:t>Consolidating 15 categories into 6 strategic capability areas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000050"/>
                </a:solidFill>
                <a:latin typeface="Helvetica Neue"/>
              </a:defRPr>
            </a:pPr>
            <a:r>
              <a:t>Six GenAI Capability Domains —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03327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743200"/>
                <a:gridCol w="2377440"/>
                <a:gridCol w="2011680"/>
                <a:gridCol w="1097280"/>
              </a:tblGrid>
              <a:tr h="718457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Domain</a:t>
                      </a:r>
                    </a:p>
                  </a:txBody>
                  <a:tcPr>
                    <a:solidFill>
                      <a:srgbClr val="DDD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Definition (brief)</a:t>
                      </a:r>
                    </a:p>
                  </a:txBody>
                  <a:tcPr>
                    <a:solidFill>
                      <a:srgbClr val="DDD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Key Sub-Capabilities</a:t>
                      </a:r>
                    </a:p>
                  </a:txBody>
                  <a:tcPr>
                    <a:solidFill>
                      <a:srgbClr val="DDD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Divisions</a:t>
                      </a:r>
                    </a:p>
                  </a:txBody>
                  <a:tcPr>
                    <a:solidFill>
                      <a:srgbClr val="DDD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Maturity</a:t>
                      </a:r>
                    </a:p>
                  </a:txBody>
                  <a:tcPr>
                    <a:solidFill>
                      <a:srgbClr val="DDDDF8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Content &amp; Creative Studio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Generation, drafting, and transformation of written, visual, and multimedia cont...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Creative Content Draft, Writing Drafts &amp; Data Entry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ADC, Corp, EPD, GMEA, RMDx, CHR, MD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Scaling</a:t>
                      </a:r>
                    </a:p>
                  </a:txBody>
                  <a:tcPr>
                    <a:noFill/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Insights &amp; Analytics Acceleration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AI-powered search, synthesis, and generation of insights from structured and uns...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Search, Screen &amp; Insights, Reporting &amp; Observability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GMEA, AN, RMDx, BTS, ADC, Corp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Producing</a:t>
                      </a:r>
                    </a:p>
                  </a:txBody>
                  <a:tcPr>
                    <a:noFill/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Productivity &amp; Automation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Enterprise-wide productivity enhancement through AI-integrated tools — meeting s...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Enterprise Productivity Tools, Writing Drafts &amp; Data Entry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BTS, Corp, CHR, AN, MD, EPD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Scaling</a:t>
                      </a:r>
                    </a:p>
                  </a:txBody>
                  <a:tcPr>
                    <a:noFill/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Customer &amp; Field Engagement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AI-powered tools that augment customer-facing roles — field sales, customer serv...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Assistants, Personalize Content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EPD, ADC, CoreDx, BTS, GMEA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Producing</a:t>
                      </a:r>
                    </a:p>
                  </a:txBody>
                  <a:tcPr>
                    <a:noFill/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Engineering &amp; Development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AI tools augmenting software engineering, quality assurance, and product develop...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Code Creation with Platform, Code Creation IDE &amp; Test Authoring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BTS, MD, RMDx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Scaling</a:t>
                      </a:r>
                    </a:p>
                  </a:txBody>
                  <a:tcPr>
                    <a:noFill/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Learning, Compliance &amp; Governance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AI applications supporting employee learning, regulatory compliance, risk manage...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Learning, Training &amp; Coaching, Image Identification / Analysis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CHR, Corp, RMDx, MD, AN, Cyber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Exploring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88888"/>
                </a:solidFill>
              </a:defRPr>
            </a:pPr>
            <a:r>
              <a:t>Proprietary and confidential — do not distribute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Helvetica Neue"/>
              </a:defRPr>
            </a:pPr>
            <a:r>
              <a:t>Domain 1: Content &amp; Creative Studio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137160"/>
            <a:ext cx="1554480" cy="502920"/>
          </a:xfrm>
          <a:prstGeom prst="rect">
            <a:avLst/>
          </a:prstGeom>
          <a:solidFill>
            <a:srgbClr val="333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32720" y="1371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Helvetica Neue"/>
              </a:defRPr>
            </a:pPr>
            <a:r>
              <a:t>Scaling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1A1A1A"/>
                </a:solidFill>
                <a:latin typeface="Helvetica Neue"/>
              </a:defRPr>
            </a:pPr>
            <a:r>
              <a:t>Generation, drafting, and transformation of written, visual, and multimedia content for internal and external audiences.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5486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371600"/>
              </a:tblGrid>
              <a:tr h="58521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Sub-Capability</a:t>
                      </a:r>
                    </a:p>
                  </a:txBody>
                  <a:tcPr>
                    <a:solidFill>
                      <a:srgbClr val="DDD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DDDDF8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Creative Content Draft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Active</a:t>
                      </a:r>
                    </a:p>
                  </a:txBody>
                  <a:tcPr>
                    <a:noFill/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Writing Drafts &amp; Data Entry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Active</a:t>
                      </a:r>
                    </a:p>
                  </a:txBody>
                  <a:tcPr>
                    <a:noFill/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Personalize Content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Active</a:t>
                      </a:r>
                    </a:p>
                  </a:txBody>
                  <a:tcPr>
                    <a:noFill/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Translation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Active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0" y="1554480"/>
            <a:ext cx="5303520" cy="292608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459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0050"/>
                </a:solidFill>
                <a:latin typeface="Helvetica Neue"/>
              </a:defRPr>
            </a:pPr>
            <a:r>
              <a:t>In-Production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Writer Newsroom, Adobe Firefly, AutogenAI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8346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0050"/>
                </a:solidFill>
                <a:latin typeface="Helvetica Neue"/>
              </a:defRPr>
            </a:pPr>
            <a:r>
              <a:t>Divisions Using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2004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ADC, Corp, EPD, GMEA, RMDx, CHR, MD (7 divisions)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8404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333AA"/>
                </a:solidFill>
                <a:latin typeface="Helvetica Neue"/>
              </a:defRPr>
            </a:pPr>
            <a:r>
              <a:t>Use Cases: 52 (estimated)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88888"/>
                </a:solidFill>
              </a:defRPr>
            </a:pPr>
            <a:r>
              <a:t>Proprietary and confidential — do not distribute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Helvetica Neue"/>
              </a:defRPr>
            </a:pPr>
            <a:r>
              <a:t>Domain 2: Insights &amp; Analytics Acceleration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137160"/>
            <a:ext cx="1554480" cy="502920"/>
          </a:xfrm>
          <a:prstGeom prst="rect">
            <a:avLst/>
          </a:prstGeom>
          <a:solidFill>
            <a:srgbClr val="228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32720" y="1371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Helvetica Neue"/>
              </a:defRPr>
            </a:pPr>
            <a:r>
              <a:t>Producing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1A1A1A"/>
                </a:solidFill>
                <a:latin typeface="Helvetica Neue"/>
              </a:defRPr>
            </a:pPr>
            <a:r>
              <a:t>AI-powered search, synthesis, and generation of insights from structured and unstructured data.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5486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371600"/>
              </a:tblGrid>
              <a:tr h="73152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Sub-Capability</a:t>
                      </a:r>
                    </a:p>
                  </a:txBody>
                  <a:tcPr>
                    <a:solidFill>
                      <a:srgbClr val="DDD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DDDD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Search, Screen &amp; Insights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Active</a:t>
                      </a:r>
                    </a:p>
                  </a:txBody>
                  <a:tcPr>
                    <a:noFill/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Reporting &amp; Observability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Active</a:t>
                      </a:r>
                    </a:p>
                  </a:txBody>
                  <a:tcPr>
                    <a:noFill/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Forecast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Active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0" y="1554480"/>
            <a:ext cx="5303520" cy="292608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459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0050"/>
                </a:solidFill>
                <a:latin typeface="Helvetica Neue"/>
              </a:defRPr>
            </a:pPr>
            <a:r>
              <a:t>In-Production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Mktg Insights Accelerator, RADIA Research, Databricks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8346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0050"/>
                </a:solidFill>
                <a:latin typeface="Helvetica Neue"/>
              </a:defRPr>
            </a:pPr>
            <a:r>
              <a:t>Divisions Using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2004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GMEA, AN, RMDx, BTS, ADC, Corp (6 divisions)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8404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333AA"/>
                </a:solidFill>
                <a:latin typeface="Helvetica Neue"/>
              </a:defRPr>
            </a:pPr>
            <a:r>
              <a:t>Use Cases: 48 (estimated)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88888"/>
                </a:solidFill>
              </a:defRPr>
            </a:pPr>
            <a:r>
              <a:t>Proprietary and confidential — do not distribute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A9D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Helvetica Neue"/>
              </a:defRPr>
            </a:pPr>
            <a:r>
              <a:t>Domain 3: Productivity &amp; 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137160"/>
            <a:ext cx="1554480" cy="502920"/>
          </a:xfrm>
          <a:prstGeom prst="rect">
            <a:avLst/>
          </a:prstGeom>
          <a:solidFill>
            <a:srgbClr val="333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32720" y="1371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Helvetica Neue"/>
              </a:defRPr>
            </a:pPr>
            <a:r>
              <a:t>Scaling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1A1A1A"/>
                </a:solidFill>
                <a:latin typeface="Helvetica Neue"/>
              </a:defRPr>
            </a:pPr>
            <a:r>
              <a:t>Enterprise-wide productivity enhancement through AI-integrated tools — meeting summarization, workflow automation, and process intelligence.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5486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371600"/>
              </a:tblGrid>
              <a:tr h="97536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Sub-Capability</a:t>
                      </a:r>
                    </a:p>
                  </a:txBody>
                  <a:tcPr>
                    <a:solidFill>
                      <a:srgbClr val="DDD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DDDDF8"/>
                    </a:solidFill>
                  </a:tcPr>
                </a:tc>
              </a:tr>
              <a:tr h="97536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Enterprise Productivity Tools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Active</a:t>
                      </a:r>
                    </a:p>
                  </a:txBody>
                  <a:tcPr>
                    <a:noFill/>
                  </a:tcPr>
                </a:tc>
              </a:tr>
              <a:tr h="97536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Writing Drafts &amp; Data Entry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Active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0" y="1554480"/>
            <a:ext cx="5303520" cy="292608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459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0050"/>
                </a:solidFill>
                <a:latin typeface="Helvetica Neue"/>
              </a:defRPr>
            </a:pPr>
            <a:r>
              <a:t>In-Production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M365 Copilot, Cursor/Windsurf, Five9 GSD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8346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0050"/>
                </a:solidFill>
                <a:latin typeface="Helvetica Neue"/>
              </a:defRPr>
            </a:pPr>
            <a:r>
              <a:t>Divisions Using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2004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BTS, Corp, CHR, AN, MD, EPD (6 divisions)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8404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333AA"/>
                </a:solidFill>
                <a:latin typeface="Helvetica Neue"/>
              </a:defRPr>
            </a:pPr>
            <a:r>
              <a:t>Use Cases: 42 (estimated)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88888"/>
                </a:solidFill>
              </a:defRPr>
            </a:pPr>
            <a:r>
              <a:t>Proprietary and confidential — do not distribute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Helvetica Neue"/>
              </a:defRPr>
            </a:pPr>
            <a:r>
              <a:t>Domain 4: Customer &amp; Field Engagement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137160"/>
            <a:ext cx="1554480" cy="502920"/>
          </a:xfrm>
          <a:prstGeom prst="rect">
            <a:avLst/>
          </a:prstGeom>
          <a:solidFill>
            <a:srgbClr val="228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32720" y="1371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Helvetica Neue"/>
              </a:defRPr>
            </a:pPr>
            <a:r>
              <a:t>Producing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1A1A1A"/>
                </a:solidFill>
                <a:latin typeface="Helvetica Neue"/>
              </a:defRPr>
            </a:pPr>
            <a:r>
              <a:t>AI-powered tools that augment customer-facing roles — field sales, customer service, and HCP interactions.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5486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371600"/>
              </a:tblGrid>
              <a:tr h="73152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Sub-Capability</a:t>
                      </a:r>
                    </a:p>
                  </a:txBody>
                  <a:tcPr>
                    <a:solidFill>
                      <a:srgbClr val="DDD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DDDD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Assistants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Active</a:t>
                      </a:r>
                    </a:p>
                  </a:txBody>
                  <a:tcPr>
                    <a:noFill/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Personalize Content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Active</a:t>
                      </a:r>
                    </a:p>
                  </a:txBody>
                  <a:tcPr>
                    <a:noFill/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Search &amp; CRM Insights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Active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0" y="1554480"/>
            <a:ext cx="5303520" cy="292608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459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0050"/>
                </a:solidFill>
                <a:latin typeface="Helvetica Neue"/>
              </a:defRPr>
            </a:pPr>
            <a:r>
              <a:t>In-Production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SmartRep Call Planning, Neuron7, Five9 GSD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8346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0050"/>
                </a:solidFill>
                <a:latin typeface="Helvetica Neue"/>
              </a:defRPr>
            </a:pPr>
            <a:r>
              <a:t>Divisions Using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2004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EPD, ADC, CoreDx, BTS, GMEA (5 divisions)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8404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333AA"/>
                </a:solidFill>
                <a:latin typeface="Helvetica Neue"/>
              </a:defRPr>
            </a:pPr>
            <a:r>
              <a:t>Use Cases: 35 (estimated)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88888"/>
                </a:solidFill>
              </a:defRPr>
            </a:pPr>
            <a:r>
              <a:t>Proprietary and confidential — do not distribute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Helvetica Neue"/>
              </a:defRPr>
            </a:pPr>
            <a:r>
              <a:t>Domain 5: Engineering &amp; Development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137160"/>
            <a:ext cx="1554480" cy="502920"/>
          </a:xfrm>
          <a:prstGeom prst="rect">
            <a:avLst/>
          </a:prstGeom>
          <a:solidFill>
            <a:srgbClr val="333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32720" y="1371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Helvetica Neue"/>
              </a:defRPr>
            </a:pPr>
            <a:r>
              <a:t>Scaling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1A1A1A"/>
                </a:solidFill>
                <a:latin typeface="Helvetica Neue"/>
              </a:defRPr>
            </a:pPr>
            <a:r>
              <a:t>AI tools augmenting software engineering, quality assurance, and product development workflows.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5486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371600"/>
              </a:tblGrid>
              <a:tr h="97536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Sub-Capability</a:t>
                      </a:r>
                    </a:p>
                  </a:txBody>
                  <a:tcPr>
                    <a:solidFill>
                      <a:srgbClr val="DDD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DDDDF8"/>
                    </a:solidFill>
                  </a:tcPr>
                </a:tc>
              </a:tr>
              <a:tr h="97536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Code Creation with Platform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Active</a:t>
                      </a:r>
                    </a:p>
                  </a:txBody>
                  <a:tcPr>
                    <a:noFill/>
                  </a:tcPr>
                </a:tc>
              </a:tr>
              <a:tr h="97536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Code Creation IDE &amp; Test Authoring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Active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0" y="1554480"/>
            <a:ext cx="5303520" cy="292608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459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0050"/>
                </a:solidFill>
                <a:latin typeface="Helvetica Neue"/>
              </a:defRPr>
            </a:pPr>
            <a:r>
              <a:t>In-Production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Cursor/Windsurf/Atlassian AI, Azure AI Sandbox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8346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0050"/>
                </a:solidFill>
                <a:latin typeface="Helvetica Neue"/>
              </a:defRPr>
            </a:pPr>
            <a:r>
              <a:t>Divisions Using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2004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BTS, MD, RMDx (3 divisions)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8404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333AA"/>
                </a:solidFill>
                <a:latin typeface="Helvetica Neue"/>
              </a:defRPr>
            </a:pPr>
            <a:r>
              <a:t>Use Cases: 28 (estimated)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88888"/>
                </a:solidFill>
              </a:defRPr>
            </a:pPr>
            <a:r>
              <a:t>Proprietary and confidential — do not distribute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Helvetica Neue"/>
              </a:defRPr>
            </a:pPr>
            <a:r>
              <a:t>Domain 6: Learning, Compliance &amp; Governance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137160"/>
            <a:ext cx="1554480" cy="502920"/>
          </a:xfrm>
          <a:prstGeom prst="rect">
            <a:avLst/>
          </a:prstGeom>
          <a:solidFill>
            <a:srgbClr val="CC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32720" y="1371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Helvetica Neue"/>
              </a:defRPr>
            </a:pPr>
            <a:r>
              <a:t>Exploring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1A1A1A"/>
                </a:solidFill>
                <a:latin typeface="Helvetica Neue"/>
              </a:defRPr>
            </a:pPr>
            <a:r>
              <a:t>AI applications supporting employee learning, regulatory compliance, risk management, and organizational knowledge management.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5486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371600"/>
              </a:tblGrid>
              <a:tr h="97536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Sub-Capability</a:t>
                      </a:r>
                    </a:p>
                  </a:txBody>
                  <a:tcPr>
                    <a:solidFill>
                      <a:srgbClr val="DDD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DDDDF8"/>
                    </a:solidFill>
                  </a:tcPr>
                </a:tc>
              </a:tr>
              <a:tr h="97536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Learning, Training &amp; Coaching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Active</a:t>
                      </a:r>
                    </a:p>
                  </a:txBody>
                  <a:tcPr>
                    <a:noFill/>
                  </a:tcPr>
                </a:tc>
              </a:tr>
              <a:tr h="97536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Image Identification / Analysis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Active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0" y="1554480"/>
            <a:ext cx="5303520" cy="292608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459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0050"/>
                </a:solidFill>
                <a:latin typeface="Helvetica Neue"/>
              </a:defRPr>
            </a:pPr>
            <a:r>
              <a:t>In-Production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Pilots in CHR, Corp, RMDx, Cyber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8346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0050"/>
                </a:solidFill>
                <a:latin typeface="Helvetica Neue"/>
              </a:defRPr>
            </a:pPr>
            <a:r>
              <a:t>Divisions Using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2004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CHR, Corp, RMDx, MD, AN, Cyber (6 divisions)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8404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333AA"/>
                </a:solidFill>
                <a:latin typeface="Helvetica Neue"/>
              </a:defRPr>
            </a:pPr>
            <a:r>
              <a:t>Use Cases: 15 (estimated)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88888"/>
                </a:solidFill>
              </a:defRPr>
            </a:pPr>
            <a:r>
              <a:t>Proprietary and confidential — do not distribute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0" i="0">
                <a:solidFill>
                  <a:srgbClr val="FFFFFF"/>
                </a:solidFill>
                <a:latin typeface="Helvetica Neue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 i="0">
                <a:solidFill>
                  <a:srgbClr val="FFFFFF"/>
                </a:solidFill>
                <a:latin typeface="Helvetica Neue"/>
              </a:defRPr>
            </a:pPr>
            <a:r>
              <a:t>Enterprise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1">
                <a:solidFill>
                  <a:srgbClr val="BBBBFF"/>
                </a:solidFill>
                <a:latin typeface="Helvetica Neue"/>
              </a:defRPr>
            </a:pPr>
            <a:r>
              <a:t>3-Tier Architecture — Platform, Capabilities, Business Domains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000050"/>
                </a:solidFill>
                <a:latin typeface="Helvetica Neue"/>
              </a:defRPr>
            </a:pPr>
            <a:r>
              <a:t>Abbott GenAI Enterprise Blueprint — 3-Tier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1417320"/>
          </a:xfrm>
          <a:prstGeom prst="rect">
            <a:avLst/>
          </a:prstGeom>
          <a:solidFill>
            <a:srgbClr val="DDD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645920" cy="141732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5544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Helvetica Neue"/>
              </a:defRPr>
            </a:pPr>
            <a:r>
              <a:t>TIER 1</a:t>
            </a:r>
            <a:br/>
            <a:r>
              <a:t>BUSINESS DOMAINS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097280"/>
            <a:ext cx="923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0050"/>
                </a:solidFill>
                <a:latin typeface="Helvetica Neue"/>
              </a:defRPr>
            </a:pPr>
            <a:r>
              <a:t>Content &amp; Creative Studio | Insights &amp; Analytics | Productivity &amp;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645920"/>
            <a:ext cx="9235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Customer &amp; Field Engagement | Engineering &amp; Development | Learning &amp; Governance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60320"/>
            <a:ext cx="11247120" cy="141732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1645920" cy="141732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651760"/>
            <a:ext cx="15544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Helvetica Neue"/>
              </a:defRPr>
            </a:pPr>
            <a:r>
              <a:t>TIER 2</a:t>
            </a:r>
            <a:br/>
            <a:r>
              <a:t>GENAI CAPABILITIES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651760"/>
            <a:ext cx="923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0050"/>
                </a:solidFill>
                <a:latin typeface="Helvetica Neue"/>
              </a:defRPr>
            </a:pPr>
            <a:r>
              <a:t>Creative Content Draft &amp; Translation | Search &amp; Insights | Enterprise Productivity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200400"/>
            <a:ext cx="9235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Assistants &amp; Personalization | Code Creation | Learning &amp; Compliance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11247120" cy="1417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114800"/>
            <a:ext cx="1645920" cy="141732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206240"/>
            <a:ext cx="15544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Helvetica Neue"/>
              </a:defRPr>
            </a:pPr>
            <a:r>
              <a:t>TIER 3</a:t>
            </a:r>
            <a:br/>
            <a:r>
              <a:t>SHARED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4206240"/>
            <a:ext cx="923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0050"/>
                </a:solidFill>
                <a:latin typeface="Helvetica Neue"/>
              </a:defRPr>
            </a:pPr>
            <a:r>
              <a:t>Azure AI Foundry | Anthropic Claude | Salesforce Einstein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754880"/>
            <a:ext cx="9235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Adobe Experience Cloud | Veeva Vault AI | Microsoft M365 Copilot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2423160"/>
            <a:ext cx="457200" cy="18288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52160" y="3977640"/>
            <a:ext cx="457200" cy="18288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577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888888"/>
                </a:solidFill>
                <a:latin typeface="Helvetica Neue"/>
              </a:defRPr>
            </a:pPr>
            <a:r>
              <a:t>CoE Governance: ESC review, platform standards, security guardrails, and division enablement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88888"/>
                </a:solidFill>
              </a:defRPr>
            </a:pPr>
            <a:r>
              <a:t>Proprietary and confidential — do not distribute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000050"/>
                </a:solidFill>
                <a:latin typeface="Helvetica Neue"/>
              </a:defRPr>
            </a:pPr>
            <a:r>
              <a:t>Enterprise Platform Foundation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2743200"/>
                <a:gridCol w="2103120"/>
              </a:tblGrid>
              <a:tr h="718457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Platform</a:t>
                      </a:r>
                    </a:p>
                  </a:txBody>
                  <a:tcPr>
                    <a:solidFill>
                      <a:srgbClr val="DDD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Primary Use Cases</a:t>
                      </a:r>
                    </a:p>
                  </a:txBody>
                  <a:tcPr>
                    <a:solidFill>
                      <a:srgbClr val="DDD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Domains Served</a:t>
                      </a:r>
                    </a:p>
                  </a:txBody>
                  <a:tcPr>
                    <a:solidFill>
                      <a:srgbClr val="DDD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Deployment</a:t>
                      </a:r>
                    </a:p>
                  </a:txBody>
                  <a:tcPr>
                    <a:solidFill>
                      <a:srgbClr val="DDDDF8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Azure AI Foundry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Model access, AI infrastructure, custom fine-tuning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All domains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Enterprise</a:t>
                      </a:r>
                    </a:p>
                  </a:txBody>
                  <a:tcPr>
                    <a:noFill/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Anthropic Claude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Long-context reasoning, document analysis, code review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Insights, Engineering, Compliance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Enterprise API</a:t>
                      </a:r>
                    </a:p>
                  </a:txBody>
                  <a:tcPr>
                    <a:noFill/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Salesforce Einstein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CRM-native AI, sales copilot, next-best-action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Customer &amp; Field Engagement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SaaS embedded</a:t>
                      </a:r>
                    </a:p>
                  </a:txBody>
                  <a:tcPr>
                    <a:noFill/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Adobe Experience Cloud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Content generation, creative tools, personalization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Content &amp; Creative Studio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SaaS</a:t>
                      </a:r>
                    </a:p>
                  </a:txBody>
                  <a:tcPr>
                    <a:noFill/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Veeva Vault AI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Regulated content mgmt, MLR review, clinical docs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Compliance &amp; Governance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SaaS</a:t>
                      </a:r>
                    </a:p>
                  </a:txBody>
                  <a:tcPr>
                    <a:noFill/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Microsoft M365 Copilot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Enterprise productivity, Teams, Office suite AI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Productivity &amp; Automation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M365 tenant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88888"/>
                </a:solidFill>
              </a:defRPr>
            </a:pPr>
            <a:r>
              <a:t>Proprietary and confidential — do not distribute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000050"/>
                </a:solidFill>
                <a:latin typeface="Helvetica Neue"/>
              </a:defRPr>
            </a:pPr>
            <a:r>
              <a:t>Next Steps &amp; Priority Actions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0" cy="822960"/>
          </a:xfrm>
          <a:prstGeom prst="rect">
            <a:avLst/>
          </a:prstGeom>
          <a:solidFill>
            <a:srgbClr val="DDD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0050"/>
                </a:solidFill>
                <a:latin typeface="Helvetica Neue"/>
              </a:defRPr>
            </a:pPr>
            <a:r>
              <a:t>Consolidate Content Platforms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1A"/>
                </a:solidFill>
                <a:latin typeface="Helvetica Neue"/>
              </a:defRPr>
            </a:pPr>
            <a:r>
              <a:t>Rationalize Writer, Adobe Firefly, and AutogenAI under a unified CoE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Owners: ADC + GMEA + BTS platform leads | Timeline: Q2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-29264265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3333AA"/>
                </a:solidFill>
                <a:latin typeface="Helvetica Neue"/>
              </a:defRPr>
            </a:pPr>
            <a:r>
              <a:t>Owner: BTS-DTS CoE + ADC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10972800" cy="82296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0050"/>
                </a:solidFill>
                <a:latin typeface="Helvetica Neue"/>
              </a:defRPr>
            </a:pPr>
            <a:r>
              <a:t>Accelerate ESC Approvals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1A"/>
                </a:solidFill>
                <a:latin typeface="Helvetica Neue"/>
              </a:defRPr>
            </a:pPr>
            <a:r>
              <a:t>29 use cases pending — establish 30-day SLA for ESC review cadence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88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Target: clear backlog by end of Q2 2026 | Impact: ~$Xm deferred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-292641649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3333AA"/>
                </a:solidFill>
                <a:latin typeface="Helvetica Neue"/>
              </a:defRPr>
            </a:pPr>
            <a:r>
              <a:t>Owner: ESC Chair + CoE Program Lead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108960"/>
            <a:ext cx="10972800" cy="822960"/>
          </a:xfrm>
          <a:prstGeom prst="rect">
            <a:avLst/>
          </a:prstGeom>
          <a:solidFill>
            <a:srgbClr val="DDD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1546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0050"/>
                </a:solidFill>
                <a:latin typeface="Helvetica Neue"/>
              </a:defRPr>
            </a:pPr>
            <a:r>
              <a:t>Expand SmartRep Model to ADC &amp; GMEA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747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1A"/>
                </a:solidFill>
                <a:latin typeface="Helvetica Neue"/>
              </a:defRPr>
            </a:pPr>
            <a:r>
              <a:t>Template EPD's SmartRep success for replication across commercial divisions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94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Playbook: data requirements, Salesforce Einstein integration, 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-2926406440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3333AA"/>
                </a:solidFill>
                <a:latin typeface="Helvetica Neue"/>
              </a:defRPr>
            </a:pPr>
            <a:r>
              <a:t>Owner: EPD + ADC Commercial AI Leads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114800"/>
            <a:ext cx="10972800" cy="82296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160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0050"/>
                </a:solidFill>
                <a:latin typeface="Helvetica Neue"/>
              </a:defRPr>
            </a:pPr>
            <a:r>
              <a:t>Launch Domain Champions Program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4805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1A"/>
                </a:solidFill>
                <a:latin typeface="Helvetica Neue"/>
              </a:defRPr>
            </a:pPr>
            <a:r>
              <a:t>Assign a CoE domain champion per capability domain to drive reuse and sharing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00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6 champions x 6 domains | Quarterly cross-division syncs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-292639638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3333AA"/>
                </a:solidFill>
                <a:latin typeface="Helvetica Neue"/>
              </a:defRPr>
            </a:pPr>
            <a:r>
              <a:t>Owner: GenAI CoE Director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120640"/>
            <a:ext cx="10972800" cy="822960"/>
          </a:xfrm>
          <a:prstGeom prst="rect">
            <a:avLst/>
          </a:prstGeom>
          <a:solidFill>
            <a:srgbClr val="DDD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166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0050"/>
                </a:solidFill>
                <a:latin typeface="Helvetica Neue"/>
              </a:defRPr>
            </a:pPr>
            <a:r>
              <a:t>Investment Plan for Learning &amp; Governance Domain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486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1A"/>
                </a:solidFill>
                <a:latin typeface="Helvetica Neue"/>
              </a:defRPr>
            </a:pPr>
            <a:r>
              <a:t>Develop pilot use case in CHR to advance the Exploring → Scaling maturity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806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Scope: 1 pilot use case, Q3 2026, with compliance and legal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-292638632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3333AA"/>
                </a:solidFill>
                <a:latin typeface="Helvetica Neue"/>
              </a:defRPr>
            </a:pPr>
            <a:r>
              <a:t>Owner: CHR + Corp + Cyber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669280"/>
            <a:ext cx="10972800" cy="50292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7150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1">
                <a:solidFill>
                  <a:srgbClr val="FFFFFF"/>
                </a:solidFill>
                <a:latin typeface="Helvetica Neue"/>
              </a:defRPr>
            </a:pPr>
            <a:r>
              <a:t>GenAI is a strategic priority — pace of production deployment is the leading indicator of value realization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88888"/>
                </a:solidFill>
              </a:defRPr>
            </a:pPr>
            <a:r>
              <a:t>Proprietary and confidential — do not distribute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