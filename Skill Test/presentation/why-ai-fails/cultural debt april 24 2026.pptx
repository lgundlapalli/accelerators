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71"/>
    <p:restoredTop sz="61656"/>
  </p:normalViewPr>
  <p:slideViewPr>
    <p:cSldViewPr snapToGrid="0" snapToObjects="1">
      <p:cViewPr varScale="1">
        <p:scale>
          <a:sx n="82" d="100"/>
          <a:sy n="82" d="100"/>
        </p:scale>
        <p:origin x="3520"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2548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grounding the room: 'We've been talking about AI and jobs for years. The question now isn't whether AI will change work — it already is. The question is whether your organization is positioned to lead that change or scramble to catch up.' Don't read the slide. Set the stakes.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Start by saying the obvious out loud: 'Everyone is worried AI is going to eliminate jobs. The data says that's not quite right — but what is happening is actually harder to manage.' Then walk the numbers left to right. Thirty-two million jobs a year aren't disappearing — they're being redesigned. That means the people doing those jobs need different skills, different tools, and different support. The half-life number is the one to land on: we used to expect a technical skill to stay relevant for 8 to 12 years. Now it's 2 to 5. That means if you hired someone for their Python or data skills in 2023, some of that is already degrading. The 30% rehire stat is the one that surprises people most — organizations cut roles, then realize six months later they needed those people, and end up paying more to bring them back or replace them. The point is: this isn't a story about job loss, it's a story about organizations being unprepared for the speed of change.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row like a timeline. By 2030, the skills that get people hired today will have a shelf life of 2 to 5 years — so the question you ask in interviews shifts from 'what do you know?' to 'how fast do you learn?' By 2029, most digital products will be built primarily for AI agents to use, not humans — that's a complete flip from how we design today. The rehire stat comes next: companies that cut people to replace them with AI will spend the next few years hiring them back, often at higher cost, because they didn't plan the transition well. The avatar row is the one that generates the most conversation — some companies already want to create digital replicas of employees using their emails, documents, and decisions. The legal frameworks don't exist yet. And the last one is practical: if you put AI agents in your org chart next to people, employees disengage. Keep AI governance in IT systems, not in reporting structures. For each row, the useful question is: 'Are we ready for this, and if not, what would it take?'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There are four things on this slide and none of them are IT problems alone — each one needs IT and HR working together, or IT and Legal. Walk through them in order. First, adaptive learning: the old model was send people to a class once a year. That doesn't work anymore. You need systems that notice when someone's skills are drifting and push them the right content before it becomes a problem. Second, human-agent collaboration design: your UX and engineering teams are building products for how humans and AI work together today — but they also need to think about what happens when the AI is mostly talking to other AI systems. That's a design shift. Third, the talent remix: before you make any workforce restructuring decision, you need a clear picture of what roles you actually need in an AI-first world. Otherwise you cut the wrong people or create gaps you can't fill. Fourth, digital identity governance: if someone in your org is already building an AI model trained on employee data, do your employment contracts cover that? Probably not. Get ahead of it now. The broader point is that the CIO can't wait for HR to lead this — if you do, you'll already be behind by the time the conversation starts.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50"/>
        </a:solidFill>
        <a:effectLst/>
      </p:bgPr>
    </p:bg>
    <p:spTree>
      <p:nvGrpSpPr>
        <p:cNvPr id="1" name=""/>
        <p:cNvGrpSpPr/>
        <p:nvPr/>
      </p:nvGrpSpPr>
      <p:grpSpPr>
        <a:xfrm>
          <a:off x="0" y="0"/>
          <a:ext cx="0" cy="0"/>
          <a:chOff x="0" y="0"/>
          <a:chExt cx="0" cy="0"/>
        </a:xfrm>
      </p:grpSpPr>
      <p:sp>
        <p:nvSpPr>
          <p:cNvPr id="2" name="TextBox 1"/>
          <p:cNvSpPr txBox="1"/>
          <p:nvPr/>
        </p:nvSpPr>
        <p:spPr>
          <a:xfrm>
            <a:off x="731520" y="1371600"/>
            <a:ext cx="10058400" cy="1097280"/>
          </a:xfrm>
          <a:prstGeom prst="rect">
            <a:avLst/>
          </a:prstGeom>
          <a:noFill/>
        </p:spPr>
        <p:txBody>
          <a:bodyPr wrap="square">
            <a:spAutoFit/>
          </a:bodyPr>
          <a:lstStyle/>
          <a:p>
            <a:pPr algn="l">
              <a:defRPr sz="4400" b="0" i="0">
                <a:solidFill>
                  <a:srgbClr val="FFFFFF"/>
                </a:solidFill>
                <a:latin typeface="Helvetica Neue"/>
              </a:defRPr>
            </a:pPr>
            <a:r>
              <a:t>The Workforce Transformation Imperative</a:t>
            </a:r>
          </a:p>
        </p:txBody>
      </p:sp>
      <p:sp>
        <p:nvSpPr>
          <p:cNvPr id="3" name="TextBox 2"/>
          <p:cNvSpPr txBox="1"/>
          <p:nvPr/>
        </p:nvSpPr>
        <p:spPr>
          <a:xfrm>
            <a:off x="731520" y="2651760"/>
            <a:ext cx="10058400" cy="731520"/>
          </a:xfrm>
          <a:prstGeom prst="rect">
            <a:avLst/>
          </a:prstGeom>
          <a:noFill/>
        </p:spPr>
        <p:txBody>
          <a:bodyPr wrap="square">
            <a:spAutoFit/>
          </a:bodyPr>
          <a:lstStyle/>
          <a:p>
            <a:pPr algn="l">
              <a:defRPr sz="2800" b="0" i="0">
                <a:solidFill>
                  <a:srgbClr val="FFFFFF"/>
                </a:solidFill>
                <a:latin typeface="Helvetica Neue"/>
              </a:defRPr>
            </a:pPr>
            <a:r>
              <a:t>AI Is Reshaping Work — How CIOs Must Respond</a:t>
            </a:r>
          </a:p>
        </p:txBody>
      </p:sp>
      <p:sp>
        <p:nvSpPr>
          <p:cNvPr id="4" name="TextBox 3"/>
          <p:cNvSpPr txBox="1"/>
          <p:nvPr/>
        </p:nvSpPr>
        <p:spPr>
          <a:xfrm>
            <a:off x="731520" y="3657600"/>
            <a:ext cx="9144000" cy="548640"/>
          </a:xfrm>
          <a:prstGeom prst="rect">
            <a:avLst/>
          </a:prstGeom>
          <a:noFill/>
        </p:spPr>
        <p:txBody>
          <a:bodyPr wrap="square">
            <a:spAutoFit/>
          </a:bodyPr>
          <a:lstStyle/>
          <a:p>
            <a:pPr algn="l">
              <a:defRPr sz="1600" b="0" i="1">
                <a:solidFill>
                  <a:srgbClr val="BBBBFF"/>
                </a:solidFill>
                <a:latin typeface="Helvetica Neue"/>
              </a:defRPr>
            </a:pPr>
            <a:r>
              <a:t>Based on Gartner Strategic Planning Assumptions (2025)</a:t>
            </a:r>
          </a:p>
        </p:txBody>
      </p:sp>
      <p:sp>
        <p:nvSpPr>
          <p:cNvPr id="5" name="TextBox 4"/>
          <p:cNvSpPr txBox="1"/>
          <p:nvPr/>
        </p:nvSpPr>
        <p:spPr>
          <a:xfrm>
            <a:off x="731520" y="4754880"/>
            <a:ext cx="9144000" cy="365760"/>
          </a:xfrm>
          <a:prstGeom prst="rect">
            <a:avLst/>
          </a:prstGeom>
          <a:noFill/>
        </p:spPr>
        <p:txBody>
          <a:bodyPr wrap="square">
            <a:spAutoFit/>
          </a:bodyPr>
          <a:lstStyle/>
          <a:p>
            <a:pPr algn="l">
              <a:defRPr sz="1400" b="0" i="0">
                <a:solidFill>
                  <a:srgbClr val="9999CC"/>
                </a:solidFill>
                <a:latin typeface="Helvetica Neue"/>
              </a:defRPr>
            </a:pPr>
            <a:r>
              <a:t>BTS-DTS Architecture  |  April 24, 2026  |  v1.0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48640"/>
          </a:xfrm>
          <a:prstGeom prst="rect">
            <a:avLst/>
          </a:prstGeom>
          <a:noFill/>
        </p:spPr>
        <p:txBody>
          <a:bodyPr wrap="square">
            <a:spAutoFit/>
          </a:bodyPr>
          <a:lstStyle/>
          <a:p>
            <a:pPr algn="l">
              <a:defRPr sz="2400" b="0" i="0">
                <a:solidFill>
                  <a:srgbClr val="000050"/>
                </a:solidFill>
                <a:latin typeface="Helvetica Neue"/>
              </a:defRPr>
            </a:pPr>
            <a:r>
              <a:t>AI Is Reshaping Work — Not Eliminating It — But Reinvention Is Urgent</a:t>
            </a:r>
          </a:p>
        </p:txBody>
      </p:sp>
      <p:sp>
        <p:nvSpPr>
          <p:cNvPr id="3" name="TextBox 2"/>
          <p:cNvSpPr txBox="1"/>
          <p:nvPr/>
        </p:nvSpPr>
        <p:spPr>
          <a:xfrm>
            <a:off x="548640" y="822960"/>
            <a:ext cx="10972800" cy="365760"/>
          </a:xfrm>
          <a:prstGeom prst="rect">
            <a:avLst/>
          </a:prstGeom>
          <a:noFill/>
        </p:spPr>
        <p:txBody>
          <a:bodyPr wrap="square">
            <a:spAutoFit/>
          </a:bodyPr>
          <a:lstStyle/>
          <a:p>
            <a:pPr algn="l">
              <a:defRPr sz="1300" b="0" i="1">
                <a:solidFill>
                  <a:srgbClr val="1A1A1A"/>
                </a:solidFill>
                <a:latin typeface="Helvetica Neue"/>
              </a:defRPr>
            </a:pPr>
            <a:r>
              <a:t>The AI-driven jobs apocalypse narrative is misplaced. The real risk is failing to reinvent.</a:t>
            </a:r>
          </a:p>
        </p:txBody>
      </p:sp>
      <p:graphicFrame>
        <p:nvGraphicFramePr>
          <p:cNvPr id="4" name="Table 3"/>
          <p:cNvGraphicFramePr>
            <a:graphicFrameLocks noGrp="1"/>
          </p:cNvGraphicFramePr>
          <p:nvPr/>
        </p:nvGraphicFramePr>
        <p:xfrm>
          <a:off x="548640" y="1371600"/>
          <a:ext cx="10972800" cy="41148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85800">
                <a:tc>
                  <a:txBody>
                    <a:bodyPr/>
                    <a:lstStyle/>
                    <a:p>
                      <a:pPr>
                        <a:spcAft>
                          <a:spcPts val="200"/>
                        </a:spcAft>
                        <a:defRPr sz="1100" b="1">
                          <a:solidFill>
                            <a:srgbClr val="000050"/>
                          </a:solidFill>
                          <a:latin typeface="Helvetica Neue"/>
                        </a:defRPr>
                      </a:pPr>
                      <a:r>
                        <a:t>The Reality</a:t>
                      </a:r>
                    </a:p>
                  </a:txBody>
                  <a:tcPr>
                    <a:solidFill>
                      <a:srgbClr val="DDDDF8"/>
                    </a:solidFill>
                  </a:tcPr>
                </a:tc>
                <a:tc>
                  <a:txBody>
                    <a:bodyPr/>
                    <a:lstStyle/>
                    <a:p>
                      <a:pPr>
                        <a:spcAft>
                          <a:spcPts val="200"/>
                        </a:spcAft>
                        <a:defRPr sz="1100" b="1">
                          <a:solidFill>
                            <a:srgbClr val="000050"/>
                          </a:solidFill>
                          <a:latin typeface="Helvetica Neue"/>
                        </a:defRPr>
                      </a:pPr>
                      <a:r>
                        <a:t>The Shift</a:t>
                      </a:r>
                    </a:p>
                  </a:txBody>
                  <a:tcPr>
                    <a:solidFill>
                      <a:srgbClr val="DDDDF8"/>
                    </a:solidFill>
                  </a:tcPr>
                </a:tc>
                <a:tc>
                  <a:txBody>
                    <a:bodyPr/>
                    <a:lstStyle/>
                    <a:p>
                      <a:pPr>
                        <a:spcAft>
                          <a:spcPts val="200"/>
                        </a:spcAft>
                        <a:defRPr sz="1100" b="1">
                          <a:solidFill>
                            <a:srgbClr val="000050"/>
                          </a:solidFill>
                          <a:latin typeface="Helvetica Neue"/>
                        </a:defRPr>
                      </a:pPr>
                      <a:r>
                        <a:t>The Risk</a:t>
                      </a:r>
                    </a:p>
                  </a:txBody>
                  <a:tcPr>
                    <a:solidFill>
                      <a:srgbClr val="DDDDF8"/>
                    </a:solidFill>
                  </a:tcPr>
                </a:tc>
                <a:extLst>
                  <a:ext uri="{0D108BD9-81ED-4DB2-BD59-A6C34878D82A}">
                    <a16:rowId xmlns:a16="http://schemas.microsoft.com/office/drawing/2014/main" val="10000"/>
                  </a:ext>
                </a:extLst>
              </a:tr>
              <a:tr h="685800">
                <a:tc>
                  <a:txBody>
                    <a:bodyPr/>
                    <a:lstStyle/>
                    <a:p>
                      <a:pPr>
                        <a:spcAft>
                          <a:spcPts val="200"/>
                        </a:spcAft>
                        <a:defRPr sz="1100">
                          <a:solidFill>
                            <a:srgbClr val="1A1A1A"/>
                          </a:solidFill>
                          <a:latin typeface="Helvetica Neue"/>
                        </a:defRPr>
                      </a:pPr>
                      <a:r>
                        <a:t>32M</a:t>
                      </a:r>
                    </a:p>
                  </a:txBody>
                  <a:tcPr>
                    <a:noFill/>
                  </a:tcPr>
                </a:tc>
                <a:tc>
                  <a:txBody>
                    <a:bodyPr/>
                    <a:lstStyle/>
                    <a:p>
                      <a:pPr>
                        <a:spcAft>
                          <a:spcPts val="200"/>
                        </a:spcAft>
                        <a:defRPr sz="1100">
                          <a:solidFill>
                            <a:srgbClr val="1A1A1A"/>
                          </a:solidFill>
                          <a:latin typeface="Helvetica Neue"/>
                        </a:defRPr>
                      </a:pPr>
                      <a:r>
                        <a:t>60%</a:t>
                      </a:r>
                    </a:p>
                  </a:txBody>
                  <a:tcPr>
                    <a:noFill/>
                  </a:tcPr>
                </a:tc>
                <a:tc>
                  <a:txBody>
                    <a:bodyPr/>
                    <a:lstStyle/>
                    <a:p>
                      <a:pPr>
                        <a:spcAft>
                          <a:spcPts val="200"/>
                        </a:spcAft>
                        <a:defRPr sz="1100">
                          <a:solidFill>
                            <a:srgbClr val="1A1A1A"/>
                          </a:solidFill>
                          <a:latin typeface="Helvetica Neue"/>
                        </a:defRPr>
                      </a:pPr>
                      <a:r>
                        <a:t>30%</a:t>
                      </a:r>
                    </a:p>
                  </a:txBody>
                  <a:tcPr>
                    <a:noFill/>
                  </a:tcPr>
                </a:tc>
                <a:extLst>
                  <a:ext uri="{0D108BD9-81ED-4DB2-BD59-A6C34878D82A}">
                    <a16:rowId xmlns:a16="http://schemas.microsoft.com/office/drawing/2014/main" val="10001"/>
                  </a:ext>
                </a:extLst>
              </a:tr>
              <a:tr h="685800">
                <a:tc>
                  <a:txBody>
                    <a:bodyPr/>
                    <a:lstStyle/>
                    <a:p>
                      <a:pPr>
                        <a:spcAft>
                          <a:spcPts val="200"/>
                        </a:spcAft>
                        <a:defRPr sz="1100">
                          <a:solidFill>
                            <a:srgbClr val="1A1A1A"/>
                          </a:solidFill>
                          <a:latin typeface="Helvetica Neue"/>
                        </a:defRPr>
                      </a:pPr>
                      <a:r>
                        <a:t>Jobs requiring refactoring every year through 2031</a:t>
                      </a:r>
                    </a:p>
                  </a:txBody>
                  <a:tcPr>
                    <a:noFill/>
                  </a:tcPr>
                </a:tc>
                <a:tc>
                  <a:txBody>
                    <a:bodyPr/>
                    <a:lstStyle/>
                    <a:p>
                      <a:pPr>
                        <a:spcAft>
                          <a:spcPts val="200"/>
                        </a:spcAft>
                        <a:defRPr sz="1100">
                          <a:solidFill>
                            <a:srgbClr val="1A1A1A"/>
                          </a:solidFill>
                          <a:latin typeface="Helvetica Neue"/>
                        </a:defRPr>
                      </a:pPr>
                      <a:r>
                        <a:t>Of digital products architected for AI agents by 2029, with human UX secondary</a:t>
                      </a:r>
                    </a:p>
                  </a:txBody>
                  <a:tcPr>
                    <a:noFill/>
                  </a:tcPr>
                </a:tc>
                <a:tc>
                  <a:txBody>
                    <a:bodyPr/>
                    <a:lstStyle/>
                    <a:p>
                      <a:pPr>
                        <a:spcAft>
                          <a:spcPts val="200"/>
                        </a:spcAft>
                        <a:defRPr sz="1100">
                          <a:solidFill>
                            <a:srgbClr val="1A1A1A"/>
                          </a:solidFill>
                          <a:latin typeface="Helvetica Neue"/>
                        </a:defRPr>
                      </a:pPr>
                      <a:r>
                        <a:t>Of employees terminated by AI will be rehired at higher cost by 2029</a:t>
                      </a:r>
                    </a:p>
                  </a:txBody>
                  <a:tcPr>
                    <a:noFill/>
                  </a:tcPr>
                </a:tc>
                <a:extLst>
                  <a:ext uri="{0D108BD9-81ED-4DB2-BD59-A6C34878D82A}">
                    <a16:rowId xmlns:a16="http://schemas.microsoft.com/office/drawing/2014/main" val="10002"/>
                  </a:ext>
                </a:extLst>
              </a:tr>
              <a:tr h="685800">
                <a:tc>
                  <a:txBody>
                    <a:bodyPr/>
                    <a:lstStyle/>
                    <a:p>
                      <a:pPr>
                        <a:spcAft>
                          <a:spcPts val="200"/>
                        </a:spcAft>
                        <a:defRPr sz="1100">
                          <a:solidFill>
                            <a:srgbClr val="1A1A1A"/>
                          </a:solidFill>
                          <a:latin typeface="Helvetica Neue"/>
                        </a:defRPr>
                      </a:pPr>
                      <a:r>
                        <a:t>AI is not eliminating jobs — it is redesigning them at unprecedented scale</a:t>
                      </a:r>
                    </a:p>
                  </a:txBody>
                  <a:tcPr>
                    <a:noFill/>
                  </a:tcPr>
                </a:tc>
                <a:tc>
                  <a:txBody>
                    <a:bodyPr/>
                    <a:lstStyle/>
                    <a:p>
                      <a:pPr>
                        <a:spcAft>
                          <a:spcPts val="200"/>
                        </a:spcAft>
                        <a:defRPr sz="1100">
                          <a:solidFill>
                            <a:srgbClr val="1A1A1A"/>
                          </a:solidFill>
                          <a:latin typeface="Helvetica Neue"/>
                        </a:defRPr>
                      </a:pPr>
                      <a:r>
                        <a:t>Autonomous agents initiate, negotiate, and complete tasks without human input — requiring a new design paradigm centered on agent experience</a:t>
                      </a:r>
                    </a:p>
                  </a:txBody>
                  <a:tcPr>
                    <a:noFill/>
                  </a:tcPr>
                </a:tc>
                <a:tc>
                  <a:txBody>
                    <a:bodyPr/>
                    <a:lstStyle/>
                    <a:p>
                      <a:pPr>
                        <a:spcAft>
                          <a:spcPts val="200"/>
                        </a:spcAft>
                        <a:defRPr sz="1100">
                          <a:solidFill>
                            <a:srgbClr val="1A1A1A"/>
                          </a:solidFill>
                          <a:latin typeface="Helvetica Neue"/>
                        </a:defRPr>
                      </a:pPr>
                      <a:r>
                        <a:t>Ineffective workforce transition strategies create the very talent shortages they were meant to avoid</a:t>
                      </a:r>
                    </a:p>
                  </a:txBody>
                  <a:tcPr>
                    <a:noFill/>
                  </a:tcPr>
                </a:tc>
                <a:extLst>
                  <a:ext uri="{0D108BD9-81ED-4DB2-BD59-A6C34878D82A}">
                    <a16:rowId xmlns:a16="http://schemas.microsoft.com/office/drawing/2014/main" val="10003"/>
                  </a:ext>
                </a:extLst>
              </a:tr>
              <a:tr h="685800">
                <a:tc>
                  <a:txBody>
                    <a:bodyPr/>
                    <a:lstStyle/>
                    <a:p>
                      <a:pPr>
                        <a:spcAft>
                          <a:spcPts val="200"/>
                        </a:spcAft>
                        <a:defRPr sz="1100">
                          <a:solidFill>
                            <a:srgbClr val="1A1A1A"/>
                          </a:solidFill>
                          <a:latin typeface="Helvetica Neue"/>
                        </a:defRPr>
                      </a:pPr>
                      <a:r>
                        <a:t>39%</a:t>
                      </a:r>
                    </a:p>
                  </a:txBody>
                  <a:tcPr>
                    <a:noFill/>
                  </a:tcPr>
                </a:tc>
                <a:tc>
                  <a:txBody>
                    <a:bodyPr/>
                    <a:lstStyle/>
                    <a:p>
                      <a:pPr>
                        <a:spcAft>
                          <a:spcPts val="200"/>
                        </a:spcAft>
                        <a:defRPr sz="1100">
                          <a:solidFill>
                            <a:srgbClr val="1A1A1A"/>
                          </a:solidFill>
                          <a:latin typeface="Helvetica Neue"/>
                        </a:defRPr>
                      </a:pPr>
                      <a:r>
                        <a:t>2–5 years</a:t>
                      </a:r>
                    </a:p>
                  </a:txBody>
                  <a:tcPr>
                    <a:noFill/>
                  </a:tcPr>
                </a:tc>
                <a:tc>
                  <a:txBody>
                    <a:bodyPr/>
                    <a:lstStyle/>
                    <a:p>
                      <a:pPr>
                        <a:spcAft>
                          <a:spcPts val="200"/>
                        </a:spcAft>
                        <a:defRPr sz="1100">
                          <a:solidFill>
                            <a:srgbClr val="1A1A1A"/>
                          </a:solidFill>
                          <a:latin typeface="Helvetica Neue"/>
                        </a:defRPr>
                      </a:pPr>
                      <a:r>
                        <a:t>15%</a:t>
                      </a:r>
                    </a:p>
                  </a:txBody>
                  <a:tcPr>
                    <a:noFill/>
                  </a:tcPr>
                </a:tc>
                <a:extLst>
                  <a:ext uri="{0D108BD9-81ED-4DB2-BD59-A6C34878D82A}">
                    <a16:rowId xmlns:a16="http://schemas.microsoft.com/office/drawing/2014/main" val="10004"/>
                  </a:ext>
                </a:extLst>
              </a:tr>
              <a:tr h="685800">
                <a:tc>
                  <a:txBody>
                    <a:bodyPr/>
                    <a:lstStyle/>
                    <a:p>
                      <a:pPr>
                        <a:spcAft>
                          <a:spcPts val="200"/>
                        </a:spcAft>
                        <a:defRPr sz="1100">
                          <a:solidFill>
                            <a:srgbClr val="1A1A1A"/>
                          </a:solidFill>
                          <a:latin typeface="Helvetica Neue"/>
                        </a:defRPr>
                      </a:pPr>
                      <a:r>
                        <a:t>Of workers' core skills expected to change by 2030 (WEF Future of Jobs 2025)</a:t>
                      </a:r>
                    </a:p>
                  </a:txBody>
                  <a:tcPr>
                    <a:noFill/>
                  </a:tcPr>
                </a:tc>
                <a:tc>
                  <a:txBody>
                    <a:bodyPr/>
                    <a:lstStyle/>
                    <a:p>
                      <a:pPr>
                        <a:spcAft>
                          <a:spcPts val="200"/>
                        </a:spcAft>
                        <a:defRPr sz="1100">
                          <a:solidFill>
                            <a:srgbClr val="1A1A1A"/>
                          </a:solidFill>
                          <a:latin typeface="Helvetica Neue"/>
                        </a:defRPr>
                      </a:pPr>
                      <a:r>
                        <a:t>New half-life of technical skills by 2030 — down from 8–12 years</a:t>
                      </a:r>
                    </a:p>
                  </a:txBody>
                  <a:tcPr>
                    <a:noFill/>
                  </a:tcPr>
                </a:tc>
                <a:tc>
                  <a:txBody>
                    <a:bodyPr/>
                    <a:lstStyle/>
                    <a:p>
                      <a:pPr>
                        <a:spcAft>
                          <a:spcPts val="200"/>
                        </a:spcAft>
                        <a:defRPr sz="1100">
                          <a:solidFill>
                            <a:srgbClr val="1A1A1A"/>
                          </a:solidFill>
                          <a:latin typeface="Helvetica Neue"/>
                        </a:defRPr>
                      </a:pPr>
                      <a:r>
                        <a:t>Lower employee engagement when AI agents appear in org charts alongside humans</a:t>
                      </a:r>
                    </a:p>
                  </a:txBody>
                  <a:tcPr>
                    <a:noFill/>
                  </a:tcPr>
                </a:tc>
                <a:extLst>
                  <a:ext uri="{0D108BD9-81ED-4DB2-BD59-A6C34878D82A}">
                    <a16:rowId xmlns:a16="http://schemas.microsoft.com/office/drawing/2014/main" val="10005"/>
                  </a:ext>
                </a:extLst>
              </a:tr>
            </a:tbl>
          </a:graphicData>
        </a:graphic>
      </p:graphicFrame>
      <p:sp>
        <p:nvSpPr>
          <p:cNvPr id="5" name="TextBox 4"/>
          <p:cNvSpPr txBox="1"/>
          <p:nvPr/>
        </p:nvSpPr>
        <p:spPr>
          <a:xfrm>
            <a:off x="548640" y="5669280"/>
            <a:ext cx="10972800" cy="274320"/>
          </a:xfrm>
          <a:prstGeom prst="rect">
            <a:avLst/>
          </a:prstGeom>
          <a:noFill/>
        </p:spPr>
        <p:txBody>
          <a:bodyPr wrap="square">
            <a:spAutoFit/>
          </a:bodyPr>
          <a:lstStyle/>
          <a:p>
            <a:pPr algn="l">
              <a:defRPr sz="900" b="0" i="1">
                <a:solidFill>
                  <a:srgbClr val="888888"/>
                </a:solidFill>
                <a:latin typeface="Helvetica Neue"/>
              </a:defRPr>
            </a:pPr>
            <a:r>
              <a:t>Sources: Gartner (2025); World Economic Forum Future of Jobs Report (2025)</a:t>
            </a:r>
          </a:p>
        </p:txBody>
      </p:sp>
      <p:sp>
        <p:nvSpPr>
          <p:cNvPr id="6" name="TextBox 5"/>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7" name="TextBox 6"/>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48640"/>
          </a:xfrm>
          <a:prstGeom prst="rect">
            <a:avLst/>
          </a:prstGeom>
          <a:noFill/>
        </p:spPr>
        <p:txBody>
          <a:bodyPr wrap="square">
            <a:spAutoFit/>
          </a:bodyPr>
          <a:lstStyle/>
          <a:p>
            <a:pPr algn="l">
              <a:defRPr sz="2600" b="0" i="0">
                <a:solidFill>
                  <a:srgbClr val="000050"/>
                </a:solidFill>
                <a:latin typeface="Helvetica Neue"/>
              </a:defRPr>
            </a:pPr>
            <a:r>
              <a:t>Five Strategic Predictions That Will Redefine the Workforce by 2030</a:t>
            </a:r>
          </a:p>
        </p:txBody>
      </p:sp>
      <p:graphicFrame>
        <p:nvGraphicFramePr>
          <p:cNvPr id="3" name="Table 2"/>
          <p:cNvGraphicFramePr>
            <a:graphicFrameLocks noGrp="1"/>
          </p:cNvGraphicFramePr>
          <p:nvPr/>
        </p:nvGraphicFramePr>
        <p:xfrm>
          <a:off x="548640" y="1005840"/>
          <a:ext cx="10972800" cy="4572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4800600">
                  <a:extLst>
                    <a:ext uri="{9D8B030D-6E8A-4147-A177-3AD203B41FA5}">
                      <a16:colId xmlns:a16="http://schemas.microsoft.com/office/drawing/2014/main" val="20001"/>
                    </a:ext>
                  </a:extLst>
                </a:gridCol>
                <a:gridCol w="4800600">
                  <a:extLst>
                    <a:ext uri="{9D8B030D-6E8A-4147-A177-3AD203B41FA5}">
                      <a16:colId xmlns:a16="http://schemas.microsoft.com/office/drawing/2014/main" val="20002"/>
                    </a:ext>
                  </a:extLst>
                </a:gridCol>
              </a:tblGrid>
              <a:tr h="762000">
                <a:tc>
                  <a:txBody>
                    <a:bodyPr/>
                    <a:lstStyle/>
                    <a:p>
                      <a:pPr>
                        <a:spcAft>
                          <a:spcPts val="200"/>
                        </a:spcAft>
                        <a:defRPr sz="1100" b="1">
                          <a:solidFill>
                            <a:srgbClr val="000050"/>
                          </a:solidFill>
                          <a:latin typeface="Helvetica Neue"/>
                        </a:defRPr>
                      </a:pPr>
                      <a:r>
                        <a:t>By When</a:t>
                      </a:r>
                    </a:p>
                  </a:txBody>
                  <a:tcPr>
                    <a:solidFill>
                      <a:srgbClr val="DDDDF8"/>
                    </a:solidFill>
                  </a:tcPr>
                </a:tc>
                <a:tc>
                  <a:txBody>
                    <a:bodyPr/>
                    <a:lstStyle/>
                    <a:p>
                      <a:pPr>
                        <a:spcAft>
                          <a:spcPts val="200"/>
                        </a:spcAft>
                        <a:defRPr sz="1100" b="1">
                          <a:solidFill>
                            <a:srgbClr val="000050"/>
                          </a:solidFill>
                          <a:latin typeface="Helvetica Neue"/>
                        </a:defRPr>
                      </a:pPr>
                      <a:r>
                        <a:t>What Changes</a:t>
                      </a:r>
                    </a:p>
                  </a:txBody>
                  <a:tcPr>
                    <a:solidFill>
                      <a:srgbClr val="DDDDF8"/>
                    </a:solidFill>
                  </a:tcPr>
                </a:tc>
                <a:tc>
                  <a:txBody>
                    <a:bodyPr/>
                    <a:lstStyle/>
                    <a:p>
                      <a:pPr>
                        <a:spcAft>
                          <a:spcPts val="200"/>
                        </a:spcAft>
                        <a:defRPr sz="1100" b="1">
                          <a:solidFill>
                            <a:srgbClr val="000050"/>
                          </a:solidFill>
                          <a:latin typeface="Helvetica Neue"/>
                        </a:defRPr>
                      </a:pPr>
                      <a:r>
                        <a:t>Why It Matters</a:t>
                      </a:r>
                    </a:p>
                  </a:txBody>
                  <a:tcPr>
                    <a:solidFill>
                      <a:srgbClr val="DDDDF8"/>
                    </a:solidFill>
                  </a:tcPr>
                </a:tc>
                <a:extLst>
                  <a:ext uri="{0D108BD9-81ED-4DB2-BD59-A6C34878D82A}">
                    <a16:rowId xmlns:a16="http://schemas.microsoft.com/office/drawing/2014/main" val="10000"/>
                  </a:ext>
                </a:extLst>
              </a:tr>
              <a:tr h="762000">
                <a:tc>
                  <a:txBody>
                    <a:bodyPr/>
                    <a:lstStyle/>
                    <a:p>
                      <a:pPr>
                        <a:spcAft>
                          <a:spcPts val="200"/>
                        </a:spcAft>
                        <a:defRPr sz="1100">
                          <a:solidFill>
                            <a:srgbClr val="1A1A1A"/>
                          </a:solidFill>
                          <a:latin typeface="Helvetica Neue"/>
                        </a:defRPr>
                      </a:pPr>
                      <a:r>
                        <a:t>2030</a:t>
                      </a:r>
                    </a:p>
                  </a:txBody>
                  <a:tcPr>
                    <a:noFill/>
                  </a:tcPr>
                </a:tc>
                <a:tc>
                  <a:txBody>
                    <a:bodyPr/>
                    <a:lstStyle/>
                    <a:p>
                      <a:pPr>
                        <a:spcAft>
                          <a:spcPts val="200"/>
                        </a:spcAft>
                        <a:defRPr sz="1100">
                          <a:solidFill>
                            <a:srgbClr val="1A1A1A"/>
                          </a:solidFill>
                          <a:latin typeface="Helvetica Neue"/>
                        </a:defRPr>
                      </a:pPr>
                      <a:r>
                        <a:t>Half-life of technical skills shrinks to 2–5 years (from 8–12)</a:t>
                      </a:r>
                    </a:p>
                  </a:txBody>
                  <a:tcPr>
                    <a:noFill/>
                  </a:tcPr>
                </a:tc>
                <a:tc>
                  <a:txBody>
                    <a:bodyPr/>
                    <a:lstStyle/>
                    <a:p>
                      <a:pPr>
                        <a:spcAft>
                          <a:spcPts val="200"/>
                        </a:spcAft>
                        <a:defRPr sz="1100">
                          <a:solidFill>
                            <a:srgbClr val="1A1A1A"/>
                          </a:solidFill>
                          <a:latin typeface="Helvetica Neue"/>
                        </a:defRPr>
                      </a:pPr>
                      <a:r>
                        <a:t>Adaptability and learning velocity become the primary hiring metric — not credentials</a:t>
                      </a:r>
                    </a:p>
                  </a:txBody>
                  <a:tcPr>
                    <a:noFill/>
                  </a:tcPr>
                </a:tc>
                <a:extLst>
                  <a:ext uri="{0D108BD9-81ED-4DB2-BD59-A6C34878D82A}">
                    <a16:rowId xmlns:a16="http://schemas.microsoft.com/office/drawing/2014/main" val="10001"/>
                  </a:ext>
                </a:extLst>
              </a:tr>
              <a:tr h="762000">
                <a:tc>
                  <a:txBody>
                    <a:bodyPr/>
                    <a:lstStyle/>
                    <a:p>
                      <a:pPr>
                        <a:spcAft>
                          <a:spcPts val="200"/>
                        </a:spcAft>
                        <a:defRPr sz="1100">
                          <a:solidFill>
                            <a:srgbClr val="1A1A1A"/>
                          </a:solidFill>
                          <a:latin typeface="Helvetica Neue"/>
                        </a:defRPr>
                      </a:pPr>
                      <a:r>
                        <a:t>2029</a:t>
                      </a:r>
                    </a:p>
                  </a:txBody>
                  <a:tcPr>
                    <a:noFill/>
                  </a:tcPr>
                </a:tc>
                <a:tc>
                  <a:txBody>
                    <a:bodyPr/>
                    <a:lstStyle/>
                    <a:p>
                      <a:pPr>
                        <a:spcAft>
                          <a:spcPts val="200"/>
                        </a:spcAft>
                        <a:defRPr sz="1100">
                          <a:solidFill>
                            <a:srgbClr val="1A1A1A"/>
                          </a:solidFill>
                          <a:latin typeface="Helvetica Neue"/>
                        </a:defRPr>
                      </a:pPr>
                      <a:r>
                        <a:t>60% of digital products architected primarily for AI agent consumption</a:t>
                      </a:r>
                    </a:p>
                  </a:txBody>
                  <a:tcPr>
                    <a:noFill/>
                  </a:tcPr>
                </a:tc>
                <a:tc>
                  <a:txBody>
                    <a:bodyPr/>
                    <a:lstStyle/>
                    <a:p>
                      <a:pPr>
                        <a:spcAft>
                          <a:spcPts val="200"/>
                        </a:spcAft>
                        <a:defRPr sz="1100">
                          <a:solidFill>
                            <a:srgbClr val="1A1A1A"/>
                          </a:solidFill>
                          <a:latin typeface="Helvetica Neue"/>
                        </a:defRPr>
                      </a:pPr>
                      <a:r>
                        <a:t>Human-facing UX becomes secondary; CIOs must evolve toward agent experience design</a:t>
                      </a:r>
                    </a:p>
                  </a:txBody>
                  <a:tcPr>
                    <a:noFill/>
                  </a:tcPr>
                </a:tc>
                <a:extLst>
                  <a:ext uri="{0D108BD9-81ED-4DB2-BD59-A6C34878D82A}">
                    <a16:rowId xmlns:a16="http://schemas.microsoft.com/office/drawing/2014/main" val="10002"/>
                  </a:ext>
                </a:extLst>
              </a:tr>
              <a:tr h="762000">
                <a:tc>
                  <a:txBody>
                    <a:bodyPr/>
                    <a:lstStyle/>
                    <a:p>
                      <a:pPr>
                        <a:spcAft>
                          <a:spcPts val="200"/>
                        </a:spcAft>
                        <a:defRPr sz="1100">
                          <a:solidFill>
                            <a:srgbClr val="1A1A1A"/>
                          </a:solidFill>
                          <a:latin typeface="Helvetica Neue"/>
                        </a:defRPr>
                      </a:pPr>
                      <a:r>
                        <a:t>2029</a:t>
                      </a:r>
                    </a:p>
                  </a:txBody>
                  <a:tcPr>
                    <a:noFill/>
                  </a:tcPr>
                </a:tc>
                <a:tc>
                  <a:txBody>
                    <a:bodyPr/>
                    <a:lstStyle/>
                    <a:p>
                      <a:pPr>
                        <a:spcAft>
                          <a:spcPts val="200"/>
                        </a:spcAft>
                        <a:defRPr sz="1100">
                          <a:solidFill>
                            <a:srgbClr val="1A1A1A"/>
                          </a:solidFill>
                          <a:latin typeface="Helvetica Neue"/>
                        </a:defRPr>
                      </a:pPr>
                      <a:r>
                        <a:t>30% of employees terminated and replaced by AI will be rehired — often at higher cost</a:t>
                      </a:r>
                    </a:p>
                  </a:txBody>
                  <a:tcPr>
                    <a:noFill/>
                  </a:tcPr>
                </a:tc>
                <a:tc>
                  <a:txBody>
                    <a:bodyPr/>
                    <a:lstStyle/>
                    <a:p>
                      <a:pPr>
                        <a:spcAft>
                          <a:spcPts val="200"/>
                        </a:spcAft>
                        <a:defRPr sz="1100">
                          <a:solidFill>
                            <a:srgbClr val="1A1A1A"/>
                          </a:solidFill>
                          <a:latin typeface="Helvetica Neue"/>
                        </a:defRPr>
                      </a:pPr>
                      <a:r>
                        <a:t>Ineffective workforce transitions create acute skill shortages and drive up acquisition cost</a:t>
                      </a:r>
                    </a:p>
                  </a:txBody>
                  <a:tcPr>
                    <a:noFill/>
                  </a:tcPr>
                </a:tc>
                <a:extLst>
                  <a:ext uri="{0D108BD9-81ED-4DB2-BD59-A6C34878D82A}">
                    <a16:rowId xmlns:a16="http://schemas.microsoft.com/office/drawing/2014/main" val="10003"/>
                  </a:ext>
                </a:extLst>
              </a:tr>
              <a:tr h="762000">
                <a:tc>
                  <a:txBody>
                    <a:bodyPr/>
                    <a:lstStyle/>
                    <a:p>
                      <a:pPr>
                        <a:spcAft>
                          <a:spcPts val="200"/>
                        </a:spcAft>
                        <a:defRPr sz="1100">
                          <a:solidFill>
                            <a:srgbClr val="1A1A1A"/>
                          </a:solidFill>
                          <a:latin typeface="Helvetica Neue"/>
                        </a:defRPr>
                      </a:pPr>
                      <a:r>
                        <a:t>2028</a:t>
                      </a:r>
                    </a:p>
                  </a:txBody>
                  <a:tcPr>
                    <a:noFill/>
                  </a:tcPr>
                </a:tc>
                <a:tc>
                  <a:txBody>
                    <a:bodyPr/>
                    <a:lstStyle/>
                    <a:p>
                      <a:pPr>
                        <a:spcAft>
                          <a:spcPts val="200"/>
                        </a:spcAft>
                        <a:defRPr sz="1100">
                          <a:solidFill>
                            <a:srgbClr val="1A1A1A"/>
                          </a:solidFill>
                          <a:latin typeface="Helvetica Neue"/>
                        </a:defRPr>
                      </a:pPr>
                      <a:r>
                        <a:t>At least one large enterprise will claim the right to create AI avatars of all employees</a:t>
                      </a:r>
                    </a:p>
                  </a:txBody>
                  <a:tcPr>
                    <a:noFill/>
                  </a:tcPr>
                </a:tc>
                <a:tc>
                  <a:txBody>
                    <a:bodyPr/>
                    <a:lstStyle/>
                    <a:p>
                      <a:pPr>
                        <a:spcAft>
                          <a:spcPts val="200"/>
                        </a:spcAft>
                        <a:defRPr sz="1100">
                          <a:solidFill>
                            <a:srgbClr val="1A1A1A"/>
                          </a:solidFill>
                          <a:latin typeface="Helvetica Neue"/>
                        </a:defRPr>
                      </a:pPr>
                      <a:r>
                        <a:t>Employment contracts must address digital identity, knowledge replication, and consent</a:t>
                      </a:r>
                    </a:p>
                  </a:txBody>
                  <a:tcPr>
                    <a:noFill/>
                  </a:tcPr>
                </a:tc>
                <a:extLst>
                  <a:ext uri="{0D108BD9-81ED-4DB2-BD59-A6C34878D82A}">
                    <a16:rowId xmlns:a16="http://schemas.microsoft.com/office/drawing/2014/main" val="10004"/>
                  </a:ext>
                </a:extLst>
              </a:tr>
              <a:tr h="762000">
                <a:tc>
                  <a:txBody>
                    <a:bodyPr/>
                    <a:lstStyle/>
                    <a:p>
                      <a:pPr>
                        <a:spcAft>
                          <a:spcPts val="200"/>
                        </a:spcAft>
                        <a:defRPr sz="1100">
                          <a:solidFill>
                            <a:srgbClr val="1A1A1A"/>
                          </a:solidFill>
                          <a:latin typeface="Helvetica Neue"/>
                        </a:defRPr>
                      </a:pPr>
                      <a:r>
                        <a:t>2028</a:t>
                      </a:r>
                    </a:p>
                  </a:txBody>
                  <a:tcPr>
                    <a:noFill/>
                  </a:tcPr>
                </a:tc>
                <a:tc>
                  <a:txBody>
                    <a:bodyPr/>
                    <a:lstStyle/>
                    <a:p>
                      <a:pPr>
                        <a:spcAft>
                          <a:spcPts val="200"/>
                        </a:spcAft>
                        <a:defRPr sz="1100">
                          <a:solidFill>
                            <a:srgbClr val="1A1A1A"/>
                          </a:solidFill>
                          <a:latin typeface="Helvetica Neue"/>
                        </a:defRPr>
                      </a:pPr>
                      <a:r>
                        <a:t>Organizations displaying AI agents in team structures will have 15% lower engagement</a:t>
                      </a:r>
                    </a:p>
                  </a:txBody>
                  <a:tcPr>
                    <a:noFill/>
                  </a:tcPr>
                </a:tc>
                <a:tc>
                  <a:txBody>
                    <a:bodyPr/>
                    <a:lstStyle/>
                    <a:p>
                      <a:pPr>
                        <a:spcAft>
                          <a:spcPts val="200"/>
                        </a:spcAft>
                        <a:defRPr sz="1100">
                          <a:solidFill>
                            <a:srgbClr val="1A1A1A"/>
                          </a:solidFill>
                          <a:latin typeface="Helvetica Neue"/>
                        </a:defRPr>
                      </a:pPr>
                      <a:r>
                        <a:t>AI agents belong in governed IAM/HR systems — not in org charts alongside employees</a:t>
                      </a:r>
                    </a:p>
                  </a:txBody>
                  <a:tcPr>
                    <a:no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5760720"/>
            <a:ext cx="10972800" cy="274320"/>
          </a:xfrm>
          <a:prstGeom prst="rect">
            <a:avLst/>
          </a:prstGeom>
          <a:noFill/>
        </p:spPr>
        <p:txBody>
          <a:bodyPr wrap="square">
            <a:spAutoFit/>
          </a:bodyPr>
          <a:lstStyle/>
          <a:p>
            <a:pPr algn="l">
              <a:defRPr sz="900" b="0" i="1">
                <a:solidFill>
                  <a:srgbClr val="888888"/>
                </a:solidFill>
                <a:latin typeface="Helvetica Neue"/>
              </a:defRPr>
            </a:pPr>
            <a:r>
              <a:t>Source: Gartner Strategic Planning Assumptions (2025)</a:t>
            </a:r>
          </a:p>
        </p:txBody>
      </p:sp>
      <p:sp>
        <p:nvSpPr>
          <p:cNvPr id="5" name="TextBox 4"/>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6" name="TextBox 5"/>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48640"/>
          </a:xfrm>
          <a:prstGeom prst="rect">
            <a:avLst/>
          </a:prstGeom>
          <a:noFill/>
        </p:spPr>
        <p:txBody>
          <a:bodyPr wrap="square">
            <a:spAutoFit/>
          </a:bodyPr>
          <a:lstStyle/>
          <a:p>
            <a:pPr algn="l">
              <a:defRPr sz="2800" b="0" i="0">
                <a:solidFill>
                  <a:srgbClr val="000050"/>
                </a:solidFill>
                <a:latin typeface="Helvetica Neue"/>
              </a:defRPr>
            </a:pPr>
            <a:r>
              <a:t>Four Actions to Future-Proof the Workforce</a:t>
            </a:r>
          </a:p>
        </p:txBody>
      </p:sp>
      <p:sp>
        <p:nvSpPr>
          <p:cNvPr id="3" name="Rectangle 2"/>
          <p:cNvSpPr/>
          <p:nvPr/>
        </p:nvSpPr>
        <p:spPr>
          <a:xfrm>
            <a:off x="548640" y="1005840"/>
            <a:ext cx="10972800" cy="105156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051560"/>
            <a:ext cx="8229600" cy="320040"/>
          </a:xfrm>
          <a:prstGeom prst="rect">
            <a:avLst/>
          </a:prstGeom>
          <a:noFill/>
        </p:spPr>
        <p:txBody>
          <a:bodyPr wrap="square">
            <a:spAutoFit/>
          </a:bodyPr>
          <a:lstStyle/>
          <a:p>
            <a:pPr algn="l">
              <a:defRPr sz="1500" b="1" i="0">
                <a:solidFill>
                  <a:srgbClr val="000050"/>
                </a:solidFill>
                <a:latin typeface="Helvetica Neue"/>
              </a:defRPr>
            </a:pPr>
            <a:r>
              <a:t>Invest in adaptive learning systems</a:t>
            </a:r>
          </a:p>
        </p:txBody>
      </p:sp>
      <p:sp>
        <p:nvSpPr>
          <p:cNvPr id="5" name="TextBox 4"/>
          <p:cNvSpPr txBox="1"/>
          <p:nvPr/>
        </p:nvSpPr>
        <p:spPr>
          <a:xfrm>
            <a:off x="914400" y="1371600"/>
            <a:ext cx="9601200" cy="411480"/>
          </a:xfrm>
          <a:prstGeom prst="rect">
            <a:avLst/>
          </a:prstGeom>
          <a:noFill/>
        </p:spPr>
        <p:txBody>
          <a:bodyPr wrap="square">
            <a:spAutoFit/>
          </a:bodyPr>
          <a:lstStyle/>
          <a:p>
            <a:pPr algn="l">
              <a:defRPr sz="1100" b="0" i="0">
                <a:solidFill>
                  <a:srgbClr val="1A1A1A"/>
                </a:solidFill>
                <a:latin typeface="Helvetica Neue"/>
              </a:defRPr>
            </a:pPr>
            <a:r>
              <a:t>Personalize learning programs, proactively recommend microlearning courses, verify skills in real time — replace annual training with continuous capability development.</a:t>
            </a:r>
          </a:p>
        </p:txBody>
      </p:sp>
      <p:sp>
        <p:nvSpPr>
          <p:cNvPr id="6" name="TextBox 5"/>
          <p:cNvSpPr txBox="1"/>
          <p:nvPr/>
        </p:nvSpPr>
        <p:spPr>
          <a:xfrm>
            <a:off x="914400" y="1783080"/>
            <a:ext cx="9144000" cy="228600"/>
          </a:xfrm>
          <a:prstGeom prst="rect">
            <a:avLst/>
          </a:prstGeom>
          <a:noFill/>
        </p:spPr>
        <p:txBody>
          <a:bodyPr wrap="square">
            <a:spAutoFit/>
          </a:bodyPr>
          <a:lstStyle/>
          <a:p>
            <a:pPr algn="l">
              <a:defRPr sz="1000" b="1" i="0">
                <a:solidFill>
                  <a:srgbClr val="3333AA"/>
                </a:solidFill>
                <a:latin typeface="Helvetica Neue"/>
              </a:defRPr>
            </a:pPr>
            <a:r>
              <a:t>Leads: CHRO + CIO</a:t>
            </a:r>
          </a:p>
        </p:txBody>
      </p:sp>
      <p:sp>
        <p:nvSpPr>
          <p:cNvPr id="7" name="Rectangle 6"/>
          <p:cNvSpPr/>
          <p:nvPr/>
        </p:nvSpPr>
        <p:spPr>
          <a:xfrm>
            <a:off x="548640" y="2194560"/>
            <a:ext cx="10972800" cy="105156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240280"/>
            <a:ext cx="8229600" cy="320040"/>
          </a:xfrm>
          <a:prstGeom prst="rect">
            <a:avLst/>
          </a:prstGeom>
          <a:noFill/>
        </p:spPr>
        <p:txBody>
          <a:bodyPr wrap="square">
            <a:spAutoFit/>
          </a:bodyPr>
          <a:lstStyle/>
          <a:p>
            <a:pPr algn="l">
              <a:defRPr sz="1500" b="1" i="0">
                <a:solidFill>
                  <a:srgbClr val="000050"/>
                </a:solidFill>
                <a:latin typeface="Helvetica Neue"/>
              </a:defRPr>
            </a:pPr>
            <a:r>
              <a:t>Redesign for human-agent collaboration</a:t>
            </a:r>
          </a:p>
        </p:txBody>
      </p:sp>
      <p:sp>
        <p:nvSpPr>
          <p:cNvPr id="9" name="TextBox 8"/>
          <p:cNvSpPr txBox="1"/>
          <p:nvPr/>
        </p:nvSpPr>
        <p:spPr>
          <a:xfrm>
            <a:off x="914400" y="2560320"/>
            <a:ext cx="9601200" cy="411480"/>
          </a:xfrm>
          <a:prstGeom prst="rect">
            <a:avLst/>
          </a:prstGeom>
          <a:noFill/>
        </p:spPr>
        <p:txBody>
          <a:bodyPr wrap="square">
            <a:spAutoFit/>
          </a:bodyPr>
          <a:lstStyle/>
          <a:p>
            <a:pPr algn="l">
              <a:defRPr sz="1100" b="0" i="0">
                <a:solidFill>
                  <a:srgbClr val="1A1A1A"/>
                </a:solidFill>
                <a:latin typeface="Helvetica Neue"/>
              </a:defRPr>
            </a:pPr>
            <a:r>
              <a:t>Train UX and engineering teams to build workflows where human judgment integrates with AI-driven actions — and that can eventually support machine-to-machine interactions.</a:t>
            </a:r>
          </a:p>
        </p:txBody>
      </p:sp>
      <p:sp>
        <p:nvSpPr>
          <p:cNvPr id="10" name="TextBox 9"/>
          <p:cNvSpPr txBox="1"/>
          <p:nvPr/>
        </p:nvSpPr>
        <p:spPr>
          <a:xfrm>
            <a:off x="914400" y="2971800"/>
            <a:ext cx="9144000" cy="228600"/>
          </a:xfrm>
          <a:prstGeom prst="rect">
            <a:avLst/>
          </a:prstGeom>
          <a:noFill/>
        </p:spPr>
        <p:txBody>
          <a:bodyPr wrap="square">
            <a:spAutoFit/>
          </a:bodyPr>
          <a:lstStyle/>
          <a:p>
            <a:pPr algn="l">
              <a:defRPr sz="1000" b="1" i="0">
                <a:solidFill>
                  <a:srgbClr val="3333AA"/>
                </a:solidFill>
                <a:latin typeface="Helvetica Neue"/>
              </a:defRPr>
            </a:pPr>
            <a:r>
              <a:t>Leads: CTO + UX Leadership</a:t>
            </a:r>
          </a:p>
        </p:txBody>
      </p:sp>
      <p:sp>
        <p:nvSpPr>
          <p:cNvPr id="11" name="Rectangle 10"/>
          <p:cNvSpPr/>
          <p:nvPr/>
        </p:nvSpPr>
        <p:spPr>
          <a:xfrm>
            <a:off x="548640" y="3383280"/>
            <a:ext cx="10972800" cy="105156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429000"/>
            <a:ext cx="8229600" cy="320040"/>
          </a:xfrm>
          <a:prstGeom prst="rect">
            <a:avLst/>
          </a:prstGeom>
          <a:noFill/>
        </p:spPr>
        <p:txBody>
          <a:bodyPr wrap="square">
            <a:spAutoFit/>
          </a:bodyPr>
          <a:lstStyle/>
          <a:p>
            <a:pPr algn="l">
              <a:defRPr sz="1500" b="1" i="0">
                <a:solidFill>
                  <a:srgbClr val="000050"/>
                </a:solidFill>
                <a:latin typeface="Helvetica Neue"/>
              </a:defRPr>
            </a:pPr>
            <a:r>
              <a:t>Architect the talent remix</a:t>
            </a:r>
          </a:p>
        </p:txBody>
      </p:sp>
      <p:sp>
        <p:nvSpPr>
          <p:cNvPr id="13" name="TextBox 12"/>
          <p:cNvSpPr txBox="1"/>
          <p:nvPr/>
        </p:nvSpPr>
        <p:spPr>
          <a:xfrm>
            <a:off x="914400" y="3749040"/>
            <a:ext cx="9601200" cy="411480"/>
          </a:xfrm>
          <a:prstGeom prst="rect">
            <a:avLst/>
          </a:prstGeom>
          <a:noFill/>
        </p:spPr>
        <p:txBody>
          <a:bodyPr wrap="square">
            <a:spAutoFit/>
          </a:bodyPr>
          <a:lstStyle/>
          <a:p>
            <a:pPr algn="l">
              <a:defRPr sz="1100" b="0" i="0">
                <a:solidFill>
                  <a:srgbClr val="1A1A1A"/>
                </a:solidFill>
                <a:latin typeface="Helvetica Neue"/>
              </a:defRPr>
            </a:pPr>
            <a:r>
              <a:t>Partner with HR to redefine roles, skills, and workforce design to realize AI ambitions — any workforce restructuring decision must flow from this talent strategy, not precede it.</a:t>
            </a:r>
          </a:p>
        </p:txBody>
      </p:sp>
      <p:sp>
        <p:nvSpPr>
          <p:cNvPr id="14" name="TextBox 13"/>
          <p:cNvSpPr txBox="1"/>
          <p:nvPr/>
        </p:nvSpPr>
        <p:spPr>
          <a:xfrm>
            <a:off x="914400" y="4160520"/>
            <a:ext cx="9144000" cy="228600"/>
          </a:xfrm>
          <a:prstGeom prst="rect">
            <a:avLst/>
          </a:prstGeom>
          <a:noFill/>
        </p:spPr>
        <p:txBody>
          <a:bodyPr wrap="square">
            <a:spAutoFit/>
          </a:bodyPr>
          <a:lstStyle/>
          <a:p>
            <a:pPr algn="l">
              <a:defRPr sz="1000" b="1" i="0">
                <a:solidFill>
                  <a:srgbClr val="3333AA"/>
                </a:solidFill>
                <a:latin typeface="Helvetica Neue"/>
              </a:defRPr>
            </a:pPr>
            <a:r>
              <a:t>Leads: CIO + CHRO</a:t>
            </a:r>
          </a:p>
        </p:txBody>
      </p:sp>
      <p:sp>
        <p:nvSpPr>
          <p:cNvPr id="15" name="Rectangle 14"/>
          <p:cNvSpPr/>
          <p:nvPr/>
        </p:nvSpPr>
        <p:spPr>
          <a:xfrm>
            <a:off x="548640" y="4572000"/>
            <a:ext cx="10972800" cy="105156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4617720"/>
            <a:ext cx="8229600" cy="320040"/>
          </a:xfrm>
          <a:prstGeom prst="rect">
            <a:avLst/>
          </a:prstGeom>
          <a:noFill/>
        </p:spPr>
        <p:txBody>
          <a:bodyPr wrap="square">
            <a:spAutoFit/>
          </a:bodyPr>
          <a:lstStyle/>
          <a:p>
            <a:pPr algn="l">
              <a:defRPr sz="1500" b="1" i="0">
                <a:solidFill>
                  <a:srgbClr val="000050"/>
                </a:solidFill>
                <a:latin typeface="Helvetica Neue"/>
              </a:defRPr>
            </a:pPr>
            <a:r>
              <a:t>Lead on digital identity governance</a:t>
            </a:r>
          </a:p>
        </p:txBody>
      </p:sp>
      <p:sp>
        <p:nvSpPr>
          <p:cNvPr id="17" name="TextBox 16"/>
          <p:cNvSpPr txBox="1"/>
          <p:nvPr/>
        </p:nvSpPr>
        <p:spPr>
          <a:xfrm>
            <a:off x="914400" y="4937760"/>
            <a:ext cx="9601200" cy="411480"/>
          </a:xfrm>
          <a:prstGeom prst="rect">
            <a:avLst/>
          </a:prstGeom>
          <a:noFill/>
        </p:spPr>
        <p:txBody>
          <a:bodyPr wrap="square">
            <a:spAutoFit/>
          </a:bodyPr>
          <a:lstStyle/>
          <a:p>
            <a:pPr algn="l">
              <a:defRPr sz="1100" b="0" i="0">
                <a:solidFill>
                  <a:srgbClr val="1A1A1A"/>
                </a:solidFill>
                <a:latin typeface="Helvetica Neue"/>
              </a:defRPr>
            </a:pPr>
            <a:r>
              <a:t>Drive enterprisewide dialogue on responsible use of employee data in AI and digital avatars — stress-test employment contracts now for scenarios where AI replicates human skill.</a:t>
            </a:r>
          </a:p>
        </p:txBody>
      </p:sp>
      <p:sp>
        <p:nvSpPr>
          <p:cNvPr id="18" name="TextBox 17"/>
          <p:cNvSpPr txBox="1"/>
          <p:nvPr/>
        </p:nvSpPr>
        <p:spPr>
          <a:xfrm>
            <a:off x="914400" y="5349240"/>
            <a:ext cx="9144000" cy="228600"/>
          </a:xfrm>
          <a:prstGeom prst="rect">
            <a:avLst/>
          </a:prstGeom>
          <a:noFill/>
        </p:spPr>
        <p:txBody>
          <a:bodyPr wrap="square">
            <a:spAutoFit/>
          </a:bodyPr>
          <a:lstStyle/>
          <a:p>
            <a:pPr algn="l">
              <a:defRPr sz="1000" b="1" i="0">
                <a:solidFill>
                  <a:srgbClr val="3333AA"/>
                </a:solidFill>
                <a:latin typeface="Helvetica Neue"/>
              </a:defRPr>
            </a:pPr>
            <a:r>
              <a:t>Leads: CIO + General Counsel + HR</a:t>
            </a:r>
          </a:p>
        </p:txBody>
      </p:sp>
      <p:sp>
        <p:nvSpPr>
          <p:cNvPr id="19" name="Rectangle 18"/>
          <p:cNvSpPr/>
          <p:nvPr/>
        </p:nvSpPr>
        <p:spPr>
          <a:xfrm>
            <a:off x="548640" y="5806440"/>
            <a:ext cx="10972800" cy="41148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852160"/>
            <a:ext cx="10058400" cy="320040"/>
          </a:xfrm>
          <a:prstGeom prst="rect">
            <a:avLst/>
          </a:prstGeom>
          <a:noFill/>
        </p:spPr>
        <p:txBody>
          <a:bodyPr wrap="square">
            <a:spAutoFit/>
          </a:bodyPr>
          <a:lstStyle/>
          <a:p>
            <a:pPr algn="l">
              <a:defRPr sz="1300" b="1" i="1">
                <a:solidFill>
                  <a:srgbClr val="FFFFFF"/>
                </a:solidFill>
                <a:latin typeface="Helvetica Neue"/>
              </a:defRPr>
            </a:pPr>
            <a:r>
              <a:t>The CIO’s mandate: create a symbiotic relationship between humans and machines before competitors do.</a:t>
            </a:r>
          </a:p>
        </p:txBody>
      </p:sp>
      <p:sp>
        <p:nvSpPr>
          <p:cNvPr id="21" name="TextBox 20"/>
          <p:cNvSpPr txBox="1"/>
          <p:nvPr/>
        </p:nvSpPr>
        <p:spPr>
          <a:xfrm>
            <a:off x="548640" y="6263640"/>
            <a:ext cx="10972800" cy="228600"/>
          </a:xfrm>
          <a:prstGeom prst="rect">
            <a:avLst/>
          </a:prstGeom>
          <a:noFill/>
        </p:spPr>
        <p:txBody>
          <a:bodyPr wrap="square">
            <a:spAutoFit/>
          </a:bodyPr>
          <a:lstStyle/>
          <a:p>
            <a:pPr algn="l">
              <a:defRPr sz="900" b="0" i="1">
                <a:solidFill>
                  <a:srgbClr val="888888"/>
                </a:solidFill>
                <a:latin typeface="Helvetica Neue"/>
              </a:defRPr>
            </a:pPr>
            <a:r>
              <a:t>Source: Gartner (2025)</a:t>
            </a:r>
          </a:p>
        </p:txBody>
      </p:sp>
      <p:sp>
        <p:nvSpPr>
          <p:cNvPr id="22" name="TextBox 21"/>
          <p:cNvSpPr txBox="1"/>
          <p:nvPr/>
        </p:nvSpPr>
        <p:spPr>
          <a:xfrm>
            <a:off x="4372495" y="6543502"/>
            <a:ext cx="7315200" cy="365760"/>
          </a:xfrm>
          <a:prstGeom prst="rect">
            <a:avLst/>
          </a:prstGeom>
          <a:noFill/>
        </p:spPr>
        <p:txBody>
          <a:bodyPr wrap="none">
            <a:spAutoFit/>
          </a:bodyPr>
          <a:lstStyle/>
          <a:p>
            <a:pPr>
              <a:defRPr sz="900" i="1">
                <a:solidFill>
                  <a:srgbClr val="888888"/>
                </a:solidFill>
              </a:defRPr>
            </a:pPr>
            <a:r>
              <a:rPr dirty="0"/>
              <a:t>Proprietary and confidential — do not distribute</a:t>
            </a:r>
          </a:p>
        </p:txBody>
      </p:sp>
      <p:sp>
        <p:nvSpPr>
          <p:cNvPr id="23" name="TextBox 22"/>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1285</Words>
  <Application>Microsoft Macintosh PowerPoint</Application>
  <PresentationFormat>Widescreen</PresentationFormat>
  <Paragraphs>70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Gundlapalli, Lalitha</cp:lastModifiedBy>
  <cp:revision>2</cp:revision>
  <dcterms:created xsi:type="dcterms:W3CDTF">2013-01-27T09:14:16Z</dcterms:created>
  <dcterms:modified xsi:type="dcterms:W3CDTF">2026-04-24T22:56:13Z</dcterms:modified>
  <cp:category/>
</cp:coreProperties>
</file>