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4"/>
    <p:sldMasterId id="2147483952" r:id="rId5"/>
    <p:sldMasterId id="2147483969" r:id="rId6"/>
  </p:sldMasterIdLst>
  <p:notesMasterIdLst>
    <p:notesMasterId r:id="rId30"/>
  </p:notesMasterIdLst>
  <p:handoutMasterIdLst>
    <p:handoutMasterId r:id="rId31"/>
  </p:handoutMasterIdLst>
  <p:sldIdLst>
    <p:sldId id="256" r:id="rId7"/>
    <p:sldId id="2147483517" r:id="rId8"/>
    <p:sldId id="2147483509" r:id="rId9"/>
    <p:sldId id="2147483522" r:id="rId10"/>
    <p:sldId id="323" r:id="rId11"/>
    <p:sldId id="319" r:id="rId12"/>
    <p:sldId id="320" r:id="rId13"/>
    <p:sldId id="2147483504" r:id="rId14"/>
    <p:sldId id="2141413205" r:id="rId15"/>
    <p:sldId id="2147483521" r:id="rId16"/>
    <p:sldId id="322" r:id="rId17"/>
    <p:sldId id="2147483512" r:id="rId18"/>
    <p:sldId id="2147483511" r:id="rId19"/>
    <p:sldId id="2147483514" r:id="rId20"/>
    <p:sldId id="2147483520" r:id="rId21"/>
    <p:sldId id="287" r:id="rId22"/>
    <p:sldId id="2147483523" r:id="rId23"/>
    <p:sldId id="290" r:id="rId24"/>
    <p:sldId id="291" r:id="rId25"/>
    <p:sldId id="2147483515" r:id="rId26"/>
    <p:sldId id="2141413207" r:id="rId27"/>
    <p:sldId id="2141413190" r:id="rId28"/>
    <p:sldId id="2141413193" r:id="rId29"/>
  </p:sldIdLst>
  <p:sldSz cx="12192000" cy="6858000"/>
  <p:notesSz cx="6858000" cy="9144000"/>
  <p:embeddedFontLst>
    <p:embeddedFont>
      <p:font typeface="Gartner Sans" panose="020B0504030402040204" pitchFamily="34" charset="0"/>
      <p:regular r:id="rId32"/>
      <p:bold r:id="rId33"/>
      <p:italic r:id="rId34"/>
      <p:boldItalic r:id="rId35"/>
    </p:embeddedFont>
    <p:embeddedFont>
      <p:font typeface="Gartner Sans Semibold" panose="020B0704030402040204" pitchFamily="34" charset="0"/>
      <p:regular r:id="rId36"/>
      <p:bold r:id="rId37"/>
      <p:italic r:id="rId38"/>
      <p:boldItalic r:id="rId39"/>
    </p:embeddedFont>
    <p:embeddedFont>
      <p:font typeface="Segoe UI" panose="020B0502040204020203" pitchFamily="34" charset="0"/>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3517"/>
            <p14:sldId id="2147483509"/>
            <p14:sldId id="2147483522"/>
            <p14:sldId id="323"/>
            <p14:sldId id="319"/>
            <p14:sldId id="320"/>
            <p14:sldId id="2147483504"/>
            <p14:sldId id="2141413205"/>
            <p14:sldId id="2147483521"/>
            <p14:sldId id="322"/>
            <p14:sldId id="2147483512"/>
            <p14:sldId id="2147483511"/>
            <p14:sldId id="2147483514"/>
            <p14:sldId id="2147483520"/>
            <p14:sldId id="287"/>
            <p14:sldId id="2147483523"/>
            <p14:sldId id="290"/>
            <p14:sldId id="291"/>
            <p14:sldId id="2147483515"/>
            <p14:sldId id="2141413207"/>
            <p14:sldId id="2141413190"/>
            <p14:sldId id="214141319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91A8022C-0515-7256-8BF1-B03A42142992}" name="Jen Fullerton" initials="JF" userId="S::jen.fullerton@gartner.com::37c388e4-2ab3-4354-a650-e608c5406d9b" providerId="AD"/>
  <p188:author id="{2568923A-02FB-310D-DE5F-0CBD8B941F16}" name="Jen Fullerton" initials="" userId="S::Jen.Fullerton@gartner.com::37c388e4-2ab3-4354-a650-e608c5406d9b" providerId="AD"/>
  <p188:author id="{A2ADB849-41E1-DD33-4DEF-8C57CA855BB0}" name="Chris Hester" initials="CH" userId="S::chris.hester@gartner.com::8f391e9b-6c1b-40d0-bbf2-8985b9b2a537" providerId="AD"/>
  <p188:author id="{B9EB9458-CBC9-5F51-8A43-995F60272C2B}" name="Chris Hester" initials="CH" userId="S::Chris.Hester@gartner.com::8f391e9b-6c1b-40d0-bbf2-8985b9b2a537" providerId="AD"/>
  <p188:author id="{C497E166-A3CD-80C2-9BF3-450F4EAA6A91}" name="Sanda Parezanovic" initials="" userId="S::Sanda.Parezanovic@gartner.com::66cefd72-afe7-4ca7-a3e1-ae3d77d2c09a" providerId="AD"/>
  <p188:author id="{C803F068-7609-DAB9-9FC5-95106EB8846B}" name="Lydia Wu" initials="LW" userId="S::lydia.wu@gartner.com::1dc92832-8852-4ae6-b0ed-cc8341f8441c" providerId="AD"/>
  <p188:author id="{BA253879-2E1B-455C-115B-C187BF555EF4}" name="Robin Boomer" initials="RB" userId="S::robin.boomer@gartner.com::e0f79a7b-0f3c-4f57-b71d-31a9f17e969b" providerId="AD"/>
  <p188:author id="{BE927090-FBF3-24BB-361A-FBD16C584F31}" name="Diana Sanchez" initials="DS" userId="S::diana.sanchez@gartner.com::18a130df-973a-4c30-8bc0-47bb6f7f7b0f" providerId="AD"/>
  <p188:author id="{46086A95-50B6-A29A-FBDA-D61B6C072092}" name="Andy Karr" initials="" userId="S::Andrew.Karr@gartner.com::6be12f12-d15a-4acc-8ee8-f77b413f18ff" providerId="AD"/>
  <p188:author id="{07C586B9-A594-8CCA-83E9-FD8BDFA1B89E}" name="Lily Mok" initials="LM" userId="S::Lily.Mok@gartner.com::82e1e6ac-9cae-40c3-a26d-b14925e66962" providerId="AD"/>
  <p188:author id="{F9BD6ABA-B7E9-605E-76E7-3174B84DDFA9}" name="Diane Satterfield" initials="DS" userId="S::Diane.Satterfield@gartner.com::65e7d1ee-2243-4d76-a4b5-b3dcb2db7588" providerId="AD"/>
  <p188:author id="{6C3761C0-3A26-D65D-EF60-CDC95D48A919}" name="Sanda Parezanovic" initials="SP" userId="S::sanda.parezanovic@gartner.com::66cefd72-afe7-4ca7-a3e1-ae3d77d2c09a" providerId="AD"/>
  <p188:author id="{A60C1BC2-0170-E6D7-D925-A9B1D16B1409}" name="Andy Karr" initials="AK" userId="S::andrew.karr@gartner.com::6be12f12-d15a-4acc-8ee8-f77b413f18ff" providerId="AD"/>
  <p188:author id="{DEA66DC4-FA32-A0B9-6798-C07B7D483537}" name="Tracie Valentino" initials="TV" userId="S::tracie.valentino@gartner.com::d210d26e-81a2-450b-9bda-2e853d352f6a" providerId="AD"/>
  <p188:author id="{E1E7F3C5-8457-AA55-24C4-E34120010D4F}" name="Tille Verhaeghe" initials="TV" userId="S::Tille.Verhaeghe@gartner.com::c0adff76-5998-44e8-96a3-66561cd4a99e" providerId="AD"/>
  <p188:author id="{69356CCF-29D1-70B7-FE65-53C4050E74F1}" name="Maureen Johnson" initials="MJ" userId="S::Maureen.Johnson@gartner.com::90dbf711-2323-48c6-8fab-a608b913e366" providerId="AD"/>
  <p188:author id="{D78F6CCF-8F05-A5C0-2159-B9FB476EFDCB}" name="Caroline Hewings" initials="CH" userId="S::caroline.hewings@gartner.com::029f1a88-49fc-4eab-87fb-583f05e78e23"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 id="{D1A3FDDD-B3F2-34EB-A7B0-3475760AF58C}" name="Elisabeth M Joyce" initials="EJ" userId="S::elisabeth.joyce@gartner.com::f87e0276-2d3c-438f-af8d-8737c7278b03" providerId="AD"/>
  <p188:author id="{68333CFC-E226-761F-A469-051F01176C83}" name="Caroline Hewings" initials="CH" userId="S::Caroline.Hewings@gartner.com::029f1a88-49fc-4eab-87fb-583f05e78e2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FF9966"/>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4" d="100"/>
          <a:sy n="74" d="100"/>
        </p:scale>
        <p:origin x="352" y="56"/>
      </p:cViewPr>
      <p:guideLst/>
    </p:cSldViewPr>
  </p:slideViewPr>
  <p:notesTextViewPr>
    <p:cViewPr>
      <p:scale>
        <a:sx n="1" d="1"/>
        <a:sy n="1" d="1"/>
      </p:scale>
      <p:origin x="0" y="0"/>
    </p:cViewPr>
  </p:notesTextViewPr>
  <p:notesViewPr>
    <p:cSldViewPr snapToGrid="0">
      <p:cViewPr varScale="1">
        <p:scale>
          <a:sx n="56" d="100"/>
          <a:sy n="56" d="100"/>
        </p:scale>
        <p:origin x="2588"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8.fntdata"/><Relationship Id="rId21" Type="http://schemas.openxmlformats.org/officeDocument/2006/relationships/slide" Target="slides/slide15.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5.fntdata"/><Relationship Id="rId49"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urya Verma" userId="a5be8305-a812-43fd-8576-818bdd41eb69" providerId="ADAL" clId="{07FE03CE-FB77-4E04-BBEA-D5E96B11A747}"/>
    <pc:docChg chg="custSel modSld">
      <pc:chgData name="Shaurya Verma" userId="a5be8305-a812-43fd-8576-818bdd41eb69" providerId="ADAL" clId="{07FE03CE-FB77-4E04-BBEA-D5E96B11A747}" dt="2026-03-31T10:02:14.091" v="219" actId="20577"/>
      <pc:docMkLst>
        <pc:docMk/>
      </pc:docMkLst>
      <pc:sldChg chg="modSp mod">
        <pc:chgData name="Shaurya Verma" userId="a5be8305-a812-43fd-8576-818bdd41eb69" providerId="ADAL" clId="{07FE03CE-FB77-4E04-BBEA-D5E96B11A747}" dt="2026-03-31T10:01:20.939" v="211" actId="20577"/>
        <pc:sldMkLst>
          <pc:docMk/>
          <pc:sldMk cId="1532541524" sldId="287"/>
        </pc:sldMkLst>
        <pc:spChg chg="mod">
          <ac:chgData name="Shaurya Verma" userId="a5be8305-a812-43fd-8576-818bdd41eb69" providerId="ADAL" clId="{07FE03CE-FB77-4E04-BBEA-D5E96B11A747}" dt="2026-03-31T09:53:17.088" v="112" actId="6549"/>
          <ac:spMkLst>
            <pc:docMk/>
            <pc:sldMk cId="1532541524" sldId="287"/>
            <ac:spMk id="3" creationId="{B069BD64-2FFE-EF5F-7067-5E69F699D7A7}"/>
          </ac:spMkLst>
        </pc:spChg>
        <pc:graphicFrameChg chg="modGraphic">
          <ac:chgData name="Shaurya Verma" userId="a5be8305-a812-43fd-8576-818bdd41eb69" providerId="ADAL" clId="{07FE03CE-FB77-4E04-BBEA-D5E96B11A747}" dt="2026-03-31T10:01:20.939" v="211" actId="20577"/>
          <ac:graphicFrameMkLst>
            <pc:docMk/>
            <pc:sldMk cId="1532541524" sldId="287"/>
            <ac:graphicFrameMk id="4" creationId="{FD51BADD-348F-397D-E60A-705508E8FC76}"/>
          </ac:graphicFrameMkLst>
        </pc:graphicFrameChg>
      </pc:sldChg>
      <pc:sldChg chg="modSp mod">
        <pc:chgData name="Shaurya Verma" userId="a5be8305-a812-43fd-8576-818bdd41eb69" providerId="ADAL" clId="{07FE03CE-FB77-4E04-BBEA-D5E96B11A747}" dt="2026-03-31T10:02:14.091" v="219" actId="20577"/>
        <pc:sldMkLst>
          <pc:docMk/>
          <pc:sldMk cId="3079000254" sldId="291"/>
        </pc:sldMkLst>
        <pc:spChg chg="mod">
          <ac:chgData name="Shaurya Verma" userId="a5be8305-a812-43fd-8576-818bdd41eb69" providerId="ADAL" clId="{07FE03CE-FB77-4E04-BBEA-D5E96B11A747}" dt="2026-03-31T10:02:04.967" v="216" actId="20577"/>
          <ac:spMkLst>
            <pc:docMk/>
            <pc:sldMk cId="3079000254" sldId="291"/>
            <ac:spMk id="2" creationId="{942815D4-0CB9-4163-DA25-6C96FFF3E476}"/>
          </ac:spMkLst>
        </pc:spChg>
        <pc:spChg chg="mod">
          <ac:chgData name="Shaurya Verma" userId="a5be8305-a812-43fd-8576-818bdd41eb69" providerId="ADAL" clId="{07FE03CE-FB77-4E04-BBEA-D5E96B11A747}" dt="2026-03-31T10:02:14.091" v="219" actId="20577"/>
          <ac:spMkLst>
            <pc:docMk/>
            <pc:sldMk cId="3079000254" sldId="291"/>
            <ac:spMk id="6" creationId="{FC633FF5-37BF-37DA-4A90-3F843DE9B569}"/>
          </ac:spMkLst>
        </pc:spChg>
      </pc:sldChg>
      <pc:sldChg chg="modSp mod">
        <pc:chgData name="Shaurya Verma" userId="a5be8305-a812-43fd-8576-818bdd41eb69" providerId="ADAL" clId="{07FE03CE-FB77-4E04-BBEA-D5E96B11A747}" dt="2026-03-31T10:00:48.271" v="186" actId="20577"/>
        <pc:sldMkLst>
          <pc:docMk/>
          <pc:sldMk cId="2782187217" sldId="319"/>
        </pc:sldMkLst>
        <pc:spChg chg="mod">
          <ac:chgData name="Shaurya Verma" userId="a5be8305-a812-43fd-8576-818bdd41eb69" providerId="ADAL" clId="{07FE03CE-FB77-4E04-BBEA-D5E96B11A747}" dt="2026-03-31T10:00:48.271" v="186" actId="20577"/>
          <ac:spMkLst>
            <pc:docMk/>
            <pc:sldMk cId="2782187217" sldId="319"/>
            <ac:spMk id="2" creationId="{11F277A8-1D9B-699D-4869-47BE2108854A}"/>
          </ac:spMkLst>
        </pc:spChg>
        <pc:spChg chg="mod">
          <ac:chgData name="Shaurya Verma" userId="a5be8305-a812-43fd-8576-818bdd41eb69" providerId="ADAL" clId="{07FE03CE-FB77-4E04-BBEA-D5E96B11A747}" dt="2026-03-31T09:58:51.922" v="150" actId="20577"/>
          <ac:spMkLst>
            <pc:docMk/>
            <pc:sldMk cId="2782187217" sldId="319"/>
            <ac:spMk id="7" creationId="{DD1519FF-FE10-B402-D2C5-F1E7C90CE4AA}"/>
          </ac:spMkLst>
        </pc:spChg>
        <pc:spChg chg="mod">
          <ac:chgData name="Shaurya Verma" userId="a5be8305-a812-43fd-8576-818bdd41eb69" providerId="ADAL" clId="{07FE03CE-FB77-4E04-BBEA-D5E96B11A747}" dt="2026-03-31T09:58:55.964" v="154" actId="20577"/>
          <ac:spMkLst>
            <pc:docMk/>
            <pc:sldMk cId="2782187217" sldId="319"/>
            <ac:spMk id="164" creationId="{AD9951AC-3B33-AB47-728C-659DB8C7D7A3}"/>
          </ac:spMkLst>
        </pc:spChg>
        <pc:graphicFrameChg chg="modGraphic">
          <ac:chgData name="Shaurya Verma" userId="a5be8305-a812-43fd-8576-818bdd41eb69" providerId="ADAL" clId="{07FE03CE-FB77-4E04-BBEA-D5E96B11A747}" dt="2026-03-31T10:00:04.027" v="185" actId="6549"/>
          <ac:graphicFrameMkLst>
            <pc:docMk/>
            <pc:sldMk cId="2782187217" sldId="319"/>
            <ac:graphicFrameMk id="14" creationId="{297F868A-2652-D6DF-BFF3-8383805B9C30}"/>
          </ac:graphicFrameMkLst>
        </pc:graphicFrameChg>
      </pc:sldChg>
      <pc:sldChg chg="modSp mod">
        <pc:chgData name="Shaurya Verma" userId="a5be8305-a812-43fd-8576-818bdd41eb69" providerId="ADAL" clId="{07FE03CE-FB77-4E04-BBEA-D5E96B11A747}" dt="2026-03-31T10:00:50.910" v="188" actId="20577"/>
        <pc:sldMkLst>
          <pc:docMk/>
          <pc:sldMk cId="2860094450" sldId="320"/>
        </pc:sldMkLst>
        <pc:spChg chg="mod">
          <ac:chgData name="Shaurya Verma" userId="a5be8305-a812-43fd-8576-818bdd41eb69" providerId="ADAL" clId="{07FE03CE-FB77-4E04-BBEA-D5E96B11A747}" dt="2026-03-31T10:00:50.910" v="188" actId="20577"/>
          <ac:spMkLst>
            <pc:docMk/>
            <pc:sldMk cId="2860094450" sldId="320"/>
            <ac:spMk id="7" creationId="{2F40BB2C-E831-4B4D-B1E4-B220293AE4C5}"/>
          </ac:spMkLst>
        </pc:spChg>
        <pc:graphicFrameChg chg="modGraphic">
          <ac:chgData name="Shaurya Verma" userId="a5be8305-a812-43fd-8576-818bdd41eb69" providerId="ADAL" clId="{07FE03CE-FB77-4E04-BBEA-D5E96B11A747}" dt="2026-03-31T10:00:49.758" v="187" actId="20577"/>
          <ac:graphicFrameMkLst>
            <pc:docMk/>
            <pc:sldMk cId="2860094450" sldId="320"/>
            <ac:graphicFrameMk id="67" creationId="{ECE1B371-DC77-2BB7-1EA0-D8670A2F3C7F}"/>
          </ac:graphicFrameMkLst>
        </pc:graphicFrameChg>
      </pc:sldChg>
      <pc:sldChg chg="modSp mod">
        <pc:chgData name="Shaurya Verma" userId="a5be8305-a812-43fd-8576-818bdd41eb69" providerId="ADAL" clId="{07FE03CE-FB77-4E04-BBEA-D5E96B11A747}" dt="2026-03-31T10:01:12.057" v="203" actId="20577"/>
        <pc:sldMkLst>
          <pc:docMk/>
          <pc:sldMk cId="3020474539" sldId="322"/>
        </pc:sldMkLst>
        <pc:spChg chg="mod">
          <ac:chgData name="Shaurya Verma" userId="a5be8305-a812-43fd-8576-818bdd41eb69" providerId="ADAL" clId="{07FE03CE-FB77-4E04-BBEA-D5E96B11A747}" dt="2026-03-31T09:59:05.724" v="166" actId="20577"/>
          <ac:spMkLst>
            <pc:docMk/>
            <pc:sldMk cId="3020474539" sldId="322"/>
            <ac:spMk id="71" creationId="{E30AC2A6-2876-1E3E-F62D-A6C4B4F9CCBE}"/>
          </ac:spMkLst>
        </pc:spChg>
        <pc:spChg chg="mod">
          <ac:chgData name="Shaurya Verma" userId="a5be8305-a812-43fd-8576-818bdd41eb69" providerId="ADAL" clId="{07FE03CE-FB77-4E04-BBEA-D5E96B11A747}" dt="2026-03-31T10:01:11.757" v="202" actId="20577"/>
          <ac:spMkLst>
            <pc:docMk/>
            <pc:sldMk cId="3020474539" sldId="322"/>
            <ac:spMk id="73" creationId="{9A1FEFD5-615C-6C06-DA46-AA4339714C16}"/>
          </ac:spMkLst>
        </pc:spChg>
        <pc:graphicFrameChg chg="modGraphic">
          <ac:chgData name="Shaurya Verma" userId="a5be8305-a812-43fd-8576-818bdd41eb69" providerId="ADAL" clId="{07FE03CE-FB77-4E04-BBEA-D5E96B11A747}" dt="2026-03-31T09:48:59.751" v="42" actId="20577"/>
          <ac:graphicFrameMkLst>
            <pc:docMk/>
            <pc:sldMk cId="3020474539" sldId="322"/>
            <ac:graphicFrameMk id="72" creationId="{FF5CA47C-1157-A6FB-129A-EF2F74CEA63D}"/>
          </ac:graphicFrameMkLst>
        </pc:graphicFrameChg>
        <pc:graphicFrameChg chg="modGraphic">
          <ac:chgData name="Shaurya Verma" userId="a5be8305-a812-43fd-8576-818bdd41eb69" providerId="ADAL" clId="{07FE03CE-FB77-4E04-BBEA-D5E96B11A747}" dt="2026-03-31T10:01:12.057" v="203" actId="20577"/>
          <ac:graphicFrameMkLst>
            <pc:docMk/>
            <pc:sldMk cId="3020474539" sldId="322"/>
            <ac:graphicFrameMk id="94" creationId="{814A6264-A23B-C0FE-BB7C-AC900AEE2A02}"/>
          </ac:graphicFrameMkLst>
        </pc:graphicFrameChg>
      </pc:sldChg>
      <pc:sldChg chg="modSp mod modNotes">
        <pc:chgData name="Shaurya Verma" userId="a5be8305-a812-43fd-8576-818bdd41eb69" providerId="ADAL" clId="{07FE03CE-FB77-4E04-BBEA-D5E96B11A747}" dt="2026-03-31T10:00:00.242" v="184" actId="20577"/>
        <pc:sldMkLst>
          <pc:docMk/>
          <pc:sldMk cId="3334835415" sldId="323"/>
        </pc:sldMkLst>
        <pc:graphicFrameChg chg="modGraphic">
          <ac:chgData name="Shaurya Verma" userId="a5be8305-a812-43fd-8576-818bdd41eb69" providerId="ADAL" clId="{07FE03CE-FB77-4E04-BBEA-D5E96B11A747}" dt="2026-03-31T10:00:00.242" v="184" actId="20577"/>
          <ac:graphicFrameMkLst>
            <pc:docMk/>
            <pc:sldMk cId="3334835415" sldId="323"/>
            <ac:graphicFrameMk id="4" creationId="{76E5D2E9-8674-1179-5272-9FC77938AD30}"/>
          </ac:graphicFrameMkLst>
        </pc:graphicFrameChg>
      </pc:sldChg>
      <pc:sldChg chg="modSp mod">
        <pc:chgData name="Shaurya Verma" userId="a5be8305-a812-43fd-8576-818bdd41eb69" providerId="ADAL" clId="{07FE03CE-FB77-4E04-BBEA-D5E96B11A747}" dt="2026-03-31T10:01:04.920" v="196" actId="20577"/>
        <pc:sldMkLst>
          <pc:docMk/>
          <pc:sldMk cId="2004590567" sldId="2141413205"/>
        </pc:sldMkLst>
        <pc:spChg chg="mod">
          <ac:chgData name="Shaurya Verma" userId="a5be8305-a812-43fd-8576-818bdd41eb69" providerId="ADAL" clId="{07FE03CE-FB77-4E04-BBEA-D5E96B11A747}" dt="2026-03-31T10:01:03.324" v="195" actId="20577"/>
          <ac:spMkLst>
            <pc:docMk/>
            <pc:sldMk cId="2004590567" sldId="2141413205"/>
            <ac:spMk id="2" creationId="{21D43843-3169-3159-2234-7FAED7FDC879}"/>
          </ac:spMkLst>
        </pc:spChg>
        <pc:graphicFrameChg chg="modGraphic">
          <ac:chgData name="Shaurya Verma" userId="a5be8305-a812-43fd-8576-818bdd41eb69" providerId="ADAL" clId="{07FE03CE-FB77-4E04-BBEA-D5E96B11A747}" dt="2026-03-31T09:59:00.079" v="160" actId="20577"/>
          <ac:graphicFrameMkLst>
            <pc:docMk/>
            <pc:sldMk cId="2004590567" sldId="2141413205"/>
            <ac:graphicFrameMk id="3" creationId="{5A223CFE-BA8B-B72D-337A-CA58B704CED3}"/>
          </ac:graphicFrameMkLst>
        </pc:graphicFrameChg>
        <pc:graphicFrameChg chg="modGraphic">
          <ac:chgData name="Shaurya Verma" userId="a5be8305-a812-43fd-8576-818bdd41eb69" providerId="ADAL" clId="{07FE03CE-FB77-4E04-BBEA-D5E96B11A747}" dt="2026-03-31T10:01:04.920" v="196" actId="20577"/>
          <ac:graphicFrameMkLst>
            <pc:docMk/>
            <pc:sldMk cId="2004590567" sldId="2141413205"/>
            <ac:graphicFrameMk id="4" creationId="{3AF1C68D-E84C-887A-9858-2D6E04C52C4C}"/>
          </ac:graphicFrameMkLst>
        </pc:graphicFrameChg>
      </pc:sldChg>
      <pc:sldChg chg="modSp mod">
        <pc:chgData name="Shaurya Verma" userId="a5be8305-a812-43fd-8576-818bdd41eb69" providerId="ADAL" clId="{07FE03CE-FB77-4E04-BBEA-D5E96B11A747}" dt="2026-03-31T09:53:05.378" v="110" actId="20577"/>
        <pc:sldMkLst>
          <pc:docMk/>
          <pc:sldMk cId="1614534325" sldId="2141413207"/>
        </pc:sldMkLst>
        <pc:graphicFrameChg chg="modGraphic">
          <ac:chgData name="Shaurya Verma" userId="a5be8305-a812-43fd-8576-818bdd41eb69" providerId="ADAL" clId="{07FE03CE-FB77-4E04-BBEA-D5E96B11A747}" dt="2026-03-31T09:53:05.378" v="110" actId="20577"/>
          <ac:graphicFrameMkLst>
            <pc:docMk/>
            <pc:sldMk cId="1614534325" sldId="2141413207"/>
            <ac:graphicFrameMk id="4" creationId="{C0D35EDD-E0CE-C8F0-15D3-969C5C880FA7}"/>
          </ac:graphicFrameMkLst>
        </pc:graphicFrameChg>
      </pc:sldChg>
      <pc:sldChg chg="modSp mod">
        <pc:chgData name="Shaurya Verma" userId="a5be8305-a812-43fd-8576-818bdd41eb69" providerId="ADAL" clId="{07FE03CE-FB77-4E04-BBEA-D5E96B11A747}" dt="2026-03-31T10:01:00.324" v="194" actId="20577"/>
        <pc:sldMkLst>
          <pc:docMk/>
          <pc:sldMk cId="2949548928" sldId="2147483504"/>
        </pc:sldMkLst>
        <pc:spChg chg="mod">
          <ac:chgData name="Shaurya Verma" userId="a5be8305-a812-43fd-8576-818bdd41eb69" providerId="ADAL" clId="{07FE03CE-FB77-4E04-BBEA-D5E96B11A747}" dt="2026-03-31T09:58:58.639" v="158" actId="20577"/>
          <ac:spMkLst>
            <pc:docMk/>
            <pc:sldMk cId="2949548928" sldId="2147483504"/>
            <ac:spMk id="24" creationId="{DEB6E097-35F7-3ABD-36E2-FCAF733EF0E3}"/>
          </ac:spMkLst>
        </pc:spChg>
        <pc:spChg chg="mod">
          <ac:chgData name="Shaurya Verma" userId="a5be8305-a812-43fd-8576-818bdd41eb69" providerId="ADAL" clId="{07FE03CE-FB77-4E04-BBEA-D5E96B11A747}" dt="2026-03-31T09:58:51.195" v="149" actId="20577"/>
          <ac:spMkLst>
            <pc:docMk/>
            <pc:sldMk cId="2949548928" sldId="2147483504"/>
            <ac:spMk id="54" creationId="{7C6F5336-F8F2-28D9-0D0F-2CC83F109592}"/>
          </ac:spMkLst>
        </pc:spChg>
        <pc:spChg chg="mod">
          <ac:chgData name="Shaurya Verma" userId="a5be8305-a812-43fd-8576-818bdd41eb69" providerId="ADAL" clId="{07FE03CE-FB77-4E04-BBEA-D5E96B11A747}" dt="2026-03-31T09:58:59.471" v="159" actId="20577"/>
          <ac:spMkLst>
            <pc:docMk/>
            <pc:sldMk cId="2949548928" sldId="2147483504"/>
            <ac:spMk id="57" creationId="{93C06177-8229-C682-B707-E0F5DA66CEA8}"/>
          </ac:spMkLst>
        </pc:spChg>
        <pc:spChg chg="mod">
          <ac:chgData name="Shaurya Verma" userId="a5be8305-a812-43fd-8576-818bdd41eb69" providerId="ADAL" clId="{07FE03CE-FB77-4E04-BBEA-D5E96B11A747}" dt="2026-03-31T10:00:52.522" v="189" actId="20577"/>
          <ac:spMkLst>
            <pc:docMk/>
            <pc:sldMk cId="2949548928" sldId="2147483504"/>
            <ac:spMk id="62" creationId="{1FA9AF91-7BBD-B677-34B0-49A8A834481B}"/>
          </ac:spMkLst>
        </pc:spChg>
        <pc:graphicFrameChg chg="modGraphic">
          <ac:chgData name="Shaurya Verma" userId="a5be8305-a812-43fd-8576-818bdd41eb69" providerId="ADAL" clId="{07FE03CE-FB77-4E04-BBEA-D5E96B11A747}" dt="2026-03-31T10:01:00.324" v="194" actId="20577"/>
          <ac:graphicFrameMkLst>
            <pc:docMk/>
            <pc:sldMk cId="2949548928" sldId="2147483504"/>
            <ac:graphicFrameMk id="5" creationId="{EDE91AAF-64FF-BB3C-F37E-D399D5BA5DDA}"/>
          </ac:graphicFrameMkLst>
        </pc:graphicFrameChg>
      </pc:sldChg>
      <pc:sldChg chg="modSp mod">
        <pc:chgData name="Shaurya Verma" userId="a5be8305-a812-43fd-8576-818bdd41eb69" providerId="ADAL" clId="{07FE03CE-FB77-4E04-BBEA-D5E96B11A747}" dt="2026-03-31T09:46:53.790" v="3" actId="6549"/>
        <pc:sldMkLst>
          <pc:docMk/>
          <pc:sldMk cId="932164981" sldId="2147483509"/>
        </pc:sldMkLst>
        <pc:spChg chg="mod">
          <ac:chgData name="Shaurya Verma" userId="a5be8305-a812-43fd-8576-818bdd41eb69" providerId="ADAL" clId="{07FE03CE-FB77-4E04-BBEA-D5E96B11A747}" dt="2026-03-31T09:46:53.790" v="3" actId="6549"/>
          <ac:spMkLst>
            <pc:docMk/>
            <pc:sldMk cId="932164981" sldId="2147483509"/>
            <ac:spMk id="51" creationId="{F1D3C8FE-6469-E836-98A1-234F5FB7D368}"/>
          </ac:spMkLst>
        </pc:spChg>
      </pc:sldChg>
      <pc:sldChg chg="modSp mod">
        <pc:chgData name="Shaurya Verma" userId="a5be8305-a812-43fd-8576-818bdd41eb69" providerId="ADAL" clId="{07FE03CE-FB77-4E04-BBEA-D5E96B11A747}" dt="2026-03-31T09:59:07.962" v="168" actId="20577"/>
        <pc:sldMkLst>
          <pc:docMk/>
          <pc:sldMk cId="587752152" sldId="2147483511"/>
        </pc:sldMkLst>
        <pc:spChg chg="mod">
          <ac:chgData name="Shaurya Verma" userId="a5be8305-a812-43fd-8576-818bdd41eb69" providerId="ADAL" clId="{07FE03CE-FB77-4E04-BBEA-D5E96B11A747}" dt="2026-03-31T09:49:12.392" v="57" actId="20577"/>
          <ac:spMkLst>
            <pc:docMk/>
            <pc:sldMk cId="587752152" sldId="2147483511"/>
            <ac:spMk id="20" creationId="{E0560D6D-6CBF-355E-3353-58D80E508244}"/>
          </ac:spMkLst>
        </pc:spChg>
        <pc:spChg chg="mod">
          <ac:chgData name="Shaurya Verma" userId="a5be8305-a812-43fd-8576-818bdd41eb69" providerId="ADAL" clId="{07FE03CE-FB77-4E04-BBEA-D5E96B11A747}" dt="2026-03-31T09:58:31.525" v="136" actId="20577"/>
          <ac:spMkLst>
            <pc:docMk/>
            <pc:sldMk cId="587752152" sldId="2147483511"/>
            <ac:spMk id="394" creationId="{1A646271-6249-5FA7-AD74-FF0127173C59}"/>
          </ac:spMkLst>
        </pc:spChg>
        <pc:spChg chg="mod">
          <ac:chgData name="Shaurya Verma" userId="a5be8305-a812-43fd-8576-818bdd41eb69" providerId="ADAL" clId="{07FE03CE-FB77-4E04-BBEA-D5E96B11A747}" dt="2026-03-31T09:58:24.019" v="134" actId="20577"/>
          <ac:spMkLst>
            <pc:docMk/>
            <pc:sldMk cId="587752152" sldId="2147483511"/>
            <ac:spMk id="395" creationId="{911F6D2C-C473-6A37-B1C0-B9E94F0622CC}"/>
          </ac:spMkLst>
        </pc:spChg>
        <pc:spChg chg="mod">
          <ac:chgData name="Shaurya Verma" userId="a5be8305-a812-43fd-8576-818bdd41eb69" providerId="ADAL" clId="{07FE03CE-FB77-4E04-BBEA-D5E96B11A747}" dt="2026-03-31T09:50:09.540" v="78" actId="6549"/>
          <ac:spMkLst>
            <pc:docMk/>
            <pc:sldMk cId="587752152" sldId="2147483511"/>
            <ac:spMk id="456" creationId="{2CDE5C5F-8214-D35E-12AF-890751B226D0}"/>
          </ac:spMkLst>
        </pc:spChg>
        <pc:spChg chg="mod">
          <ac:chgData name="Shaurya Verma" userId="a5be8305-a812-43fd-8576-818bdd41eb69" providerId="ADAL" clId="{07FE03CE-FB77-4E04-BBEA-D5E96B11A747}" dt="2026-03-31T09:59:07.962" v="168" actId="20577"/>
          <ac:spMkLst>
            <pc:docMk/>
            <pc:sldMk cId="587752152" sldId="2147483511"/>
            <ac:spMk id="464" creationId="{4FD56B25-10BB-67A7-468C-0702CAE7A30F}"/>
          </ac:spMkLst>
        </pc:spChg>
      </pc:sldChg>
      <pc:sldChg chg="modSp mod">
        <pc:chgData name="Shaurya Verma" userId="a5be8305-a812-43fd-8576-818bdd41eb69" providerId="ADAL" clId="{07FE03CE-FB77-4E04-BBEA-D5E96B11A747}" dt="2026-03-31T10:01:12.642" v="205" actId="20577"/>
        <pc:sldMkLst>
          <pc:docMk/>
          <pc:sldMk cId="275639966" sldId="2147483512"/>
        </pc:sldMkLst>
        <pc:spChg chg="mod">
          <ac:chgData name="Shaurya Verma" userId="a5be8305-a812-43fd-8576-818bdd41eb69" providerId="ADAL" clId="{07FE03CE-FB77-4E04-BBEA-D5E96B11A747}" dt="2026-03-31T10:01:12.642" v="205" actId="20577"/>
          <ac:spMkLst>
            <pc:docMk/>
            <pc:sldMk cId="275639966" sldId="2147483512"/>
            <ac:spMk id="7" creationId="{393963E7-68AA-6037-EEF8-05F5ECBE3752}"/>
          </ac:spMkLst>
        </pc:spChg>
        <pc:spChg chg="mod">
          <ac:chgData name="Shaurya Verma" userId="a5be8305-a812-43fd-8576-818bdd41eb69" providerId="ADAL" clId="{07FE03CE-FB77-4E04-BBEA-D5E96B11A747}" dt="2026-03-31T09:59:07.088" v="167" actId="20577"/>
          <ac:spMkLst>
            <pc:docMk/>
            <pc:sldMk cId="275639966" sldId="2147483512"/>
            <ac:spMk id="10" creationId="{28593B37-3C7A-B64F-9E36-EACEB446FD02}"/>
          </ac:spMkLst>
        </pc:spChg>
        <pc:spChg chg="mod">
          <ac:chgData name="Shaurya Verma" userId="a5be8305-a812-43fd-8576-818bdd41eb69" providerId="ADAL" clId="{07FE03CE-FB77-4E04-BBEA-D5E96B11A747}" dt="2026-03-31T09:48:47.797" v="31" actId="20577"/>
          <ac:spMkLst>
            <pc:docMk/>
            <pc:sldMk cId="275639966" sldId="2147483512"/>
            <ac:spMk id="50" creationId="{2B870961-FA2C-606E-9AD6-0EE5FC1341A6}"/>
          </ac:spMkLst>
        </pc:spChg>
      </pc:sldChg>
      <pc:sldChg chg="modSp mod">
        <pc:chgData name="Shaurya Verma" userId="a5be8305-a812-43fd-8576-818bdd41eb69" providerId="ADAL" clId="{07FE03CE-FB77-4E04-BBEA-D5E96B11A747}" dt="2026-03-31T10:01:31.579" v="213" actId="20577"/>
        <pc:sldMkLst>
          <pc:docMk/>
          <pc:sldMk cId="1180593800" sldId="2147483517"/>
        </pc:sldMkLst>
        <pc:spChg chg="mod">
          <ac:chgData name="Shaurya Verma" userId="a5be8305-a812-43fd-8576-818bdd41eb69" providerId="ADAL" clId="{07FE03CE-FB77-4E04-BBEA-D5E96B11A747}" dt="2026-03-31T10:01:31.579" v="213" actId="20577"/>
          <ac:spMkLst>
            <pc:docMk/>
            <pc:sldMk cId="1180593800" sldId="2147483517"/>
            <ac:spMk id="6" creationId="{7A60561F-3C50-52B8-6F46-2F6FE5EB4E96}"/>
          </ac:spMkLst>
        </pc:spChg>
      </pc:sldChg>
      <pc:sldChg chg="modSp mod">
        <pc:chgData name="Shaurya Verma" userId="a5be8305-a812-43fd-8576-818bdd41eb69" providerId="ADAL" clId="{07FE03CE-FB77-4E04-BBEA-D5E96B11A747}" dt="2026-03-31T10:01:13.830" v="209" actId="20577"/>
        <pc:sldMkLst>
          <pc:docMk/>
          <pc:sldMk cId="2640383237" sldId="2147483520"/>
        </pc:sldMkLst>
        <pc:graphicFrameChg chg="modGraphic">
          <ac:chgData name="Shaurya Verma" userId="a5be8305-a812-43fd-8576-818bdd41eb69" providerId="ADAL" clId="{07FE03CE-FB77-4E04-BBEA-D5E96B11A747}" dt="2026-03-31T10:01:13.529" v="208" actId="20577"/>
          <ac:graphicFrameMkLst>
            <pc:docMk/>
            <pc:sldMk cId="2640383237" sldId="2147483520"/>
            <ac:graphicFrameMk id="4" creationId="{252E453F-DDA9-1B9C-3F85-302AD48F98AF}"/>
          </ac:graphicFrameMkLst>
        </pc:graphicFrameChg>
        <pc:graphicFrameChg chg="mod modGraphic">
          <ac:chgData name="Shaurya Verma" userId="a5be8305-a812-43fd-8576-818bdd41eb69" providerId="ADAL" clId="{07FE03CE-FB77-4E04-BBEA-D5E96B11A747}" dt="2026-03-31T10:01:13.830" v="209" actId="20577"/>
          <ac:graphicFrameMkLst>
            <pc:docMk/>
            <pc:sldMk cId="2640383237" sldId="2147483520"/>
            <ac:graphicFrameMk id="15" creationId="{06C9440E-9C30-9CD6-F924-7FFA1C7B6353}"/>
          </ac:graphicFrameMkLst>
        </pc:graphicFrameChg>
      </pc:sldChg>
      <pc:sldChg chg="modSp mod">
        <pc:chgData name="Shaurya Verma" userId="a5be8305-a812-43fd-8576-818bdd41eb69" providerId="ADAL" clId="{07FE03CE-FB77-4E04-BBEA-D5E96B11A747}" dt="2026-03-31T10:01:36.087" v="214" actId="20577"/>
        <pc:sldMkLst>
          <pc:docMk/>
          <pc:sldMk cId="3997622203" sldId="2147483521"/>
        </pc:sldMkLst>
        <pc:spChg chg="mod">
          <ac:chgData name="Shaurya Verma" userId="a5be8305-a812-43fd-8576-818bdd41eb69" providerId="ADAL" clId="{07FE03CE-FB77-4E04-BBEA-D5E96B11A747}" dt="2026-03-31T09:59:05.028" v="165" actId="20577"/>
          <ac:spMkLst>
            <pc:docMk/>
            <pc:sldMk cId="3997622203" sldId="2147483521"/>
            <ac:spMk id="39" creationId="{2F505184-03AF-4253-03AF-D4F9C6B73924}"/>
          </ac:spMkLst>
        </pc:spChg>
        <pc:spChg chg="mod">
          <ac:chgData name="Shaurya Verma" userId="a5be8305-a812-43fd-8576-818bdd41eb69" providerId="ADAL" clId="{07FE03CE-FB77-4E04-BBEA-D5E96B11A747}" dt="2026-03-31T10:01:36.087" v="214" actId="20577"/>
          <ac:spMkLst>
            <pc:docMk/>
            <pc:sldMk cId="3997622203" sldId="2147483521"/>
            <ac:spMk id="54" creationId="{36737A51-6E98-AFD8-98BC-4C7F2673FA37}"/>
          </ac:spMkLst>
        </pc:spChg>
        <pc:graphicFrameChg chg="modGraphic">
          <ac:chgData name="Shaurya Verma" userId="a5be8305-a812-43fd-8576-818bdd41eb69" providerId="ADAL" clId="{07FE03CE-FB77-4E04-BBEA-D5E96B11A747}" dt="2026-03-31T10:01:08.408" v="198" actId="20577"/>
          <ac:graphicFrameMkLst>
            <pc:docMk/>
            <pc:sldMk cId="3997622203" sldId="2147483521"/>
            <ac:graphicFrameMk id="6" creationId="{C8C0A641-AE66-CD6F-1A0D-A105F5E0F38C}"/>
          </ac:graphicFrameMkLst>
        </pc:graphicFrameChg>
      </pc:sldChg>
      <pc:sldChg chg="modSp mod">
        <pc:chgData name="Shaurya Verma" userId="a5be8305-a812-43fd-8576-818bdd41eb69" providerId="ADAL" clId="{07FE03CE-FB77-4E04-BBEA-D5E96B11A747}" dt="2026-03-31T09:59:49.786" v="182" actId="20577"/>
        <pc:sldMkLst>
          <pc:docMk/>
          <pc:sldMk cId="3626205506" sldId="2147483522"/>
        </pc:sldMkLst>
        <pc:spChg chg="mod">
          <ac:chgData name="Shaurya Verma" userId="a5be8305-a812-43fd-8576-818bdd41eb69" providerId="ADAL" clId="{07FE03CE-FB77-4E04-BBEA-D5E96B11A747}" dt="2026-03-31T09:59:36.281" v="181" actId="20577"/>
          <ac:spMkLst>
            <pc:docMk/>
            <pc:sldMk cId="3626205506" sldId="2147483522"/>
            <ac:spMk id="4" creationId="{B4753897-4212-E4CB-672C-81AA79F8F65C}"/>
          </ac:spMkLst>
        </pc:spChg>
        <pc:graphicFrameChg chg="modGraphic">
          <ac:chgData name="Shaurya Verma" userId="a5be8305-a812-43fd-8576-818bdd41eb69" providerId="ADAL" clId="{07FE03CE-FB77-4E04-BBEA-D5E96B11A747}" dt="2026-03-31T09:59:49.786" v="182" actId="20577"/>
          <ac:graphicFrameMkLst>
            <pc:docMk/>
            <pc:sldMk cId="3626205506" sldId="2147483522"/>
            <ac:graphicFrameMk id="5" creationId="{ED9014A5-88E2-DB2B-55A4-53437C5C75CB}"/>
          </ac:graphicFrameMkLst>
        </pc:graphicFrameChg>
      </pc:sldChg>
      <pc:sldChg chg="modSp mod">
        <pc:chgData name="Shaurya Verma" userId="a5be8305-a812-43fd-8576-818bdd41eb69" providerId="ADAL" clId="{07FE03CE-FB77-4E04-BBEA-D5E96B11A747}" dt="2026-03-31T10:01:22.265" v="212" actId="20577"/>
        <pc:sldMkLst>
          <pc:docMk/>
          <pc:sldMk cId="81919332" sldId="2147483523"/>
        </pc:sldMkLst>
        <pc:spChg chg="mod">
          <ac:chgData name="Shaurya Verma" userId="a5be8305-a812-43fd-8576-818bdd41eb69" providerId="ADAL" clId="{07FE03CE-FB77-4E04-BBEA-D5E96B11A747}" dt="2026-03-31T09:58:41.568" v="138" actId="20577"/>
          <ac:spMkLst>
            <pc:docMk/>
            <pc:sldMk cId="81919332" sldId="2147483523"/>
            <ac:spMk id="10" creationId="{94DB173F-7580-3438-A3CA-284722ED8DEC}"/>
          </ac:spMkLst>
        </pc:spChg>
        <pc:graphicFrameChg chg="modGraphic">
          <ac:chgData name="Shaurya Verma" userId="a5be8305-a812-43fd-8576-818bdd41eb69" providerId="ADAL" clId="{07FE03CE-FB77-4E04-BBEA-D5E96B11A747}" dt="2026-03-31T10:01:22.265" v="212" actId="20577"/>
          <ac:graphicFrameMkLst>
            <pc:docMk/>
            <pc:sldMk cId="81919332" sldId="2147483523"/>
            <ac:graphicFrameMk id="11" creationId="{1FEF352D-18C6-4894-323D-64CE5C9BACE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3/31/2026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Guide to Redesign Work in the Human-Machine Era</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artner.com/document-reader/document/6860566?ref=TrackDBWeeklyEmail&amp;pos=TS_RP_2_2_RN"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gartner.com/document-reader/document/4238399?ref=solrAll&amp;refval=512723821&amp;"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www.gartner.com/document-reader/document/4157099?ref=solrResearch&amp;refval=515059691&amp;" TargetMode="External"/><Relationship Id="rId5" Type="http://schemas.openxmlformats.org/officeDocument/2006/relationships/hyperlink" Target="https://www.gartner.com/document-reader/document/6985266?ref=shareSummary&amp;ref=pubsite" TargetMode="External"/><Relationship Id="rId4" Type="http://schemas.openxmlformats.org/officeDocument/2006/relationships/hyperlink" Target="https://www.gartner.com/document-reader/document/code/833430"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a:t>Ver 2026-0114</a:t>
            </a:r>
          </a:p>
          <a:p>
            <a:endParaRPr lang="en-US"/>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100605"/>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nvPr>
        </p:nvSpPr>
        <p:spPr>
          <a:xfrm>
            <a:off x="1333500" y="658813"/>
            <a:ext cx="4191000" cy="2357437"/>
          </a:xfrm>
        </p:spPr>
        <p:txBody>
          <a:bodyPr/>
          <a:lstStyle/>
          <a:p>
            <a:endParaRPr lang="en-US"/>
          </a:p>
        </p:txBody>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03760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A43E1-DC01-4CAA-B28A-9F5725864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F7D26-EE47-4F5A-AF84-658509E903CD}"/>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902C8F5D-154A-2F11-4612-039FF045CEF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7862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477F4-16E0-CDAE-9665-D77A1A2E7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8649A-7AC9-DDEA-7956-A8A8FD5D41F4}"/>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7B55DFAC-B86B-048B-37DC-25E70E62F0E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71403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AC049-D67D-9B28-A809-16FF676BD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4D86C-92AB-A2B5-DA3F-C116E374B160}"/>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2385BEAA-84AF-AFDE-11EE-C7D0A4D3F6FE}"/>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rgbClr val="6F7878"/>
                </a:solidFill>
                <a:effectLst/>
                <a:uLnTx/>
                <a:uFillTx/>
                <a:latin typeface="Gartner Sans" panose="020B0504030402040204" pitchFamily="34" charset="0"/>
                <a:ea typeface="+mn-ea"/>
                <a:cs typeface="+mn-cs"/>
              </a:rPr>
              <a:t>766498_C</a:t>
            </a:r>
            <a:endParaRPr kumimoji="0" lang="en-US" sz="1200" b="0" i="0" u="none" strike="noStrike" kern="1200" cap="none" spc="0" normalizeH="0" baseline="0" noProof="0" dirty="0">
              <a:ln>
                <a:noFill/>
              </a:ln>
              <a:solidFill>
                <a:srgbClr val="6F7878"/>
              </a:solidFill>
              <a:effectLst/>
              <a:uLnTx/>
              <a:uFillTx/>
              <a:latin typeface="Gartner Sans" panose="020B0504030402040204" pitchFamily="34" charset="0"/>
              <a:ea typeface="+mn-ea"/>
              <a:cs typeface="+mn-cs"/>
            </a:endParaRPr>
          </a:p>
          <a:p>
            <a:r>
              <a:rPr lang="en-US" b="1" i="0" dirty="0"/>
              <a:t>Engage Customer</a:t>
            </a:r>
            <a:endParaRPr lang="en-US" i="0" dirty="0"/>
          </a:p>
          <a:p>
            <a:r>
              <a:rPr lang="en-US" b="1" i="0" dirty="0"/>
              <a:t>Create Service.</a:t>
            </a:r>
            <a:r>
              <a:rPr lang="en-US" i="0" dirty="0"/>
              <a:t> </a:t>
            </a:r>
            <a:r>
              <a:rPr lang="en-US" b="1" i="0" dirty="0"/>
              <a:t>Differentiated</a:t>
            </a:r>
            <a:br>
              <a:rPr lang="en-US" i="0" dirty="0"/>
            </a:br>
            <a:r>
              <a:rPr lang="en-US" i="0" dirty="0"/>
              <a:t>Rationale: Opportunity to personalize services (same-day, green delivery, time-slot premium), co-create offers, and design CX.</a:t>
            </a:r>
          </a:p>
          <a:p>
            <a:r>
              <a:rPr lang="en-US" b="1" i="0" dirty="0"/>
              <a:t>Confirm Delivery.</a:t>
            </a:r>
            <a:r>
              <a:rPr lang="en-US" i="0" dirty="0"/>
              <a:t> </a:t>
            </a:r>
            <a:r>
              <a:rPr lang="en-US" b="1" i="0" dirty="0"/>
              <a:t>Requisite</a:t>
            </a:r>
            <a:br>
              <a:rPr lang="en-US" i="0" dirty="0"/>
            </a:br>
            <a:r>
              <a:rPr lang="en-US" i="0" dirty="0"/>
              <a:t>Rationale: Standard notification; must be accurate and timely, not a differentiator.</a:t>
            </a:r>
          </a:p>
          <a:p>
            <a:r>
              <a:rPr lang="en-US" b="1" i="0" dirty="0"/>
              <a:t>Manage Delivery</a:t>
            </a:r>
            <a:endParaRPr lang="en-US" i="0" dirty="0"/>
          </a:p>
          <a:p>
            <a:r>
              <a:rPr lang="en-US" b="1" i="0" dirty="0"/>
              <a:t>Arrange Pickup.</a:t>
            </a:r>
            <a:r>
              <a:rPr lang="en-US" i="0" dirty="0"/>
              <a:t> </a:t>
            </a:r>
            <a:r>
              <a:rPr lang="en-US" b="1" i="0" dirty="0"/>
              <a:t>Core</a:t>
            </a:r>
            <a:br>
              <a:rPr lang="en-US" i="0" dirty="0"/>
            </a:br>
            <a:r>
              <a:rPr lang="en-US" i="0" dirty="0"/>
              <a:t>Rationale: Critical operational step; can be improved for reliability and cost but typically not unique.</a:t>
            </a:r>
          </a:p>
          <a:p>
            <a:r>
              <a:rPr lang="en-US" b="1" i="0" dirty="0"/>
              <a:t>Transport Shipment</a:t>
            </a:r>
            <a:r>
              <a:rPr lang="en-US" i="0" dirty="0"/>
              <a:t> .</a:t>
            </a:r>
            <a:r>
              <a:rPr lang="en-US" b="1" i="0" dirty="0"/>
              <a:t>Core</a:t>
            </a:r>
            <a:br>
              <a:rPr lang="en-US" i="0" dirty="0"/>
            </a:br>
            <a:r>
              <a:rPr lang="en-US" i="0" dirty="0"/>
              <a:t>Rationale: Backbone logistics; focus on throughput, cost, and SLA adherence.</a:t>
            </a:r>
          </a:p>
          <a:p>
            <a:r>
              <a:rPr lang="en-US" b="1" i="0" dirty="0"/>
              <a:t>Clear Customs</a:t>
            </a:r>
            <a:r>
              <a:rPr lang="en-US" i="0" dirty="0"/>
              <a:t> .</a:t>
            </a:r>
            <a:r>
              <a:rPr lang="en-US" b="1" i="0" dirty="0"/>
              <a:t>Requisite</a:t>
            </a:r>
            <a:r>
              <a:rPr lang="en-US" i="0" dirty="0"/>
              <a:t> (core for cross‑border)</a:t>
            </a:r>
            <a:br>
              <a:rPr lang="en-US" i="0" dirty="0"/>
            </a:br>
            <a:r>
              <a:rPr lang="en-US" i="0" dirty="0"/>
              <a:t>Rationale: Compliance is mandatory; accuracy &gt; speed; usually standardized to minimize risk.</a:t>
            </a:r>
          </a:p>
          <a:p>
            <a:r>
              <a:rPr lang="en-US" b="1" i="0" dirty="0"/>
              <a:t>Identify Delivery Route</a:t>
            </a:r>
            <a:r>
              <a:rPr lang="en-US" i="0" dirty="0"/>
              <a:t> .</a:t>
            </a:r>
            <a:r>
              <a:rPr lang="en-US" b="1" i="0" dirty="0"/>
              <a:t>Differentiated</a:t>
            </a:r>
            <a:br>
              <a:rPr lang="en-US" i="0" dirty="0"/>
            </a:br>
            <a:r>
              <a:rPr lang="en-US" sz="1000" i="0" dirty="0"/>
              <a:t>Rationale: Dynamic, AI-driven routing impacts speed, reliability, sustainability, and cost; key CX lever.</a:t>
            </a:r>
          </a:p>
          <a:p>
            <a:r>
              <a:rPr lang="en-US" sz="1000" b="1" i="0" dirty="0"/>
              <a:t>Deliver Shipment.</a:t>
            </a:r>
            <a:r>
              <a:rPr lang="en-US" sz="1000" i="0" dirty="0"/>
              <a:t> </a:t>
            </a:r>
            <a:r>
              <a:rPr lang="en-US" sz="1000" b="1" i="0" dirty="0"/>
              <a:t>Differentiated</a:t>
            </a:r>
            <a:br>
              <a:rPr lang="en-US" sz="1000" i="0" dirty="0"/>
            </a:br>
            <a:r>
              <a:rPr lang="en-US" sz="1000" i="0" dirty="0"/>
              <a:t>Rationale: The moment of truth. On-time, precise </a:t>
            </a:r>
            <a:r>
              <a:rPr lang="en-US" sz="1000" i="0" dirty="0" err="1"/>
              <a:t>ETAs</a:t>
            </a:r>
            <a:r>
              <a:rPr lang="en-US" sz="1000" i="0" dirty="0"/>
              <a:t>, proactive comms, in-flight changes, white-glove options.</a:t>
            </a:r>
          </a:p>
          <a:p>
            <a:r>
              <a:rPr lang="en-US" sz="1000" b="1" i="0" dirty="0"/>
              <a:t>Invoice Customer</a:t>
            </a:r>
            <a:endParaRPr lang="en-US" sz="1000" i="0" dirty="0"/>
          </a:p>
          <a:p>
            <a:r>
              <a:rPr lang="en-US" sz="1000" b="1" i="0" dirty="0"/>
              <a:t>Create Transaction.</a:t>
            </a:r>
            <a:r>
              <a:rPr lang="en-US" sz="1000" i="0" dirty="0"/>
              <a:t> </a:t>
            </a:r>
            <a:r>
              <a:rPr lang="en-US" sz="1000" b="1" i="0" dirty="0"/>
              <a:t>Requisite</a:t>
            </a:r>
            <a:br>
              <a:rPr lang="en-US" sz="1000" i="0" dirty="0"/>
            </a:br>
            <a:r>
              <a:rPr lang="en-US" sz="1000" i="0" dirty="0"/>
              <a:t>Rationale: Standard order-to-cash record creation; accuracy and integration matter.</a:t>
            </a:r>
          </a:p>
          <a:p>
            <a:r>
              <a:rPr lang="en-US" sz="1000" b="1" i="0" dirty="0"/>
              <a:t>Create Invoice</a:t>
            </a:r>
            <a:r>
              <a:rPr lang="en-US" sz="1000" i="0" dirty="0"/>
              <a:t>. </a:t>
            </a:r>
            <a:r>
              <a:rPr lang="en-US" sz="1000" b="1" i="0" dirty="0"/>
              <a:t>Requisite</a:t>
            </a:r>
            <a:br>
              <a:rPr lang="en-US" sz="1000" i="0" dirty="0"/>
            </a:br>
            <a:r>
              <a:rPr lang="en-US" sz="1000" i="0" dirty="0"/>
              <a:t>Rationale: Non-differentiating back office; aim for error-free automation.</a:t>
            </a:r>
          </a:p>
          <a:p>
            <a:r>
              <a:rPr lang="en-US" sz="1000" b="1" i="0" dirty="0"/>
              <a:t>Collect Payment</a:t>
            </a:r>
            <a:r>
              <a:rPr lang="en-US" sz="1000" i="0" dirty="0"/>
              <a:t>. </a:t>
            </a:r>
            <a:r>
              <a:rPr lang="en-US" sz="1000" b="1" i="0" dirty="0"/>
              <a:t>Core</a:t>
            </a:r>
            <a:br>
              <a:rPr lang="en-US" sz="1000" i="0" dirty="0"/>
            </a:br>
            <a:r>
              <a:rPr lang="en-US" sz="1000" i="0" dirty="0"/>
              <a:t>Rationale: Cashflow-critical; optimize for approval rates, fraud management, and fee reduction.</a:t>
            </a:r>
          </a:p>
          <a:p>
            <a:endParaRPr lang="en-US" dirty="0"/>
          </a:p>
        </p:txBody>
      </p:sp>
    </p:spTree>
    <p:extLst>
      <p:ext uri="{BB962C8B-B14F-4D97-AF65-F5344CB8AC3E}">
        <p14:creationId xmlns:p14="http://schemas.microsoft.com/office/powerpoint/2010/main" val="77692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C5A87-CFC5-F9DF-8B12-C3078FEA7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ADA93-E909-798E-F03E-E991CD3FE3F8}"/>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DD6EC8EC-2332-AD99-2796-A4DFD546863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06798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0334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a:extLst>
            <a:ext uri="{FF2B5EF4-FFF2-40B4-BE49-F238E27FC236}">
              <a16:creationId xmlns:a16="http://schemas.microsoft.com/office/drawing/2014/main" id="{E2B84C36-EA0F-92F3-8763-FCD4A47FD429}"/>
            </a:ext>
          </a:extLst>
        </p:cNvPr>
        <p:cNvGrpSpPr/>
        <p:nvPr/>
      </p:nvGrpSpPr>
      <p:grpSpPr>
        <a:xfrm>
          <a:off x="0" y="0"/>
          <a:ext cx="0" cy="0"/>
          <a:chOff x="0" y="0"/>
          <a:chExt cx="0" cy="0"/>
        </a:xfrm>
      </p:grpSpPr>
      <p:sp>
        <p:nvSpPr>
          <p:cNvPr id="986" name="Google Shape;986;p35:notes">
            <a:extLst>
              <a:ext uri="{FF2B5EF4-FFF2-40B4-BE49-F238E27FC236}">
                <a16:creationId xmlns:a16="http://schemas.microsoft.com/office/drawing/2014/main" id="{28160D2A-C3E5-AD11-2DAE-6DBC9D0CD3A9}"/>
              </a:ext>
            </a:extLst>
          </p:cNvPr>
          <p:cNvSpPr txBox="1">
            <a:spLocks noGrp="1"/>
          </p:cNvSpPr>
          <p:nvPr>
            <p:ph type="body" idx="1"/>
          </p:nvPr>
        </p:nvSpPr>
        <p:spPr>
          <a:xfrm>
            <a:off x="246888" y="3134806"/>
            <a:ext cx="6373368" cy="5698298"/>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a:p>
        </p:txBody>
      </p:sp>
      <p:sp>
        <p:nvSpPr>
          <p:cNvPr id="987" name="Google Shape;987;p35:notes">
            <a:extLst>
              <a:ext uri="{FF2B5EF4-FFF2-40B4-BE49-F238E27FC236}">
                <a16:creationId xmlns:a16="http://schemas.microsoft.com/office/drawing/2014/main" id="{98748F49-724E-EE4E-59D6-ACF908BDAA15}"/>
              </a:ext>
            </a:extLst>
          </p:cNvPr>
          <p:cNvSpPr>
            <a:spLocks noGrp="1" noRot="1" noChangeAspect="1"/>
          </p:cNvSpPr>
          <p:nvPr>
            <p:ph type="sldImg" idx="2"/>
          </p:nvPr>
        </p:nvSpPr>
        <p:spPr>
          <a:xfrm>
            <a:off x="1333500" y="658813"/>
            <a:ext cx="4191000" cy="235743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 name="TextBox 1">
            <a:extLst>
              <a:ext uri="{FF2B5EF4-FFF2-40B4-BE49-F238E27FC236}">
                <a16:creationId xmlns:a16="http://schemas.microsoft.com/office/drawing/2014/main" id="{1314ABBD-EBEA-10FA-34F0-50AD75059904}"/>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8</a:t>
            </a:fld>
            <a:r>
              <a:rPr lang="en-US" sz="600" dirty="0">
                <a:solidFill>
                  <a:schemeClr val="tx1"/>
                </a:solidFill>
              </a:rPr>
              <a:t>	© 2026 Gartner, Inc. and/or its affiliates. All rights reserved. Gartner is a registered trademark of Gartner, Inc. or its affiliates.</a:t>
            </a:r>
            <a:br>
              <a:rPr lang="en-US" sz="600" dirty="0">
                <a:solidFill>
                  <a:schemeClr val="tx1"/>
                </a:solidFill>
              </a:rPr>
            </a:br>
            <a:r>
              <a:rPr lang="en-US" sz="600" b="1" dirty="0">
                <a:solidFill>
                  <a:schemeClr val="tx1"/>
                </a:solidFill>
              </a:rPr>
              <a:t>RESTRICTED</a:t>
            </a:r>
            <a:r>
              <a:rPr lang="en-US" sz="600" dirty="0">
                <a:solidFill>
                  <a:schemeClr val="tx1"/>
                </a:solidFill>
              </a:rPr>
              <a:t> | Version </a:t>
            </a:r>
            <a:r>
              <a:rPr lang="en-US" sz="600" dirty="0" err="1">
                <a:solidFill>
                  <a:schemeClr val="tx1"/>
                </a:solidFill>
              </a:rPr>
              <a:t>X.X</a:t>
            </a:r>
            <a:r>
              <a:rPr lang="en-US" sz="600" dirty="0">
                <a:solidFill>
                  <a:schemeClr val="tx1"/>
                </a:solidFill>
              </a:rPr>
              <a:t> | Last updated [insert date format: DD Month </a:t>
            </a:r>
            <a:r>
              <a:rPr lang="en-US" sz="600" dirty="0" err="1">
                <a:solidFill>
                  <a:schemeClr val="tx1"/>
                </a:solidFill>
              </a:rPr>
              <a:t>YYYY</a:t>
            </a:r>
            <a:r>
              <a:rPr lang="en-US" sz="600" dirty="0">
                <a:solidFill>
                  <a:schemeClr val="tx1"/>
                </a:solidFill>
              </a:rPr>
              <a:t>]</a:t>
            </a:r>
          </a:p>
        </p:txBody>
      </p:sp>
      <p:sp>
        <p:nvSpPr>
          <p:cNvPr id="3" name="TextBox 2">
            <a:extLst>
              <a:ext uri="{FF2B5EF4-FFF2-40B4-BE49-F238E27FC236}">
                <a16:creationId xmlns:a16="http://schemas.microsoft.com/office/drawing/2014/main" id="{B935C600-FBDB-1A62-F712-BD76DB7D77A7}"/>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Guide to Redesign Work in the Human-Machine Era</a:t>
            </a:r>
          </a:p>
        </p:txBody>
      </p:sp>
    </p:spTree>
    <p:extLst>
      <p:ext uri="{BB962C8B-B14F-4D97-AF65-F5344CB8AC3E}">
        <p14:creationId xmlns:p14="http://schemas.microsoft.com/office/powerpoint/2010/main" val="1384286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0243-5447-07E6-8D70-BC12AB908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A77ED-5BE9-D0F6-E25C-580BCFB8B1C4}"/>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E7A4CF0D-CA5D-04BB-E7D0-8E72F57987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95172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D9FA3-1ABA-5103-72D3-9AC6893F6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A619B-8C10-E5C3-0569-9D22295939D0}"/>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78D9903A-DE25-97F9-03B3-8D88B6226C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4979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E1ABA-E757-62CE-EFCB-166951C3B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A923A-1A80-09D6-7D75-CE78F2D75FD8}"/>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4DC79C7D-3F1E-7758-EDB7-B79DEF4E7FA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61759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349A-58A2-8198-EB0B-4361A36BA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328E3-7FB1-C65C-389C-CD06490E637E}"/>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3FEB66C0-1B2C-74E1-2DEA-C20F74AE1F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556102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FE1C4B8A-4AF9-1E4B-523D-215F62CC51AF}"/>
            </a:ext>
          </a:extLst>
        </p:cNvPr>
        <p:cNvGrpSpPr/>
        <p:nvPr/>
      </p:nvGrpSpPr>
      <p:grpSpPr>
        <a:xfrm>
          <a:off x="0" y="0"/>
          <a:ext cx="0" cy="0"/>
          <a:chOff x="0" y="0"/>
          <a:chExt cx="0" cy="0"/>
        </a:xfrm>
      </p:grpSpPr>
      <p:sp>
        <p:nvSpPr>
          <p:cNvPr id="387" name="Google Shape;387;p12:notes">
            <a:extLst>
              <a:ext uri="{FF2B5EF4-FFF2-40B4-BE49-F238E27FC236}">
                <a16:creationId xmlns:a16="http://schemas.microsoft.com/office/drawing/2014/main" id="{58AB64B8-40C6-A1FF-97F2-6DF442C9D38D}"/>
              </a:ext>
            </a:extLst>
          </p:cNvPr>
          <p:cNvSpPr txBox="1">
            <a:spLocks noGrp="1"/>
          </p:cNvSpPr>
          <p:nvPr>
            <p:ph type="body" idx="1"/>
          </p:nvPr>
        </p:nvSpPr>
        <p:spPr>
          <a:xfrm>
            <a:off x="255689" y="3218619"/>
            <a:ext cx="6600567" cy="585064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600"/>
              </a:spcAft>
              <a:buSzPts val="1400"/>
              <a:buNone/>
            </a:pPr>
            <a:endParaRPr/>
          </a:p>
        </p:txBody>
      </p:sp>
      <p:sp>
        <p:nvSpPr>
          <p:cNvPr id="388" name="Google Shape;388;p12:notes">
            <a:extLst>
              <a:ext uri="{FF2B5EF4-FFF2-40B4-BE49-F238E27FC236}">
                <a16:creationId xmlns:a16="http://schemas.microsoft.com/office/drawing/2014/main" id="{69635BCA-AF85-7A66-A08D-EE94447D4A38}"/>
              </a:ext>
            </a:extLst>
          </p:cNvPr>
          <p:cNvSpPr>
            <a:spLocks noGrp="1" noRot="1" noChangeAspect="1"/>
          </p:cNvSpPr>
          <p:nvPr>
            <p:ph type="sldImg" idx="2"/>
          </p:nvPr>
        </p:nvSpPr>
        <p:spPr>
          <a:xfrm>
            <a:off x="1398588" y="676275"/>
            <a:ext cx="4305300" cy="24209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 name="TextBox 1">
            <a:extLst>
              <a:ext uri="{FF2B5EF4-FFF2-40B4-BE49-F238E27FC236}">
                <a16:creationId xmlns:a16="http://schemas.microsoft.com/office/drawing/2014/main" id="{C6ECD7B3-6898-90D6-BAEB-A775F135DBD9}"/>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13</a:t>
            </a:fld>
            <a:r>
              <a:rPr lang="en-US" sz="600" dirty="0">
                <a:solidFill>
                  <a:schemeClr val="tx1"/>
                </a:solidFill>
              </a:rPr>
              <a:t>	© 2026 Gartner, Inc. and/or its affiliates. All rights reserved. Gartner is a registered trademark of Gartner, Inc. or its affiliates.</a:t>
            </a:r>
            <a:br>
              <a:rPr lang="en-US" sz="600" dirty="0">
                <a:solidFill>
                  <a:schemeClr val="tx1"/>
                </a:solidFill>
              </a:rPr>
            </a:br>
            <a:r>
              <a:rPr lang="en-US" sz="600" b="1" dirty="0">
                <a:solidFill>
                  <a:schemeClr val="tx1"/>
                </a:solidFill>
              </a:rPr>
              <a:t>RESTRICTED</a:t>
            </a:r>
            <a:r>
              <a:rPr lang="en-US" sz="600" dirty="0">
                <a:solidFill>
                  <a:schemeClr val="tx1"/>
                </a:solidFill>
              </a:rPr>
              <a:t> | Version </a:t>
            </a:r>
            <a:r>
              <a:rPr lang="en-US" sz="600" dirty="0" err="1">
                <a:solidFill>
                  <a:schemeClr val="tx1"/>
                </a:solidFill>
              </a:rPr>
              <a:t>X.X</a:t>
            </a:r>
            <a:r>
              <a:rPr lang="en-US" sz="600" dirty="0">
                <a:solidFill>
                  <a:schemeClr val="tx1"/>
                </a:solidFill>
              </a:rPr>
              <a:t> | Last updated [insert date format: DD Month </a:t>
            </a:r>
            <a:r>
              <a:rPr lang="en-US" sz="600" dirty="0" err="1">
                <a:solidFill>
                  <a:schemeClr val="tx1"/>
                </a:solidFill>
              </a:rPr>
              <a:t>YYYY</a:t>
            </a:r>
            <a:r>
              <a:rPr lang="en-US" sz="600" dirty="0">
                <a:solidFill>
                  <a:schemeClr val="tx1"/>
                </a:solidFill>
              </a:rPr>
              <a:t>]</a:t>
            </a:r>
          </a:p>
        </p:txBody>
      </p:sp>
      <p:sp>
        <p:nvSpPr>
          <p:cNvPr id="3" name="TextBox 2">
            <a:extLst>
              <a:ext uri="{FF2B5EF4-FFF2-40B4-BE49-F238E27FC236}">
                <a16:creationId xmlns:a16="http://schemas.microsoft.com/office/drawing/2014/main" id="{2A279460-9469-3144-ABEE-E619D4A9B26F}"/>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Guide to Redesign Work in the Human-Machine Era</a:t>
            </a:r>
          </a:p>
        </p:txBody>
      </p:sp>
    </p:spTree>
    <p:extLst>
      <p:ext uri="{BB962C8B-B14F-4D97-AF65-F5344CB8AC3E}">
        <p14:creationId xmlns:p14="http://schemas.microsoft.com/office/powerpoint/2010/main" val="598233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D004-90DB-539D-B2D4-C9D2008B1E8A}"/>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D61FCC71-1175-DEF4-8847-BAD86AD5085B}"/>
              </a:ext>
            </a:extLst>
          </p:cNvPr>
          <p:cNvSpPr>
            <a:spLocks noGrp="1" noRot="1" noChangeAspect="1"/>
          </p:cNvSpPr>
          <p:nvPr>
            <p:ph type="sldImg"/>
          </p:nvPr>
        </p:nvSpPr>
        <p:spPr>
          <a:xfrm>
            <a:off x="1333500" y="658813"/>
            <a:ext cx="4191000" cy="2357437"/>
          </a:xfrm>
        </p:spPr>
        <p:txBody>
          <a:bodyPr/>
          <a:lstStyle/>
          <a:p>
            <a:endParaRPr lang="en-US"/>
          </a:p>
        </p:txBody>
      </p:sp>
      <p:sp>
        <p:nvSpPr>
          <p:cNvPr id="5" name="Notes Placeholder 4">
            <a:extLst>
              <a:ext uri="{FF2B5EF4-FFF2-40B4-BE49-F238E27FC236}">
                <a16:creationId xmlns:a16="http://schemas.microsoft.com/office/drawing/2014/main" id="{BE8C93EE-095B-7FC4-27E1-85548C60CD0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4545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34883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US"/>
          </a:p>
        </p:txBody>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86498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4BB16-4D53-26B2-BF85-E6D621EF1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E5ED2-718D-6A78-FBE6-530E356DCBF9}"/>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6CCDFCCC-8C99-7B76-1563-AB47CC35522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44556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814D-F7C6-7744-8466-DC8678F2A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16D5A-29C5-74DB-104F-74E4047A0F2F}"/>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95E31BEF-283F-142D-F34A-464270061C9D}"/>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Tree>
    <p:extLst>
      <p:ext uri="{BB962C8B-B14F-4D97-AF65-F5344CB8AC3E}">
        <p14:creationId xmlns:p14="http://schemas.microsoft.com/office/powerpoint/2010/main" val="2098095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90251-12DA-8348-44D8-511BE7403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DDE1B-91DB-FCC3-DAE9-07B34D102152}"/>
              </a:ext>
            </a:extLst>
          </p:cNvPr>
          <p:cNvSpPr>
            <a:spLocks noGrp="1" noRot="1" noChangeAspect="1"/>
          </p:cNvSpPr>
          <p:nvPr>
            <p:ph type="sldImg"/>
          </p:nvPr>
        </p:nvSpPr>
        <p:spPr>
          <a:xfrm>
            <a:off x="1333500" y="658813"/>
            <a:ext cx="4191000" cy="2357437"/>
          </a:xfrm>
        </p:spPr>
        <p:txBody>
          <a:bodyPr/>
          <a:lstStyle/>
          <a:p>
            <a:endParaRPr lang="en-US"/>
          </a:p>
        </p:txBody>
      </p:sp>
      <p:sp>
        <p:nvSpPr>
          <p:cNvPr id="3" name="Notes Placeholder 2">
            <a:extLst>
              <a:ext uri="{FF2B5EF4-FFF2-40B4-BE49-F238E27FC236}">
                <a16:creationId xmlns:a16="http://schemas.microsoft.com/office/drawing/2014/main" id="{3AC7E80D-1D13-3D5C-960E-ACD0B51F2374}"/>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lang="en-US" sz="1200" b="0" i="0">
                <a:solidFill>
                  <a:srgbClr val="000000"/>
                </a:solidFill>
                <a:effectLst/>
                <a:hlinkClick r:id="rId3"/>
              </a:rPr>
              <a:t>Tool: AI Data Readiness Scorecard for HR</a:t>
            </a:r>
            <a:endParaRPr lang="en-US" sz="1200" b="0" i="0">
              <a:solidFill>
                <a:srgbClr val="000000"/>
              </a:solidFill>
              <a:effectLst/>
            </a:endParaRPr>
          </a:p>
          <a:p>
            <a:endParaRPr lang="en-US"/>
          </a:p>
        </p:txBody>
      </p:sp>
    </p:spTree>
    <p:extLst>
      <p:ext uri="{BB962C8B-B14F-4D97-AF65-F5344CB8AC3E}">
        <p14:creationId xmlns:p14="http://schemas.microsoft.com/office/powerpoint/2010/main" val="773278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12B8E-014A-F980-AB07-094E3C15937A}"/>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3147B00-292A-0CA5-5AD7-91649C554DD8}"/>
              </a:ext>
            </a:extLst>
          </p:cNvPr>
          <p:cNvSpPr>
            <a:spLocks noGrp="1" noRot="1" noChangeAspect="1"/>
          </p:cNvSpPr>
          <p:nvPr>
            <p:ph type="sldImg"/>
          </p:nvPr>
        </p:nvSpPr>
        <p:spPr>
          <a:xfrm>
            <a:off x="1333500" y="658813"/>
            <a:ext cx="4191000" cy="2357437"/>
          </a:xfrm>
        </p:spPr>
        <p:txBody>
          <a:bodyPr/>
          <a:lstStyle/>
          <a:p>
            <a:endParaRPr lang="en-US"/>
          </a:p>
        </p:txBody>
      </p:sp>
      <p:sp>
        <p:nvSpPr>
          <p:cNvPr id="5" name="Notes Placeholder 4">
            <a:extLst>
              <a:ext uri="{FF2B5EF4-FFF2-40B4-BE49-F238E27FC236}">
                <a16:creationId xmlns:a16="http://schemas.microsoft.com/office/drawing/2014/main" id="{6270AEC8-709B-BA61-701F-CBBB6BBB88E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5659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33500" y="658813"/>
            <a:ext cx="4191000" cy="2357437"/>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lang="en-US" sz="900" b="0">
                <a:hlinkClick r:id="rId3"/>
              </a:rPr>
              <a:t>1. Leverage Your Enterprise Operating Model to Optimize Business Operations</a:t>
            </a:r>
            <a:endParaRPr lang="en-US" sz="900" b="0"/>
          </a:p>
          <a:p>
            <a:pPr marL="0" marR="0" lvl="0" indent="0" algn="l" defTabSz="914400" rtl="0" eaLnBrk="1" fontAlgn="auto" latinLnBrk="0" hangingPunct="1">
              <a:lnSpc>
                <a:spcPct val="90000"/>
              </a:lnSpc>
              <a:spcBef>
                <a:spcPts val="0"/>
              </a:spcBef>
              <a:spcAft>
                <a:spcPts val="600"/>
              </a:spcAft>
              <a:buClrTx/>
              <a:buSzTx/>
              <a:buFontTx/>
              <a:buNone/>
              <a:tabLst/>
              <a:defRPr/>
            </a:pPr>
            <a:r>
              <a:rPr lang="en-US" sz="900" b="0">
                <a:hlinkClick r:id="rId4"/>
              </a:rPr>
              <a:t>2. How to Redesign Processes and Workflows to Drive Organizational Strategy</a:t>
            </a:r>
            <a:endParaRPr lang="en-US" sz="900" b="0"/>
          </a:p>
          <a:p>
            <a:r>
              <a:rPr lang="en-US" sz="900" b="0">
                <a:hlinkClick r:id="rId5"/>
              </a:rPr>
              <a:t>3. Innovation Insight: Beyond Process Mining and Analysis — The Future Is Process Intelligence</a:t>
            </a:r>
            <a:endParaRPr lang="en-US" sz="900" b="0"/>
          </a:p>
          <a:p>
            <a:r>
              <a:rPr lang="en-US" sz="900" b="0">
                <a:hlinkClick r:id="rId6"/>
              </a:rPr>
              <a:t>4. Innovation Insight: Process Mining and Task Mining</a:t>
            </a:r>
            <a:endParaRPr lang="en-US" sz="900" b="0"/>
          </a:p>
        </p:txBody>
      </p:sp>
    </p:spTree>
    <p:extLst>
      <p:ext uri="{BB962C8B-B14F-4D97-AF65-F5344CB8AC3E}">
        <p14:creationId xmlns:p14="http://schemas.microsoft.com/office/powerpoint/2010/main" val="3416750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5991-22C8-B448-BD83-48907677D4A6}"/>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F67C926-073C-EE4E-35ED-19EFE63EDDDE}"/>
              </a:ext>
            </a:extLst>
          </p:cNvPr>
          <p:cNvSpPr>
            <a:spLocks noGrp="1" noRot="1" noChangeAspect="1"/>
          </p:cNvSpPr>
          <p:nvPr>
            <p:ph type="sldImg"/>
          </p:nvPr>
        </p:nvSpPr>
        <p:spPr>
          <a:xfrm>
            <a:off x="1333500" y="658813"/>
            <a:ext cx="4191000" cy="2357437"/>
          </a:xfrm>
        </p:spPr>
        <p:txBody>
          <a:bodyPr/>
          <a:lstStyle/>
          <a:p>
            <a:endParaRPr lang="en-US"/>
          </a:p>
        </p:txBody>
      </p:sp>
      <p:sp>
        <p:nvSpPr>
          <p:cNvPr id="5" name="Notes Placeholder 4">
            <a:extLst>
              <a:ext uri="{FF2B5EF4-FFF2-40B4-BE49-F238E27FC236}">
                <a16:creationId xmlns:a16="http://schemas.microsoft.com/office/drawing/2014/main" id="{BEB82274-87D4-FE75-0F60-26E773D8B3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154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1BED-6ACA-9565-8153-C6E578EB1817}"/>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072F91B-DB38-26A3-A18A-8957A364F0AB}"/>
              </a:ext>
            </a:extLst>
          </p:cNvPr>
          <p:cNvSpPr>
            <a:spLocks noGrp="1" noRot="1" noChangeAspect="1"/>
          </p:cNvSpPr>
          <p:nvPr>
            <p:ph type="sldImg"/>
          </p:nvPr>
        </p:nvSpPr>
        <p:spPr>
          <a:xfrm>
            <a:off x="1333500" y="658813"/>
            <a:ext cx="4191000" cy="2357437"/>
          </a:xfrm>
        </p:spPr>
        <p:txBody>
          <a:bodyPr/>
          <a:lstStyle/>
          <a:p>
            <a:endParaRPr lang="en-US"/>
          </a:p>
        </p:txBody>
      </p:sp>
      <p:sp>
        <p:nvSpPr>
          <p:cNvPr id="5" name="Notes Placeholder 4">
            <a:extLst>
              <a:ext uri="{FF2B5EF4-FFF2-40B4-BE49-F238E27FC236}">
                <a16:creationId xmlns:a16="http://schemas.microsoft.com/office/drawing/2014/main" id="{3E99C4BA-E70D-202F-2CEC-2300D927D1D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24258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731520" rIns="182880" bIns="9144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2149713"/>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Gartner for XXX Leaders</a:t>
            </a:r>
          </a:p>
        </p:txBody>
      </p:sp>
      <p:sp>
        <p:nvSpPr>
          <p:cNvPr id="7" name="TextBox 6">
            <a:extLst>
              <a:ext uri="{FF2B5EF4-FFF2-40B4-BE49-F238E27FC236}">
                <a16:creationId xmlns:a16="http://schemas.microsoft.com/office/drawing/2014/main" id="{DACFD00B-8D9A-241E-C294-5564680EDB20}"/>
              </a:ext>
            </a:extLst>
          </p:cNvPr>
          <p:cNvSpPr txBox="1"/>
          <p:nvPr userDrawn="1"/>
        </p:nvSpPr>
        <p:spPr>
          <a:xfrm>
            <a:off x="685800" y="5199950"/>
            <a:ext cx="7862700" cy="852541"/>
          </a:xfrm>
          <a:prstGeom prst="rect">
            <a:avLst/>
          </a:prstGeom>
          <a:noFill/>
        </p:spPr>
        <p:txBody>
          <a:bodyPr wrap="square" lIns="0" tIns="0" rIns="0" bIns="0" rtlCol="0" anchor="b" anchorCtr="0">
            <a:spAutoFit/>
          </a:bodyPr>
          <a:lstStyle/>
          <a:p>
            <a:pPr marL="0" marR="0" lvl="0" indent="0" algn="l" defTabSz="457200" rtl="0" eaLnBrk="1" fontAlgn="auto" latinLnBrk="0" hangingPunct="1">
              <a:lnSpc>
                <a:spcPct val="90000"/>
              </a:lnSpc>
              <a:spcBef>
                <a:spcPts val="200"/>
              </a:spcBef>
              <a:spcAft>
                <a:spcPts val="0"/>
              </a:spcAft>
              <a:buClrTx/>
              <a:buSzTx/>
              <a:buFontTx/>
              <a:buNone/>
              <a:tabLst/>
              <a:defRPr/>
            </a:pPr>
            <a:r>
              <a:rPr lang="en-US" sz="800" b="1">
                <a:solidFill>
                  <a:srgbClr val="DE0A01"/>
                </a:solidFill>
              </a:rPr>
              <a:t>Approved for external reuse — not for resale.</a:t>
            </a:r>
            <a:endParaRPr lang="en-US" sz="800"/>
          </a:p>
          <a:p>
            <a:pPr>
              <a:lnSpc>
                <a:spcPct val="90000"/>
              </a:lnSpc>
              <a:spcBef>
                <a:spcPts val="200"/>
              </a:spcBef>
              <a:spcAft>
                <a:spcPts val="0"/>
              </a:spcAft>
            </a:pPr>
            <a:r>
              <a:rPr lang="en-US" sz="800"/>
              <a:t>Unless otherwise marked for external use, the items in this Gartner Tool are for internal noncommercial use by the licensed Gartner client. The materials contained in this Tool may not be repackaged or resold. Gartner makes no representations or warranties as to the suitability of this Tool for any particular purpose, and disclaims all liabilities for any damages, whether direct, consequential, incidental or special, arising out of the use of or inability to use this material or the information provided herein.</a:t>
            </a:r>
          </a:p>
          <a:p>
            <a:pPr>
              <a:lnSpc>
                <a:spcPct val="90000"/>
              </a:lnSpc>
              <a:spcBef>
                <a:spcPts val="200"/>
              </a:spcBef>
              <a:spcAft>
                <a:spcPts val="0"/>
              </a:spcAft>
            </a:pPr>
            <a:r>
              <a:rPr lang="en-US" sz="800"/>
              <a:t>The instructions, intent and objective of this template are contained in the source document. Please refer back to that document for details.</a:t>
            </a:r>
          </a:p>
          <a:p>
            <a:pPr>
              <a:lnSpc>
                <a:spcPct val="90000"/>
              </a:lnSpc>
              <a:spcBef>
                <a:spcPts val="200"/>
              </a:spcBef>
              <a:spcAft>
                <a:spcPts val="0"/>
              </a:spcAft>
            </a:pPr>
            <a:r>
              <a:rPr lang="en-US" sz="800" b="1">
                <a:solidFill>
                  <a:srgbClr val="6F7878"/>
                </a:solidFill>
              </a:rPr>
              <a:t>Notes accompany this presentation.</a:t>
            </a:r>
            <a:br>
              <a:rPr lang="en-US" sz="800" b="1">
                <a:solidFill>
                  <a:srgbClr val="6F7878"/>
                </a:solidFill>
              </a:rPr>
            </a:br>
            <a:r>
              <a:rPr lang="en-US" sz="800" b="1">
                <a:solidFill>
                  <a:srgbClr val="6F7878"/>
                </a:solidFill>
              </a:rPr>
              <a:t>Please select Notes Page view to examine the Notes text. </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Figure Title and Subtitle">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679D1656-B34D-EA92-D125-2DE7B070D875}"/>
              </a:ext>
            </a:extLst>
          </p:cNvPr>
          <p:cNvSpPr>
            <a:spLocks noGrp="1"/>
          </p:cNvSpPr>
          <p:nvPr>
            <p:ph type="body" sz="quarter" idx="10" hasCustomPrompt="1"/>
          </p:nvPr>
        </p:nvSpPr>
        <p:spPr>
          <a:xfrm>
            <a:off x="457200" y="1054322"/>
            <a:ext cx="11276013" cy="208086"/>
          </a:xfrm>
          <a:prstGeom prst="rect">
            <a:avLst/>
          </a:prstGeom>
        </p:spPr>
        <p:txBody>
          <a:bodyPr lIns="0" tIns="0" rIns="0" bIns="0"/>
          <a:lstStyle>
            <a:lvl1pPr marL="0" indent="0">
              <a:buNone/>
              <a:defRPr sz="1400" b="1"/>
            </a:lvl1pPr>
            <a:lvl2pPr marL="428625" indent="0">
              <a:buNone/>
              <a:defRPr sz="1400"/>
            </a:lvl2pPr>
            <a:lvl3pPr marL="927100" indent="0">
              <a:buNone/>
              <a:defRPr sz="1400"/>
            </a:lvl3pPr>
            <a:lvl4pPr marL="1357313" indent="0">
              <a:buNone/>
              <a:defRPr sz="1400"/>
            </a:lvl4pPr>
            <a:lvl5pPr marL="1857375" indent="0">
              <a:buNone/>
              <a:defRPr sz="1400"/>
            </a:lvl5pPr>
          </a:lstStyle>
          <a:p>
            <a:pPr lvl="0"/>
            <a:r>
              <a:rPr lang="en-US"/>
              <a:t>Figure Title</a:t>
            </a:r>
          </a:p>
        </p:txBody>
      </p:sp>
      <p:sp>
        <p:nvSpPr>
          <p:cNvPr id="4" name="Text Placeholder 3">
            <a:extLst>
              <a:ext uri="{FF2B5EF4-FFF2-40B4-BE49-F238E27FC236}">
                <a16:creationId xmlns:a16="http://schemas.microsoft.com/office/drawing/2014/main" id="{0FFC29FE-5F43-19DB-E49E-5A0D1059EF73}"/>
              </a:ext>
            </a:extLst>
          </p:cNvPr>
          <p:cNvSpPr>
            <a:spLocks noGrp="1"/>
          </p:cNvSpPr>
          <p:nvPr>
            <p:ph type="body" sz="quarter" idx="11" hasCustomPrompt="1"/>
          </p:nvPr>
        </p:nvSpPr>
        <p:spPr>
          <a:xfrm>
            <a:off x="457200" y="1279052"/>
            <a:ext cx="11276013" cy="208086"/>
          </a:xfrm>
          <a:prstGeom prst="rect">
            <a:avLst/>
          </a:prstGeom>
        </p:spPr>
        <p:txBody>
          <a:bodyPr lIns="0" tIns="0" rIns="0" bIns="0"/>
          <a:lstStyle>
            <a:lvl1pPr marL="0" indent="0">
              <a:buNone/>
              <a:defRPr sz="1400" b="0"/>
            </a:lvl1pPr>
            <a:lvl2pPr marL="428625" indent="0">
              <a:buNone/>
              <a:defRPr sz="1400"/>
            </a:lvl2pPr>
            <a:lvl3pPr marL="927100" indent="0">
              <a:buNone/>
              <a:defRPr sz="1400"/>
            </a:lvl3pPr>
            <a:lvl4pPr marL="1357313" indent="0">
              <a:buNone/>
              <a:defRPr sz="1400"/>
            </a:lvl4pPr>
            <a:lvl5pPr marL="1857375" indent="0">
              <a:buNone/>
              <a:defRPr sz="1400"/>
            </a:lvl5pPr>
          </a:lstStyle>
          <a:p>
            <a:pPr lvl="0"/>
            <a:r>
              <a:rPr lang="en-US"/>
              <a:t>Subtitle</a:t>
            </a:r>
          </a:p>
        </p:txBody>
      </p:sp>
      <p:sp>
        <p:nvSpPr>
          <p:cNvPr id="7" name="Title 1">
            <a:extLst>
              <a:ext uri="{FF2B5EF4-FFF2-40B4-BE49-F238E27FC236}">
                <a16:creationId xmlns:a16="http://schemas.microsoft.com/office/drawing/2014/main" id="{6A717545-3FD5-F553-4ECB-24FB39F665D4}"/>
              </a:ext>
            </a:extLst>
          </p:cNvPr>
          <p:cNvSpPr>
            <a:spLocks noGrp="1"/>
          </p:cNvSpPr>
          <p:nvPr>
            <p:ph type="title" hasCustomPrompt="1"/>
          </p:nvPr>
        </p:nvSpPr>
        <p:spPr>
          <a:xfrm>
            <a:off x="457200" y="366713"/>
            <a:ext cx="11276013" cy="443198"/>
          </a:xfrm>
        </p:spPr>
        <p:txBody>
          <a:bodyPr/>
          <a:lstStyle>
            <a:lvl1pPr>
              <a:defRPr b="1" i="0">
                <a:solidFill>
                  <a:schemeClr val="tx2"/>
                </a:solidFill>
                <a:latin typeface="Gartner Sans Semibold" panose="020B0704030402040204" pitchFamily="34" charset="0"/>
                <a:cs typeface="Gartner Sans Semibold" panose="020B0704030402040204" pitchFamily="34" charset="0"/>
              </a:defRPr>
            </a:lvl1pPr>
          </a:lstStyle>
          <a:p>
            <a:r>
              <a:rPr lang="en-US"/>
              <a:t>Add Descriptive Title</a:t>
            </a:r>
          </a:p>
        </p:txBody>
      </p:sp>
    </p:spTree>
    <p:extLst>
      <p:ext uri="{BB962C8B-B14F-4D97-AF65-F5344CB8AC3E}">
        <p14:creationId xmlns:p14="http://schemas.microsoft.com/office/powerpoint/2010/main" val="181585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a:t>
            </a:r>
          </a:p>
        </p:txBody>
      </p:sp>
      <p:sp>
        <p:nvSpPr>
          <p:cNvPr id="7" name="Content Placeholder 6"/>
          <p:cNvSpPr>
            <a:spLocks noGrp="1"/>
          </p:cNvSpPr>
          <p:nvPr>
            <p:ph sz="quarter" idx="10" hasCustomPrompt="1"/>
          </p:nvPr>
        </p:nvSpPr>
        <p:spPr>
          <a:xfrm>
            <a:off x="457200" y="1343025"/>
            <a:ext cx="11276013" cy="4645023"/>
          </a:xfrm>
          <a:prstGeom prst="rect">
            <a:avLst/>
          </a:prstGeom>
        </p:spPr>
        <p:txBody>
          <a:bodyPr/>
          <a:lstStyle>
            <a:lvl1pPr marL="228600" marR="0" indent="-228600" algn="l" defTabSz="914400" rtl="0" eaLnBrk="1" fontAlgn="auto" latinLnBrk="0" hangingPunct="1">
              <a:lnSpc>
                <a:spcPct val="100000"/>
              </a:lnSpc>
              <a:spcBef>
                <a:spcPts val="0"/>
              </a:spcBef>
              <a:spcAft>
                <a:spcPts val="1200"/>
              </a:spcAft>
              <a:buClr>
                <a:schemeClr val="tx2"/>
              </a:buClr>
              <a:buSzPct val="100000"/>
              <a:buFont typeface="Wingdings" panose="05000000000000000000" pitchFamily="2" charset="2"/>
              <a:buChar char="§"/>
              <a:tabLst/>
              <a:defRPr lang="en-US" sz="1400" kern="1200" dirty="0" smtClean="0">
                <a:solidFill>
                  <a:schemeClr val="tx1"/>
                </a:solidFill>
                <a:latin typeface="+mn-lt"/>
                <a:ea typeface="+mn-ea"/>
                <a:cs typeface="+mn-cs"/>
              </a:defRPr>
            </a:lvl1pPr>
            <a:lvl2pPr marL="457200" indent="-228600">
              <a:defRPr lang="en-US" sz="1400" kern="1200" dirty="0">
                <a:solidFill>
                  <a:schemeClr val="tx1"/>
                </a:solidFill>
                <a:latin typeface="+mn-lt"/>
                <a:ea typeface="+mn-ea"/>
                <a:cs typeface="+mn-cs"/>
              </a:defRPr>
            </a:lvl2pPr>
            <a:lvl3pPr marL="682625" indent="-225425">
              <a:buFont typeface="Wingdings" panose="05000000000000000000" pitchFamily="2" charset="2"/>
              <a:buChar char="§"/>
              <a:defRPr lang="en-US" sz="1400" kern="1200" dirty="0">
                <a:solidFill>
                  <a:schemeClr val="tx1"/>
                </a:solidFill>
                <a:latin typeface="+mn-lt"/>
                <a:ea typeface="+mn-ea"/>
                <a:cs typeface="+mn-cs"/>
              </a:defRPr>
            </a:lvl3pPr>
            <a:lvl4pPr marL="914400" indent="-228600">
              <a:buSzPct val="100000"/>
              <a:buFont typeface="Arial" panose="020B0604020202020204" pitchFamily="34" charset="0"/>
              <a:buChar char="–"/>
              <a:defRPr lang="en-US" sz="1400" kern="1200" dirty="0">
                <a:solidFill>
                  <a:schemeClr val="tx1"/>
                </a:solidFill>
                <a:latin typeface="+mn-lt"/>
                <a:ea typeface="+mn-ea"/>
                <a:cs typeface="+mn-cs"/>
              </a:defRPr>
            </a:lvl4pPr>
            <a:lvl5pPr marL="1146175" indent="-231775">
              <a:buFont typeface="Wingdings" panose="05000000000000000000" pitchFamily="2" charset="2"/>
              <a:buChar char="§"/>
              <a:defRPr lang="en-US" sz="1400" kern="1200" dirty="0">
                <a:solidFill>
                  <a:schemeClr val="tx1"/>
                </a:solidFill>
                <a:latin typeface="+mn-lt"/>
                <a:ea typeface="+mn-ea"/>
                <a:cs typeface="+mn-cs"/>
              </a:defRPr>
            </a:lvl5pPr>
          </a:lstStyle>
          <a:p>
            <a:pPr marL="228600" marR="0" lvl="0" indent="-228600" algn="l" defTabSz="914400" rtl="0" eaLnBrk="1" fontAlgn="auto" latinLnBrk="0" hangingPunct="1">
              <a:lnSpc>
                <a:spcPct val="100000"/>
              </a:lnSpc>
              <a:spcBef>
                <a:spcPts val="0"/>
              </a:spcBef>
              <a:spcAft>
                <a:spcPts val="1200"/>
              </a:spcAft>
              <a:buClr>
                <a:schemeClr val="tx2"/>
              </a:buClr>
              <a:buSzPct val="100000"/>
              <a:buFont typeface="Wingdings" panose="05000000000000000000" pitchFamily="2" charset="2"/>
              <a:buChar char="§"/>
              <a:tabLst/>
              <a:defRPr/>
            </a:pPr>
            <a:r>
              <a:rPr lang="en-US"/>
              <a:t>Click to edit text</a:t>
            </a:r>
          </a:p>
          <a:p>
            <a:pPr marL="457200" marR="0" lvl="1" indent="-228600" algn="l" defTabSz="914400" rtl="0" eaLnBrk="1" fontAlgn="auto" latinLnBrk="0" hangingPunct="1">
              <a:lnSpc>
                <a:spcPct val="100000"/>
              </a:lnSpc>
              <a:spcBef>
                <a:spcPts val="0"/>
              </a:spcBef>
              <a:spcAft>
                <a:spcPts val="1200"/>
              </a:spcAft>
              <a:buClrTx/>
              <a:buSzPct val="100000"/>
              <a:buFont typeface="Arial" panose="020B0604020202020204" pitchFamily="34" charset="0"/>
              <a:buChar char="–"/>
              <a:tabLst/>
              <a:defRPr/>
            </a:pPr>
            <a:r>
              <a:rPr lang="en-US"/>
              <a:t>Second level</a:t>
            </a:r>
          </a:p>
          <a:p>
            <a:pPr marL="685800" marR="0" lvl="2" indent="-228600" algn="l" defTabSz="914400" rtl="0" eaLnBrk="1" fontAlgn="auto" latinLnBrk="0" hangingPunct="1">
              <a:lnSpc>
                <a:spcPct val="100000"/>
              </a:lnSpc>
              <a:spcBef>
                <a:spcPts val="0"/>
              </a:spcBef>
              <a:spcAft>
                <a:spcPts val="1200"/>
              </a:spcAft>
              <a:buClr>
                <a:schemeClr val="tx2"/>
              </a:buClr>
              <a:buSzPct val="100000"/>
              <a:buFont typeface="Wingdings" panose="05000000000000000000" pitchFamily="2" charset="2"/>
              <a:buChar char="§"/>
              <a:tabLst/>
              <a:defRPr/>
            </a:pPr>
            <a:r>
              <a:rPr lang="en-US"/>
              <a:t>Third level</a:t>
            </a:r>
          </a:p>
          <a:p>
            <a:pPr marL="914400" marR="0" lvl="3" indent="-228600" algn="l" defTabSz="914400" rtl="0" eaLnBrk="1" fontAlgn="auto" latinLnBrk="0" hangingPunct="1">
              <a:lnSpc>
                <a:spcPct val="100000"/>
              </a:lnSpc>
              <a:spcBef>
                <a:spcPts val="0"/>
              </a:spcBef>
              <a:spcAft>
                <a:spcPts val="1200"/>
              </a:spcAft>
              <a:buClr>
                <a:schemeClr val="tx2"/>
              </a:buClr>
              <a:buSzPct val="100000"/>
              <a:buFont typeface="Arial" panose="020B0604020202020204" pitchFamily="34" charset="0"/>
              <a:buChar char="–"/>
              <a:tabLst/>
              <a:defRPr/>
            </a:pPr>
            <a:r>
              <a:rPr lang="en-US"/>
              <a:t>Fourth level</a:t>
            </a:r>
          </a:p>
          <a:p>
            <a:pPr marL="1143000" marR="0" lvl="4" indent="-228600" algn="l" defTabSz="914400" rtl="0" eaLnBrk="1" fontAlgn="auto" latinLnBrk="0" hangingPunct="1">
              <a:lnSpc>
                <a:spcPct val="100000"/>
              </a:lnSpc>
              <a:spcBef>
                <a:spcPts val="0"/>
              </a:spcBef>
              <a:spcAft>
                <a:spcPts val="1200"/>
              </a:spcAft>
              <a:buClr>
                <a:schemeClr val="tx2"/>
              </a:buClr>
              <a:buSzPct val="100000"/>
              <a:buFont typeface="Wingdings" panose="05000000000000000000" pitchFamily="2" charset="2"/>
              <a:buChar char="§"/>
              <a:tabLst/>
              <a:defRPr/>
            </a:pPr>
            <a:r>
              <a:rPr lang="en-US"/>
              <a:t>Fifth level</a:t>
            </a:r>
          </a:p>
        </p:txBody>
      </p:sp>
    </p:spTree>
    <p:extLst>
      <p:ext uri="{BB962C8B-B14F-4D97-AF65-F5344CB8AC3E}">
        <p14:creationId xmlns:p14="http://schemas.microsoft.com/office/powerpoint/2010/main" val="33761210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63F6F85C-F02D-71FA-723C-C39750851924}"/>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rgbClr val="FFFFFF"/>
                </a:solidFill>
              </a:rPr>
              <a:t>Gartner Tool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(1_Title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image" Target="../media/image2.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3.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9">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C6FD1AB8-BC4B-C0B0-7BDC-BA24387708A3}"/>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929" r:id="rId1"/>
    <p:sldLayoutId id="2147483854" r:id="rId2"/>
    <p:sldLayoutId id="2147483855" r:id="rId3"/>
    <p:sldLayoutId id="2147483856" r:id="rId4"/>
    <p:sldLayoutId id="2147483857" r:id="rId5"/>
    <p:sldLayoutId id="2147483858" r:id="rId6"/>
    <p:sldLayoutId id="2147483859" r:id="rId7"/>
    <p:sldLayoutId id="2147483860" r:id="rId8"/>
    <p:sldLayoutId id="2147483943" r:id="rId9"/>
    <p:sldLayoutId id="2147483944" r:id="rId10"/>
    <p:sldLayoutId id="2147483948" r:id="rId11"/>
    <p:sldLayoutId id="2147483947" r:id="rId12"/>
    <p:sldLayoutId id="2147483867" r:id="rId13"/>
    <p:sldLayoutId id="2147483941" r:id="rId14"/>
    <p:sldLayoutId id="2147483949" r:id="rId15"/>
    <p:sldLayoutId id="2147483987" r:id="rId16"/>
    <p:sldLayoutId id="2147483988" r:id="rId17"/>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
        <p:nvSpPr>
          <p:cNvPr id="4" name="TextBox 3">
            <a:extLst>
              <a:ext uri="{FF2B5EF4-FFF2-40B4-BE49-F238E27FC236}">
                <a16:creationId xmlns:a16="http://schemas.microsoft.com/office/drawing/2014/main" id="{A124F1BB-9B70-FE65-6824-710EE92FB13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
        <p:nvSpPr>
          <p:cNvPr id="4" name="TextBox 3">
            <a:extLst>
              <a:ext uri="{FF2B5EF4-FFF2-40B4-BE49-F238E27FC236}">
                <a16:creationId xmlns:a16="http://schemas.microsoft.com/office/drawing/2014/main" id="{5AC81520-B590-E338-ED37-D470E9E476C8}"/>
              </a:ext>
            </a:extLst>
          </p:cNvPr>
          <p:cNvSpPr txBox="1"/>
          <p:nvPr userDrawn="1"/>
        </p:nvSpPr>
        <p:spPr>
          <a:xfrm>
            <a:off x="694944" y="6302222"/>
            <a:ext cx="2313432" cy="107722"/>
          </a:xfrm>
          <a:prstGeom prst="rect">
            <a:avLst/>
          </a:prstGeom>
          <a:noFill/>
        </p:spPr>
        <p:txBody>
          <a:bodyPr wrap="square" lIns="0" tIns="0" rIns="0" bIns="0" rtlCol="0" anchor="b" anchorCtr="0">
            <a:spAutoFit/>
          </a:bodyPr>
          <a:lstStyle/>
          <a:p>
            <a:pPr>
              <a:lnSpc>
                <a:spcPct val="100000"/>
              </a:lnSpc>
              <a:spcBef>
                <a:spcPts val="0"/>
              </a:spcBef>
              <a:spcAft>
                <a:spcPts val="0"/>
              </a:spcAft>
            </a:pPr>
            <a:r>
              <a:rPr lang="en-US" sz="700" b="1">
                <a:solidFill>
                  <a:schemeClr val="tx1"/>
                </a:solidFill>
              </a:rPr>
              <a:t>Gartner Tool</a:t>
            </a:r>
          </a:p>
        </p:txBody>
      </p:sp>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hyperlink" Target="https://www.gartner.com/document-reader/document/6863366?ref=solrAll&amp;refval=537756536&amp;"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hyperlink" Target="https://www.gartner.com/document-reader/document/6055563"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8.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26.svg"/><Relationship Id="rId4" Type="http://schemas.openxmlformats.org/officeDocument/2006/relationships/image" Target="../media/image9.sv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gartner.com/document-reader/document/6737934?ref=solrAll&amp;refval=513011319&amp;"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hyperlink" Target="https://www.gartner.com/document-reader/document/6863366?ref=solrAll&amp;refval=537756536&amp;" TargetMode="External"/><Relationship Id="rId5" Type="http://schemas.openxmlformats.org/officeDocument/2006/relationships/image" Target="../media/image29.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32255C-78E0-9949-0AB9-B3AD704F460E}"/>
              </a:ext>
            </a:extLst>
          </p:cNvPr>
          <p:cNvSpPr>
            <a:spLocks noGrp="1"/>
          </p:cNvSpPr>
          <p:nvPr>
            <p:ph type="ctrTitle"/>
          </p:nvPr>
        </p:nvSpPr>
        <p:spPr/>
        <p:txBody>
          <a:bodyPr/>
          <a:lstStyle/>
          <a:p>
            <a:r>
              <a:rPr lang="en-US"/>
              <a:t>Guide to Redesign Work in the Human-Machine Era</a:t>
            </a:r>
          </a:p>
        </p:txBody>
      </p:sp>
      <p:sp>
        <p:nvSpPr>
          <p:cNvPr id="8" name="Subtitle 7">
            <a:extLst>
              <a:ext uri="{FF2B5EF4-FFF2-40B4-BE49-F238E27FC236}">
                <a16:creationId xmlns:a16="http://schemas.microsoft.com/office/drawing/2014/main" id="{528508E6-DED5-A3EA-DA26-AB7BEBAF8D7E}"/>
              </a:ext>
            </a:extLst>
          </p:cNvPr>
          <p:cNvSpPr>
            <a:spLocks noGrp="1"/>
          </p:cNvSpPr>
          <p:nvPr>
            <p:ph type="subTitle" idx="1"/>
          </p:nvPr>
        </p:nvSpPr>
        <p:spPr/>
        <p:txBody>
          <a:bodyPr/>
          <a:lstStyle/>
          <a:p>
            <a:r>
              <a:rPr lang="en-US"/>
              <a:t>Gartner for HR Leaders</a:t>
            </a:r>
          </a:p>
        </p:txBody>
      </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6C433-4071-ECE5-194A-75B0E1BBDF3E}"/>
              </a:ext>
            </a:extLst>
          </p:cNvPr>
          <p:cNvSpPr>
            <a:spLocks noGrp="1"/>
          </p:cNvSpPr>
          <p:nvPr>
            <p:ph type="title"/>
          </p:nvPr>
        </p:nvSpPr>
        <p:spPr/>
        <p:txBody>
          <a:bodyPr/>
          <a:lstStyle/>
          <a:p>
            <a:r>
              <a:rPr lang="en-US"/>
              <a:t>Contents</a:t>
            </a:r>
          </a:p>
        </p:txBody>
      </p:sp>
      <p:sp>
        <p:nvSpPr>
          <p:cNvPr id="6" name="Content Placeholder 5">
            <a:extLst>
              <a:ext uri="{FF2B5EF4-FFF2-40B4-BE49-F238E27FC236}">
                <a16:creationId xmlns:a16="http://schemas.microsoft.com/office/drawing/2014/main" id="{7A60561F-3C50-52B8-6F46-2F6FE5EB4E96}"/>
              </a:ext>
            </a:extLst>
          </p:cNvPr>
          <p:cNvSpPr>
            <a:spLocks noGrp="1"/>
          </p:cNvSpPr>
          <p:nvPr>
            <p:ph sz="quarter" idx="10"/>
          </p:nvPr>
        </p:nvSpPr>
        <p:spPr>
          <a:xfrm>
            <a:off x="4478482" y="774427"/>
            <a:ext cx="7256318" cy="4878259"/>
          </a:xfrm>
        </p:spPr>
        <p:txBody>
          <a:bodyPr vert="horz" lIns="0" tIns="0" rIns="0" bIns="0" rtlCol="0" anchor="t">
            <a:spAutoFit/>
          </a:bodyPr>
          <a:lstStyle/>
          <a:p>
            <a:pPr marL="365760" indent="-365760">
              <a:spcBef>
                <a:spcPts val="600"/>
              </a:spcBef>
              <a:buFont typeface="+mj-lt"/>
              <a:buAutoNum type="arabicPeriod"/>
            </a:pPr>
            <a:r>
              <a:rPr lang="en-US" sz="1800" b="1" dirty="0"/>
              <a:t>Dynamic Work Redesign Cycle </a:t>
            </a:r>
          </a:p>
          <a:p>
            <a:pPr marL="685800" indent="-320040">
              <a:spcBef>
                <a:spcPts val="600"/>
              </a:spcBef>
            </a:pPr>
            <a:r>
              <a:rPr lang="en-US" sz="1800" dirty="0"/>
              <a:t>Cycle Overview and HR Function role in Work Redesign</a:t>
            </a:r>
          </a:p>
          <a:p>
            <a:pPr marL="685800" indent="-320040">
              <a:spcBef>
                <a:spcPts val="600"/>
              </a:spcBef>
            </a:pPr>
            <a:r>
              <a:rPr lang="en-US" sz="1800" dirty="0"/>
              <a:t>Step 1: Align on Design Goals and Key Value Streams</a:t>
            </a:r>
          </a:p>
          <a:p>
            <a:pPr marL="685800" indent="-320040">
              <a:spcBef>
                <a:spcPts val="600"/>
              </a:spcBef>
            </a:pPr>
            <a:r>
              <a:rPr lang="en-US" sz="1800" dirty="0"/>
              <a:t>Step 2: Assess Process Performance</a:t>
            </a:r>
          </a:p>
          <a:p>
            <a:pPr marL="685800" indent="-320040">
              <a:spcBef>
                <a:spcPts val="600"/>
              </a:spcBef>
            </a:pPr>
            <a:r>
              <a:rPr lang="en-US" sz="1800" dirty="0"/>
              <a:t>Step 3: Define People and Technology Contribution</a:t>
            </a:r>
          </a:p>
          <a:p>
            <a:pPr marL="1097280" lvl="1" indent="-365760">
              <a:spcBef>
                <a:spcPts val="600"/>
              </a:spcBef>
            </a:pPr>
            <a:r>
              <a:rPr lang="en-US" sz="1800" dirty="0"/>
              <a:t>Align work to technology value and task complexity</a:t>
            </a:r>
          </a:p>
          <a:p>
            <a:pPr marL="1097280" lvl="1" indent="-365760">
              <a:spcBef>
                <a:spcPts val="600"/>
              </a:spcBef>
            </a:pPr>
            <a:r>
              <a:rPr lang="en-US" sz="1800" dirty="0"/>
              <a:t>Assess return vs. feasibility and change effort</a:t>
            </a:r>
          </a:p>
          <a:p>
            <a:pPr marL="685800" indent="-320040">
              <a:spcBef>
                <a:spcPts val="600"/>
              </a:spcBef>
            </a:pPr>
            <a:r>
              <a:rPr lang="en-US" sz="1800" dirty="0"/>
              <a:t>Step 4: Redesign Processes</a:t>
            </a:r>
          </a:p>
          <a:p>
            <a:pPr marL="685800" indent="-320040">
              <a:spcBef>
                <a:spcPts val="600"/>
              </a:spcBef>
            </a:pPr>
            <a:r>
              <a:rPr lang="en-US" sz="1800" dirty="0"/>
              <a:t>Step 5: Redesign Jobs and Assess Impact</a:t>
            </a:r>
          </a:p>
          <a:p>
            <a:pPr marL="365760" indent="-365760">
              <a:spcBef>
                <a:spcPts val="600"/>
              </a:spcBef>
              <a:buFont typeface="+mj-lt"/>
              <a:buAutoNum type="arabicPeriod" startAt="2"/>
            </a:pPr>
            <a:r>
              <a:rPr lang="en-US" sz="1800" b="1" dirty="0"/>
              <a:t>Dynamic Redesign: Continuous Adaptation </a:t>
            </a:r>
          </a:p>
          <a:p>
            <a:pPr marL="365760" indent="-365760">
              <a:spcBef>
                <a:spcPts val="600"/>
              </a:spcBef>
              <a:buFont typeface="+mj-lt"/>
              <a:buAutoNum type="arabicPeriod" startAt="2"/>
            </a:pPr>
            <a:r>
              <a:rPr lang="en-US" sz="1800" b="1" dirty="0"/>
              <a:t>Resourcing &amp; Readiness for Enterprise Work Redesign</a:t>
            </a:r>
          </a:p>
          <a:p>
            <a:pPr marL="685800" indent="-320040">
              <a:spcBef>
                <a:spcPts val="600"/>
              </a:spcBef>
            </a:pPr>
            <a:r>
              <a:rPr lang="en-US" sz="1800" dirty="0"/>
              <a:t>Enterprise Governance and Resourcing</a:t>
            </a:r>
          </a:p>
          <a:p>
            <a:pPr marL="685800" indent="-320040">
              <a:spcBef>
                <a:spcPts val="600"/>
              </a:spcBef>
            </a:pPr>
            <a:r>
              <a:rPr lang="en-US" sz="1800" dirty="0"/>
              <a:t>Process Maturity and Data Readiness as a Central Enablers</a:t>
            </a:r>
          </a:p>
          <a:p>
            <a:pPr marL="365760" indent="-365760">
              <a:spcBef>
                <a:spcPts val="600"/>
              </a:spcBef>
              <a:buFont typeface="+mj-lt"/>
              <a:buAutoNum type="arabicPeriod" startAt="4"/>
            </a:pPr>
            <a:r>
              <a:rPr lang="en-US" sz="1800" b="1" dirty="0"/>
              <a:t>Appendix: Glossary, Sample Value Stream Maps</a:t>
            </a:r>
          </a:p>
        </p:txBody>
      </p:sp>
    </p:spTree>
    <p:extLst>
      <p:ext uri="{BB962C8B-B14F-4D97-AF65-F5344CB8AC3E}">
        <p14:creationId xmlns:p14="http://schemas.microsoft.com/office/powerpoint/2010/main" val="1180593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FAC8-5567-A2EE-FC5D-D09E7A294FCD}"/>
            </a:ext>
          </a:extLst>
        </p:cNvPr>
        <p:cNvGrpSpPr/>
        <p:nvPr/>
      </p:nvGrpSpPr>
      <p:grpSpPr>
        <a:xfrm>
          <a:off x="0" y="0"/>
          <a:ext cx="0" cy="0"/>
          <a:chOff x="0" y="0"/>
          <a:chExt cx="0" cy="0"/>
        </a:xfrm>
      </p:grpSpPr>
      <p:sp>
        <p:nvSpPr>
          <p:cNvPr id="5" name="Text Box 13" descr="PresentationLoad.com">
            <a:extLst>
              <a:ext uri="{FF2B5EF4-FFF2-40B4-BE49-F238E27FC236}">
                <a16:creationId xmlns:a16="http://schemas.microsoft.com/office/drawing/2014/main" id="{20E0A674-5BA3-51E9-8B30-F546A9AD6856}"/>
              </a:ext>
            </a:extLst>
          </p:cNvPr>
          <p:cNvSpPr txBox="1">
            <a:spLocks noChangeArrowheads="1"/>
          </p:cNvSpPr>
          <p:nvPr/>
        </p:nvSpPr>
        <p:spPr bwMode="gray">
          <a:xfrm>
            <a:off x="7110909" y="1941425"/>
            <a:ext cx="1958325" cy="461665"/>
          </a:xfrm>
          <a:prstGeom prst="rect">
            <a:avLst/>
          </a:prstGeom>
          <a:noFill/>
          <a:ln w="9525" algn="ctr">
            <a:noFill/>
            <a:miter lim="800000"/>
            <a:headEnd/>
            <a:tailEnd/>
          </a:ln>
        </p:spPr>
        <p:txBody>
          <a:bodyPr wrap="square" lIns="45720" tIns="45720" rIns="45720" bIns="45720" anchor="t">
            <a:spAutoFit/>
          </a:bodyPr>
          <a:lstStyle/>
          <a:p>
            <a:pPr marL="0" marR="0" lvl="0" indent="0" defTabSz="801688"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Align on design goals and key value streams</a:t>
            </a:r>
          </a:p>
        </p:txBody>
      </p:sp>
      <p:sp>
        <p:nvSpPr>
          <p:cNvPr id="6" name="Text Box 13" descr="PresentationLoad.com">
            <a:extLst>
              <a:ext uri="{FF2B5EF4-FFF2-40B4-BE49-F238E27FC236}">
                <a16:creationId xmlns:a16="http://schemas.microsoft.com/office/drawing/2014/main" id="{00C0CE70-072E-5019-30AD-9383179AFE2D}"/>
              </a:ext>
            </a:extLst>
          </p:cNvPr>
          <p:cNvSpPr txBox="1">
            <a:spLocks noChangeArrowheads="1"/>
          </p:cNvSpPr>
          <p:nvPr/>
        </p:nvSpPr>
        <p:spPr bwMode="gray">
          <a:xfrm>
            <a:off x="7438153" y="3424457"/>
            <a:ext cx="1394952" cy="387798"/>
          </a:xfrm>
          <a:prstGeom prst="rect">
            <a:avLst/>
          </a:prstGeom>
          <a:noFill/>
          <a:ln w="9525" algn="ctr">
            <a:noFill/>
            <a:miter lim="800000"/>
            <a:headEnd/>
            <a:tailEnd/>
          </a:ln>
        </p:spPr>
        <p:txBody>
          <a:bodyPr wrap="square" lIns="45720" tIns="45720" rIns="45720" bIns="45720" anchor="t">
            <a:spAutoFit/>
          </a:bodyPr>
          <a:lstStyle/>
          <a:p>
            <a:pPr marL="0" marR="0" lvl="0" indent="0" defTabSz="801688" rtl="0" eaLnBrk="1" fontAlgn="auto" latinLnBrk="0" hangingPunct="1">
              <a:lnSpc>
                <a:spcPct val="80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Assess process performance </a:t>
            </a:r>
          </a:p>
        </p:txBody>
      </p:sp>
      <p:sp>
        <p:nvSpPr>
          <p:cNvPr id="7" name="Text Box 13" descr="PresentationLoad.com">
            <a:extLst>
              <a:ext uri="{FF2B5EF4-FFF2-40B4-BE49-F238E27FC236}">
                <a16:creationId xmlns:a16="http://schemas.microsoft.com/office/drawing/2014/main" id="{541D1165-9FC0-FEE9-F798-AA9F2A3A67F2}"/>
              </a:ext>
            </a:extLst>
          </p:cNvPr>
          <p:cNvSpPr txBox="1">
            <a:spLocks noChangeArrowheads="1"/>
          </p:cNvSpPr>
          <p:nvPr/>
        </p:nvSpPr>
        <p:spPr bwMode="gray">
          <a:xfrm>
            <a:off x="5112163" y="4372265"/>
            <a:ext cx="1998746" cy="461665"/>
          </a:xfrm>
          <a:prstGeom prst="rect">
            <a:avLst/>
          </a:prstGeom>
          <a:noFill/>
          <a:ln w="9525" algn="ctr">
            <a:noFill/>
            <a:miter lim="800000"/>
            <a:headEnd/>
            <a:tailEnd/>
          </a:ln>
        </p:spPr>
        <p:txBody>
          <a:bodyPr wrap="squar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Define people + </a:t>
            </a:r>
            <a:r>
              <a:rPr lang="en-US" sz="1200" b="1">
                <a:solidFill>
                  <a:prstClr val="black"/>
                </a:solidFill>
                <a:latin typeface="Gartner Sans" panose="020B0504030402040204" pitchFamily="34" charset="0"/>
              </a:rPr>
              <a:t>t</a:t>
            </a: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echnology contribution </a:t>
            </a:r>
          </a:p>
        </p:txBody>
      </p:sp>
      <p:sp>
        <p:nvSpPr>
          <p:cNvPr id="23" name="Text Box 13" descr="PresentationLoad.com">
            <a:extLst>
              <a:ext uri="{FF2B5EF4-FFF2-40B4-BE49-F238E27FC236}">
                <a16:creationId xmlns:a16="http://schemas.microsoft.com/office/drawing/2014/main" id="{D85A73AC-25B3-400C-58D9-CECF7817BB63}"/>
              </a:ext>
            </a:extLst>
          </p:cNvPr>
          <p:cNvSpPr txBox="1">
            <a:spLocks noChangeArrowheads="1"/>
          </p:cNvSpPr>
          <p:nvPr/>
        </p:nvSpPr>
        <p:spPr bwMode="gray">
          <a:xfrm>
            <a:off x="3916017" y="3390602"/>
            <a:ext cx="998782" cy="461665"/>
          </a:xfrm>
          <a:prstGeom prst="rect">
            <a:avLst/>
          </a:prstGeom>
          <a:noFill/>
          <a:ln w="9525" algn="ctr">
            <a:noFill/>
            <a:miter lim="800000"/>
            <a:headEnd/>
            <a:tailEnd/>
          </a:ln>
        </p:spPr>
        <p:txBody>
          <a:bodyPr wrap="square" lIns="45720" tIns="45720" rIns="45720" bIns="4572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Redesign processes</a:t>
            </a:r>
          </a:p>
        </p:txBody>
      </p:sp>
      <p:sp>
        <p:nvSpPr>
          <p:cNvPr id="27" name="Text Box 13" descr="PresentationLoad.com">
            <a:extLst>
              <a:ext uri="{FF2B5EF4-FFF2-40B4-BE49-F238E27FC236}">
                <a16:creationId xmlns:a16="http://schemas.microsoft.com/office/drawing/2014/main" id="{CE88637B-897F-1789-389C-C6CC4C2E2402}"/>
              </a:ext>
            </a:extLst>
          </p:cNvPr>
          <p:cNvSpPr txBox="1">
            <a:spLocks noChangeArrowheads="1"/>
          </p:cNvSpPr>
          <p:nvPr/>
        </p:nvSpPr>
        <p:spPr bwMode="gray">
          <a:xfrm>
            <a:off x="3251641" y="1969543"/>
            <a:ext cx="1663158" cy="461665"/>
          </a:xfrm>
          <a:prstGeom prst="rect">
            <a:avLst/>
          </a:prstGeom>
          <a:noFill/>
          <a:ln w="9525" algn="ctr">
            <a:noFill/>
            <a:miter lim="800000"/>
            <a:headEnd/>
            <a:tailEnd/>
          </a:ln>
        </p:spPr>
        <p:txBody>
          <a:bodyPr wrap="square" lIns="45720" tIns="45720" rIns="45720" bIns="4572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Redesign jobs, and assess impact </a:t>
            </a: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grpSp>
        <p:nvGrpSpPr>
          <p:cNvPr id="31" name="Group 30">
            <a:extLst>
              <a:ext uri="{FF2B5EF4-FFF2-40B4-BE49-F238E27FC236}">
                <a16:creationId xmlns:a16="http://schemas.microsoft.com/office/drawing/2014/main" id="{21C2A24F-6035-BB26-DDDC-9CFE185204AD}"/>
              </a:ext>
            </a:extLst>
          </p:cNvPr>
          <p:cNvGrpSpPr/>
          <p:nvPr/>
        </p:nvGrpSpPr>
        <p:grpSpPr>
          <a:xfrm>
            <a:off x="4816465" y="1800541"/>
            <a:ext cx="2591937" cy="2570860"/>
            <a:chOff x="4475156" y="1368945"/>
            <a:chExt cx="3696626" cy="3805434"/>
          </a:xfrm>
        </p:grpSpPr>
        <p:sp>
          <p:nvSpPr>
            <p:cNvPr id="32" name="Freeform 24">
              <a:extLst>
                <a:ext uri="{FF2B5EF4-FFF2-40B4-BE49-F238E27FC236}">
                  <a16:creationId xmlns:a16="http://schemas.microsoft.com/office/drawing/2014/main" id="{D9E9F21F-746C-EE3E-9429-163F26C49DC7}"/>
                </a:ext>
              </a:extLst>
            </p:cNvPr>
            <p:cNvSpPr/>
            <p:nvPr/>
          </p:nvSpPr>
          <p:spPr>
            <a:xfrm>
              <a:off x="4724159" y="1368945"/>
              <a:ext cx="1815114" cy="1478861"/>
            </a:xfrm>
            <a:custGeom>
              <a:avLst/>
              <a:gdLst/>
              <a:ahLst/>
              <a:cxnLst/>
              <a:rect l="l" t="t" r="r" b="b"/>
              <a:pathLst>
                <a:path w="459639" h="371297">
                  <a:moveTo>
                    <a:pt x="358178" y="48133"/>
                  </a:moveTo>
                  <a:cubicBezTo>
                    <a:pt x="191389" y="67755"/>
                    <a:pt x="53467" y="180721"/>
                    <a:pt x="0" y="334607"/>
                  </a:cubicBezTo>
                  <a:lnTo>
                    <a:pt x="70244" y="296367"/>
                  </a:lnTo>
                  <a:lnTo>
                    <a:pt x="111036" y="371297"/>
                  </a:lnTo>
                  <a:cubicBezTo>
                    <a:pt x="149086" y="263817"/>
                    <a:pt x="243065" y="184620"/>
                    <a:pt x="358178" y="165938"/>
                  </a:cubicBezTo>
                  <a:lnTo>
                    <a:pt x="358178" y="202921"/>
                  </a:lnTo>
                  <a:lnTo>
                    <a:pt x="459639" y="101461"/>
                  </a:lnTo>
                  <a:lnTo>
                    <a:pt x="358178"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33" name="Freeform 25">
              <a:extLst>
                <a:ext uri="{FF2B5EF4-FFF2-40B4-BE49-F238E27FC236}">
                  <a16:creationId xmlns:a16="http://schemas.microsoft.com/office/drawing/2014/main" id="{CB205A3E-6C69-16CB-0FBF-6842EF66D841}"/>
                </a:ext>
              </a:extLst>
            </p:cNvPr>
            <p:cNvSpPr/>
            <p:nvPr/>
          </p:nvSpPr>
          <p:spPr>
            <a:xfrm>
              <a:off x="4475156" y="2668233"/>
              <a:ext cx="1082893" cy="1978474"/>
            </a:xfrm>
            <a:custGeom>
              <a:avLst/>
              <a:gdLst/>
              <a:ahLst/>
              <a:cxnLst/>
              <a:rect l="l" t="t" r="r" b="b"/>
              <a:pathLst>
                <a:path w="274219" h="496735">
                  <a:moveTo>
                    <a:pt x="0" y="68605"/>
                  </a:moveTo>
                  <a:lnTo>
                    <a:pt x="45974" y="82169"/>
                  </a:lnTo>
                  <a:cubicBezTo>
                    <a:pt x="41757" y="106083"/>
                    <a:pt x="38760" y="130416"/>
                    <a:pt x="38760" y="155549"/>
                  </a:cubicBezTo>
                  <a:cubicBezTo>
                    <a:pt x="38760" y="294272"/>
                    <a:pt x="104203" y="417449"/>
                    <a:pt x="205625" y="496735"/>
                  </a:cubicBezTo>
                  <a:lnTo>
                    <a:pt x="191719" y="415899"/>
                  </a:lnTo>
                  <a:lnTo>
                    <a:pt x="274218" y="401713"/>
                  </a:lnTo>
                  <a:cubicBezTo>
                    <a:pt x="201955" y="343573"/>
                    <a:pt x="154787" y="255511"/>
                    <a:pt x="154787" y="155549"/>
                  </a:cubicBezTo>
                  <a:cubicBezTo>
                    <a:pt x="154787" y="141808"/>
                    <a:pt x="156006" y="128397"/>
                    <a:pt x="157759" y="115138"/>
                  </a:cubicBezTo>
                  <a:lnTo>
                    <a:pt x="194614" y="126009"/>
                  </a:lnTo>
                  <a:lnTo>
                    <a:pt x="126009"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34" name="Freeform 26">
              <a:extLst>
                <a:ext uri="{FF2B5EF4-FFF2-40B4-BE49-F238E27FC236}">
                  <a16:creationId xmlns:a16="http://schemas.microsoft.com/office/drawing/2014/main" id="{F0BB8E25-4083-61F3-85D7-D8A73A2CCD22}"/>
                </a:ext>
              </a:extLst>
            </p:cNvPr>
            <p:cNvSpPr/>
            <p:nvPr/>
          </p:nvSpPr>
          <p:spPr>
            <a:xfrm>
              <a:off x="5315367" y="4291317"/>
              <a:ext cx="1963814" cy="726127"/>
            </a:xfrm>
            <a:custGeom>
              <a:avLst/>
              <a:gdLst/>
              <a:ahLst/>
              <a:cxnLst/>
              <a:rect l="l" t="t" r="r" b="b"/>
              <a:pathLst>
                <a:path w="497294" h="182309">
                  <a:moveTo>
                    <a:pt x="118948" y="31775"/>
                  </a:moveTo>
                  <a:lnTo>
                    <a:pt x="141402" y="0"/>
                  </a:lnTo>
                  <a:lnTo>
                    <a:pt x="0" y="24320"/>
                  </a:lnTo>
                  <a:lnTo>
                    <a:pt x="24321" y="165722"/>
                  </a:lnTo>
                  <a:lnTo>
                    <a:pt x="51245" y="127610"/>
                  </a:lnTo>
                  <a:cubicBezTo>
                    <a:pt x="113107" y="161785"/>
                    <a:pt x="183528" y="182308"/>
                    <a:pt x="259195" y="182308"/>
                  </a:cubicBezTo>
                  <a:cubicBezTo>
                    <a:pt x="347193" y="182308"/>
                    <a:pt x="428943" y="155905"/>
                    <a:pt x="497294" y="110833"/>
                  </a:cubicBezTo>
                  <a:lnTo>
                    <a:pt x="413093" y="96990"/>
                  </a:lnTo>
                  <a:lnTo>
                    <a:pt x="426124" y="17755"/>
                  </a:lnTo>
                  <a:cubicBezTo>
                    <a:pt x="377533" y="48019"/>
                    <a:pt x="320650" y="66281"/>
                    <a:pt x="259195" y="66281"/>
                  </a:cubicBezTo>
                  <a:cubicBezTo>
                    <a:pt x="208483" y="66281"/>
                    <a:pt x="161316" y="53150"/>
                    <a:pt x="118948" y="31775"/>
                  </a:cubicBezTo>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35" name="Freeform 27">
              <a:extLst>
                <a:ext uri="{FF2B5EF4-FFF2-40B4-BE49-F238E27FC236}">
                  <a16:creationId xmlns:a16="http://schemas.microsoft.com/office/drawing/2014/main" id="{4049373D-0DAA-FB01-DA4D-A272E17D1E67}"/>
                </a:ext>
              </a:extLst>
            </p:cNvPr>
            <p:cNvSpPr/>
            <p:nvPr/>
          </p:nvSpPr>
          <p:spPr>
            <a:xfrm>
              <a:off x="7046681" y="2807833"/>
              <a:ext cx="1020298" cy="1884538"/>
            </a:xfrm>
            <a:custGeom>
              <a:avLst/>
              <a:gdLst/>
              <a:ahLst/>
              <a:cxnLst/>
              <a:rect l="l" t="t" r="r" b="b"/>
              <a:pathLst>
                <a:path w="258369" h="473151">
                  <a:moveTo>
                    <a:pt x="203720" y="74968"/>
                  </a:moveTo>
                  <a:lnTo>
                    <a:pt x="131216" y="38011"/>
                  </a:lnTo>
                  <a:cubicBezTo>
                    <a:pt x="137757" y="63411"/>
                    <a:pt x="142341" y="89573"/>
                    <a:pt x="142341" y="117018"/>
                  </a:cubicBezTo>
                  <a:cubicBezTo>
                    <a:pt x="142341" y="205270"/>
                    <a:pt x="105295" y="283997"/>
                    <a:pt x="46965" y="341325"/>
                  </a:cubicBezTo>
                  <a:lnTo>
                    <a:pt x="23266" y="308292"/>
                  </a:lnTo>
                  <a:lnTo>
                    <a:pt x="0" y="449872"/>
                  </a:lnTo>
                  <a:lnTo>
                    <a:pt x="141579" y="473151"/>
                  </a:lnTo>
                  <a:lnTo>
                    <a:pt x="115748" y="437159"/>
                  </a:lnTo>
                  <a:cubicBezTo>
                    <a:pt x="203022" y="357937"/>
                    <a:pt x="258369" y="244183"/>
                    <a:pt x="258369" y="117018"/>
                  </a:cubicBezTo>
                  <a:cubicBezTo>
                    <a:pt x="258369" y="76403"/>
                    <a:pt x="252374" y="37262"/>
                    <a:pt x="241935" y="0"/>
                  </a:cubicBez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36" name="Freeform 28">
              <a:extLst>
                <a:ext uri="{FF2B5EF4-FFF2-40B4-BE49-F238E27FC236}">
                  <a16:creationId xmlns:a16="http://schemas.microsoft.com/office/drawing/2014/main" id="{8C4F1068-D3F1-4A54-17EA-4A842572A5CB}"/>
                </a:ext>
              </a:extLst>
            </p:cNvPr>
            <p:cNvSpPr/>
            <p:nvPr/>
          </p:nvSpPr>
          <p:spPr>
            <a:xfrm>
              <a:off x="6405280" y="1547606"/>
              <a:ext cx="1654426" cy="1456453"/>
            </a:xfrm>
            <a:custGeom>
              <a:avLst/>
              <a:gdLst/>
              <a:ahLst/>
              <a:cxnLst/>
              <a:rect l="l" t="t" r="r" b="b"/>
              <a:pathLst>
                <a:path w="418948" h="365671">
                  <a:moveTo>
                    <a:pt x="2641" y="0"/>
                  </a:moveTo>
                  <a:lnTo>
                    <a:pt x="59690" y="57048"/>
                  </a:lnTo>
                  <a:lnTo>
                    <a:pt x="0" y="116751"/>
                  </a:lnTo>
                  <a:cubicBezTo>
                    <a:pt x="115722" y="122910"/>
                    <a:pt x="214427" y="190538"/>
                    <a:pt x="264592" y="287972"/>
                  </a:cubicBezTo>
                  <a:lnTo>
                    <a:pt x="225958" y="300520"/>
                  </a:lnTo>
                  <a:lnTo>
                    <a:pt x="353796" y="365671"/>
                  </a:lnTo>
                  <a:lnTo>
                    <a:pt x="418947" y="237833"/>
                  </a:lnTo>
                  <a:lnTo>
                    <a:pt x="375539" y="251943"/>
                  </a:lnTo>
                  <a:cubicBezTo>
                    <a:pt x="309575" y="108712"/>
                    <a:pt x="168884" y="7391"/>
                    <a:pt x="2641" y="0"/>
                  </a:cubicBezTo>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37" name="TextBox 16">
              <a:extLst>
                <a:ext uri="{FF2B5EF4-FFF2-40B4-BE49-F238E27FC236}">
                  <a16:creationId xmlns:a16="http://schemas.microsoft.com/office/drawing/2014/main" id="{DAA52B69-66A6-984A-9838-5DB4B7573C5E}"/>
                </a:ext>
              </a:extLst>
            </p:cNvPr>
            <p:cNvSpPr txBox="1"/>
            <p:nvPr/>
          </p:nvSpPr>
          <p:spPr>
            <a:xfrm flipH="1">
              <a:off x="7228377" y="1758918"/>
              <a:ext cx="387669" cy="387669"/>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artner Sans" panose="020B0504030402040204" pitchFamily="34" charset="0"/>
                  <a:ea typeface="+mn-ea"/>
                  <a:cs typeface="+mn-cs"/>
                </a:rPr>
                <a:t>1</a:t>
              </a:r>
            </a:p>
          </p:txBody>
        </p:sp>
        <p:sp>
          <p:nvSpPr>
            <p:cNvPr id="38" name="TextBox 16">
              <a:extLst>
                <a:ext uri="{FF2B5EF4-FFF2-40B4-BE49-F238E27FC236}">
                  <a16:creationId xmlns:a16="http://schemas.microsoft.com/office/drawing/2014/main" id="{5E1FD8BB-D378-F959-C46E-5FC8DEF0D5E0}"/>
                </a:ext>
              </a:extLst>
            </p:cNvPr>
            <p:cNvSpPr txBox="1"/>
            <p:nvPr/>
          </p:nvSpPr>
          <p:spPr>
            <a:xfrm flipH="1">
              <a:off x="7784113" y="3827422"/>
              <a:ext cx="387669"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artner Sans" panose="020B0504030402040204" pitchFamily="34" charset="0"/>
                  <a:ea typeface="+mn-ea"/>
                  <a:cs typeface="+mn-cs"/>
                </a:rPr>
                <a:t>2</a:t>
              </a:r>
            </a:p>
          </p:txBody>
        </p:sp>
        <p:sp>
          <p:nvSpPr>
            <p:cNvPr id="39" name="TextBox 16">
              <a:extLst>
                <a:ext uri="{FF2B5EF4-FFF2-40B4-BE49-F238E27FC236}">
                  <a16:creationId xmlns:a16="http://schemas.microsoft.com/office/drawing/2014/main" id="{7E23166C-0467-F834-2AFD-95122C94C001}"/>
                </a:ext>
              </a:extLst>
            </p:cNvPr>
            <p:cNvSpPr txBox="1"/>
            <p:nvPr/>
          </p:nvSpPr>
          <p:spPr>
            <a:xfrm flipH="1">
              <a:off x="6168988" y="4786709"/>
              <a:ext cx="387669" cy="387670"/>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artner Sans" panose="020B0504030402040204" pitchFamily="34" charset="0"/>
                  <a:ea typeface="+mn-ea"/>
                  <a:cs typeface="+mn-cs"/>
                </a:rPr>
                <a:t>3</a:t>
              </a:r>
            </a:p>
          </p:txBody>
        </p:sp>
        <p:sp>
          <p:nvSpPr>
            <p:cNvPr id="40" name="TextBox 16">
              <a:extLst>
                <a:ext uri="{FF2B5EF4-FFF2-40B4-BE49-F238E27FC236}">
                  <a16:creationId xmlns:a16="http://schemas.microsoft.com/office/drawing/2014/main" id="{54004611-4D39-80CB-1C19-25FAF697CCDD}"/>
                </a:ext>
              </a:extLst>
            </p:cNvPr>
            <p:cNvSpPr txBox="1"/>
            <p:nvPr/>
          </p:nvSpPr>
          <p:spPr>
            <a:xfrm flipH="1">
              <a:off x="4628932" y="3806135"/>
              <a:ext cx="387670"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artner Sans" panose="020B0504030402040204" pitchFamily="34" charset="0"/>
                  <a:ea typeface="+mn-ea"/>
                  <a:cs typeface="+mn-cs"/>
                </a:rPr>
                <a:t>4</a:t>
              </a:r>
            </a:p>
          </p:txBody>
        </p:sp>
        <p:sp>
          <p:nvSpPr>
            <p:cNvPr id="41" name="TextBox 40">
              <a:extLst>
                <a:ext uri="{FF2B5EF4-FFF2-40B4-BE49-F238E27FC236}">
                  <a16:creationId xmlns:a16="http://schemas.microsoft.com/office/drawing/2014/main" id="{C7E4A50E-E0D2-EB5B-FF34-4434EFE8228D}"/>
                </a:ext>
              </a:extLst>
            </p:cNvPr>
            <p:cNvSpPr txBox="1"/>
            <p:nvPr/>
          </p:nvSpPr>
          <p:spPr>
            <a:xfrm>
              <a:off x="5494978" y="2886502"/>
              <a:ext cx="1654426" cy="95671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Recalibrate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Reset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a:solidFill>
                    <a:prstClr val="black"/>
                  </a:solidFill>
                  <a:latin typeface="Gartner Sans" panose="020B0504030402040204" pitchFamily="34" charset="0"/>
                </a:rPr>
                <a:t>Repeat</a:t>
              </a:r>
              <a:endPar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2" name="TextBox 16">
              <a:extLst>
                <a:ext uri="{FF2B5EF4-FFF2-40B4-BE49-F238E27FC236}">
                  <a16:creationId xmlns:a16="http://schemas.microsoft.com/office/drawing/2014/main" id="{01802BB4-6BEA-135F-726E-3E9C9128F2D6}"/>
                </a:ext>
              </a:extLst>
            </p:cNvPr>
            <p:cNvSpPr txBox="1"/>
            <p:nvPr/>
          </p:nvSpPr>
          <p:spPr>
            <a:xfrm flipH="1">
              <a:off x="5016602" y="1728922"/>
              <a:ext cx="387669"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artner Sans" panose="020B0504030402040204" pitchFamily="34" charset="0"/>
                  <a:ea typeface="+mn-ea"/>
                  <a:cs typeface="+mn-cs"/>
                </a:rPr>
                <a:t>5</a:t>
              </a:r>
            </a:p>
          </p:txBody>
        </p:sp>
      </p:grpSp>
      <p:sp>
        <p:nvSpPr>
          <p:cNvPr id="51" name="Rectangle 50">
            <a:extLst>
              <a:ext uri="{FF2B5EF4-FFF2-40B4-BE49-F238E27FC236}">
                <a16:creationId xmlns:a16="http://schemas.microsoft.com/office/drawing/2014/main" id="{F1D3C8FE-6469-E836-98A1-234F5FB7D368}"/>
              </a:ext>
            </a:extLst>
          </p:cNvPr>
          <p:cNvSpPr/>
          <p:nvPr/>
        </p:nvSpPr>
        <p:spPr>
          <a:xfrm>
            <a:off x="460401" y="4898515"/>
            <a:ext cx="11153987" cy="96180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tlCol="0" anchor="ctr">
            <a:spAutoFit/>
          </a:bodyPr>
          <a:lstStyle/>
          <a:p>
            <a:pPr marL="171450" marR="0" lvl="0" indent="-171450" algn="l" defTabSz="914377" rtl="0" eaLnBrk="1" fontAlgn="auto" latinLnBrk="0" hangingPunct="1">
              <a:spcBef>
                <a:spcPts val="0"/>
              </a:spcBef>
              <a:spcAft>
                <a:spcPts val="30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ea typeface="+mn-ea"/>
                <a:cs typeface="+mn-cs"/>
              </a:rPr>
              <a:t>Drive strategic governance: </a:t>
            </a:r>
            <a:r>
              <a:rPr kumimoji="0" lang="en-US" sz="1200" i="0" u="none" strike="noStrike" kern="1200" cap="none" spc="0" normalizeH="0" baseline="0" noProof="0" dirty="0">
                <a:ln>
                  <a:noFill/>
                </a:ln>
                <a:solidFill>
                  <a:srgbClr val="000000"/>
                </a:solidFill>
                <a:effectLst/>
                <a:uLnTx/>
                <a:uFillTx/>
                <a:ea typeface="+mn-ea"/>
                <a:cs typeface="+mn-cs"/>
              </a:rPr>
              <a:t>A</a:t>
            </a:r>
            <a:r>
              <a:rPr kumimoji="0" lang="en-US" sz="1200" b="0" i="0" u="none" strike="noStrike" kern="1200" cap="none" spc="0" normalizeH="0" baseline="0" noProof="0" dirty="0">
                <a:ln>
                  <a:noFill/>
                </a:ln>
                <a:solidFill>
                  <a:srgbClr val="000000"/>
                </a:solidFill>
                <a:effectLst/>
                <a:uLnTx/>
                <a:uFillTx/>
                <a:ea typeface="+mn-ea"/>
                <a:cs typeface="+mn-cs"/>
              </a:rPr>
              <a:t>lign on redesign priorities, principles, outcomes, and accountability across the enterprise..</a:t>
            </a:r>
          </a:p>
          <a:p>
            <a:pPr marL="173736" marR="0" lvl="0" indent="-173736" algn="l" defTabSz="914377" rtl="0" eaLnBrk="1" fontAlgn="auto" latinLnBrk="0" hangingPunct="1">
              <a:spcBef>
                <a:spcPts val="0"/>
              </a:spcBef>
              <a:spcAft>
                <a:spcPts val="30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ea typeface="+mn-ea"/>
                <a:cs typeface="+mn-cs"/>
              </a:rPr>
              <a:t>Balance return vs. </a:t>
            </a:r>
            <a:r>
              <a:rPr lang="en-US" sz="1200" b="1" dirty="0">
                <a:solidFill>
                  <a:srgbClr val="000000"/>
                </a:solidFill>
              </a:rPr>
              <a:t>f</a:t>
            </a:r>
            <a:r>
              <a:rPr kumimoji="0" lang="en-US" sz="1200" b="1" i="0" u="none" strike="noStrike" kern="1200" cap="none" spc="0" normalizeH="0" baseline="0" noProof="0" dirty="0" err="1">
                <a:ln>
                  <a:noFill/>
                </a:ln>
                <a:solidFill>
                  <a:srgbClr val="000000"/>
                </a:solidFill>
                <a:effectLst/>
                <a:uLnTx/>
                <a:uFillTx/>
                <a:ea typeface="+mn-ea"/>
                <a:cs typeface="+mn-cs"/>
              </a:rPr>
              <a:t>easibility</a:t>
            </a:r>
            <a:r>
              <a:rPr kumimoji="0" lang="en-US" sz="1200" b="0" i="0" u="none" strike="noStrike" kern="1200" cap="none" spc="0" normalizeH="0" baseline="0" noProof="0" dirty="0">
                <a:ln>
                  <a:noFill/>
                </a:ln>
                <a:solidFill>
                  <a:srgbClr val="000000"/>
                </a:solidFill>
                <a:effectLst/>
                <a:uLnTx/>
                <a:uFillTx/>
                <a:ea typeface="+mn-ea"/>
                <a:cs typeface="+mn-cs"/>
              </a:rPr>
              <a:t>: Prioritize optimization initiatives based on return (employee, investment, future) vs. complexity and change effort.</a:t>
            </a:r>
          </a:p>
          <a:p>
            <a:pPr marL="173736" marR="0" lvl="0" indent="-173736" algn="l" defTabSz="914377" rtl="0" eaLnBrk="1" fontAlgn="auto" latinLnBrk="0" hangingPunct="1">
              <a:spcBef>
                <a:spcPts val="0"/>
              </a:spcBef>
              <a:spcAft>
                <a:spcPts val="300"/>
              </a:spcAft>
              <a:buClr>
                <a:srgbClr val="000000"/>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ea typeface="+mn-ea"/>
                <a:cs typeface="+mn-cs"/>
              </a:rPr>
              <a:t>Lead culture and change leadership</a:t>
            </a:r>
            <a:r>
              <a:rPr kumimoji="0" lang="en-US" sz="1200" b="0" i="0" u="none" strike="noStrike" kern="1200" cap="none" spc="0" normalizeH="0" baseline="0" noProof="0" dirty="0">
                <a:ln>
                  <a:noFill/>
                </a:ln>
                <a:solidFill>
                  <a:srgbClr val="000000"/>
                </a:solidFill>
                <a:effectLst/>
                <a:uLnTx/>
                <a:uFillTx/>
                <a:ea typeface="+mn-ea"/>
                <a:cs typeface="+mn-cs"/>
              </a:rPr>
              <a:t>: Champion adaptability and guide workforce through transformation.</a:t>
            </a:r>
          </a:p>
          <a:p>
            <a:pPr marL="173736" marR="0" lvl="0" indent="-173736" algn="l" defTabSz="914377" rtl="0" eaLnBrk="1" fontAlgn="auto" latinLnBrk="0" hangingPunct="1">
              <a:spcBef>
                <a:spcPts val="0"/>
              </a:spcBef>
              <a:spcAft>
                <a:spcPts val="300"/>
              </a:spcAft>
              <a:buClr>
                <a:srgbClr val="000000"/>
              </a:buClr>
              <a:buSzTx/>
              <a:buFont typeface="Arial" panose="020B0604020202020204" pitchFamily="34" charset="0"/>
              <a:buChar char="•"/>
              <a:tabLst/>
              <a:defRPr/>
            </a:pPr>
            <a:r>
              <a:rPr lang="en-US" sz="1200" b="1" dirty="0">
                <a:solidFill>
                  <a:srgbClr val="000000"/>
                </a:solidFill>
              </a:rPr>
              <a:t>Build capability in process excellence and task intelligence: </a:t>
            </a:r>
            <a:r>
              <a:rPr lang="en-US" sz="1200" dirty="0">
                <a:solidFill>
                  <a:srgbClr val="000000"/>
                </a:solidFill>
              </a:rPr>
              <a:t>Enable smarter workflows, automation opportunities, and human-centric redesign</a:t>
            </a:r>
            <a:r>
              <a:rPr lang="en-US" sz="1300" dirty="0">
                <a:solidFill>
                  <a:srgbClr val="000000"/>
                </a:solidFill>
              </a:rPr>
              <a:t>.</a:t>
            </a:r>
            <a:endParaRPr lang="en-US" sz="1300" b="1" dirty="0">
              <a:solidFill>
                <a:srgbClr val="000000"/>
              </a:solidFill>
            </a:endParaRPr>
          </a:p>
        </p:txBody>
      </p:sp>
      <p:sp>
        <p:nvSpPr>
          <p:cNvPr id="52" name="TextBox 51">
            <a:extLst>
              <a:ext uri="{FF2B5EF4-FFF2-40B4-BE49-F238E27FC236}">
                <a16:creationId xmlns:a16="http://schemas.microsoft.com/office/drawing/2014/main" id="{240A4232-D991-766D-BEFD-B38B9C2FCEF1}"/>
              </a:ext>
            </a:extLst>
          </p:cNvPr>
          <p:cNvSpPr txBox="1"/>
          <p:nvPr/>
        </p:nvSpPr>
        <p:spPr>
          <a:xfrm>
            <a:off x="460515" y="914400"/>
            <a:ext cx="11280775" cy="492443"/>
          </a:xfrm>
          <a:prstGeom prst="rect">
            <a:avLst/>
          </a:prstGeom>
          <a:solidFill>
            <a:schemeClr val="accent5"/>
          </a:solidFill>
          <a:ln w="12700">
            <a:noFill/>
          </a:ln>
        </p:spPr>
        <p:txBody>
          <a:bodyPr wrap="square">
            <a:spAutoFit/>
          </a:bodyPr>
          <a:lstStyle/>
          <a:p>
            <a:r>
              <a:rPr lang="en-US" sz="1300" kern="1200">
                <a:solidFill>
                  <a:schemeClr val="bg1"/>
                </a:solidFill>
                <a:effectLst/>
                <a:latin typeface="+mn-lt"/>
                <a:ea typeface="+mn-ea"/>
                <a:cs typeface="+mn-cs"/>
              </a:rPr>
              <a:t>Co-own strategic work redesign principles, governance, and strategic direction for work redesign, as member of the C-Suite. </a:t>
            </a:r>
          </a:p>
          <a:p>
            <a:r>
              <a:rPr lang="en-US" sz="1300" kern="1200">
                <a:solidFill>
                  <a:schemeClr val="bg1"/>
                </a:solidFill>
                <a:effectLst/>
                <a:latin typeface="+mn-lt"/>
                <a:ea typeface="+mn-ea"/>
                <a:cs typeface="+mn-cs"/>
              </a:rPr>
              <a:t>Lead workforce planning, job design, culture, talent, and change to align people and processes with evolving priorities and technology opportunities.</a:t>
            </a:r>
          </a:p>
        </p:txBody>
      </p:sp>
      <p:grpSp>
        <p:nvGrpSpPr>
          <p:cNvPr id="53" name="Group 52">
            <a:extLst>
              <a:ext uri="{FF2B5EF4-FFF2-40B4-BE49-F238E27FC236}">
                <a16:creationId xmlns:a16="http://schemas.microsoft.com/office/drawing/2014/main" id="{EED7262E-EF6A-1C5B-857F-2275DC85CEC3}"/>
              </a:ext>
            </a:extLst>
          </p:cNvPr>
          <p:cNvGrpSpPr/>
          <p:nvPr/>
        </p:nvGrpSpPr>
        <p:grpSpPr>
          <a:xfrm>
            <a:off x="5474804" y="2461188"/>
            <a:ext cx="1284880" cy="1283606"/>
            <a:chOff x="671030" y="2285098"/>
            <a:chExt cx="1485417" cy="1483944"/>
          </a:xfrm>
        </p:grpSpPr>
        <p:sp>
          <p:nvSpPr>
            <p:cNvPr id="54" name="Freeform 7">
              <a:extLst>
                <a:ext uri="{FF2B5EF4-FFF2-40B4-BE49-F238E27FC236}">
                  <a16:creationId xmlns:a16="http://schemas.microsoft.com/office/drawing/2014/main" id="{DC21A445-5DEA-8285-8165-F6D0DEB20020}"/>
                </a:ext>
              </a:extLst>
            </p:cNvPr>
            <p:cNvSpPr/>
            <p:nvPr/>
          </p:nvSpPr>
          <p:spPr>
            <a:xfrm>
              <a:off x="671030" y="2285098"/>
              <a:ext cx="742709" cy="1476629"/>
            </a:xfrm>
            <a:custGeom>
              <a:avLst/>
              <a:gdLst/>
              <a:ahLst/>
              <a:cxnLst/>
              <a:rect l="l" t="t" r="r" b="b"/>
              <a:pathLst>
                <a:path w="742709" h="1476629">
                  <a:moveTo>
                    <a:pt x="742709" y="0"/>
                  </a:moveTo>
                  <a:lnTo>
                    <a:pt x="719366" y="0"/>
                  </a:lnTo>
                  <a:lnTo>
                    <a:pt x="672783" y="2933"/>
                  </a:lnTo>
                  <a:lnTo>
                    <a:pt x="626466" y="8775"/>
                  </a:lnTo>
                  <a:lnTo>
                    <a:pt x="580619" y="17526"/>
                  </a:lnTo>
                  <a:lnTo>
                    <a:pt x="535394" y="29134"/>
                  </a:lnTo>
                  <a:lnTo>
                    <a:pt x="491008" y="43561"/>
                  </a:lnTo>
                  <a:lnTo>
                    <a:pt x="447599" y="60744"/>
                  </a:lnTo>
                  <a:lnTo>
                    <a:pt x="405359" y="80619"/>
                  </a:lnTo>
                  <a:lnTo>
                    <a:pt x="364452" y="103111"/>
                  </a:lnTo>
                  <a:lnTo>
                    <a:pt x="325044" y="128130"/>
                  </a:lnTo>
                  <a:lnTo>
                    <a:pt x="287274" y="155562"/>
                  </a:lnTo>
                  <a:lnTo>
                    <a:pt x="251308" y="185318"/>
                  </a:lnTo>
                  <a:lnTo>
                    <a:pt x="217285" y="217271"/>
                  </a:lnTo>
                  <a:lnTo>
                    <a:pt x="185319" y="251307"/>
                  </a:lnTo>
                  <a:lnTo>
                    <a:pt x="155563" y="287274"/>
                  </a:lnTo>
                  <a:lnTo>
                    <a:pt x="128131" y="325031"/>
                  </a:lnTo>
                  <a:lnTo>
                    <a:pt x="103112" y="364451"/>
                  </a:lnTo>
                  <a:lnTo>
                    <a:pt x="80633" y="405358"/>
                  </a:lnTo>
                  <a:lnTo>
                    <a:pt x="60757" y="447598"/>
                  </a:lnTo>
                  <a:lnTo>
                    <a:pt x="43561" y="490995"/>
                  </a:lnTo>
                  <a:lnTo>
                    <a:pt x="29147" y="535394"/>
                  </a:lnTo>
                  <a:lnTo>
                    <a:pt x="17539" y="580606"/>
                  </a:lnTo>
                  <a:lnTo>
                    <a:pt x="8789" y="626465"/>
                  </a:lnTo>
                  <a:lnTo>
                    <a:pt x="2934" y="672769"/>
                  </a:lnTo>
                  <a:lnTo>
                    <a:pt x="0" y="719366"/>
                  </a:lnTo>
                  <a:lnTo>
                    <a:pt x="0" y="766051"/>
                  </a:lnTo>
                  <a:lnTo>
                    <a:pt x="2934" y="812635"/>
                  </a:lnTo>
                  <a:lnTo>
                    <a:pt x="8789" y="858952"/>
                  </a:lnTo>
                  <a:lnTo>
                    <a:pt x="17539" y="904799"/>
                  </a:lnTo>
                  <a:lnTo>
                    <a:pt x="29147" y="950011"/>
                  </a:lnTo>
                  <a:lnTo>
                    <a:pt x="43561" y="994410"/>
                  </a:lnTo>
                  <a:lnTo>
                    <a:pt x="60757" y="1037818"/>
                  </a:lnTo>
                  <a:lnTo>
                    <a:pt x="80633" y="1080046"/>
                  </a:lnTo>
                  <a:lnTo>
                    <a:pt x="103112" y="1120953"/>
                  </a:lnTo>
                  <a:lnTo>
                    <a:pt x="128131" y="1160373"/>
                  </a:lnTo>
                  <a:lnTo>
                    <a:pt x="155563" y="1198143"/>
                  </a:lnTo>
                  <a:lnTo>
                    <a:pt x="185319" y="1234110"/>
                  </a:lnTo>
                  <a:lnTo>
                    <a:pt x="217285" y="1268133"/>
                  </a:lnTo>
                  <a:lnTo>
                    <a:pt x="251308" y="1300086"/>
                  </a:lnTo>
                  <a:lnTo>
                    <a:pt x="287274" y="1329842"/>
                  </a:lnTo>
                  <a:lnTo>
                    <a:pt x="325044" y="1357287"/>
                  </a:lnTo>
                  <a:lnTo>
                    <a:pt x="364452" y="1382293"/>
                  </a:lnTo>
                  <a:lnTo>
                    <a:pt x="405359" y="1404785"/>
                  </a:lnTo>
                  <a:lnTo>
                    <a:pt x="447599" y="1424660"/>
                  </a:lnTo>
                  <a:lnTo>
                    <a:pt x="491008" y="1441843"/>
                  </a:lnTo>
                  <a:lnTo>
                    <a:pt x="535394" y="1456270"/>
                  </a:lnTo>
                  <a:lnTo>
                    <a:pt x="580619" y="1467878"/>
                  </a:lnTo>
                  <a:lnTo>
                    <a:pt x="626466" y="1476629"/>
                  </a:lnTo>
                </a:path>
              </a:pathLst>
            </a:custGeom>
            <a:noFill/>
            <a:ln w="38100" cap="sq">
              <a:gradFill>
                <a:gsLst>
                  <a:gs pos="100000">
                    <a:srgbClr val="002856"/>
                  </a:gs>
                  <a:gs pos="0">
                    <a:srgbClr val="009AD7"/>
                  </a:gs>
                </a:gsLst>
                <a:lin ang="5400000" scaled="1"/>
              </a:gradFill>
              <a:headEnd type="triangle" w="lg" len="med"/>
            </a:ln>
          </p:spPr>
          <p:txBody>
            <a:bodyPr/>
            <a:lstStyle/>
            <a:p>
              <a:endParaRPr lang="en-US"/>
            </a:p>
          </p:txBody>
        </p:sp>
        <p:sp>
          <p:nvSpPr>
            <p:cNvPr id="55" name="Freeform 9">
              <a:extLst>
                <a:ext uri="{FF2B5EF4-FFF2-40B4-BE49-F238E27FC236}">
                  <a16:creationId xmlns:a16="http://schemas.microsoft.com/office/drawing/2014/main" id="{4E9E170A-BAD8-F96C-7294-1BBB89E4BA51}"/>
                </a:ext>
              </a:extLst>
            </p:cNvPr>
            <p:cNvSpPr/>
            <p:nvPr/>
          </p:nvSpPr>
          <p:spPr>
            <a:xfrm>
              <a:off x="1460373" y="2302624"/>
              <a:ext cx="696074" cy="1466418"/>
            </a:xfrm>
            <a:custGeom>
              <a:avLst/>
              <a:gdLst/>
              <a:ahLst/>
              <a:cxnLst/>
              <a:rect l="l" t="t" r="r" b="b"/>
              <a:pathLst>
                <a:path w="696074" h="1466418">
                  <a:moveTo>
                    <a:pt x="0" y="1466418"/>
                  </a:moveTo>
                  <a:lnTo>
                    <a:pt x="23292" y="1464958"/>
                  </a:lnTo>
                  <a:lnTo>
                    <a:pt x="69609" y="1459103"/>
                  </a:lnTo>
                  <a:lnTo>
                    <a:pt x="115456" y="1450352"/>
                  </a:lnTo>
                  <a:lnTo>
                    <a:pt x="160681" y="1438745"/>
                  </a:lnTo>
                  <a:lnTo>
                    <a:pt x="205067" y="1424317"/>
                  </a:lnTo>
                  <a:lnTo>
                    <a:pt x="248476" y="1407134"/>
                  </a:lnTo>
                  <a:lnTo>
                    <a:pt x="290716" y="1387259"/>
                  </a:lnTo>
                  <a:lnTo>
                    <a:pt x="331623" y="1364767"/>
                  </a:lnTo>
                  <a:lnTo>
                    <a:pt x="371031" y="1339761"/>
                  </a:lnTo>
                  <a:lnTo>
                    <a:pt x="408801" y="1312316"/>
                  </a:lnTo>
                  <a:lnTo>
                    <a:pt x="444767" y="1282560"/>
                  </a:lnTo>
                  <a:lnTo>
                    <a:pt x="478791" y="1250607"/>
                  </a:lnTo>
                  <a:lnTo>
                    <a:pt x="510756" y="1216584"/>
                  </a:lnTo>
                  <a:lnTo>
                    <a:pt x="540512" y="1180617"/>
                  </a:lnTo>
                  <a:lnTo>
                    <a:pt x="567944" y="1142847"/>
                  </a:lnTo>
                  <a:lnTo>
                    <a:pt x="592963" y="1103427"/>
                  </a:lnTo>
                  <a:lnTo>
                    <a:pt x="615442" y="1062533"/>
                  </a:lnTo>
                  <a:lnTo>
                    <a:pt x="635318" y="1020292"/>
                  </a:lnTo>
                  <a:lnTo>
                    <a:pt x="652501" y="976884"/>
                  </a:lnTo>
                  <a:lnTo>
                    <a:pt x="666928" y="932485"/>
                  </a:lnTo>
                  <a:lnTo>
                    <a:pt x="678536" y="887273"/>
                  </a:lnTo>
                  <a:lnTo>
                    <a:pt x="687286" y="841426"/>
                  </a:lnTo>
                  <a:lnTo>
                    <a:pt x="693141" y="795109"/>
                  </a:lnTo>
                  <a:lnTo>
                    <a:pt x="696075" y="748525"/>
                  </a:lnTo>
                  <a:lnTo>
                    <a:pt x="696075" y="701840"/>
                  </a:lnTo>
                  <a:lnTo>
                    <a:pt x="693141" y="655243"/>
                  </a:lnTo>
                  <a:lnTo>
                    <a:pt x="687286" y="608939"/>
                  </a:lnTo>
                  <a:lnTo>
                    <a:pt x="678536" y="563080"/>
                  </a:lnTo>
                  <a:lnTo>
                    <a:pt x="666928" y="517868"/>
                  </a:lnTo>
                  <a:lnTo>
                    <a:pt x="652501" y="473469"/>
                  </a:lnTo>
                  <a:lnTo>
                    <a:pt x="635318" y="430073"/>
                  </a:lnTo>
                  <a:lnTo>
                    <a:pt x="615442" y="387832"/>
                  </a:lnTo>
                  <a:lnTo>
                    <a:pt x="592963" y="346926"/>
                  </a:lnTo>
                  <a:lnTo>
                    <a:pt x="567944" y="307505"/>
                  </a:lnTo>
                  <a:lnTo>
                    <a:pt x="540512" y="269748"/>
                  </a:lnTo>
                  <a:lnTo>
                    <a:pt x="510756" y="233782"/>
                  </a:lnTo>
                  <a:lnTo>
                    <a:pt x="478791" y="199745"/>
                  </a:lnTo>
                  <a:lnTo>
                    <a:pt x="444767" y="167792"/>
                  </a:lnTo>
                  <a:lnTo>
                    <a:pt x="408801" y="138036"/>
                  </a:lnTo>
                  <a:lnTo>
                    <a:pt x="371031" y="110604"/>
                  </a:lnTo>
                  <a:lnTo>
                    <a:pt x="331623" y="85585"/>
                  </a:lnTo>
                  <a:lnTo>
                    <a:pt x="290716" y="63094"/>
                  </a:lnTo>
                  <a:lnTo>
                    <a:pt x="248476" y="43218"/>
                  </a:lnTo>
                  <a:lnTo>
                    <a:pt x="205067" y="26035"/>
                  </a:lnTo>
                  <a:lnTo>
                    <a:pt x="160681" y="11608"/>
                  </a:lnTo>
                  <a:lnTo>
                    <a:pt x="115456" y="0"/>
                  </a:lnTo>
                </a:path>
              </a:pathLst>
            </a:custGeom>
            <a:noFill/>
            <a:ln w="38100" cap="sq">
              <a:gradFill>
                <a:gsLst>
                  <a:gs pos="0">
                    <a:srgbClr val="002856"/>
                  </a:gs>
                  <a:gs pos="100000">
                    <a:srgbClr val="009AD7"/>
                  </a:gs>
                </a:gsLst>
                <a:lin ang="5400000" scaled="1"/>
              </a:gradFill>
              <a:headEnd type="triangle" w="lg" len="med"/>
            </a:ln>
          </p:spPr>
          <p:txBody>
            <a:bodyPr/>
            <a:lstStyle/>
            <a:p>
              <a:endParaRPr lang="en-US"/>
            </a:p>
          </p:txBody>
        </p:sp>
      </p:grpSp>
      <p:sp>
        <p:nvSpPr>
          <p:cNvPr id="56" name="Title 1">
            <a:extLst>
              <a:ext uri="{FF2B5EF4-FFF2-40B4-BE49-F238E27FC236}">
                <a16:creationId xmlns:a16="http://schemas.microsoft.com/office/drawing/2014/main" id="{AF4B3F28-5C9A-4F5C-D18D-1AEFD7D59B91}"/>
              </a:ext>
            </a:extLst>
          </p:cNvPr>
          <p:cNvSpPr>
            <a:spLocks noGrp="1"/>
          </p:cNvSpPr>
          <p:nvPr>
            <p:ph type="title"/>
          </p:nvPr>
        </p:nvSpPr>
        <p:spPr>
          <a:xfrm>
            <a:off x="457200" y="361950"/>
            <a:ext cx="11274552" cy="451231"/>
          </a:xfrm>
        </p:spPr>
        <p:txBody>
          <a:bodyPr/>
          <a:lstStyle/>
          <a:p>
            <a:r>
              <a:rPr lang="en-US"/>
              <a:t>Overview: Work Redesign Cycle</a:t>
            </a:r>
          </a:p>
        </p:txBody>
      </p:sp>
      <p:grpSp>
        <p:nvGrpSpPr>
          <p:cNvPr id="57" name="Group 56">
            <a:extLst>
              <a:ext uri="{FF2B5EF4-FFF2-40B4-BE49-F238E27FC236}">
                <a16:creationId xmlns:a16="http://schemas.microsoft.com/office/drawing/2014/main" id="{4486D875-A3DA-9508-C487-FCB7A9DAA433}"/>
              </a:ext>
            </a:extLst>
          </p:cNvPr>
          <p:cNvGrpSpPr/>
          <p:nvPr/>
        </p:nvGrpSpPr>
        <p:grpSpPr>
          <a:xfrm>
            <a:off x="285268" y="5808735"/>
            <a:ext cx="11446484" cy="373126"/>
            <a:chOff x="285268" y="5499130"/>
            <a:chExt cx="11446484" cy="373126"/>
          </a:xfrm>
        </p:grpSpPr>
        <p:sp>
          <p:nvSpPr>
            <p:cNvPr id="58" name="Rectangle 57">
              <a:extLst>
                <a:ext uri="{FF2B5EF4-FFF2-40B4-BE49-F238E27FC236}">
                  <a16:creationId xmlns:a16="http://schemas.microsoft.com/office/drawing/2014/main" id="{F7D6AE79-244B-03CA-73A3-FDF3F317DFA3}"/>
                </a:ext>
              </a:extLst>
            </p:cNvPr>
            <p:cNvSpPr/>
            <p:nvPr/>
          </p:nvSpPr>
          <p:spPr>
            <a:xfrm>
              <a:off x="455739" y="5595257"/>
              <a:ext cx="11276013" cy="276999"/>
            </a:xfrm>
            <a:prstGeom prst="rect">
              <a:avLst/>
            </a:prstGeom>
            <a:noFill/>
            <a:ln w="25400">
              <a:solidFill>
                <a:srgbClr val="1F96FF"/>
              </a:solidFill>
            </a:ln>
          </p:spPr>
          <p:style>
            <a:lnRef idx="2">
              <a:schemeClr val="accent1">
                <a:shade val="50000"/>
              </a:schemeClr>
            </a:lnRef>
            <a:fillRef idx="1">
              <a:schemeClr val="accent1"/>
            </a:fillRef>
            <a:effectRef idx="0">
              <a:schemeClr val="accent1"/>
            </a:effectRef>
            <a:fontRef idx="minor">
              <a:schemeClr val="lt1"/>
            </a:fontRef>
          </p:style>
          <p:txBody>
            <a:bodyPr lIns="182880" rtlCol="0" anchor="t">
              <a:spAutoFit/>
            </a:bodyPr>
            <a:lstStyle/>
            <a:p>
              <a:r>
                <a:rPr lang="en-US" sz="1200" b="1">
                  <a:solidFill>
                    <a:srgbClr val="000000"/>
                  </a:solidFill>
                </a:rPr>
                <a:t>Recalibrate, reset, and continuously adjust processes, jobs, and capabilities to evolving demands and technologies.</a:t>
              </a:r>
              <a:endParaRPr lang="en-US" sz="1200">
                <a:solidFill>
                  <a:srgbClr val="000000"/>
                </a:solidFill>
              </a:endParaRPr>
            </a:p>
          </p:txBody>
        </p:sp>
        <p:sp>
          <p:nvSpPr>
            <p:cNvPr id="59" name="Rectangle 58">
              <a:extLst>
                <a:ext uri="{FF2B5EF4-FFF2-40B4-BE49-F238E27FC236}">
                  <a16:creationId xmlns:a16="http://schemas.microsoft.com/office/drawing/2014/main" id="{DA87E9C2-178E-FD61-40F8-9AD87C44767F}"/>
                </a:ext>
              </a:extLst>
            </p:cNvPr>
            <p:cNvSpPr/>
            <p:nvPr/>
          </p:nvSpPr>
          <p:spPr>
            <a:xfrm>
              <a:off x="375557" y="5531742"/>
              <a:ext cx="212272" cy="2651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60" name="Graphic 59">
              <a:extLst>
                <a:ext uri="{FF2B5EF4-FFF2-40B4-BE49-F238E27FC236}">
                  <a16:creationId xmlns:a16="http://schemas.microsoft.com/office/drawing/2014/main" id="{3C3C71A6-C798-7D9D-A3B0-9BAF9A8C04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268" y="5499130"/>
              <a:ext cx="340941" cy="265176"/>
            </a:xfrm>
            <a:prstGeom prst="rect">
              <a:avLst/>
            </a:prstGeom>
          </p:spPr>
        </p:pic>
      </p:grpSp>
      <p:sp>
        <p:nvSpPr>
          <p:cNvPr id="61" name="TextBox 60">
            <a:extLst>
              <a:ext uri="{FF2B5EF4-FFF2-40B4-BE49-F238E27FC236}">
                <a16:creationId xmlns:a16="http://schemas.microsoft.com/office/drawing/2014/main" id="{62366BDC-16D4-27B7-56A8-8144012BE910}"/>
              </a:ext>
            </a:extLst>
          </p:cNvPr>
          <p:cNvSpPr txBox="1"/>
          <p:nvPr/>
        </p:nvSpPr>
        <p:spPr>
          <a:xfrm>
            <a:off x="481693" y="4687505"/>
            <a:ext cx="764633" cy="276999"/>
          </a:xfrm>
          <a:prstGeom prst="rect">
            <a:avLst/>
          </a:prstGeom>
          <a:noFill/>
        </p:spPr>
        <p:txBody>
          <a:bodyPr rot="0" spcFirstLastPara="0" vertOverflow="overflow" horzOverflow="overflow" vert="horz" wrap="none" lIns="0" tIns="45720" rIns="0" bIns="45720" numCol="1" spcCol="0" rtlCol="0" fromWordArt="0" anchor="t" anchorCtr="0" forceAA="0" compatLnSpc="1">
            <a:prstTxWarp prst="textNoShape">
              <a:avLst/>
            </a:prstTxWarp>
            <a:spAutoFit/>
          </a:bodyPr>
          <a:lstStyle/>
          <a:p>
            <a:r>
              <a:rPr lang="en-US" sz="1200" b="1">
                <a:cs typeface="Arial"/>
              </a:rPr>
              <a:t>Guidance: </a:t>
            </a:r>
            <a:endParaRPr lang="en-US" b="1">
              <a:cs typeface="Arial"/>
            </a:endParaRPr>
          </a:p>
        </p:txBody>
      </p:sp>
    </p:spTree>
    <p:extLst>
      <p:ext uri="{BB962C8B-B14F-4D97-AF65-F5344CB8AC3E}">
        <p14:creationId xmlns:p14="http://schemas.microsoft.com/office/powerpoint/2010/main" val="932164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276E-D683-A320-09A2-FEFF3D4ECA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753897-4212-E4CB-672C-81AA79F8F65C}"/>
              </a:ext>
            </a:extLst>
          </p:cNvPr>
          <p:cNvSpPr>
            <a:spLocks noGrp="1"/>
          </p:cNvSpPr>
          <p:nvPr>
            <p:ph type="title"/>
          </p:nvPr>
        </p:nvSpPr>
        <p:spPr>
          <a:xfrm>
            <a:off x="457200" y="361950"/>
            <a:ext cx="11274552" cy="451231"/>
          </a:xfrm>
        </p:spPr>
        <p:txBody>
          <a:bodyPr/>
          <a:lstStyle/>
          <a:p>
            <a:r>
              <a:rPr lang="en-US" dirty="0"/>
              <a:t>Key Steps and HR Function Contribution</a:t>
            </a:r>
          </a:p>
        </p:txBody>
      </p:sp>
      <p:graphicFrame>
        <p:nvGraphicFramePr>
          <p:cNvPr id="5" name="Google Shape;159;p7">
            <a:extLst>
              <a:ext uri="{FF2B5EF4-FFF2-40B4-BE49-F238E27FC236}">
                <a16:creationId xmlns:a16="http://schemas.microsoft.com/office/drawing/2014/main" id="{ED9014A5-88E2-DB2B-55A4-53437C5C75CB}"/>
              </a:ext>
            </a:extLst>
          </p:cNvPr>
          <p:cNvGraphicFramePr/>
          <p:nvPr>
            <p:extLst>
              <p:ext uri="{D42A27DB-BD31-4B8C-83A1-F6EECF244321}">
                <p14:modId xmlns:p14="http://schemas.microsoft.com/office/powerpoint/2010/main" val="2554304448"/>
              </p:ext>
            </p:extLst>
          </p:nvPr>
        </p:nvGraphicFramePr>
        <p:xfrm>
          <a:off x="457198" y="914400"/>
          <a:ext cx="11408229" cy="4808220"/>
        </p:xfrm>
        <a:graphic>
          <a:graphicData uri="http://schemas.openxmlformats.org/drawingml/2006/table">
            <a:tbl>
              <a:tblPr firstRow="1" bandRow="1">
                <a:noFill/>
              </a:tblPr>
              <a:tblGrid>
                <a:gridCol w="2721008">
                  <a:extLst>
                    <a:ext uri="{9D8B030D-6E8A-4147-A177-3AD203B41FA5}">
                      <a16:colId xmlns:a16="http://schemas.microsoft.com/office/drawing/2014/main" val="20002"/>
                    </a:ext>
                  </a:extLst>
                </a:gridCol>
                <a:gridCol w="8687221">
                  <a:extLst>
                    <a:ext uri="{9D8B030D-6E8A-4147-A177-3AD203B41FA5}">
                      <a16:colId xmlns:a16="http://schemas.microsoft.com/office/drawing/2014/main" val="2954750524"/>
                    </a:ext>
                  </a:extLst>
                </a:gridCol>
              </a:tblGrid>
              <a:tr h="250327">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300" b="1" dirty="0">
                          <a:solidFill>
                            <a:srgbClr val="FFFFFF"/>
                          </a:solidFill>
                        </a:rPr>
                        <a:t>CHRO role</a:t>
                      </a:r>
                    </a:p>
                  </a:txBody>
                  <a:tcPr marL="109728" marR="109728" marT="64008" marB="64008">
                    <a:lnL w="3175" cap="flat" cmpd="sng" algn="ctr">
                      <a:solidFill>
                        <a:srgbClr val="D3D3D3"/>
                      </a:solidFill>
                      <a:prstDash val="solid"/>
                      <a:round/>
                      <a:headEnd type="none" w="med" len="med"/>
                      <a:tailEnd type="none" w="med" len="med"/>
                    </a:lnL>
                    <a:lnR w="3175" cap="flat" cmpd="sng" algn="ctr">
                      <a:solidFill>
                        <a:srgbClr val="D3D3D3"/>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400" b="1">
                          <a:solidFill>
                            <a:schemeClr val="bg1"/>
                          </a:solidFill>
                        </a:rPr>
                        <a:t>Value Stream and Process Optimization</a:t>
                      </a:r>
                      <a:endParaRPr lang="en-US" sz="1300" b="1">
                        <a:solidFill>
                          <a:schemeClr val="bg1"/>
                        </a:solidFill>
                      </a:endParaRPr>
                    </a:p>
                  </a:txBody>
                  <a:tcPr marL="109728" marR="109728" marT="64008" marB="64008">
                    <a:lnL w="3175" cap="flat" cmpd="sng" algn="ctr">
                      <a:solidFill>
                        <a:srgbClr val="D3D3D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361759">
                <a:tc>
                  <a:txBody>
                    <a:bodyPr/>
                    <a:lstStyle/>
                    <a:p>
                      <a:pPr marL="0" marR="0" lvl="0" indent="0" algn="l" defTabSz="457200" rtl="0" eaLnBrk="1" fontAlgn="t" latinLnBrk="0" hangingPunct="1">
                        <a:lnSpc>
                          <a:spcPct val="90000"/>
                        </a:lnSpc>
                        <a:spcBef>
                          <a:spcPts val="3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Co-own as ExecCo member. Contribute to strategic alignment discussions</a:t>
                      </a:r>
                    </a:p>
                  </a:txBody>
                  <a:tcPr marL="109728" marR="109728" marT="64008" marB="64008">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t" latinLnBrk="0" hangingPunct="1">
                        <a:lnSpc>
                          <a:spcPct val="9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mn-lt"/>
                          <a:ea typeface="+mn-ea"/>
                          <a:cs typeface="+mn-cs"/>
                        </a:rPr>
                        <a:t>Step 1: Align on Design Goals and Key Value Streams</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Align on strategic design goals and principles, including AI and technology readiness.</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Prioritize key value stream activities/capabilities based on impact and return.</a:t>
                      </a:r>
                    </a:p>
                  </a:txBody>
                  <a:tcPr marL="109728" marR="109728" marT="64008" marB="64008">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35181">
                <a:tc rowSpan="3">
                  <a:txBody>
                    <a:bodyPr/>
                    <a:lstStyle/>
                    <a:p>
                      <a:pPr marL="0" marR="0" lvl="0" indent="0" algn="l" rtl="0">
                        <a:lnSpc>
                          <a:spcPct val="90000"/>
                        </a:lnSpc>
                        <a:spcBef>
                          <a:spcPts val="0"/>
                        </a:spcBef>
                        <a:spcAft>
                          <a:spcPts val="600"/>
                        </a:spcAft>
                        <a:buNone/>
                      </a:pPr>
                      <a:r>
                        <a:rPr kumimoji="0" lang="en-US" sz="1200" b="0" i="0" u="none" strike="noStrike" kern="1200" cap="none" spc="0" normalizeH="0" baseline="0" noProof="0">
                          <a:ln>
                            <a:noFill/>
                          </a:ln>
                          <a:solidFill>
                            <a:srgbClr val="000000"/>
                          </a:solidFill>
                          <a:effectLst/>
                          <a:uLnTx/>
                          <a:uFillTx/>
                          <a:latin typeface="+mn-lt"/>
                          <a:ea typeface="+mn-ea"/>
                          <a:cs typeface="+mn-cs"/>
                        </a:rPr>
                        <a:t>Guide HR Function contribution to cross functional effort</a:t>
                      </a:r>
                    </a:p>
                  </a:txBody>
                  <a:tcPr marL="109728" marR="109728" marT="64008" marB="64008" anchor="ctr">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defTabSz="457200" rtl="0" eaLnBrk="1" fontAlgn="t"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Step 2: Assess Process Performance</a:t>
                      </a:r>
                      <a:endParaRPr kumimoji="0" lang="en-US" sz="1200" b="0" i="0" u="none" strike="noStrike" kern="1200" cap="none" spc="0" normalizeH="0" baseline="0" noProof="0">
                        <a:ln>
                          <a:noFill/>
                        </a:ln>
                        <a:solidFill>
                          <a:srgbClr val="000000"/>
                        </a:solidFill>
                        <a:effectLst/>
                        <a:uLnTx/>
                        <a:uFillTx/>
                        <a:latin typeface="+mn-lt"/>
                        <a:ea typeface="+mn-ea"/>
                        <a:cs typeface="+mn-cs"/>
                      </a:endParaRP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Provide insights on performance related, capability, or capacity related pain points and employee experience.</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Engage broadly: Top-down alignment and bottom-up input. Orchestrate cross-functional accountability. Involve those closest to the work.</a:t>
                      </a:r>
                      <a:endParaRPr lang="en-US" sz="1200">
                        <a:solidFill>
                          <a:srgbClr val="000000"/>
                        </a:solidFill>
                        <a:latin typeface="+mn-lt"/>
                      </a:endParaRP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2"/>
                  </a:ext>
                </a:extLst>
              </a:tr>
              <a:tr h="908604">
                <a:tc vMerge="1">
                  <a:txBody>
                    <a:bodyPr/>
                    <a:lstStyle/>
                    <a:p>
                      <a:endParaRP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t"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000000"/>
                          </a:solidFill>
                          <a:effectLst/>
                          <a:uLnTx/>
                          <a:uFillTx/>
                          <a:latin typeface="+mn-lt"/>
                          <a:ea typeface="+mn-ea"/>
                          <a:cs typeface="+mn-cs"/>
                        </a:rPr>
                        <a:t>Step 3: Define People + Technology contribution</a:t>
                      </a:r>
                      <a:endParaRPr lang="en-US" sz="1200" dirty="0">
                        <a:solidFill>
                          <a:srgbClr val="000000"/>
                        </a:solidFill>
                        <a:latin typeface="+mn-lt"/>
                      </a:endParaRP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lang="en-US" sz="1200" dirty="0">
                          <a:solidFill>
                            <a:srgbClr val="000000"/>
                          </a:solidFill>
                          <a:latin typeface="+mn-lt"/>
                        </a:rPr>
                        <a:t>I</a:t>
                      </a:r>
                      <a:r>
                        <a:rPr kumimoji="0" lang="en-US" sz="1200" b="0" i="0" u="none" strike="noStrike" kern="1200" cap="none" spc="0" normalizeH="0" baseline="0" noProof="0" dirty="0" err="1">
                          <a:ln>
                            <a:noFill/>
                          </a:ln>
                          <a:solidFill>
                            <a:srgbClr val="000000"/>
                          </a:solidFill>
                          <a:effectLst/>
                          <a:uLnTx/>
                          <a:uFillTx/>
                          <a:latin typeface="+mn-lt"/>
                          <a:ea typeface="+mn-ea"/>
                          <a:cs typeface="+mn-cs"/>
                        </a:rPr>
                        <a:t>dentify</a:t>
                      </a:r>
                      <a:r>
                        <a:rPr kumimoji="0" lang="en-US" sz="1200" b="0" i="0" u="none" strike="noStrike" kern="1200" cap="none" spc="0" normalizeH="0" baseline="0" noProof="0" dirty="0">
                          <a:ln>
                            <a:noFill/>
                          </a:ln>
                          <a:solidFill>
                            <a:srgbClr val="000000"/>
                          </a:solidFill>
                          <a:effectLst/>
                          <a:uLnTx/>
                          <a:uFillTx/>
                          <a:latin typeface="+mn-lt"/>
                          <a:ea typeface="+mn-ea"/>
                          <a:cs typeface="+mn-cs"/>
                        </a:rPr>
                        <a:t> the work done by humans. Assess current tech and how it supports efficiency, employee experience, and business needs. </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Champion human-centric design and </a:t>
                      </a:r>
                      <a:r>
                        <a:rPr lang="en-US" sz="1200" dirty="0">
                          <a:solidFill>
                            <a:srgbClr val="000000"/>
                          </a:solidFill>
                          <a:latin typeface="+mn-lt"/>
                        </a:rPr>
                        <a:t>engage in decisions as to which </a:t>
                      </a:r>
                      <a:r>
                        <a:rPr kumimoji="0" lang="en-US" sz="1200" b="0" i="0" u="none" strike="noStrike" kern="1200" cap="none" spc="0" normalizeH="0" baseline="0" noProof="0" dirty="0">
                          <a:ln>
                            <a:noFill/>
                          </a:ln>
                          <a:solidFill>
                            <a:srgbClr val="000000"/>
                          </a:solidFill>
                          <a:effectLst/>
                          <a:uLnTx/>
                          <a:uFillTx/>
                          <a:latin typeface="+mn-lt"/>
                          <a:ea typeface="+mn-ea"/>
                          <a:cs typeface="+mn-cs"/>
                        </a:rPr>
                        <a:t>tasks stay human vs. shift to tech, ensuring alignment with workforce capabilities, brand/trust moments, regulatory guardrails and design principles. </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Evaluate optimization/technology opportunities considering return, change effort and feasibility.</a:t>
                      </a: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3"/>
                  </a:ext>
                </a:extLst>
              </a:tr>
              <a:tr h="498470">
                <a:tc vMerge="1">
                  <a:txBody>
                    <a:bodyPr/>
                    <a:lstStyle/>
                    <a:p>
                      <a:endParaRP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4F4F4"/>
                    </a:solidFill>
                  </a:tcPr>
                </a:tc>
                <a:tc>
                  <a:txBody>
                    <a:bodyPr/>
                    <a:lstStyle/>
                    <a:p>
                      <a:pPr marL="0" marR="0" lvl="0" indent="0" algn="l" defTabSz="457200" rtl="0" eaLnBrk="1" fontAlgn="t"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Step 4: Redesign future processes</a:t>
                      </a:r>
                      <a:endParaRPr kumimoji="0" lang="en-US" sz="1200" b="0" i="0" u="none" strike="noStrike" kern="1200" cap="none" spc="0" normalizeH="0" baseline="0" noProof="0">
                        <a:ln>
                          <a:noFill/>
                        </a:ln>
                        <a:solidFill>
                          <a:srgbClr val="000000"/>
                        </a:solidFill>
                        <a:effectLst/>
                        <a:uLnTx/>
                        <a:uFillTx/>
                        <a:latin typeface="+mn-lt"/>
                        <a:ea typeface="+mn-ea"/>
                        <a:cs typeface="+mn-cs"/>
                      </a:endParaRP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Partner to embed workforce considerations in workflows.</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Enable Dynamic Redesign, and a cycle for ongoing adjustments backed by HR-led change management.</a:t>
                      </a: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4"/>
                  </a:ext>
                </a:extLst>
              </a:tr>
              <a:tr h="361759">
                <a:tc>
                  <a:txBody>
                    <a:bodyPr/>
                    <a:lstStyle/>
                    <a:p>
                      <a:pPr marL="0" marR="0" lvl="0" indent="0" algn="l" rtl="0">
                        <a:lnSpc>
                          <a:spcPct val="90000"/>
                        </a:lnSpc>
                        <a:spcBef>
                          <a:spcPts val="0"/>
                        </a:spcBef>
                        <a:spcAft>
                          <a:spcPts val="600"/>
                        </a:spcAft>
                        <a:buNone/>
                      </a:pPr>
                      <a:r>
                        <a:rPr kumimoji="0" lang="en-US" sz="1200" b="0" i="0" u="none" strike="noStrike" kern="1200" cap="none" spc="0" normalizeH="0" baseline="0" noProof="0">
                          <a:ln>
                            <a:noFill/>
                          </a:ln>
                          <a:solidFill>
                            <a:srgbClr val="000000"/>
                          </a:solidFill>
                          <a:effectLst/>
                          <a:uLnTx/>
                          <a:uFillTx/>
                          <a:latin typeface="+mn-lt"/>
                          <a:ea typeface="+mn-ea"/>
                          <a:cs typeface="+mn-cs"/>
                        </a:rPr>
                        <a:t>HR Leadership and ownership of work + workforce alignment</a:t>
                      </a:r>
                      <a:endParaRPr sz="1200" b="0">
                        <a:solidFill>
                          <a:schemeClr val="tx1"/>
                        </a:solidFill>
                        <a:latin typeface="+mn-lt"/>
                      </a:endParaRP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t" latinLnBrk="0" hangingPunct="1">
                        <a:lnSpc>
                          <a:spcPct val="9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Step 5: Redesign jobs and assess impact</a:t>
                      </a:r>
                      <a:endParaRPr kumimoji="0" lang="en-US" sz="1200" b="0" i="0" u="none" strike="noStrike" kern="1200" cap="none" spc="0" normalizeH="0" baseline="0" noProof="0">
                        <a:ln>
                          <a:noFill/>
                        </a:ln>
                        <a:solidFill>
                          <a:srgbClr val="000000"/>
                        </a:solidFill>
                        <a:effectLst/>
                        <a:uLnTx/>
                        <a:uFillTx/>
                        <a:latin typeface="+mn-lt"/>
                        <a:ea typeface="+mn-ea"/>
                        <a:cs typeface="+mn-cs"/>
                      </a:endParaRP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Own job redesign and capability planning and address talent implications.</a:t>
                      </a:r>
                    </a:p>
                    <a:p>
                      <a:pPr marL="173355" marR="0" lvl="0" indent="-173355"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Lead reskilling, change management, and communication.</a:t>
                      </a: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61759">
                <a:tc>
                  <a:txBody>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Co-own as </a:t>
                      </a:r>
                      <a:r>
                        <a:rPr kumimoji="0" lang="en-US" sz="1200" b="0" i="0" u="none" strike="noStrike" kern="1200" cap="none" spc="0" normalizeH="0" baseline="0" noProof="0" dirty="0" err="1">
                          <a:ln>
                            <a:noFill/>
                          </a:ln>
                          <a:solidFill>
                            <a:srgbClr val="000000"/>
                          </a:solidFill>
                          <a:effectLst/>
                          <a:uLnTx/>
                          <a:uFillTx/>
                          <a:latin typeface="+mn-lt"/>
                          <a:ea typeface="+mn-ea"/>
                          <a:cs typeface="+mn-cs"/>
                        </a:rPr>
                        <a:t>ExecCo</a:t>
                      </a:r>
                      <a:r>
                        <a:rPr kumimoji="0" lang="en-US" sz="1200" b="0" i="0" u="none" strike="noStrike" kern="1200" cap="none" spc="0" normalizeH="0" baseline="0" noProof="0" dirty="0">
                          <a:ln>
                            <a:noFill/>
                          </a:ln>
                          <a:solidFill>
                            <a:srgbClr val="000000"/>
                          </a:solidFill>
                          <a:effectLst/>
                          <a:uLnTx/>
                          <a:uFillTx/>
                          <a:latin typeface="+mn-lt"/>
                          <a:ea typeface="+mn-ea"/>
                          <a:cs typeface="+mn-cs"/>
                        </a:rPr>
                        <a:t> member. Embed dynamic design as capability </a:t>
                      </a:r>
                    </a:p>
                    <a:p>
                      <a:pPr marL="0" marR="0" lvl="0" indent="0" algn="l" rtl="0">
                        <a:lnSpc>
                          <a:spcPct val="90000"/>
                        </a:lnSpc>
                        <a:spcBef>
                          <a:spcPts val="0"/>
                        </a:spcBef>
                        <a:spcAft>
                          <a:spcPts val="600"/>
                        </a:spcAft>
                        <a:buNone/>
                      </a:pPr>
                      <a:endParaRPr sz="1200" b="0" dirty="0">
                        <a:solidFill>
                          <a:schemeClr val="tx1"/>
                        </a:solidFill>
                        <a:latin typeface="+mn-lt"/>
                      </a:endParaRP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defTabSz="457200" rtl="0" eaLnBrk="1" fontAlgn="t" latinLnBrk="0" hangingPunct="1">
                        <a:lnSpc>
                          <a:spcPct val="90000"/>
                        </a:lnSpc>
                        <a:spcBef>
                          <a:spcPts val="0"/>
                        </a:spcBef>
                        <a:spcAft>
                          <a:spcPts val="0"/>
                        </a:spcAft>
                        <a:buClrTx/>
                        <a:buSzTx/>
                        <a:buFont typeface="Arial" panose="020B0604020202020204" pitchFamily="34" charset="0"/>
                        <a:buNone/>
                        <a:tabLst/>
                        <a:defRPr/>
                      </a:pPr>
                      <a:r>
                        <a:rPr lang="en-US" sz="1200" b="1" dirty="0"/>
                        <a:t>Continuous Adaptation: People, Process, Technology</a:t>
                      </a:r>
                    </a:p>
                    <a:p>
                      <a:pPr marL="171450" marR="0" lvl="0" indent="-171450"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Strengthen process excellence and AI capabilities to enable continuous adaptation</a:t>
                      </a:r>
                      <a:r>
                        <a:rPr lang="en-US" sz="1200" b="0" i="0" u="none" strike="noStrike" kern="1200" cap="none" spc="0" normalizeH="0" baseline="0" noProof="0" dirty="0">
                          <a:ln>
                            <a:noFill/>
                          </a:ln>
                          <a:solidFill>
                            <a:srgbClr val="000000"/>
                          </a:solidFill>
                          <a:effectLst/>
                          <a:uLnTx/>
                          <a:uFillTx/>
                          <a:latin typeface="+mn-lt"/>
                          <a:ea typeface="+mn-ea"/>
                          <a:cs typeface="+mn-cs"/>
                        </a:rPr>
                        <a:t>.</a:t>
                      </a:r>
                      <a:endParaRPr kumimoji="0" lang="en-US" sz="1200" b="0" i="0" u="none" strike="noStrike" kern="1200" cap="none" spc="0" normalizeH="0" baseline="0" noProof="0" dirty="0">
                        <a:ln>
                          <a:noFill/>
                        </a:ln>
                        <a:solidFill>
                          <a:srgbClr val="000000"/>
                        </a:solidFill>
                        <a:effectLst/>
                        <a:uLnTx/>
                        <a:uFillTx/>
                        <a:latin typeface="+mn-lt"/>
                        <a:ea typeface="+mn-ea"/>
                        <a:cs typeface="+mn-cs"/>
                      </a:endParaRPr>
                    </a:p>
                    <a:p>
                      <a:pPr marL="171450" marR="0" lvl="0" indent="-171450" algn="l" defTabSz="457200" rtl="0" eaLnBrk="1" fontAlgn="t" latinLnBrk="0" hangingPunct="1">
                        <a:lnSpc>
                          <a:spcPct val="9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Embed a recurring recalibration cycle with reskilling, change readiness, and regular talent alignment reviews.</a:t>
                      </a:r>
                    </a:p>
                  </a:txBody>
                  <a:tcPr marL="109728" marR="109728" marT="64008" marB="64008">
                    <a:lnL w="12700" cmpd="sng">
                      <a:noFill/>
                      <a:prstDash val="solid"/>
                    </a:lnL>
                    <a:lnR w="12700" cmpd="sng">
                      <a:noFill/>
                      <a:prstDash val="soli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3786678489"/>
                  </a:ext>
                </a:extLst>
              </a:tr>
            </a:tbl>
          </a:graphicData>
        </a:graphic>
      </p:graphicFrame>
    </p:spTree>
    <p:extLst>
      <p:ext uri="{BB962C8B-B14F-4D97-AF65-F5344CB8AC3E}">
        <p14:creationId xmlns:p14="http://schemas.microsoft.com/office/powerpoint/2010/main" val="3626205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591F6-8EF9-2D12-9E62-1BC271A0BDC6}"/>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C0AA39F3-AAF0-D9F4-26E0-9F2AD721F9B3}"/>
              </a:ext>
            </a:extLst>
          </p:cNvPr>
          <p:cNvGrpSpPr/>
          <p:nvPr/>
        </p:nvGrpSpPr>
        <p:grpSpPr>
          <a:xfrm>
            <a:off x="5889254" y="5176042"/>
            <a:ext cx="1047361" cy="373709"/>
            <a:chOff x="6281199" y="2078209"/>
            <a:chExt cx="1047361" cy="373709"/>
          </a:xfrm>
        </p:grpSpPr>
        <p:sp>
          <p:nvSpPr>
            <p:cNvPr id="54" name="Freeform 20">
              <a:extLst>
                <a:ext uri="{FF2B5EF4-FFF2-40B4-BE49-F238E27FC236}">
                  <a16:creationId xmlns:a16="http://schemas.microsoft.com/office/drawing/2014/main" id="{137F0776-723A-5BF0-AD49-850ACB34AB95}"/>
                </a:ext>
              </a:extLst>
            </p:cNvPr>
            <p:cNvSpPr/>
            <p:nvPr/>
          </p:nvSpPr>
          <p:spPr>
            <a:xfrm>
              <a:off x="6474230" y="2082586"/>
              <a:ext cx="854330" cy="369332"/>
            </a:xfrm>
            <a:custGeom>
              <a:avLst/>
              <a:gdLst/>
              <a:ahLst/>
              <a:cxnLst/>
              <a:rect l="l" t="t" r="r" b="b"/>
              <a:pathLst>
                <a:path w="1998129" h="347040">
                  <a:moveTo>
                    <a:pt x="0" y="347041"/>
                  </a:moveTo>
                  <a:lnTo>
                    <a:pt x="1998129" y="347041"/>
                  </a:lnTo>
                  <a:lnTo>
                    <a:pt x="1998129" y="0"/>
                  </a:lnTo>
                  <a:lnTo>
                    <a:pt x="0" y="0"/>
                  </a:lnTo>
                  <a:close/>
                </a:path>
              </a:pathLst>
            </a:custGeom>
            <a:noFill/>
            <a:ln w="57150">
              <a:solidFill>
                <a:schemeClr val="bg1"/>
              </a:solidFill>
            </a:ln>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mn-cs"/>
                </a:rPr>
                <a:t>Priority focus </a:t>
              </a:r>
            </a:p>
          </p:txBody>
        </p:sp>
        <p:pic>
          <p:nvPicPr>
            <p:cNvPr id="55" name="Graphic 54">
              <a:extLst>
                <a:ext uri="{FF2B5EF4-FFF2-40B4-BE49-F238E27FC236}">
                  <a16:creationId xmlns:a16="http://schemas.microsoft.com/office/drawing/2014/main" id="{624320C1-92F7-CB7D-DE8F-6103939668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1199" y="2078209"/>
              <a:ext cx="277398" cy="215754"/>
            </a:xfrm>
            <a:prstGeom prst="rect">
              <a:avLst/>
            </a:prstGeom>
          </p:spPr>
        </p:pic>
      </p:grpSp>
      <p:sp>
        <p:nvSpPr>
          <p:cNvPr id="12" name="Title 11">
            <a:extLst>
              <a:ext uri="{FF2B5EF4-FFF2-40B4-BE49-F238E27FC236}">
                <a16:creationId xmlns:a16="http://schemas.microsoft.com/office/drawing/2014/main" id="{C61714AC-940E-094F-42DE-BD1835A8ACF2}"/>
              </a:ext>
            </a:extLst>
          </p:cNvPr>
          <p:cNvSpPr>
            <a:spLocks noGrp="1"/>
          </p:cNvSpPr>
          <p:nvPr>
            <p:ph type="title"/>
          </p:nvPr>
        </p:nvSpPr>
        <p:spPr>
          <a:xfrm>
            <a:off x="457200" y="361950"/>
            <a:ext cx="11274425" cy="450850"/>
          </a:xfrm>
        </p:spPr>
        <p:txBody>
          <a:bodyPr/>
          <a:lstStyle/>
          <a:p>
            <a:r>
              <a:rPr lang="en-US"/>
              <a:t>1. Align on Design Goals and Key Value Streams</a:t>
            </a:r>
          </a:p>
        </p:txBody>
      </p:sp>
      <p:sp>
        <p:nvSpPr>
          <p:cNvPr id="3" name="Rectangle 2">
            <a:extLst>
              <a:ext uri="{FF2B5EF4-FFF2-40B4-BE49-F238E27FC236}">
                <a16:creationId xmlns:a16="http://schemas.microsoft.com/office/drawing/2014/main" id="{CE6C9008-F642-CEFD-8EAD-476C7A5937EF}"/>
              </a:ext>
            </a:extLst>
          </p:cNvPr>
          <p:cNvSpPr/>
          <p:nvPr/>
        </p:nvSpPr>
        <p:spPr>
          <a:xfrm>
            <a:off x="8442434" y="2"/>
            <a:ext cx="3749567" cy="34353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Co-own as member of </a:t>
            </a:r>
            <a:r>
              <a:rPr kumimoji="0" lang="en-US" sz="1200" b="1" i="0" u="none" strike="noStrike" kern="0" cap="none" spc="0" normalizeH="0" baseline="0" noProof="0">
                <a:ln>
                  <a:noFill/>
                </a:ln>
                <a:solidFill>
                  <a:schemeClr val="bg1"/>
                </a:solidFill>
                <a:effectLst/>
                <a:uLnTx/>
                <a:uFillTx/>
                <a:latin typeface="Gartner Sans" panose="020B0504030402040204" pitchFamily="34" charset="0"/>
              </a:rPr>
              <a:t>Exec Co </a:t>
            </a:r>
          </a:p>
        </p:txBody>
      </p:sp>
      <p:graphicFrame>
        <p:nvGraphicFramePr>
          <p:cNvPr id="4" name="Google Shape;159;p7">
            <a:extLst>
              <a:ext uri="{FF2B5EF4-FFF2-40B4-BE49-F238E27FC236}">
                <a16:creationId xmlns:a16="http://schemas.microsoft.com/office/drawing/2014/main" id="{76E5D2E9-8674-1179-5272-9FC77938AD30}"/>
              </a:ext>
            </a:extLst>
          </p:cNvPr>
          <p:cNvGraphicFramePr/>
          <p:nvPr>
            <p:extLst>
              <p:ext uri="{D42A27DB-BD31-4B8C-83A1-F6EECF244321}">
                <p14:modId xmlns:p14="http://schemas.microsoft.com/office/powerpoint/2010/main" val="3039697477"/>
              </p:ext>
            </p:extLst>
          </p:nvPr>
        </p:nvGraphicFramePr>
        <p:xfrm>
          <a:off x="504034" y="1157409"/>
          <a:ext cx="4986373" cy="4715001"/>
        </p:xfrm>
        <a:graphic>
          <a:graphicData uri="http://schemas.openxmlformats.org/drawingml/2006/table">
            <a:tbl>
              <a:tblPr firstRow="1" bandRow="1">
                <a:noFill/>
              </a:tblPr>
              <a:tblGrid>
                <a:gridCol w="4986373">
                  <a:extLst>
                    <a:ext uri="{9D8B030D-6E8A-4147-A177-3AD203B41FA5}">
                      <a16:colId xmlns:a16="http://schemas.microsoft.com/office/drawing/2014/main" val="20001"/>
                    </a:ext>
                  </a:extLst>
                </a:gridCol>
              </a:tblGrid>
              <a:tr h="286836">
                <a:tc>
                  <a:txBody>
                    <a:bodyPr/>
                    <a:lstStyle/>
                    <a:p>
                      <a:pPr marL="0" marR="0" lvl="0" indent="0" algn="l" rtl="0">
                        <a:spcBef>
                          <a:spcPts val="0"/>
                        </a:spcBef>
                        <a:spcAft>
                          <a:spcPts val="0"/>
                        </a:spcAft>
                        <a:buNone/>
                      </a:pPr>
                      <a:r>
                        <a:rPr lang="en-US" sz="1100" b="1" dirty="0">
                          <a:solidFill>
                            <a:srgbClr val="FFFFFF"/>
                          </a:solidFill>
                        </a:rPr>
                        <a:t>Guidance </a:t>
                      </a:r>
                      <a:endParaRPr sz="1100" dirty="0">
                        <a:solidFill>
                          <a:srgbClr val="FFFFFF"/>
                        </a:solidFill>
                      </a:endParaRP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4419345">
                <a:tc>
                  <a:txBody>
                    <a:bodyPr/>
                    <a:lstStyle/>
                    <a:p>
                      <a:pPr marL="0" marR="0" lvl="0" indent="0" algn="l" rtl="0">
                        <a:spcBef>
                          <a:spcPts val="0"/>
                        </a:spcBef>
                        <a:spcAft>
                          <a:spcPts val="600"/>
                        </a:spcAft>
                        <a:buNone/>
                      </a:pPr>
                      <a:r>
                        <a:rPr lang="en-US" sz="1100" b="0" dirty="0">
                          <a:solidFill>
                            <a:schemeClr val="tx1"/>
                          </a:solidFill>
                        </a:rPr>
                        <a:t>Work redesign is not just about efficiency; it’s about aligning capability and capacity with strategic differentiation and prioritization. Value streams* create a shared view of where business value is generated or lost across functions. </a:t>
                      </a:r>
                    </a:p>
                    <a:p>
                      <a:pPr marL="0" marR="0" lvl="0" indent="0" algn="l" rtl="0">
                        <a:spcBef>
                          <a:spcPts val="0"/>
                        </a:spcBef>
                        <a:spcAft>
                          <a:spcPts val="600"/>
                        </a:spcAft>
                        <a:buNone/>
                      </a:pPr>
                      <a:r>
                        <a:rPr lang="en-US" sz="1100" b="0" dirty="0">
                          <a:solidFill>
                            <a:schemeClr val="tx1"/>
                          </a:solidFill>
                        </a:rPr>
                        <a:t>Any redesign must be in the context of the business strategy. Be clear on your design goals, e.g., Are you designing for growth, cost optimization? </a:t>
                      </a:r>
                    </a:p>
                    <a:p>
                      <a:pPr marL="0" marR="0" lvl="0" indent="0" algn="l" rtl="0">
                        <a:spcBef>
                          <a:spcPts val="0"/>
                        </a:spcBef>
                        <a:spcAft>
                          <a:spcPts val="600"/>
                        </a:spcAft>
                        <a:buNone/>
                      </a:pPr>
                      <a:r>
                        <a:rPr lang="en-US" sz="1100" b="0" dirty="0">
                          <a:solidFill>
                            <a:schemeClr val="tx1"/>
                          </a:solidFill>
                        </a:rPr>
                        <a:t>As part of the executive team, contribute to strategic alignment discussions:</a:t>
                      </a:r>
                    </a:p>
                    <a:p>
                      <a:pPr marL="228600" marR="0" lvl="0" indent="-228600" algn="l" rtl="0">
                        <a:spcBef>
                          <a:spcPts val="0"/>
                        </a:spcBef>
                        <a:spcAft>
                          <a:spcPts val="300"/>
                        </a:spcAft>
                        <a:buFont typeface="+mj-lt"/>
                        <a:buAutoNum type="arabicPeriod"/>
                      </a:pPr>
                      <a:r>
                        <a:rPr lang="en-US" sz="1100" b="1" dirty="0">
                          <a:solidFill>
                            <a:schemeClr val="tx1"/>
                          </a:solidFill>
                        </a:rPr>
                        <a:t>Align the C-Suite on Redesign Goals: </a:t>
                      </a:r>
                      <a:r>
                        <a:rPr lang="en-US" sz="1100" b="0" dirty="0">
                          <a:solidFill>
                            <a:schemeClr val="tx1"/>
                          </a:solidFill>
                        </a:rPr>
                        <a:t>Identify and agree on core principles to guide design activities and decisions.</a:t>
                      </a:r>
                    </a:p>
                    <a:p>
                      <a:pPr marL="228600" marR="0" lvl="0" indent="-228600" algn="l" rtl="0">
                        <a:spcBef>
                          <a:spcPts val="0"/>
                        </a:spcBef>
                        <a:spcAft>
                          <a:spcPts val="300"/>
                        </a:spcAft>
                        <a:buFont typeface="+mj-lt"/>
                        <a:buAutoNum type="arabicPeriod"/>
                      </a:pPr>
                      <a:r>
                        <a:rPr lang="en-US" sz="1100" b="1" dirty="0">
                          <a:solidFill>
                            <a:schemeClr val="tx1"/>
                          </a:solidFill>
                        </a:rPr>
                        <a:t>Identify High-Value Streams for Optimization </a:t>
                      </a:r>
                    </a:p>
                    <a:p>
                      <a:pPr marL="346075" marR="0" lvl="1" indent="-117475" algn="l" rtl="0">
                        <a:spcBef>
                          <a:spcPts val="0"/>
                        </a:spcBef>
                        <a:spcAft>
                          <a:spcPts val="300"/>
                        </a:spcAft>
                        <a:buFont typeface="Arial" panose="020B0604020202020204" pitchFamily="34" charset="0"/>
                        <a:buChar char="•"/>
                      </a:pPr>
                      <a:r>
                        <a:rPr lang="en-US" sz="1100" b="0" dirty="0">
                          <a:solidFill>
                            <a:schemeClr val="tx1"/>
                          </a:solidFill>
                        </a:rPr>
                        <a:t>Map value streams to pinpoint where business value is created or lost. </a:t>
                      </a:r>
                    </a:p>
                    <a:p>
                      <a:pPr marL="346075" marR="0" lvl="1" indent="-117475" algn="l" rtl="0">
                        <a:spcBef>
                          <a:spcPts val="0"/>
                        </a:spcBef>
                        <a:spcAft>
                          <a:spcPts val="300"/>
                        </a:spcAft>
                        <a:buFont typeface="Arial" panose="020B0604020202020204" pitchFamily="34" charset="0"/>
                        <a:buChar char="•"/>
                      </a:pPr>
                      <a:r>
                        <a:rPr lang="en-US" sz="1100" b="0" dirty="0">
                          <a:solidFill>
                            <a:schemeClr val="tx1"/>
                          </a:solidFill>
                        </a:rPr>
                        <a:t>Focus on steps with the most significant potential for optimization and technology/AI integration. </a:t>
                      </a:r>
                    </a:p>
                    <a:p>
                      <a:pPr marL="228600" marR="0" lvl="0" indent="-228600" algn="l" rtl="0">
                        <a:spcBef>
                          <a:spcPts val="0"/>
                        </a:spcBef>
                        <a:spcAft>
                          <a:spcPts val="300"/>
                        </a:spcAft>
                        <a:buFont typeface="+mj-lt"/>
                        <a:buAutoNum type="arabicPeriod"/>
                      </a:pPr>
                      <a:r>
                        <a:rPr lang="en-US" sz="1100" b="1" dirty="0">
                          <a:solidFill>
                            <a:schemeClr val="tx1"/>
                          </a:solidFill>
                        </a:rPr>
                        <a:t>Prioritize based on strategic goals, business capabilities and return:</a:t>
                      </a:r>
                      <a:endParaRPr lang="en-US" sz="1100" b="0" dirty="0">
                        <a:solidFill>
                          <a:schemeClr val="tx1"/>
                        </a:solidFill>
                      </a:endParaRPr>
                    </a:p>
                    <a:p>
                      <a:pPr marL="447675" marR="0" lvl="1" indent="-173355" algn="l" rtl="0">
                        <a:spcBef>
                          <a:spcPts val="0"/>
                        </a:spcBef>
                        <a:spcAft>
                          <a:spcPts val="300"/>
                        </a:spcAft>
                        <a:buFont typeface="Arial" panose="020B0604020202020204" pitchFamily="34" charset="0"/>
                        <a:buChar char="•"/>
                      </a:pPr>
                      <a:r>
                        <a:rPr lang="en-US" sz="1100" b="0" dirty="0">
                          <a:solidFill>
                            <a:schemeClr val="tx1"/>
                          </a:solidFill>
                        </a:rPr>
                        <a:t>Differentiated &amp; Core Capabilities: Emphasize innovation and operational effectiveness to strengthen competitive advantage. </a:t>
                      </a:r>
                    </a:p>
                    <a:p>
                      <a:pPr marL="448056" marR="0" lvl="1" indent="-173736" algn="l" rtl="0">
                        <a:spcBef>
                          <a:spcPts val="0"/>
                        </a:spcBef>
                        <a:spcAft>
                          <a:spcPts val="300"/>
                        </a:spcAft>
                        <a:buFont typeface="Arial" panose="020B0604020202020204" pitchFamily="34" charset="0"/>
                        <a:buChar char="•"/>
                      </a:pPr>
                      <a:r>
                        <a:rPr lang="en-US" sz="1100" b="0" dirty="0">
                          <a:solidFill>
                            <a:schemeClr val="tx1"/>
                          </a:solidFill>
                        </a:rPr>
                        <a:t>Requisite &amp; Noncore Capabilities: Drive efficiency and cost optimization to reduce complexity and improve scalability. </a:t>
                      </a:r>
                    </a:p>
                    <a:p>
                      <a:pPr marL="228600" marR="0" lvl="0" indent="0" algn="l" rtl="0">
                        <a:spcBef>
                          <a:spcPts val="0"/>
                        </a:spcBef>
                        <a:spcAft>
                          <a:spcPts val="300"/>
                        </a:spcAft>
                        <a:buFont typeface="+mj-lt"/>
                        <a:buNone/>
                      </a:pPr>
                      <a:r>
                        <a:rPr lang="en-US" sz="1100" b="1" dirty="0">
                          <a:solidFill>
                            <a:schemeClr val="tx1"/>
                          </a:solidFill>
                        </a:rPr>
                        <a:t>Select priority focus: </a:t>
                      </a:r>
                      <a:r>
                        <a:rPr lang="en-US" sz="1100" b="0" dirty="0">
                          <a:solidFill>
                            <a:schemeClr val="tx1"/>
                          </a:solidFill>
                        </a:rPr>
                        <a:t>Approve 4 to 5 value stream steps with the highest potential ROI based on business impact </a:t>
                      </a:r>
                      <a:r>
                        <a:rPr lang="en-US" sz="1100" b="0" u="sng" dirty="0">
                          <a:solidFill>
                            <a:schemeClr val="tx1"/>
                          </a:solidFill>
                        </a:rPr>
                        <a:t>and</a:t>
                      </a:r>
                      <a:r>
                        <a:rPr lang="en-US" sz="1100" b="0" dirty="0">
                          <a:solidFill>
                            <a:schemeClr val="tx1"/>
                          </a:solidFill>
                        </a:rPr>
                        <a:t> feasibility.</a:t>
                      </a:r>
                    </a:p>
                    <a:p>
                      <a:pPr marL="228600" marR="0" lvl="0" indent="-228600" algn="l" rtl="0">
                        <a:spcBef>
                          <a:spcPts val="0"/>
                        </a:spcBef>
                        <a:spcAft>
                          <a:spcPts val="300"/>
                        </a:spcAft>
                        <a:buFont typeface="+mj-lt"/>
                        <a:buAutoNum type="arabicPeriod" startAt="4"/>
                      </a:pPr>
                      <a:r>
                        <a:rPr lang="en-US" sz="1100" b="1" dirty="0">
                          <a:solidFill>
                            <a:schemeClr val="tx1"/>
                          </a:solidFill>
                        </a:rPr>
                        <a:t>Assign Ownership: </a:t>
                      </a:r>
                      <a:r>
                        <a:rPr lang="en-US" sz="1100" b="0" dirty="0">
                          <a:solidFill>
                            <a:schemeClr val="tx1"/>
                          </a:solidFill>
                        </a:rPr>
                        <a:t>Ensure clear accountability for each priority area to deliver end-to-end performance and measurable outcomes.</a:t>
                      </a: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8" name="TextBox 40">
            <a:extLst>
              <a:ext uri="{FF2B5EF4-FFF2-40B4-BE49-F238E27FC236}">
                <a16:creationId xmlns:a16="http://schemas.microsoft.com/office/drawing/2014/main" id="{7F587602-5B8C-90CC-1399-8D698F063BBE}"/>
              </a:ext>
            </a:extLst>
          </p:cNvPr>
          <p:cNvSpPr txBox="1"/>
          <p:nvPr/>
        </p:nvSpPr>
        <p:spPr>
          <a:xfrm>
            <a:off x="504034" y="5825043"/>
            <a:ext cx="3223579" cy="246221"/>
          </a:xfrm>
          <a:prstGeom prst="rect">
            <a:avLst/>
          </a:prstGeom>
          <a:noFill/>
        </p:spPr>
        <p:txBody>
          <a:bodyPr wrap="square" lIns="0" tIns="91440" rIns="0" bIns="0" rtlCol="0" anchor="b" anchorCtr="0">
            <a:spAutoFit/>
          </a:bodyPr>
          <a:lstStyle/>
          <a:p>
            <a:pPr>
              <a:spcBef>
                <a:spcPts val="300"/>
              </a:spcBef>
            </a:pPr>
            <a:r>
              <a:rPr lang="en-US" sz="1000">
                <a:solidFill>
                  <a:srgbClr val="5A798C"/>
                </a:solidFill>
              </a:rPr>
              <a:t>Source: Gartner</a:t>
            </a:r>
          </a:p>
        </p:txBody>
      </p:sp>
      <p:sp>
        <p:nvSpPr>
          <p:cNvPr id="9" name="Freeform 20">
            <a:extLst>
              <a:ext uri="{FF2B5EF4-FFF2-40B4-BE49-F238E27FC236}">
                <a16:creationId xmlns:a16="http://schemas.microsoft.com/office/drawing/2014/main" id="{03974C4B-D6E0-0EC9-B01E-CEDB70592CCD}"/>
              </a:ext>
            </a:extLst>
          </p:cNvPr>
          <p:cNvSpPr/>
          <p:nvPr/>
        </p:nvSpPr>
        <p:spPr>
          <a:xfrm>
            <a:off x="5967599" y="4926496"/>
            <a:ext cx="1431136" cy="230832"/>
          </a:xfrm>
          <a:custGeom>
            <a:avLst/>
            <a:gdLst/>
            <a:ahLst/>
            <a:cxnLst/>
            <a:rect l="l" t="t" r="r" b="b"/>
            <a:pathLst>
              <a:path w="1998129" h="347040">
                <a:moveTo>
                  <a:pt x="0" y="347041"/>
                </a:moveTo>
                <a:lnTo>
                  <a:pt x="1998129" y="347041"/>
                </a:lnTo>
                <a:lnTo>
                  <a:pt x="1998129" y="0"/>
                </a:lnTo>
                <a:lnTo>
                  <a:pt x="0" y="0"/>
                </a:lnTo>
                <a:close/>
              </a:path>
            </a:pathLst>
          </a:custGeom>
          <a:noFill/>
          <a:ln w="57150">
            <a:noFill/>
          </a:ln>
        </p:spPr>
        <p:txBody>
          <a:bodyPr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Capability legend </a:t>
            </a:r>
          </a:p>
        </p:txBody>
      </p:sp>
      <p:grpSp>
        <p:nvGrpSpPr>
          <p:cNvPr id="10" name="Group 9">
            <a:extLst>
              <a:ext uri="{FF2B5EF4-FFF2-40B4-BE49-F238E27FC236}">
                <a16:creationId xmlns:a16="http://schemas.microsoft.com/office/drawing/2014/main" id="{6B4C4913-7742-3E82-5EA3-E4BBB4F0B851}"/>
              </a:ext>
            </a:extLst>
          </p:cNvPr>
          <p:cNvGrpSpPr/>
          <p:nvPr/>
        </p:nvGrpSpPr>
        <p:grpSpPr>
          <a:xfrm>
            <a:off x="11140728" y="1677464"/>
            <a:ext cx="605294" cy="514147"/>
            <a:chOff x="11010538" y="1813898"/>
            <a:chExt cx="719982" cy="611565"/>
          </a:xfrm>
        </p:grpSpPr>
        <p:sp>
          <p:nvSpPr>
            <p:cNvPr id="13" name="TextBox 12">
              <a:extLst>
                <a:ext uri="{FF2B5EF4-FFF2-40B4-BE49-F238E27FC236}">
                  <a16:creationId xmlns:a16="http://schemas.microsoft.com/office/drawing/2014/main" id="{9DDB47B6-216E-8EC9-1D98-96BB42267E0A}"/>
                </a:ext>
              </a:extLst>
            </p:cNvPr>
            <p:cNvSpPr txBox="1"/>
            <p:nvPr/>
          </p:nvSpPr>
          <p:spPr>
            <a:xfrm>
              <a:off x="11010538" y="2150894"/>
              <a:ext cx="719982" cy="274569"/>
            </a:xfrm>
            <a:prstGeom prst="rect">
              <a:avLst/>
            </a:prstGeom>
          </p:spPr>
          <p:txBody>
            <a:bodyPr wrap="non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ea typeface="+mn-ea"/>
                  <a:cs typeface="+mn-cs"/>
                </a:rPr>
                <a:t>Customer</a:t>
              </a:r>
            </a:p>
          </p:txBody>
        </p:sp>
        <p:sp>
          <p:nvSpPr>
            <p:cNvPr id="14" name="Freeform 13">
              <a:extLst>
                <a:ext uri="{FF2B5EF4-FFF2-40B4-BE49-F238E27FC236}">
                  <a16:creationId xmlns:a16="http://schemas.microsoft.com/office/drawing/2014/main" id="{8FF47329-44A2-FD76-A14D-F1749303530D}"/>
                </a:ext>
              </a:extLst>
            </p:cNvPr>
            <p:cNvSpPr/>
            <p:nvPr/>
          </p:nvSpPr>
          <p:spPr>
            <a:xfrm>
              <a:off x="11243822" y="1813898"/>
              <a:ext cx="253412" cy="319251"/>
            </a:xfrm>
            <a:custGeom>
              <a:avLst/>
              <a:gdLst/>
              <a:ahLst/>
              <a:cxnLst/>
              <a:rect l="l" t="t" r="r" b="b"/>
              <a:pathLst>
                <a:path w="355600" h="426719">
                  <a:moveTo>
                    <a:pt x="177800" y="213360"/>
                  </a:moveTo>
                  <a:cubicBezTo>
                    <a:pt x="226822" y="213360"/>
                    <a:pt x="266700" y="173482"/>
                    <a:pt x="266700" y="124460"/>
                  </a:cubicBezTo>
                  <a:cubicBezTo>
                    <a:pt x="266700" y="75439"/>
                    <a:pt x="226822" y="35560"/>
                    <a:pt x="177800" y="35560"/>
                  </a:cubicBezTo>
                  <a:cubicBezTo>
                    <a:pt x="128778" y="35560"/>
                    <a:pt x="88900" y="75439"/>
                    <a:pt x="88900" y="124460"/>
                  </a:cubicBezTo>
                  <a:cubicBezTo>
                    <a:pt x="88900" y="173482"/>
                    <a:pt x="128778" y="213360"/>
                    <a:pt x="177800" y="213360"/>
                  </a:cubicBezTo>
                  <a:close/>
                  <a:moveTo>
                    <a:pt x="0" y="426719"/>
                  </a:moveTo>
                  <a:lnTo>
                    <a:pt x="0" y="222695"/>
                  </a:lnTo>
                  <a:lnTo>
                    <a:pt x="101664" y="222695"/>
                  </a:lnTo>
                  <a:cubicBezTo>
                    <a:pt x="72313" y="199898"/>
                    <a:pt x="53340" y="164389"/>
                    <a:pt x="53340" y="124460"/>
                  </a:cubicBezTo>
                  <a:cubicBezTo>
                    <a:pt x="53340" y="55830"/>
                    <a:pt x="109169" y="0"/>
                    <a:pt x="177800" y="0"/>
                  </a:cubicBezTo>
                  <a:cubicBezTo>
                    <a:pt x="246431" y="0"/>
                    <a:pt x="302260" y="55830"/>
                    <a:pt x="302260" y="124460"/>
                  </a:cubicBezTo>
                  <a:cubicBezTo>
                    <a:pt x="302260" y="164389"/>
                    <a:pt x="283273" y="199898"/>
                    <a:pt x="253936" y="222695"/>
                  </a:cubicBezTo>
                  <a:lnTo>
                    <a:pt x="355600" y="222695"/>
                  </a:lnTo>
                  <a:lnTo>
                    <a:pt x="355600" y="426719"/>
                  </a:lnTo>
                  <a:lnTo>
                    <a:pt x="320040" y="426719"/>
                  </a:lnTo>
                  <a:lnTo>
                    <a:pt x="320040" y="258255"/>
                  </a:lnTo>
                  <a:lnTo>
                    <a:pt x="35560" y="258255"/>
                  </a:lnTo>
                  <a:lnTo>
                    <a:pt x="35560" y="426719"/>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grpSp>
      <p:grpSp>
        <p:nvGrpSpPr>
          <p:cNvPr id="15" name="Group 14">
            <a:extLst>
              <a:ext uri="{FF2B5EF4-FFF2-40B4-BE49-F238E27FC236}">
                <a16:creationId xmlns:a16="http://schemas.microsoft.com/office/drawing/2014/main" id="{B4752E10-C6AA-5D7E-BC6C-9484C36F5BBD}"/>
              </a:ext>
            </a:extLst>
          </p:cNvPr>
          <p:cNvGrpSpPr/>
          <p:nvPr/>
        </p:nvGrpSpPr>
        <p:grpSpPr>
          <a:xfrm>
            <a:off x="5891308" y="1677464"/>
            <a:ext cx="605294" cy="652647"/>
            <a:chOff x="450999" y="1813898"/>
            <a:chExt cx="719982" cy="776307"/>
          </a:xfrm>
        </p:grpSpPr>
        <p:sp>
          <p:nvSpPr>
            <p:cNvPr id="17" name="TextBox 16">
              <a:extLst>
                <a:ext uri="{FF2B5EF4-FFF2-40B4-BE49-F238E27FC236}">
                  <a16:creationId xmlns:a16="http://schemas.microsoft.com/office/drawing/2014/main" id="{0811D2B1-2635-510A-A07C-54251F342FDE}"/>
                </a:ext>
              </a:extLst>
            </p:cNvPr>
            <p:cNvSpPr txBox="1"/>
            <p:nvPr/>
          </p:nvSpPr>
          <p:spPr>
            <a:xfrm>
              <a:off x="450999" y="2150894"/>
              <a:ext cx="719982" cy="439311"/>
            </a:xfrm>
            <a:prstGeom prst="rect">
              <a:avLst/>
            </a:prstGeom>
          </p:spPr>
          <p:txBody>
            <a:bodyPr wrap="non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ea typeface="+mn-ea"/>
                  <a:cs typeface="+mn-cs"/>
                </a:rPr>
                <a:t>Customer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ea typeface="+mn-ea"/>
                  <a:cs typeface="+mn-cs"/>
                </a:rPr>
                <a:t>Request</a:t>
              </a:r>
            </a:p>
          </p:txBody>
        </p:sp>
        <p:sp>
          <p:nvSpPr>
            <p:cNvPr id="18" name="Freeform 11">
              <a:extLst>
                <a:ext uri="{FF2B5EF4-FFF2-40B4-BE49-F238E27FC236}">
                  <a16:creationId xmlns:a16="http://schemas.microsoft.com/office/drawing/2014/main" id="{30519B9B-A6A0-0D5E-7E51-D1CE6855AAFD}"/>
                </a:ext>
              </a:extLst>
            </p:cNvPr>
            <p:cNvSpPr/>
            <p:nvPr/>
          </p:nvSpPr>
          <p:spPr>
            <a:xfrm>
              <a:off x="623716" y="1813898"/>
              <a:ext cx="374546" cy="325510"/>
            </a:xfrm>
            <a:custGeom>
              <a:avLst/>
              <a:gdLst/>
              <a:ahLst/>
              <a:cxnLst/>
              <a:rect l="l" t="t" r="r" b="b"/>
              <a:pathLst>
                <a:path w="603808" h="497827">
                  <a:moveTo>
                    <a:pt x="293885" y="497827"/>
                  </a:moveTo>
                  <a:lnTo>
                    <a:pt x="293885" y="497827"/>
                  </a:lnTo>
                  <a:cubicBezTo>
                    <a:pt x="254710" y="496606"/>
                    <a:pt x="216119" y="486027"/>
                    <a:pt x="180886" y="466425"/>
                  </a:cubicBezTo>
                  <a:cubicBezTo>
                    <a:pt x="104915" y="424159"/>
                    <a:pt x="57823" y="346918"/>
                    <a:pt x="53403" y="262298"/>
                  </a:cubicBezTo>
                  <a:lnTo>
                    <a:pt x="25565" y="291089"/>
                  </a:lnTo>
                  <a:lnTo>
                    <a:pt x="0" y="266375"/>
                  </a:lnTo>
                  <a:lnTo>
                    <a:pt x="70307" y="193642"/>
                  </a:lnTo>
                  <a:lnTo>
                    <a:pt x="143027" y="263949"/>
                  </a:lnTo>
                  <a:lnTo>
                    <a:pt x="118313" y="289514"/>
                  </a:lnTo>
                  <a:lnTo>
                    <a:pt x="88938" y="261130"/>
                  </a:lnTo>
                  <a:cubicBezTo>
                    <a:pt x="92977" y="333367"/>
                    <a:pt x="133274" y="399242"/>
                    <a:pt x="198171" y="435348"/>
                  </a:cubicBezTo>
                  <a:cubicBezTo>
                    <a:pt x="230341" y="453254"/>
                    <a:pt x="265768" y="462371"/>
                    <a:pt x="301587" y="462371"/>
                  </a:cubicBezTo>
                  <a:cubicBezTo>
                    <a:pt x="321227" y="462371"/>
                    <a:pt x="340985" y="459630"/>
                    <a:pt x="360388" y="454093"/>
                  </a:cubicBezTo>
                  <a:cubicBezTo>
                    <a:pt x="415201" y="438485"/>
                    <a:pt x="460654" y="402455"/>
                    <a:pt x="488353" y="352646"/>
                  </a:cubicBezTo>
                  <a:lnTo>
                    <a:pt x="519430" y="369943"/>
                  </a:lnTo>
                  <a:cubicBezTo>
                    <a:pt x="487096" y="428033"/>
                    <a:pt x="434086" y="470070"/>
                    <a:pt x="370141" y="488294"/>
                  </a:cubicBezTo>
                  <a:cubicBezTo>
                    <a:pt x="350021" y="494027"/>
                    <a:pt x="329581" y="497193"/>
                    <a:pt x="309211" y="497827"/>
                  </a:cubicBezTo>
                  <a:close/>
                  <a:moveTo>
                    <a:pt x="273672" y="355592"/>
                  </a:moveTo>
                  <a:lnTo>
                    <a:pt x="371907" y="231132"/>
                  </a:lnTo>
                  <a:lnTo>
                    <a:pt x="293433" y="231132"/>
                  </a:lnTo>
                  <a:lnTo>
                    <a:pt x="328993" y="142232"/>
                  </a:lnTo>
                  <a:lnTo>
                    <a:pt x="277914" y="142232"/>
                  </a:lnTo>
                  <a:lnTo>
                    <a:pt x="222593" y="266692"/>
                  </a:lnTo>
                  <a:lnTo>
                    <a:pt x="300647" y="266692"/>
                  </a:lnTo>
                  <a:lnTo>
                    <a:pt x="268237" y="355592"/>
                  </a:lnTo>
                  <a:close/>
                  <a:moveTo>
                    <a:pt x="217424" y="391152"/>
                  </a:moveTo>
                  <a:lnTo>
                    <a:pt x="249834" y="302252"/>
                  </a:lnTo>
                  <a:lnTo>
                    <a:pt x="167881" y="302252"/>
                  </a:lnTo>
                  <a:lnTo>
                    <a:pt x="254800" y="106672"/>
                  </a:lnTo>
                  <a:lnTo>
                    <a:pt x="381508" y="106672"/>
                  </a:lnTo>
                  <a:lnTo>
                    <a:pt x="345948" y="195572"/>
                  </a:lnTo>
                  <a:lnTo>
                    <a:pt x="445287" y="195572"/>
                  </a:lnTo>
                  <a:lnTo>
                    <a:pt x="290893" y="391152"/>
                  </a:lnTo>
                  <a:close/>
                  <a:moveTo>
                    <a:pt x="533514" y="304183"/>
                  </a:moveTo>
                  <a:lnTo>
                    <a:pt x="460781" y="233875"/>
                  </a:lnTo>
                  <a:lnTo>
                    <a:pt x="485495" y="208310"/>
                  </a:lnTo>
                  <a:lnTo>
                    <a:pt x="514896" y="236720"/>
                  </a:lnTo>
                  <a:lnTo>
                    <a:pt x="514896" y="236720"/>
                  </a:lnTo>
                  <a:cubicBezTo>
                    <a:pt x="510934" y="164470"/>
                    <a:pt x="470738" y="98684"/>
                    <a:pt x="405651" y="62463"/>
                  </a:cubicBezTo>
                  <a:cubicBezTo>
                    <a:pt x="372889" y="44235"/>
                    <a:pt x="337350" y="35584"/>
                    <a:pt x="302279" y="35584"/>
                  </a:cubicBezTo>
                  <a:cubicBezTo>
                    <a:pt x="227294" y="35584"/>
                    <a:pt x="154450" y="75130"/>
                    <a:pt x="115468" y="145166"/>
                  </a:cubicBezTo>
                  <a:lnTo>
                    <a:pt x="84404" y="127881"/>
                  </a:lnTo>
                  <a:cubicBezTo>
                    <a:pt x="116726" y="69779"/>
                    <a:pt x="169748" y="27742"/>
                    <a:pt x="233693" y="9517"/>
                  </a:cubicBezTo>
                  <a:cubicBezTo>
                    <a:pt x="253719" y="3809"/>
                    <a:pt x="274066" y="651"/>
                    <a:pt x="294355" y="0"/>
                  </a:cubicBezTo>
                  <a:lnTo>
                    <a:pt x="310171" y="0"/>
                  </a:lnTo>
                  <a:cubicBezTo>
                    <a:pt x="349266" y="1256"/>
                    <a:pt x="387773" y="11828"/>
                    <a:pt x="422948" y="31399"/>
                  </a:cubicBezTo>
                  <a:cubicBezTo>
                    <a:pt x="499123" y="73779"/>
                    <a:pt x="546062" y="150894"/>
                    <a:pt x="550431" y="235514"/>
                  </a:cubicBezTo>
                  <a:lnTo>
                    <a:pt x="578244" y="206735"/>
                  </a:lnTo>
                  <a:lnTo>
                    <a:pt x="603807" y="231461"/>
                  </a:lnTo>
                  <a:lnTo>
                    <a:pt x="603807" y="231461"/>
                  </a:lnTo>
                  <a:lnTo>
                    <a:pt x="603807" y="231463"/>
                  </a:lnTo>
                  <a:lnTo>
                    <a:pt x="533514" y="304183"/>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grpSp>
      <p:sp>
        <p:nvSpPr>
          <p:cNvPr id="19" name="Freeform 9">
            <a:extLst>
              <a:ext uri="{FF2B5EF4-FFF2-40B4-BE49-F238E27FC236}">
                <a16:creationId xmlns:a16="http://schemas.microsoft.com/office/drawing/2014/main" id="{F5A75C0B-09F4-45F6-73C1-D6666648A7A1}"/>
              </a:ext>
            </a:extLst>
          </p:cNvPr>
          <p:cNvSpPr/>
          <p:nvPr/>
        </p:nvSpPr>
        <p:spPr>
          <a:xfrm>
            <a:off x="7678075" y="1677464"/>
            <a:ext cx="1205114" cy="397070"/>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57AF"/>
          </a:solidFill>
        </p:spPr>
        <p:txBody>
          <a:bodyPr anchor="ctr"/>
          <a:lstStyle/>
          <a:p>
            <a:pPr lvl="0" algn="ctr">
              <a:defRPr/>
            </a:pPr>
            <a:r>
              <a:rPr lang="en-US" sz="900">
                <a:solidFill>
                  <a:srgbClr val="FFFEFF"/>
                </a:solidFill>
              </a:rPr>
              <a:t>Transport</a:t>
            </a:r>
          </a:p>
          <a:p>
            <a:pPr lvl="0" algn="ctr">
              <a:defRPr/>
            </a:pPr>
            <a:r>
              <a:rPr lang="en-US" sz="900">
                <a:solidFill>
                  <a:srgbClr val="FFFEFF"/>
                </a:solidFill>
              </a:rPr>
              <a:t> Shipment</a:t>
            </a:r>
          </a:p>
        </p:txBody>
      </p:sp>
      <p:sp>
        <p:nvSpPr>
          <p:cNvPr id="20" name="Freeform 19">
            <a:extLst>
              <a:ext uri="{FF2B5EF4-FFF2-40B4-BE49-F238E27FC236}">
                <a16:creationId xmlns:a16="http://schemas.microsoft.com/office/drawing/2014/main" id="{252C94AD-4CB3-0AB4-AB2F-3A9FC12BAF0E}"/>
              </a:ext>
            </a:extLst>
          </p:cNvPr>
          <p:cNvSpPr/>
          <p:nvPr/>
        </p:nvSpPr>
        <p:spPr>
          <a:xfrm>
            <a:off x="6537079" y="1677464"/>
            <a:ext cx="1205114" cy="397070"/>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nchor="ctr"/>
          <a:lstStyle/>
          <a:p>
            <a:pPr algn="ctr">
              <a:defRPr/>
            </a:pPr>
            <a:r>
              <a:rPr lang="en-US" sz="900">
                <a:solidFill>
                  <a:srgbClr val="FFFEFF"/>
                </a:solidFill>
              </a:rPr>
              <a:t>Arrange </a:t>
            </a:r>
            <a:br>
              <a:rPr lang="en-US" sz="900">
                <a:solidFill>
                  <a:srgbClr val="FFFEFF"/>
                </a:solidFill>
              </a:rPr>
            </a:br>
            <a:r>
              <a:rPr lang="en-US" sz="900">
                <a:solidFill>
                  <a:srgbClr val="FFFEFF"/>
                </a:solidFill>
              </a:rPr>
              <a:t>Collection</a:t>
            </a:r>
          </a:p>
        </p:txBody>
      </p:sp>
      <p:sp>
        <p:nvSpPr>
          <p:cNvPr id="21" name="Freeform 11">
            <a:extLst>
              <a:ext uri="{FF2B5EF4-FFF2-40B4-BE49-F238E27FC236}">
                <a16:creationId xmlns:a16="http://schemas.microsoft.com/office/drawing/2014/main" id="{3EC4454F-BD8E-2D1D-121F-B9EADB86AF15}"/>
              </a:ext>
            </a:extLst>
          </p:cNvPr>
          <p:cNvSpPr/>
          <p:nvPr/>
        </p:nvSpPr>
        <p:spPr>
          <a:xfrm>
            <a:off x="8819071" y="1677464"/>
            <a:ext cx="1205114" cy="397070"/>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1F96FF"/>
          </a:solidFill>
        </p:spPr>
        <p:txBody>
          <a:bodyPr anchor="ctr"/>
          <a:lstStyle/>
          <a:p>
            <a:pPr algn="ctr">
              <a:defRPr/>
            </a:pPr>
            <a:r>
              <a:rPr lang="en-US" sz="900">
                <a:solidFill>
                  <a:srgbClr val="FFFFFF"/>
                </a:solidFill>
              </a:rPr>
              <a:t>Deliver </a:t>
            </a:r>
            <a:br>
              <a:rPr lang="en-US" sz="900">
                <a:solidFill>
                  <a:srgbClr val="FFFFFF"/>
                </a:solidFill>
              </a:rPr>
            </a:br>
            <a:r>
              <a:rPr lang="en-US" sz="900">
                <a:solidFill>
                  <a:srgbClr val="FFFFFF"/>
                </a:solidFill>
              </a:rPr>
              <a:t>Shipment</a:t>
            </a:r>
          </a:p>
        </p:txBody>
      </p:sp>
      <p:sp>
        <p:nvSpPr>
          <p:cNvPr id="22" name="Freeform 13">
            <a:extLst>
              <a:ext uri="{FF2B5EF4-FFF2-40B4-BE49-F238E27FC236}">
                <a16:creationId xmlns:a16="http://schemas.microsoft.com/office/drawing/2014/main" id="{3B89C27B-4A65-A7A9-BE04-4A0AF4796C23}"/>
              </a:ext>
            </a:extLst>
          </p:cNvPr>
          <p:cNvSpPr/>
          <p:nvPr/>
        </p:nvSpPr>
        <p:spPr>
          <a:xfrm>
            <a:off x="9960066" y="1677464"/>
            <a:ext cx="1205114" cy="397070"/>
          </a:xfrm>
          <a:custGeom>
            <a:avLst/>
            <a:gdLst/>
            <a:ahLst/>
            <a:cxnLst/>
            <a:rect l="l" t="t" r="r" b="b"/>
            <a:pathLst>
              <a:path w="1841500" h="596900">
                <a:moveTo>
                  <a:pt x="1555928" y="64"/>
                </a:moveTo>
                <a:lnTo>
                  <a:pt x="1841501" y="298476"/>
                </a:lnTo>
                <a:lnTo>
                  <a:pt x="1555928" y="596900"/>
                </a:lnTo>
                <a:lnTo>
                  <a:pt x="0" y="596900"/>
                </a:lnTo>
                <a:lnTo>
                  <a:pt x="285509" y="298463"/>
                </a:lnTo>
                <a:lnTo>
                  <a:pt x="0" y="0"/>
                </a:lnTo>
                <a:close/>
              </a:path>
            </a:pathLst>
          </a:custGeom>
          <a:solidFill>
            <a:srgbClr val="167ACB"/>
          </a:solidFill>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ea typeface="+mn-ea"/>
                <a:cs typeface="+mn-cs"/>
              </a:rPr>
              <a:t>Bill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ea typeface="+mn-ea"/>
                <a:cs typeface="+mn-cs"/>
              </a:rPr>
              <a:t>Customer</a:t>
            </a:r>
          </a:p>
        </p:txBody>
      </p:sp>
      <p:cxnSp>
        <p:nvCxnSpPr>
          <p:cNvPr id="23" name="Connector 17">
            <a:extLst>
              <a:ext uri="{FF2B5EF4-FFF2-40B4-BE49-F238E27FC236}">
                <a16:creationId xmlns:a16="http://schemas.microsoft.com/office/drawing/2014/main" id="{D572D045-8147-010C-5B94-6F7903659281}"/>
              </a:ext>
            </a:extLst>
          </p:cNvPr>
          <p:cNvCxnSpPr>
            <a:cxnSpLocks/>
          </p:cNvCxnSpPr>
          <p:nvPr/>
        </p:nvCxnSpPr>
        <p:spPr>
          <a:xfrm flipV="1">
            <a:off x="8064587" y="2260289"/>
            <a:ext cx="0" cy="2229353"/>
          </a:xfrm>
          <a:prstGeom prst="line">
            <a:avLst/>
          </a:prstGeom>
          <a:noFill/>
          <a:ln w="12700" cap="sq">
            <a:solidFill>
              <a:srgbClr val="5A798C"/>
            </a:solidFill>
          </a:ln>
        </p:spPr>
      </p:cxnSp>
      <p:cxnSp>
        <p:nvCxnSpPr>
          <p:cNvPr id="24" name="Connector 17">
            <a:extLst>
              <a:ext uri="{FF2B5EF4-FFF2-40B4-BE49-F238E27FC236}">
                <a16:creationId xmlns:a16="http://schemas.microsoft.com/office/drawing/2014/main" id="{8A26CB2F-B0B3-D397-AE81-33372261C156}"/>
              </a:ext>
            </a:extLst>
          </p:cNvPr>
          <p:cNvCxnSpPr>
            <a:cxnSpLocks/>
          </p:cNvCxnSpPr>
          <p:nvPr/>
        </p:nvCxnSpPr>
        <p:spPr>
          <a:xfrm flipV="1">
            <a:off x="9610383" y="2260289"/>
            <a:ext cx="0" cy="2229353"/>
          </a:xfrm>
          <a:prstGeom prst="line">
            <a:avLst/>
          </a:prstGeom>
          <a:noFill/>
          <a:ln w="12700" cap="sq">
            <a:solidFill>
              <a:srgbClr val="5A798C"/>
            </a:solidFill>
          </a:ln>
        </p:spPr>
      </p:cxnSp>
      <p:sp>
        <p:nvSpPr>
          <p:cNvPr id="25" name="TextBox 24">
            <a:extLst>
              <a:ext uri="{FF2B5EF4-FFF2-40B4-BE49-F238E27FC236}">
                <a16:creationId xmlns:a16="http://schemas.microsoft.com/office/drawing/2014/main" id="{564BF3F3-472C-DFF7-EAF1-2895BA441C01}"/>
              </a:ext>
            </a:extLst>
          </p:cNvPr>
          <p:cNvSpPr txBox="1"/>
          <p:nvPr/>
        </p:nvSpPr>
        <p:spPr>
          <a:xfrm>
            <a:off x="6514748" y="2374268"/>
            <a:ext cx="1542087" cy="230832"/>
          </a:xfrm>
          <a:prstGeom prst="rect">
            <a:avLst/>
          </a:prstGeom>
        </p:spPr>
        <p:txBody>
          <a:bodyPr wrap="squar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ea typeface="+mn-ea"/>
                <a:cs typeface="+mn-cs"/>
              </a:rPr>
              <a:t>Engage Customer</a:t>
            </a:r>
          </a:p>
        </p:txBody>
      </p:sp>
      <p:sp>
        <p:nvSpPr>
          <p:cNvPr id="26" name="TextBox 25">
            <a:extLst>
              <a:ext uri="{FF2B5EF4-FFF2-40B4-BE49-F238E27FC236}">
                <a16:creationId xmlns:a16="http://schemas.microsoft.com/office/drawing/2014/main" id="{9AA56943-8239-5532-3B95-896684134ED3}"/>
              </a:ext>
            </a:extLst>
          </p:cNvPr>
          <p:cNvSpPr txBox="1"/>
          <p:nvPr/>
        </p:nvSpPr>
        <p:spPr>
          <a:xfrm>
            <a:off x="8055252" y="2374268"/>
            <a:ext cx="1542087" cy="230832"/>
          </a:xfrm>
          <a:prstGeom prst="rect">
            <a:avLst/>
          </a:prstGeom>
        </p:spPr>
        <p:txBody>
          <a:bodyPr wrap="squar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ea typeface="+mn-ea"/>
                <a:cs typeface="+mn-cs"/>
              </a:rPr>
              <a:t>Manage Delivery</a:t>
            </a:r>
          </a:p>
        </p:txBody>
      </p:sp>
      <p:sp>
        <p:nvSpPr>
          <p:cNvPr id="27" name="TextBox 26">
            <a:extLst>
              <a:ext uri="{FF2B5EF4-FFF2-40B4-BE49-F238E27FC236}">
                <a16:creationId xmlns:a16="http://schemas.microsoft.com/office/drawing/2014/main" id="{56CD5A72-0C97-8092-3390-166CBCFD7641}"/>
              </a:ext>
            </a:extLst>
          </p:cNvPr>
          <p:cNvSpPr txBox="1"/>
          <p:nvPr/>
        </p:nvSpPr>
        <p:spPr>
          <a:xfrm>
            <a:off x="9599800" y="2374268"/>
            <a:ext cx="1558587" cy="230832"/>
          </a:xfrm>
          <a:prstGeom prst="rect">
            <a:avLst/>
          </a:prstGeom>
        </p:spPr>
        <p:txBody>
          <a:bodyPr wrap="squar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ea typeface="+mn-ea"/>
                <a:cs typeface="+mn-cs"/>
              </a:rPr>
              <a:t>Invoice Customer</a:t>
            </a:r>
          </a:p>
        </p:txBody>
      </p:sp>
      <p:sp>
        <p:nvSpPr>
          <p:cNvPr id="39" name="Freeform 19">
            <a:extLst>
              <a:ext uri="{FF2B5EF4-FFF2-40B4-BE49-F238E27FC236}">
                <a16:creationId xmlns:a16="http://schemas.microsoft.com/office/drawing/2014/main" id="{515CBE59-6074-36D4-7CB5-9DD28EA57DBE}"/>
              </a:ext>
            </a:extLst>
          </p:cNvPr>
          <p:cNvSpPr/>
          <p:nvPr/>
        </p:nvSpPr>
        <p:spPr>
          <a:xfrm>
            <a:off x="6517208" y="2161896"/>
            <a:ext cx="4643639" cy="212366"/>
          </a:xfrm>
          <a:custGeom>
            <a:avLst/>
            <a:gdLst/>
            <a:ahLst/>
            <a:cxnLst/>
            <a:rect l="l" t="t" r="r" b="b"/>
            <a:pathLst>
              <a:path w="6604000" h="347040">
                <a:moveTo>
                  <a:pt x="0" y="347040"/>
                </a:moveTo>
                <a:lnTo>
                  <a:pt x="6604000" y="347040"/>
                </a:lnTo>
                <a:lnTo>
                  <a:pt x="6604000" y="0"/>
                </a:lnTo>
                <a:lnTo>
                  <a:pt x="0" y="0"/>
                </a:lnTo>
                <a:close/>
              </a:path>
            </a:pathLst>
          </a:custGeom>
          <a:solidFill>
            <a:srgbClr val="5A798C"/>
          </a:solidFill>
        </p:spPr>
        <p:txBody>
          <a:bodyPr wrap="square" lIns="36576" tIns="36576" rIns="36576" bIns="36576">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ea typeface="+mn-ea"/>
                <a:cs typeface="+mn-cs"/>
              </a:rPr>
              <a:t>Business Capabilities</a:t>
            </a:r>
          </a:p>
        </p:txBody>
      </p:sp>
      <p:sp>
        <p:nvSpPr>
          <p:cNvPr id="40" name="Freeform 16">
            <a:extLst>
              <a:ext uri="{FF2B5EF4-FFF2-40B4-BE49-F238E27FC236}">
                <a16:creationId xmlns:a16="http://schemas.microsoft.com/office/drawing/2014/main" id="{D82360C3-AB76-8416-5DEE-3BFC0A992E0B}"/>
              </a:ext>
            </a:extLst>
          </p:cNvPr>
          <p:cNvSpPr/>
          <p:nvPr/>
        </p:nvSpPr>
        <p:spPr>
          <a:xfrm>
            <a:off x="6514748" y="2161896"/>
            <a:ext cx="4648560" cy="2336977"/>
          </a:xfrm>
          <a:custGeom>
            <a:avLst/>
            <a:gdLst/>
            <a:ahLst/>
            <a:cxnLst/>
            <a:rect l="l" t="t" r="r" b="b"/>
            <a:pathLst>
              <a:path w="6591300" h="2975369">
                <a:moveTo>
                  <a:pt x="0" y="2975369"/>
                </a:moveTo>
                <a:lnTo>
                  <a:pt x="6591300" y="2975369"/>
                </a:lnTo>
                <a:lnTo>
                  <a:pt x="6591300" y="0"/>
                </a:lnTo>
                <a:lnTo>
                  <a:pt x="0" y="0"/>
                </a:lnTo>
                <a:close/>
              </a:path>
            </a:pathLst>
          </a:custGeom>
          <a:noFill/>
          <a:ln w="254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41" name="Callout: Up Arrow 147">
            <a:extLst>
              <a:ext uri="{FF2B5EF4-FFF2-40B4-BE49-F238E27FC236}">
                <a16:creationId xmlns:a16="http://schemas.microsoft.com/office/drawing/2014/main" id="{E81EDF4C-D241-ED38-9865-90BE9CC29FC2}"/>
              </a:ext>
            </a:extLst>
          </p:cNvPr>
          <p:cNvSpPr/>
          <p:nvPr/>
        </p:nvSpPr>
        <p:spPr>
          <a:xfrm>
            <a:off x="6514748" y="4429115"/>
            <a:ext cx="4643639" cy="507003"/>
          </a:xfrm>
          <a:prstGeom prst="upArrowCallout">
            <a:avLst/>
          </a:prstGeom>
          <a:solidFill>
            <a:srgbClr val="B8DEFF"/>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01688" rtl="0" eaLnBrk="1" fontAlgn="auto" latinLnBrk="0" hangingPunct="1">
              <a:lnSpc>
                <a:spcPct val="80000"/>
              </a:lnSpc>
              <a:spcBef>
                <a:spcPts val="0"/>
              </a:spcBef>
              <a:spcAft>
                <a:spcPts val="30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Strategy</a:t>
            </a:r>
          </a:p>
          <a:p>
            <a:pPr marL="0" marR="0" lvl="0" indent="0" algn="ctr" defTabSz="801688" rtl="0" eaLnBrk="1" fontAlgn="auto" latinLnBrk="0" hangingPunct="1">
              <a:lnSpc>
                <a:spcPct val="80000"/>
              </a:lnSpc>
              <a:spcBef>
                <a:spcPts val="0"/>
              </a:spcBef>
              <a:spcAft>
                <a:spcPts val="300"/>
              </a:spcAft>
              <a:buClrTx/>
              <a:buSzTx/>
              <a:buFontTx/>
              <a:buNone/>
              <a:tabLst/>
              <a:defRPr/>
            </a:pPr>
            <a:r>
              <a:rPr kumimoji="0" lang="en-US" sz="900" b="1" i="0" u="none" strike="noStrike" kern="1200" cap="none" spc="0" normalizeH="0" baseline="0" noProof="0">
                <a:ln>
                  <a:noFill/>
                </a:ln>
                <a:solidFill>
                  <a:prstClr val="black"/>
                </a:solidFill>
                <a:effectLst/>
                <a:uLnTx/>
                <a:uFillTx/>
                <a:ea typeface="+mn-ea"/>
                <a:cs typeface="+mn-cs"/>
              </a:rPr>
              <a:t>Organization design goals &amp; principles</a:t>
            </a:r>
          </a:p>
        </p:txBody>
      </p:sp>
      <p:pic>
        <p:nvPicPr>
          <p:cNvPr id="45" name="Graphic 44">
            <a:extLst>
              <a:ext uri="{FF2B5EF4-FFF2-40B4-BE49-F238E27FC236}">
                <a16:creationId xmlns:a16="http://schemas.microsoft.com/office/drawing/2014/main" id="{1946D648-724F-8319-571A-49B96A7B2B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49242" y="3130421"/>
            <a:ext cx="221820" cy="172527"/>
          </a:xfrm>
          <a:prstGeom prst="rect">
            <a:avLst/>
          </a:prstGeom>
        </p:spPr>
      </p:pic>
      <p:pic>
        <p:nvPicPr>
          <p:cNvPr id="46" name="Graphic 45">
            <a:extLst>
              <a:ext uri="{FF2B5EF4-FFF2-40B4-BE49-F238E27FC236}">
                <a16:creationId xmlns:a16="http://schemas.microsoft.com/office/drawing/2014/main" id="{392FE94C-85E7-ACBB-2B9C-A48D36B43DD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49242" y="3797965"/>
            <a:ext cx="221820" cy="172527"/>
          </a:xfrm>
          <a:prstGeom prst="rect">
            <a:avLst/>
          </a:prstGeom>
        </p:spPr>
      </p:pic>
      <p:pic>
        <p:nvPicPr>
          <p:cNvPr id="49" name="Graphic 48">
            <a:extLst>
              <a:ext uri="{FF2B5EF4-FFF2-40B4-BE49-F238E27FC236}">
                <a16:creationId xmlns:a16="http://schemas.microsoft.com/office/drawing/2014/main" id="{5E7BF9D9-85F5-6ED8-480C-FF91EB5C62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89692" y="2765707"/>
            <a:ext cx="221820" cy="172527"/>
          </a:xfrm>
          <a:prstGeom prst="rect">
            <a:avLst/>
          </a:prstGeom>
        </p:spPr>
      </p:pic>
      <p:cxnSp>
        <p:nvCxnSpPr>
          <p:cNvPr id="7" name="Connector 17">
            <a:extLst>
              <a:ext uri="{FF2B5EF4-FFF2-40B4-BE49-F238E27FC236}">
                <a16:creationId xmlns:a16="http://schemas.microsoft.com/office/drawing/2014/main" id="{1F1208F3-FE70-06B0-376B-5BD7F87F5D4B}"/>
              </a:ext>
            </a:extLst>
          </p:cNvPr>
          <p:cNvCxnSpPr>
            <a:cxnSpLocks/>
          </p:cNvCxnSpPr>
          <p:nvPr/>
        </p:nvCxnSpPr>
        <p:spPr>
          <a:xfrm flipV="1">
            <a:off x="6518791" y="2374262"/>
            <a:ext cx="0" cy="2229353"/>
          </a:xfrm>
          <a:prstGeom prst="line">
            <a:avLst/>
          </a:prstGeom>
          <a:noFill/>
          <a:ln w="12700" cap="sq">
            <a:solidFill>
              <a:srgbClr val="5A798C"/>
            </a:solidFill>
          </a:ln>
        </p:spPr>
      </p:cxnSp>
      <p:cxnSp>
        <p:nvCxnSpPr>
          <p:cNvPr id="11" name="Connector 17">
            <a:extLst>
              <a:ext uri="{FF2B5EF4-FFF2-40B4-BE49-F238E27FC236}">
                <a16:creationId xmlns:a16="http://schemas.microsoft.com/office/drawing/2014/main" id="{55DA1D8B-1853-0D67-F7FD-47FD63A182F3}"/>
              </a:ext>
            </a:extLst>
          </p:cNvPr>
          <p:cNvCxnSpPr>
            <a:cxnSpLocks/>
          </p:cNvCxnSpPr>
          <p:nvPr/>
        </p:nvCxnSpPr>
        <p:spPr>
          <a:xfrm flipV="1">
            <a:off x="11156181" y="2374262"/>
            <a:ext cx="0" cy="2229353"/>
          </a:xfrm>
          <a:prstGeom prst="line">
            <a:avLst/>
          </a:prstGeom>
          <a:noFill/>
          <a:ln w="12700" cap="sq">
            <a:solidFill>
              <a:srgbClr val="5A798C"/>
            </a:solidFill>
          </a:ln>
        </p:spPr>
      </p:cxnSp>
      <p:pic>
        <p:nvPicPr>
          <p:cNvPr id="2" name="Graphic 1">
            <a:extLst>
              <a:ext uri="{FF2B5EF4-FFF2-40B4-BE49-F238E27FC236}">
                <a16:creationId xmlns:a16="http://schemas.microsoft.com/office/drawing/2014/main" id="{725BC7A8-E0E4-70D9-1B93-BA26B54589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64586" y="4195422"/>
            <a:ext cx="221820" cy="172527"/>
          </a:xfrm>
          <a:prstGeom prst="rect">
            <a:avLst/>
          </a:prstGeom>
        </p:spPr>
      </p:pic>
      <p:sp>
        <p:nvSpPr>
          <p:cNvPr id="36" name="TextBox 35">
            <a:extLst>
              <a:ext uri="{FF2B5EF4-FFF2-40B4-BE49-F238E27FC236}">
                <a16:creationId xmlns:a16="http://schemas.microsoft.com/office/drawing/2014/main" id="{91561419-19D2-15E4-7DB9-897FD4BE9947}"/>
              </a:ext>
            </a:extLst>
          </p:cNvPr>
          <p:cNvSpPr txBox="1"/>
          <p:nvPr/>
        </p:nvSpPr>
        <p:spPr>
          <a:xfrm>
            <a:off x="457199" y="786736"/>
            <a:ext cx="7188200" cy="369332"/>
          </a:xfrm>
          <a:prstGeom prst="rect">
            <a:avLst/>
          </a:prstGeom>
          <a:noFill/>
        </p:spPr>
        <p:txBody>
          <a:bodyPr wrap="square" lIns="0">
            <a:spAutoFit/>
          </a:bodyPr>
          <a:lstStyle/>
          <a:p>
            <a:r>
              <a:rPr lang="en-US"/>
              <a:t>What are the highest-value opportunities?</a:t>
            </a:r>
          </a:p>
        </p:txBody>
      </p:sp>
      <p:sp>
        <p:nvSpPr>
          <p:cNvPr id="47" name="Text Placeholder 50">
            <a:extLst>
              <a:ext uri="{FF2B5EF4-FFF2-40B4-BE49-F238E27FC236}">
                <a16:creationId xmlns:a16="http://schemas.microsoft.com/office/drawing/2014/main" id="{0BB14255-3191-B2C3-B5CB-24013987693D}"/>
              </a:ext>
            </a:extLst>
          </p:cNvPr>
          <p:cNvSpPr txBox="1">
            <a:spLocks/>
          </p:cNvSpPr>
          <p:nvPr/>
        </p:nvSpPr>
        <p:spPr>
          <a:xfrm>
            <a:off x="7278184" y="1351558"/>
            <a:ext cx="2739917" cy="276999"/>
          </a:xfrm>
          <a:prstGeom prst="rect">
            <a:avLst/>
          </a:prstGeom>
        </p:spPr>
        <p:txBody>
          <a:bodyPr wrap="none">
            <a:spAutoFit/>
          </a:bodyPr>
          <a:lst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Example: E-Commerce Organization</a:t>
            </a:r>
          </a:p>
        </p:txBody>
      </p:sp>
      <p:sp>
        <p:nvSpPr>
          <p:cNvPr id="6" name="Freeform 20">
            <a:extLst>
              <a:ext uri="{FF2B5EF4-FFF2-40B4-BE49-F238E27FC236}">
                <a16:creationId xmlns:a16="http://schemas.microsoft.com/office/drawing/2014/main" id="{50F1DCBF-CCB9-CCC0-5CD1-658EAC349056}"/>
              </a:ext>
            </a:extLst>
          </p:cNvPr>
          <p:cNvSpPr/>
          <p:nvPr/>
        </p:nvSpPr>
        <p:spPr>
          <a:xfrm>
            <a:off x="6705049" y="2616083"/>
            <a:ext cx="1155128" cy="289056"/>
          </a:xfrm>
          <a:custGeom>
            <a:avLst/>
            <a:gdLst/>
            <a:ahLst/>
            <a:cxnLst/>
            <a:rect l="l" t="t" r="r" b="b"/>
            <a:pathLst>
              <a:path w="1998129" h="347040">
                <a:moveTo>
                  <a:pt x="0" y="347041"/>
                </a:moveTo>
                <a:lnTo>
                  <a:pt x="1998129" y="347041"/>
                </a:lnTo>
                <a:lnTo>
                  <a:pt x="1998129" y="0"/>
                </a:lnTo>
                <a:lnTo>
                  <a:pt x="0" y="0"/>
                </a:lnTo>
                <a:close/>
              </a:path>
            </a:pathLst>
          </a:custGeom>
          <a:solidFill>
            <a:srgbClr val="002856"/>
          </a:solidFill>
          <a:ln w="31750">
            <a:solidFill>
              <a:srgbClr val="FF986C"/>
            </a:solidFill>
          </a:ln>
        </p:spPr>
        <p:txBody>
          <a:bodyPr anchor="ctr"/>
          <a:lstStyle/>
          <a:p>
            <a:pPr>
              <a:defRPr/>
            </a:pPr>
            <a:r>
              <a:rPr lang="en-US" sz="900">
                <a:solidFill>
                  <a:srgbClr val="FFFEFF"/>
                </a:solidFill>
              </a:rPr>
              <a:t>Create Service</a:t>
            </a:r>
          </a:p>
        </p:txBody>
      </p:sp>
      <p:sp>
        <p:nvSpPr>
          <p:cNvPr id="16" name="Freeform 22">
            <a:extLst>
              <a:ext uri="{FF2B5EF4-FFF2-40B4-BE49-F238E27FC236}">
                <a16:creationId xmlns:a16="http://schemas.microsoft.com/office/drawing/2014/main" id="{C660CD90-96E9-F45F-47D9-DF9E4EC05CC9}"/>
              </a:ext>
            </a:extLst>
          </p:cNvPr>
          <p:cNvSpPr/>
          <p:nvPr/>
        </p:nvSpPr>
        <p:spPr>
          <a:xfrm>
            <a:off x="8250845" y="2623452"/>
            <a:ext cx="1155128" cy="289056"/>
          </a:xfrm>
          <a:custGeom>
            <a:avLst/>
            <a:gdLst/>
            <a:ahLst/>
            <a:cxnLst/>
            <a:rect l="l" t="t" r="r" b="b"/>
            <a:pathLst>
              <a:path w="1998129" h="347040">
                <a:moveTo>
                  <a:pt x="0" y="347041"/>
                </a:moveTo>
                <a:lnTo>
                  <a:pt x="1998129" y="347041"/>
                </a:lnTo>
                <a:lnTo>
                  <a:pt x="1998129" y="0"/>
                </a:lnTo>
                <a:lnTo>
                  <a:pt x="0" y="0"/>
                </a:lnTo>
                <a:close/>
              </a:path>
            </a:pathLst>
          </a:custGeom>
          <a:solidFill>
            <a:srgbClr val="002856"/>
          </a:solidFill>
          <a:ln w="25400">
            <a:solidFill>
              <a:srgbClr val="06C4B0"/>
            </a:solidFill>
          </a:ln>
        </p:spPr>
        <p:txBody>
          <a:bodyPr anchor="ctr"/>
          <a:lstStyle/>
          <a:p>
            <a:pPr>
              <a:defRPr/>
            </a:pPr>
            <a:r>
              <a:rPr lang="en-US" sz="900">
                <a:solidFill>
                  <a:srgbClr val="FFFEFF"/>
                </a:solidFill>
              </a:rPr>
              <a:t>Arrange Pickup</a:t>
            </a:r>
          </a:p>
        </p:txBody>
      </p:sp>
      <p:sp>
        <p:nvSpPr>
          <p:cNvPr id="42" name="Freeform 24">
            <a:extLst>
              <a:ext uri="{FF2B5EF4-FFF2-40B4-BE49-F238E27FC236}">
                <a16:creationId xmlns:a16="http://schemas.microsoft.com/office/drawing/2014/main" id="{B02239DA-D139-36C8-C116-4A1726D6D0A7}"/>
              </a:ext>
            </a:extLst>
          </p:cNvPr>
          <p:cNvSpPr/>
          <p:nvPr/>
        </p:nvSpPr>
        <p:spPr>
          <a:xfrm>
            <a:off x="8250845" y="3363372"/>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6A80A3"/>
          </a:solidFill>
          <a:ln w="31750">
            <a:solidFill>
              <a:srgbClr val="FEC10D"/>
            </a:solidFill>
          </a:ln>
        </p:spPr>
        <p:txBody>
          <a:bodyPr anchor="ctr"/>
          <a:lstStyle/>
          <a:p>
            <a:pPr>
              <a:defRPr/>
            </a:pPr>
            <a:r>
              <a:rPr lang="en-US" sz="900">
                <a:solidFill>
                  <a:srgbClr val="FFFEFF"/>
                </a:solidFill>
              </a:rPr>
              <a:t>Clear Customs</a:t>
            </a:r>
          </a:p>
        </p:txBody>
      </p:sp>
      <p:sp>
        <p:nvSpPr>
          <p:cNvPr id="43" name="Freeform 30">
            <a:extLst>
              <a:ext uri="{FF2B5EF4-FFF2-40B4-BE49-F238E27FC236}">
                <a16:creationId xmlns:a16="http://schemas.microsoft.com/office/drawing/2014/main" id="{8481AE24-84AD-EE22-7905-49B2EE90E3A2}"/>
              </a:ext>
            </a:extLst>
          </p:cNvPr>
          <p:cNvSpPr/>
          <p:nvPr/>
        </p:nvSpPr>
        <p:spPr>
          <a:xfrm>
            <a:off x="9796641" y="2624317"/>
            <a:ext cx="1155128" cy="289056"/>
          </a:xfrm>
          <a:custGeom>
            <a:avLst/>
            <a:gdLst/>
            <a:ahLst/>
            <a:cxnLst/>
            <a:rect l="l" t="t" r="r" b="b"/>
            <a:pathLst>
              <a:path w="1998129" h="347040">
                <a:moveTo>
                  <a:pt x="0" y="347041"/>
                </a:moveTo>
                <a:lnTo>
                  <a:pt x="1998129" y="347041"/>
                </a:lnTo>
                <a:lnTo>
                  <a:pt x="1998129" y="0"/>
                </a:lnTo>
                <a:lnTo>
                  <a:pt x="0" y="0"/>
                </a:lnTo>
                <a:close/>
              </a:path>
            </a:pathLst>
          </a:custGeom>
          <a:solidFill>
            <a:srgbClr val="002856"/>
          </a:solidFill>
          <a:ln w="25400">
            <a:solidFill>
              <a:srgbClr val="06C4B0"/>
            </a:solidFill>
          </a:ln>
        </p:spPr>
        <p:txBody>
          <a:bodyPr anchor="ctr"/>
          <a:lstStyle/>
          <a:p>
            <a:pPr>
              <a:defRPr/>
            </a:pPr>
            <a:r>
              <a:rPr lang="en-US" sz="900">
                <a:solidFill>
                  <a:srgbClr val="FFFEFF"/>
                </a:solidFill>
              </a:rPr>
              <a:t>Create Transaction</a:t>
            </a:r>
          </a:p>
        </p:txBody>
      </p:sp>
      <p:sp>
        <p:nvSpPr>
          <p:cNvPr id="44" name="Freeform 28">
            <a:extLst>
              <a:ext uri="{FF2B5EF4-FFF2-40B4-BE49-F238E27FC236}">
                <a16:creationId xmlns:a16="http://schemas.microsoft.com/office/drawing/2014/main" id="{368CACC1-561E-3D52-38BF-2224C4284466}"/>
              </a:ext>
            </a:extLst>
          </p:cNvPr>
          <p:cNvSpPr/>
          <p:nvPr/>
        </p:nvSpPr>
        <p:spPr>
          <a:xfrm>
            <a:off x="6705049" y="2989031"/>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002856"/>
          </a:solidFill>
          <a:ln w="31750">
            <a:solidFill>
              <a:srgbClr val="FEC10D"/>
            </a:solidFill>
          </a:ln>
        </p:spPr>
        <p:txBody>
          <a:bodyPr anchor="ctr"/>
          <a:lstStyle/>
          <a:p>
            <a:pPr>
              <a:defRPr/>
            </a:pPr>
            <a:r>
              <a:rPr lang="en-US" sz="900">
                <a:solidFill>
                  <a:srgbClr val="FFFEFF"/>
                </a:solidFill>
              </a:rPr>
              <a:t>Confirm Delivery</a:t>
            </a:r>
          </a:p>
        </p:txBody>
      </p:sp>
      <p:sp>
        <p:nvSpPr>
          <p:cNvPr id="56" name="Freeform 30">
            <a:extLst>
              <a:ext uri="{FF2B5EF4-FFF2-40B4-BE49-F238E27FC236}">
                <a16:creationId xmlns:a16="http://schemas.microsoft.com/office/drawing/2014/main" id="{4D0DA3B9-0B0D-427D-8118-89219BD3AF32}"/>
              </a:ext>
            </a:extLst>
          </p:cNvPr>
          <p:cNvSpPr/>
          <p:nvPr/>
        </p:nvSpPr>
        <p:spPr>
          <a:xfrm>
            <a:off x="8250845" y="2989031"/>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6A80A3"/>
          </a:solidFill>
          <a:ln w="25400">
            <a:solidFill>
              <a:srgbClr val="FEC10D"/>
            </a:solidFill>
          </a:ln>
        </p:spPr>
        <p:txBody>
          <a:bodyPr anchor="ctr"/>
          <a:lstStyle/>
          <a:p>
            <a:pPr>
              <a:defRPr/>
            </a:pPr>
            <a:r>
              <a:rPr lang="en-US" sz="900">
                <a:solidFill>
                  <a:srgbClr val="FFFEFF"/>
                </a:solidFill>
              </a:rPr>
              <a:t>Transport Shipment</a:t>
            </a:r>
          </a:p>
        </p:txBody>
      </p:sp>
      <p:sp>
        <p:nvSpPr>
          <p:cNvPr id="57" name="Freeform 32">
            <a:extLst>
              <a:ext uri="{FF2B5EF4-FFF2-40B4-BE49-F238E27FC236}">
                <a16:creationId xmlns:a16="http://schemas.microsoft.com/office/drawing/2014/main" id="{9826FE53-5EDD-FFF2-9168-949270CDA456}"/>
              </a:ext>
            </a:extLst>
          </p:cNvPr>
          <p:cNvSpPr/>
          <p:nvPr/>
        </p:nvSpPr>
        <p:spPr>
          <a:xfrm>
            <a:off x="8250845" y="3730057"/>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009AD7"/>
          </a:solidFill>
          <a:ln w="31750">
            <a:solidFill>
              <a:srgbClr val="FF986C"/>
            </a:solidFill>
          </a:ln>
        </p:spPr>
        <p:txBody>
          <a:bodyPr anchor="ctr"/>
          <a:lstStyle/>
          <a:p>
            <a:pPr>
              <a:defRPr/>
            </a:pPr>
            <a:r>
              <a:rPr lang="en-US" sz="900">
                <a:solidFill>
                  <a:schemeClr val="bg1"/>
                </a:solidFill>
              </a:rPr>
              <a:t>Identify Delivery Route</a:t>
            </a:r>
          </a:p>
        </p:txBody>
      </p:sp>
      <p:sp>
        <p:nvSpPr>
          <p:cNvPr id="58" name="Freeform 34">
            <a:extLst>
              <a:ext uri="{FF2B5EF4-FFF2-40B4-BE49-F238E27FC236}">
                <a16:creationId xmlns:a16="http://schemas.microsoft.com/office/drawing/2014/main" id="{4BBD4C16-4920-7D4F-37AB-8EBE1305766E}"/>
              </a:ext>
            </a:extLst>
          </p:cNvPr>
          <p:cNvSpPr/>
          <p:nvPr/>
        </p:nvSpPr>
        <p:spPr>
          <a:xfrm>
            <a:off x="8250845" y="4103292"/>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009AD7"/>
          </a:solidFill>
          <a:ln w="31750">
            <a:solidFill>
              <a:srgbClr val="FF986C"/>
            </a:solidFill>
          </a:ln>
        </p:spPr>
        <p:txBody>
          <a:bodyPr anchor="ctr"/>
          <a:lstStyle/>
          <a:p>
            <a:pPr>
              <a:defRPr/>
            </a:pPr>
            <a:r>
              <a:rPr lang="en-US" sz="900">
                <a:solidFill>
                  <a:schemeClr val="bg1"/>
                </a:solidFill>
              </a:rPr>
              <a:t>Deliver Shipment</a:t>
            </a:r>
          </a:p>
        </p:txBody>
      </p:sp>
      <p:sp>
        <p:nvSpPr>
          <p:cNvPr id="59" name="Freeform 36">
            <a:extLst>
              <a:ext uri="{FF2B5EF4-FFF2-40B4-BE49-F238E27FC236}">
                <a16:creationId xmlns:a16="http://schemas.microsoft.com/office/drawing/2014/main" id="{6711182A-39F4-118F-8619-81E39F263BBB}"/>
              </a:ext>
            </a:extLst>
          </p:cNvPr>
          <p:cNvSpPr/>
          <p:nvPr/>
        </p:nvSpPr>
        <p:spPr>
          <a:xfrm>
            <a:off x="9796641" y="2989031"/>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91DCF8"/>
          </a:solidFill>
          <a:ln w="31750">
            <a:solidFill>
              <a:srgbClr val="7F2A05"/>
            </a:solidFill>
          </a:ln>
        </p:spPr>
        <p:txBody>
          <a:bodyPr anchor="ctr"/>
          <a:lstStyle/>
          <a:p>
            <a:pPr>
              <a:defRPr/>
            </a:pPr>
            <a:r>
              <a:rPr lang="en-US" sz="900">
                <a:solidFill>
                  <a:srgbClr val="000000"/>
                </a:solidFill>
              </a:rPr>
              <a:t>Create Invoice</a:t>
            </a:r>
          </a:p>
        </p:txBody>
      </p:sp>
      <p:sp>
        <p:nvSpPr>
          <p:cNvPr id="60" name="Freeform 38">
            <a:extLst>
              <a:ext uri="{FF2B5EF4-FFF2-40B4-BE49-F238E27FC236}">
                <a16:creationId xmlns:a16="http://schemas.microsoft.com/office/drawing/2014/main" id="{FFBB896D-0F83-F648-FCA4-78EF838C0BC8}"/>
              </a:ext>
            </a:extLst>
          </p:cNvPr>
          <p:cNvSpPr/>
          <p:nvPr/>
        </p:nvSpPr>
        <p:spPr>
          <a:xfrm>
            <a:off x="9796641" y="3367986"/>
            <a:ext cx="1155128" cy="289056"/>
          </a:xfrm>
          <a:custGeom>
            <a:avLst/>
            <a:gdLst/>
            <a:ahLst/>
            <a:cxnLst/>
            <a:rect l="l" t="t" r="r" b="b"/>
            <a:pathLst>
              <a:path w="1998129" h="347040">
                <a:moveTo>
                  <a:pt x="0" y="347040"/>
                </a:moveTo>
                <a:lnTo>
                  <a:pt x="1998129" y="347040"/>
                </a:lnTo>
                <a:lnTo>
                  <a:pt x="1998129" y="0"/>
                </a:lnTo>
                <a:lnTo>
                  <a:pt x="0" y="0"/>
                </a:lnTo>
                <a:close/>
              </a:path>
            </a:pathLst>
          </a:custGeom>
          <a:solidFill>
            <a:srgbClr val="91DCF8"/>
          </a:solidFill>
          <a:ln w="31750">
            <a:solidFill>
              <a:srgbClr val="FEC10D"/>
            </a:solidFill>
          </a:ln>
        </p:spPr>
        <p:txBody>
          <a:bodyPr anchor="ctr"/>
          <a:lstStyle/>
          <a:p>
            <a:pPr>
              <a:defRPr/>
            </a:pPr>
            <a:r>
              <a:rPr lang="en-US" sz="900">
                <a:solidFill>
                  <a:srgbClr val="000000"/>
                </a:solidFill>
              </a:rPr>
              <a:t>Collect Payment</a:t>
            </a:r>
          </a:p>
        </p:txBody>
      </p:sp>
      <p:sp>
        <p:nvSpPr>
          <p:cNvPr id="61" name="Freeform 20">
            <a:extLst>
              <a:ext uri="{FF2B5EF4-FFF2-40B4-BE49-F238E27FC236}">
                <a16:creationId xmlns:a16="http://schemas.microsoft.com/office/drawing/2014/main" id="{7A7C2F4E-15A0-D71F-8472-F2174BF37298}"/>
              </a:ext>
            </a:extLst>
          </p:cNvPr>
          <p:cNvSpPr/>
          <p:nvPr/>
        </p:nvSpPr>
        <p:spPr>
          <a:xfrm>
            <a:off x="6936615" y="5084517"/>
            <a:ext cx="962217" cy="232553"/>
          </a:xfrm>
          <a:custGeom>
            <a:avLst/>
            <a:gdLst/>
            <a:ahLst/>
            <a:cxnLst/>
            <a:rect l="l" t="t" r="r" b="b"/>
            <a:pathLst>
              <a:path w="1998129" h="347040">
                <a:moveTo>
                  <a:pt x="0" y="347041"/>
                </a:moveTo>
                <a:lnTo>
                  <a:pt x="1998129" y="347041"/>
                </a:lnTo>
                <a:lnTo>
                  <a:pt x="1998129" y="0"/>
                </a:lnTo>
                <a:lnTo>
                  <a:pt x="0" y="0"/>
                </a:lnTo>
                <a:close/>
              </a:path>
            </a:pathLst>
          </a:custGeom>
          <a:solidFill>
            <a:schemeClr val="bg1"/>
          </a:solidFill>
          <a:ln w="31750">
            <a:solidFill>
              <a:srgbClr val="FF986C"/>
            </a:solid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mn-cs"/>
              </a:rPr>
              <a:t>Differentiating</a:t>
            </a:r>
          </a:p>
        </p:txBody>
      </p:sp>
      <p:sp>
        <p:nvSpPr>
          <p:cNvPr id="62" name="Freeform 20">
            <a:extLst>
              <a:ext uri="{FF2B5EF4-FFF2-40B4-BE49-F238E27FC236}">
                <a16:creationId xmlns:a16="http://schemas.microsoft.com/office/drawing/2014/main" id="{BC11F745-F6F4-2B26-F767-C93F6212950B}"/>
              </a:ext>
            </a:extLst>
          </p:cNvPr>
          <p:cNvSpPr/>
          <p:nvPr/>
        </p:nvSpPr>
        <p:spPr>
          <a:xfrm>
            <a:off x="8052403" y="5084517"/>
            <a:ext cx="814103" cy="232553"/>
          </a:xfrm>
          <a:custGeom>
            <a:avLst/>
            <a:gdLst/>
            <a:ahLst/>
            <a:cxnLst/>
            <a:rect l="l" t="t" r="r" b="b"/>
            <a:pathLst>
              <a:path w="1998129" h="347040">
                <a:moveTo>
                  <a:pt x="0" y="347041"/>
                </a:moveTo>
                <a:lnTo>
                  <a:pt x="1998129" y="347041"/>
                </a:lnTo>
                <a:lnTo>
                  <a:pt x="1998129" y="0"/>
                </a:lnTo>
                <a:lnTo>
                  <a:pt x="0" y="0"/>
                </a:lnTo>
                <a:close/>
              </a:path>
            </a:pathLst>
          </a:custGeom>
          <a:solidFill>
            <a:schemeClr val="bg1"/>
          </a:solidFill>
          <a:ln w="31750">
            <a:solidFill>
              <a:srgbClr val="FEC10D"/>
            </a:solid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mn-cs"/>
              </a:rPr>
              <a:t>Core</a:t>
            </a:r>
          </a:p>
        </p:txBody>
      </p:sp>
      <p:sp>
        <p:nvSpPr>
          <p:cNvPr id="63" name="Freeform 20">
            <a:extLst>
              <a:ext uri="{FF2B5EF4-FFF2-40B4-BE49-F238E27FC236}">
                <a16:creationId xmlns:a16="http://schemas.microsoft.com/office/drawing/2014/main" id="{1157B083-6CED-8F7D-1359-B3848692BAF4}"/>
              </a:ext>
            </a:extLst>
          </p:cNvPr>
          <p:cNvSpPr/>
          <p:nvPr/>
        </p:nvSpPr>
        <p:spPr>
          <a:xfrm>
            <a:off x="9020077" y="5084517"/>
            <a:ext cx="915090" cy="232553"/>
          </a:xfrm>
          <a:custGeom>
            <a:avLst/>
            <a:gdLst/>
            <a:ahLst/>
            <a:cxnLst/>
            <a:rect l="l" t="t" r="r" b="b"/>
            <a:pathLst>
              <a:path w="1998129" h="347040">
                <a:moveTo>
                  <a:pt x="0" y="347041"/>
                </a:moveTo>
                <a:lnTo>
                  <a:pt x="1998129" y="347041"/>
                </a:lnTo>
                <a:lnTo>
                  <a:pt x="1998129" y="0"/>
                </a:lnTo>
                <a:lnTo>
                  <a:pt x="0" y="0"/>
                </a:lnTo>
                <a:close/>
              </a:path>
            </a:pathLst>
          </a:custGeom>
          <a:solidFill>
            <a:schemeClr val="bg1"/>
          </a:solidFill>
          <a:ln w="25400">
            <a:solidFill>
              <a:srgbClr val="06C4B0"/>
            </a:solid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mn-cs"/>
              </a:rPr>
              <a:t>Requisite</a:t>
            </a:r>
          </a:p>
        </p:txBody>
      </p:sp>
      <p:sp>
        <p:nvSpPr>
          <p:cNvPr id="64" name="Freeform 20">
            <a:extLst>
              <a:ext uri="{FF2B5EF4-FFF2-40B4-BE49-F238E27FC236}">
                <a16:creationId xmlns:a16="http://schemas.microsoft.com/office/drawing/2014/main" id="{86077E21-D32B-9E37-8C76-9F134278593E}"/>
              </a:ext>
            </a:extLst>
          </p:cNvPr>
          <p:cNvSpPr/>
          <p:nvPr/>
        </p:nvSpPr>
        <p:spPr>
          <a:xfrm>
            <a:off x="10088738" y="5084517"/>
            <a:ext cx="802821" cy="232553"/>
          </a:xfrm>
          <a:custGeom>
            <a:avLst/>
            <a:gdLst/>
            <a:ahLst/>
            <a:cxnLst/>
            <a:rect l="l" t="t" r="r" b="b"/>
            <a:pathLst>
              <a:path w="1998129" h="347040">
                <a:moveTo>
                  <a:pt x="0" y="347041"/>
                </a:moveTo>
                <a:lnTo>
                  <a:pt x="1998129" y="347041"/>
                </a:lnTo>
                <a:lnTo>
                  <a:pt x="1998129" y="0"/>
                </a:lnTo>
                <a:lnTo>
                  <a:pt x="0" y="0"/>
                </a:lnTo>
                <a:close/>
              </a:path>
            </a:pathLst>
          </a:custGeom>
          <a:solidFill>
            <a:schemeClr val="bg1"/>
          </a:solidFill>
          <a:ln w="31750">
            <a:solidFill>
              <a:srgbClr val="7F2A05"/>
            </a:solid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ea typeface="+mn-ea"/>
                <a:cs typeface="+mn-cs"/>
              </a:rPr>
              <a:t>Non-core</a:t>
            </a:r>
          </a:p>
        </p:txBody>
      </p:sp>
      <p:sp>
        <p:nvSpPr>
          <p:cNvPr id="5" name="TextBox 4">
            <a:extLst>
              <a:ext uri="{FF2B5EF4-FFF2-40B4-BE49-F238E27FC236}">
                <a16:creationId xmlns:a16="http://schemas.microsoft.com/office/drawing/2014/main" id="{A76EF3D7-CC87-CC19-64A0-07EDFA50B88F}"/>
              </a:ext>
            </a:extLst>
          </p:cNvPr>
          <p:cNvSpPr txBox="1"/>
          <p:nvPr/>
        </p:nvSpPr>
        <p:spPr>
          <a:xfrm>
            <a:off x="389164" y="6071264"/>
            <a:ext cx="8258978"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lumMod val="50000"/>
                    <a:lumOff val="50000"/>
                  </a:schemeClr>
                </a:solidFill>
                <a:effectLst/>
                <a:uLnTx/>
                <a:uFillTx/>
                <a:ea typeface="+mn-ea"/>
                <a:cs typeface="+mn-cs"/>
              </a:rPr>
              <a:t>(* See glossary for Gartner value stream definition)</a:t>
            </a:r>
          </a:p>
        </p:txBody>
      </p:sp>
    </p:spTree>
    <p:extLst>
      <p:ext uri="{BB962C8B-B14F-4D97-AF65-F5344CB8AC3E}">
        <p14:creationId xmlns:p14="http://schemas.microsoft.com/office/powerpoint/2010/main" val="3334835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C504-F187-5298-1061-09CD7CF7960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DC9876A7-CD49-EC94-DACF-B51EA682002A}"/>
              </a:ext>
            </a:extLst>
          </p:cNvPr>
          <p:cNvSpPr txBox="1"/>
          <p:nvPr/>
        </p:nvSpPr>
        <p:spPr>
          <a:xfrm>
            <a:off x="304800" y="7536856"/>
            <a:ext cx="1236133" cy="575733"/>
          </a:xfrm>
          <a:prstGeom prst="rect">
            <a:avLst/>
          </a:prstGeom>
        </p:spPr>
        <p:txBody>
          <a:bodyPr lIns="0" tIns="0" rIns="0" bIns="0" anchor="t"/>
          <a:lstStyle/>
          <a:p>
            <a:pPr marL="0" marR="0" lvl="0" indent="0" algn="l" defTabSz="457200" rtl="0" eaLnBrk="1" fontAlgn="auto" latinLnBrk="0" hangingPunct="1">
              <a:lnSpc>
                <a:spcPts val="2267"/>
              </a:lnSpc>
              <a:spcBef>
                <a:spcPts val="0"/>
              </a:spcBef>
              <a:spcAft>
                <a:spcPts val="0"/>
              </a:spcAft>
              <a:buClrTx/>
              <a:buSzTx/>
              <a:buFontTx/>
              <a:buNone/>
              <a:tabLst/>
              <a:defRPr/>
            </a:pPr>
            <a: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Source: Gartner</a:t>
            </a:r>
            <a:b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br>
            <a: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766498_C</a:t>
            </a:r>
          </a:p>
        </p:txBody>
      </p:sp>
      <p:sp>
        <p:nvSpPr>
          <p:cNvPr id="15" name="TextBox 14">
            <a:extLst>
              <a:ext uri="{FF2B5EF4-FFF2-40B4-BE49-F238E27FC236}">
                <a16:creationId xmlns:a16="http://schemas.microsoft.com/office/drawing/2014/main" id="{D3ECCB32-9698-5772-414A-134125C78316}"/>
              </a:ext>
            </a:extLst>
          </p:cNvPr>
          <p:cNvSpPr txBox="1"/>
          <p:nvPr/>
        </p:nvSpPr>
        <p:spPr>
          <a:xfrm>
            <a:off x="2732273" y="6243180"/>
            <a:ext cx="8258978"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lumMod val="50000"/>
                    <a:lumOff val="50000"/>
                  </a:schemeClr>
                </a:solidFill>
                <a:effectLst/>
                <a:uLnTx/>
                <a:uFillTx/>
                <a:ea typeface="+mn-ea"/>
                <a:cs typeface="+mn-cs"/>
              </a:rPr>
              <a:t>(* See glossary for definition of task mining and process intelligence)</a:t>
            </a:r>
          </a:p>
        </p:txBody>
      </p:sp>
      <p:graphicFrame>
        <p:nvGraphicFramePr>
          <p:cNvPr id="14" name="Table 13">
            <a:extLst>
              <a:ext uri="{FF2B5EF4-FFF2-40B4-BE49-F238E27FC236}">
                <a16:creationId xmlns:a16="http://schemas.microsoft.com/office/drawing/2014/main" id="{297F868A-2652-D6DF-BFF3-8383805B9C30}"/>
              </a:ext>
            </a:extLst>
          </p:cNvPr>
          <p:cNvGraphicFramePr>
            <a:graphicFrameLocks noGrp="1"/>
          </p:cNvGraphicFramePr>
          <p:nvPr>
            <p:extLst>
              <p:ext uri="{D42A27DB-BD31-4B8C-83A1-F6EECF244321}">
                <p14:modId xmlns:p14="http://schemas.microsoft.com/office/powerpoint/2010/main" val="2028491466"/>
              </p:ext>
            </p:extLst>
          </p:nvPr>
        </p:nvGraphicFramePr>
        <p:xfrm>
          <a:off x="492782" y="1054087"/>
          <a:ext cx="11274552" cy="1943100"/>
        </p:xfrm>
        <a:graphic>
          <a:graphicData uri="http://schemas.openxmlformats.org/drawingml/2006/table">
            <a:tbl>
              <a:tblPr firstRow="1" bandRow="1">
                <a:noFill/>
              </a:tblPr>
              <a:tblGrid>
                <a:gridCol w="11274552">
                  <a:extLst>
                    <a:ext uri="{9D8B030D-6E8A-4147-A177-3AD203B41FA5}">
                      <a16:colId xmlns:a16="http://schemas.microsoft.com/office/drawing/2014/main" val="3360203907"/>
                    </a:ext>
                  </a:extLst>
                </a:gridCol>
              </a:tblGrid>
              <a:tr h="0">
                <a:tc>
                  <a:txBody>
                    <a:bodyPr/>
                    <a:lstStyle/>
                    <a:p>
                      <a:pPr marL="0" marR="0" lvl="0" indent="0" algn="l" rtl="0">
                        <a:spcBef>
                          <a:spcPts val="0"/>
                        </a:spcBef>
                        <a:spcAft>
                          <a:spcPts val="0"/>
                        </a:spcAft>
                        <a:buNone/>
                      </a:pPr>
                      <a:r>
                        <a:rPr lang="en-US" sz="1000" b="1" dirty="0">
                          <a:solidFill>
                            <a:srgbClr val="FFFFFF"/>
                          </a:solidFill>
                          <a:latin typeface="+mn-lt"/>
                          <a:cs typeface="Arial" panose="020B0604020202020204" pitchFamily="34" charset="0"/>
                        </a:rPr>
                        <a:t>Guidance</a:t>
                      </a:r>
                      <a:endParaRPr lang="en-US" sz="1000" dirty="0">
                        <a:solidFill>
                          <a:srgbClr val="FFFFFF"/>
                        </a:solidFill>
                        <a:latin typeface="+mn-lt"/>
                        <a:cs typeface="Arial" panose="020B0604020202020204" pitchFamily="34" charset="0"/>
                      </a:endParaRPr>
                    </a:p>
                  </a:txBody>
                  <a:tcPr>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256032709"/>
                  </a:ext>
                </a:extLst>
              </a:tr>
              <a:tr h="1278164">
                <a:tc>
                  <a:txBody>
                    <a:bodyPr/>
                    <a:lstStyle/>
                    <a:p>
                      <a:pPr>
                        <a:spcAft>
                          <a:spcPts val="300"/>
                        </a:spcAft>
                      </a:pPr>
                      <a:r>
                        <a:rPr lang="en-US" sz="1100" i="0" dirty="0">
                          <a:latin typeface="+mn-lt"/>
                          <a:cs typeface="Arial" panose="020B0604020202020204" pitchFamily="34" charset="0"/>
                        </a:rPr>
                        <a:t>Jointly drive enterprise accountability for value stream optimization, ensuring HR contribution to the cross-functional effort to assess value stream and process performance.</a:t>
                      </a:r>
                      <a:endParaRPr lang="en-US" sz="1100" b="1" i="0" dirty="0">
                        <a:latin typeface="+mn-lt"/>
                        <a:cs typeface="Arial" panose="020B0604020202020204" pitchFamily="34" charset="0"/>
                      </a:endParaRPr>
                    </a:p>
                    <a:p>
                      <a:pPr marL="228600" indent="-228600">
                        <a:spcAft>
                          <a:spcPts val="300"/>
                        </a:spcAft>
                        <a:buFont typeface="+mj-lt"/>
                        <a:buAutoNum type="arabicPeriod"/>
                      </a:pPr>
                      <a:r>
                        <a:rPr lang="en-US" sz="1100" b="1" i="0" dirty="0">
                          <a:latin typeface="+mn-lt"/>
                          <a:cs typeface="Arial"/>
                        </a:rPr>
                        <a:t>Review and Diagnose:</a:t>
                      </a:r>
                      <a:r>
                        <a:rPr lang="en-US" sz="1100" i="0" dirty="0">
                          <a:latin typeface="+mn-lt"/>
                          <a:cs typeface="Arial"/>
                        </a:rPr>
                        <a:t> Diagnose where value is created or lost — optimize for outcomes, not just speed (e.g., cost per transaction, customer Net Promoter Score).</a:t>
                      </a:r>
                    </a:p>
                    <a:p>
                      <a:pPr marL="228600" indent="-228600">
                        <a:spcAft>
                          <a:spcPts val="300"/>
                        </a:spcAft>
                        <a:buFont typeface="+mj-lt"/>
                        <a:buAutoNum type="arabicPeriod"/>
                      </a:pPr>
                      <a:r>
                        <a:rPr lang="en-US" sz="1100" b="1" i="0" dirty="0">
                          <a:latin typeface="+mn-lt"/>
                          <a:cs typeface="Arial" panose="020B0604020202020204" pitchFamily="34" charset="0"/>
                        </a:rPr>
                        <a:t>Use Data-Driven Insights:</a:t>
                      </a:r>
                    </a:p>
                    <a:p>
                      <a:pPr marL="447675" lvl="1" indent="-173355">
                        <a:spcAft>
                          <a:spcPts val="300"/>
                        </a:spcAft>
                        <a:buFont typeface="Arial" panose="020B0604020202020204" pitchFamily="34" charset="0"/>
                        <a:buChar char="•"/>
                        <a:tabLst>
                          <a:tab pos="403225" algn="l"/>
                        </a:tabLst>
                      </a:pPr>
                      <a:r>
                        <a:rPr lang="en-US" sz="1100" kern="1200" dirty="0">
                          <a:solidFill>
                            <a:schemeClr val="tx1"/>
                          </a:solidFill>
                          <a:effectLst/>
                          <a:latin typeface="+mn-lt"/>
                          <a:ea typeface="+mn-ea"/>
                          <a:cs typeface="+mn-cs"/>
                        </a:rPr>
                        <a:t>Analyze workflow data to reveal friction points, handoffs, delays.</a:t>
                      </a:r>
                      <a:r>
                        <a:rPr lang="en-US" sz="1100" i="0" dirty="0">
                          <a:latin typeface="+mn-lt"/>
                          <a:cs typeface="Arial" panose="020B0604020202020204" pitchFamily="34" charset="0"/>
                        </a:rPr>
                        <a:t> Leverage quantitative and qualitative inputs. </a:t>
                      </a:r>
                    </a:p>
                    <a:p>
                      <a:pPr marL="447675" lvl="1" indent="-173355">
                        <a:spcAft>
                          <a:spcPts val="300"/>
                        </a:spcAft>
                        <a:buFont typeface="Arial" panose="020B0604020202020204" pitchFamily="34" charset="0"/>
                        <a:buChar char="•"/>
                        <a:tabLst>
                          <a:tab pos="403225" algn="l"/>
                        </a:tabLst>
                      </a:pPr>
                      <a:r>
                        <a:rPr lang="en-US" sz="1100" dirty="0">
                          <a:latin typeface="+mn-lt"/>
                          <a:cs typeface="Arial"/>
                        </a:rPr>
                        <a:t>Include task mining insights to uncover inefficiencies that impact process performance.</a:t>
                      </a:r>
                    </a:p>
                    <a:p>
                      <a:pPr marL="228600" lvl="0" indent="-228600">
                        <a:spcAft>
                          <a:spcPts val="300"/>
                        </a:spcAft>
                        <a:buAutoNum type="arabicPeriod"/>
                      </a:pPr>
                      <a:r>
                        <a:rPr lang="en-US" sz="1100" b="1" i="0" dirty="0">
                          <a:latin typeface="+mn-lt"/>
                          <a:cs typeface="Arial"/>
                        </a:rPr>
                        <a:t>Engage Broadly: </a:t>
                      </a:r>
                    </a:p>
                    <a:p>
                      <a:pPr marL="447675" lvl="0" indent="-173355">
                        <a:spcAft>
                          <a:spcPts val="300"/>
                        </a:spcAft>
                        <a:buFont typeface="Arial" panose="020B0604020202020204" pitchFamily="34" charset="0"/>
                        <a:buChar char="•"/>
                      </a:pPr>
                      <a:r>
                        <a:rPr lang="en-US" sz="1100" i="0" dirty="0">
                          <a:latin typeface="+mn-lt"/>
                          <a:cs typeface="Arial" panose="020B0604020202020204" pitchFamily="34" charset="0"/>
                        </a:rPr>
                        <a:t>Champion top-down alignment and bottom-up input. Involve those closest to the work to build engagement and readiness.</a:t>
                      </a:r>
                    </a:p>
                    <a:p>
                      <a:pPr marL="447675" lvl="0" indent="-173355">
                        <a:spcAft>
                          <a:spcPts val="300"/>
                        </a:spcAft>
                        <a:buFont typeface="Arial" panose="020B0604020202020204" pitchFamily="34" charset="0"/>
                        <a:buChar char="•"/>
                      </a:pPr>
                      <a:r>
                        <a:rPr lang="en-US" sz="1100" i="0" dirty="0">
                          <a:latin typeface="+mn-lt"/>
                          <a:cs typeface="Arial"/>
                        </a:rPr>
                        <a:t>Orchestrate cross-functional accountability across IT, Finance, Operations, HR, Risk, and Business Proses Excellence and other leaders.</a:t>
                      </a:r>
                    </a:p>
                  </a:txBody>
                  <a:tcPr>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905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1450980"/>
                  </a:ext>
                </a:extLst>
              </a:tr>
            </a:tbl>
          </a:graphicData>
        </a:graphic>
      </p:graphicFrame>
      <p:cxnSp>
        <p:nvCxnSpPr>
          <p:cNvPr id="18" name="Google Shape;462;p8">
            <a:extLst>
              <a:ext uri="{FF2B5EF4-FFF2-40B4-BE49-F238E27FC236}">
                <a16:creationId xmlns:a16="http://schemas.microsoft.com/office/drawing/2014/main" id="{01E371AA-0166-EB8C-3AFB-95EF1AC86607}"/>
              </a:ext>
            </a:extLst>
          </p:cNvPr>
          <p:cNvCxnSpPr>
            <a:cxnSpLocks/>
          </p:cNvCxnSpPr>
          <p:nvPr/>
        </p:nvCxnSpPr>
        <p:spPr>
          <a:xfrm flipV="1">
            <a:off x="8751049" y="5674451"/>
            <a:ext cx="0" cy="168619"/>
          </a:xfrm>
          <a:prstGeom prst="straightConnector1">
            <a:avLst/>
          </a:prstGeom>
          <a:noFill/>
          <a:ln w="25400" cap="flat" cmpd="sng">
            <a:solidFill>
              <a:srgbClr val="0057AF"/>
            </a:solidFill>
            <a:prstDash val="solid"/>
            <a:round/>
            <a:headEnd type="none" w="sm" len="sm"/>
            <a:tailEnd type="none" w="sm" len="sm"/>
          </a:ln>
        </p:spPr>
      </p:cxnSp>
      <p:sp>
        <p:nvSpPr>
          <p:cNvPr id="22" name="Google Shape;467;p8">
            <a:extLst>
              <a:ext uri="{FF2B5EF4-FFF2-40B4-BE49-F238E27FC236}">
                <a16:creationId xmlns:a16="http://schemas.microsoft.com/office/drawing/2014/main" id="{95EA9D2B-8DE0-C6AA-D68B-53DCE7AA8370}"/>
              </a:ext>
            </a:extLst>
          </p:cNvPr>
          <p:cNvSpPr txBox="1"/>
          <p:nvPr/>
        </p:nvSpPr>
        <p:spPr>
          <a:xfrm>
            <a:off x="7781732" y="5843070"/>
            <a:ext cx="1938633" cy="400110"/>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45720" tIns="45720" rIns="45720" bIns="45720" anchor="ctr"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400"/>
              <a:buFont typeface="Arial"/>
              <a:buNone/>
              <a:tabLst/>
              <a:defRPr/>
            </a:pPr>
            <a:r>
              <a:rPr kumimoji="0" lang="en-US" sz="1000" b="0" i="0" u="none" strike="noStrike" kern="1200" cap="none" spc="0" normalizeH="0" baseline="0" noProof="0">
                <a:ln>
                  <a:noFill/>
                </a:ln>
                <a:solidFill>
                  <a:srgbClr val="000000"/>
                </a:solidFill>
                <a:effectLst/>
                <a:uLnTx/>
                <a:uFillTx/>
                <a:ea typeface="Arial"/>
                <a:cs typeface="Arial"/>
                <a:sym typeface="Arial"/>
              </a:rPr>
              <a:t>Assess process performance within key value </a:t>
            </a:r>
            <a:r>
              <a:rPr lang="en-US" sz="1000">
                <a:solidFill>
                  <a:srgbClr val="000000"/>
                </a:solidFill>
                <a:ea typeface="Arial"/>
                <a:cs typeface="Arial"/>
                <a:sym typeface="Arial"/>
              </a:rPr>
              <a:t>str</a:t>
            </a:r>
            <a:r>
              <a:rPr kumimoji="0" lang="en-US" sz="1000" b="0" i="0" u="none" strike="noStrike" kern="1200" cap="none" spc="0" normalizeH="0" baseline="0" noProof="0">
                <a:ln>
                  <a:noFill/>
                </a:ln>
                <a:solidFill>
                  <a:srgbClr val="000000"/>
                </a:solidFill>
                <a:effectLst/>
                <a:uLnTx/>
                <a:uFillTx/>
                <a:ea typeface="Arial"/>
                <a:cs typeface="Arial"/>
                <a:sym typeface="Arial"/>
              </a:rPr>
              <a:t>eams </a:t>
            </a:r>
          </a:p>
        </p:txBody>
      </p:sp>
      <p:sp>
        <p:nvSpPr>
          <p:cNvPr id="30" name="TextBox 29">
            <a:extLst>
              <a:ext uri="{FF2B5EF4-FFF2-40B4-BE49-F238E27FC236}">
                <a16:creationId xmlns:a16="http://schemas.microsoft.com/office/drawing/2014/main" id="{9A7C7683-89EF-C185-B80E-92CED5B4964E}"/>
              </a:ext>
            </a:extLst>
          </p:cNvPr>
          <p:cNvSpPr txBox="1"/>
          <p:nvPr/>
        </p:nvSpPr>
        <p:spPr>
          <a:xfrm>
            <a:off x="10516213" y="4176677"/>
            <a:ext cx="569067" cy="153888"/>
          </a:xfrm>
          <a:prstGeom prst="rect">
            <a:avLst/>
          </a:prstGeom>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Customer</a:t>
            </a:r>
          </a:p>
        </p:txBody>
      </p:sp>
      <p:sp>
        <p:nvSpPr>
          <p:cNvPr id="31" name="Freeform 2">
            <a:extLst>
              <a:ext uri="{FF2B5EF4-FFF2-40B4-BE49-F238E27FC236}">
                <a16:creationId xmlns:a16="http://schemas.microsoft.com/office/drawing/2014/main" id="{E1058398-E122-7B02-EB17-58A116CA679A}"/>
              </a:ext>
            </a:extLst>
          </p:cNvPr>
          <p:cNvSpPr/>
          <p:nvPr/>
        </p:nvSpPr>
        <p:spPr>
          <a:xfrm>
            <a:off x="6084584" y="4686263"/>
            <a:ext cx="3880473" cy="373621"/>
          </a:xfrm>
          <a:custGeom>
            <a:avLst/>
            <a:gdLst/>
            <a:ahLst/>
            <a:cxnLst/>
            <a:rect l="l" t="t" r="r" b="b"/>
            <a:pathLst>
              <a:path w="7416800" h="787400">
                <a:moveTo>
                  <a:pt x="0" y="787400"/>
                </a:moveTo>
                <a:lnTo>
                  <a:pt x="7416800" y="787400"/>
                </a:lnTo>
                <a:lnTo>
                  <a:pt x="7416800" y="0"/>
                </a:lnTo>
                <a:lnTo>
                  <a:pt x="0" y="0"/>
                </a:lnTo>
                <a:close/>
              </a:path>
            </a:pathLst>
          </a:custGeom>
          <a:solidFill>
            <a:srgbClr val="E0F1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32" name="Freeform 3">
            <a:extLst>
              <a:ext uri="{FF2B5EF4-FFF2-40B4-BE49-F238E27FC236}">
                <a16:creationId xmlns:a16="http://schemas.microsoft.com/office/drawing/2014/main" id="{473A0CCE-8A18-D460-710E-D44F709DF96A}"/>
              </a:ext>
            </a:extLst>
          </p:cNvPr>
          <p:cNvSpPr/>
          <p:nvPr/>
        </p:nvSpPr>
        <p:spPr>
          <a:xfrm>
            <a:off x="6084584" y="5195564"/>
            <a:ext cx="4156035" cy="387944"/>
          </a:xfrm>
          <a:custGeom>
            <a:avLst/>
            <a:gdLst/>
            <a:ahLst/>
            <a:cxnLst/>
            <a:rect l="l" t="t" r="r" b="b"/>
            <a:pathLst>
              <a:path w="7416800" h="787400">
                <a:moveTo>
                  <a:pt x="0" y="787400"/>
                </a:moveTo>
                <a:lnTo>
                  <a:pt x="7416800" y="787400"/>
                </a:lnTo>
                <a:lnTo>
                  <a:pt x="7416800" y="0"/>
                </a:lnTo>
                <a:lnTo>
                  <a:pt x="0" y="0"/>
                </a:lnTo>
                <a:close/>
              </a:path>
            </a:pathLst>
          </a:custGeom>
          <a:solidFill>
            <a:srgbClr val="E0F1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79" name="Freeform 1">
            <a:extLst>
              <a:ext uri="{FF2B5EF4-FFF2-40B4-BE49-F238E27FC236}">
                <a16:creationId xmlns:a16="http://schemas.microsoft.com/office/drawing/2014/main" id="{B36289A5-3859-89F1-87D1-72E443F199FA}"/>
              </a:ext>
            </a:extLst>
          </p:cNvPr>
          <p:cNvSpPr/>
          <p:nvPr/>
        </p:nvSpPr>
        <p:spPr>
          <a:xfrm>
            <a:off x="7211328" y="4272118"/>
            <a:ext cx="3055492" cy="254911"/>
          </a:xfrm>
          <a:custGeom>
            <a:avLst/>
            <a:gdLst/>
            <a:ahLst/>
            <a:cxnLst/>
            <a:rect l="l" t="t" r="r" b="b"/>
            <a:pathLst>
              <a:path w="4222750" h="292100">
                <a:moveTo>
                  <a:pt x="1638300" y="0"/>
                </a:moveTo>
                <a:lnTo>
                  <a:pt x="0" y="292100"/>
                </a:lnTo>
                <a:lnTo>
                  <a:pt x="4222750" y="29210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80" name="Freeform 2">
            <a:extLst>
              <a:ext uri="{FF2B5EF4-FFF2-40B4-BE49-F238E27FC236}">
                <a16:creationId xmlns:a16="http://schemas.microsoft.com/office/drawing/2014/main" id="{8C9DB214-60AE-2775-C71E-918D9F46F248}"/>
              </a:ext>
            </a:extLst>
          </p:cNvPr>
          <p:cNvSpPr/>
          <p:nvPr/>
        </p:nvSpPr>
        <p:spPr>
          <a:xfrm>
            <a:off x="7110233" y="3436086"/>
            <a:ext cx="749808" cy="877824"/>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90" name="TextBox 89">
            <a:extLst>
              <a:ext uri="{FF2B5EF4-FFF2-40B4-BE49-F238E27FC236}">
                <a16:creationId xmlns:a16="http://schemas.microsoft.com/office/drawing/2014/main" id="{85CE2670-34F5-5678-1CD1-BCEE92CA55DA}"/>
              </a:ext>
            </a:extLst>
          </p:cNvPr>
          <p:cNvSpPr txBox="1"/>
          <p:nvPr/>
        </p:nvSpPr>
        <p:spPr>
          <a:xfrm>
            <a:off x="7110234" y="3487040"/>
            <a:ext cx="746492"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Engage Customer</a:t>
            </a:r>
          </a:p>
        </p:txBody>
      </p:sp>
      <p:sp>
        <p:nvSpPr>
          <p:cNvPr id="91" name="Freeform 4">
            <a:extLst>
              <a:ext uri="{FF2B5EF4-FFF2-40B4-BE49-F238E27FC236}">
                <a16:creationId xmlns:a16="http://schemas.microsoft.com/office/drawing/2014/main" id="{145A0CBA-9437-5FD1-3950-68F69D9C0D92}"/>
              </a:ext>
            </a:extLst>
          </p:cNvPr>
          <p:cNvSpPr/>
          <p:nvPr/>
        </p:nvSpPr>
        <p:spPr>
          <a:xfrm>
            <a:off x="8141144" y="3436086"/>
            <a:ext cx="746491" cy="877824"/>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ea typeface="+mn-ea"/>
              <a:cs typeface="+mn-cs"/>
            </a:endParaRPr>
          </a:p>
        </p:txBody>
      </p:sp>
      <p:sp>
        <p:nvSpPr>
          <p:cNvPr id="92" name="TextBox 91">
            <a:extLst>
              <a:ext uri="{FF2B5EF4-FFF2-40B4-BE49-F238E27FC236}">
                <a16:creationId xmlns:a16="http://schemas.microsoft.com/office/drawing/2014/main" id="{CF2D40EC-3EFB-8054-DFC2-9C1E099B1126}"/>
              </a:ext>
            </a:extLst>
          </p:cNvPr>
          <p:cNvSpPr txBox="1"/>
          <p:nvPr/>
        </p:nvSpPr>
        <p:spPr>
          <a:xfrm>
            <a:off x="8141113" y="3487040"/>
            <a:ext cx="746491"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Manage Delivery</a:t>
            </a:r>
          </a:p>
        </p:txBody>
      </p:sp>
      <p:sp>
        <p:nvSpPr>
          <p:cNvPr id="93" name="Freeform 6">
            <a:extLst>
              <a:ext uri="{FF2B5EF4-FFF2-40B4-BE49-F238E27FC236}">
                <a16:creationId xmlns:a16="http://schemas.microsoft.com/office/drawing/2014/main" id="{89FF60A9-BC33-C442-F0D0-BE6135179C5F}"/>
              </a:ext>
            </a:extLst>
          </p:cNvPr>
          <p:cNvSpPr/>
          <p:nvPr/>
        </p:nvSpPr>
        <p:spPr>
          <a:xfrm>
            <a:off x="9192063" y="3436086"/>
            <a:ext cx="746491" cy="874776"/>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bg1"/>
              </a:solidFill>
              <a:effectLst/>
              <a:uLnTx/>
              <a:uFillTx/>
              <a:ea typeface="+mn-ea"/>
              <a:cs typeface="+mn-cs"/>
            </a:endParaRPr>
          </a:p>
        </p:txBody>
      </p:sp>
      <p:sp>
        <p:nvSpPr>
          <p:cNvPr id="94" name="TextBox 93">
            <a:extLst>
              <a:ext uri="{FF2B5EF4-FFF2-40B4-BE49-F238E27FC236}">
                <a16:creationId xmlns:a16="http://schemas.microsoft.com/office/drawing/2014/main" id="{66EFBBB5-2A8B-1664-6546-FCFE749046FF}"/>
              </a:ext>
            </a:extLst>
          </p:cNvPr>
          <p:cNvSpPr txBox="1"/>
          <p:nvPr/>
        </p:nvSpPr>
        <p:spPr>
          <a:xfrm>
            <a:off x="9192033" y="3487040"/>
            <a:ext cx="746490"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Invoice Customer</a:t>
            </a:r>
          </a:p>
        </p:txBody>
      </p:sp>
      <p:sp>
        <p:nvSpPr>
          <p:cNvPr id="95" name="Freeform 14">
            <a:extLst>
              <a:ext uri="{FF2B5EF4-FFF2-40B4-BE49-F238E27FC236}">
                <a16:creationId xmlns:a16="http://schemas.microsoft.com/office/drawing/2014/main" id="{18E84E85-195A-4664-71F9-6A9947F4D24C}"/>
              </a:ext>
            </a:extLst>
          </p:cNvPr>
          <p:cNvSpPr/>
          <p:nvPr/>
        </p:nvSpPr>
        <p:spPr>
          <a:xfrm>
            <a:off x="6488294" y="3845621"/>
            <a:ext cx="1060704" cy="466344"/>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97" name="TextBox 96">
            <a:extLst>
              <a:ext uri="{FF2B5EF4-FFF2-40B4-BE49-F238E27FC236}">
                <a16:creationId xmlns:a16="http://schemas.microsoft.com/office/drawing/2014/main" id="{D444EB3A-8EEA-6250-25A5-683F5E2BD6DA}"/>
              </a:ext>
            </a:extLst>
          </p:cNvPr>
          <p:cNvSpPr txBox="1"/>
          <p:nvPr/>
        </p:nvSpPr>
        <p:spPr>
          <a:xfrm>
            <a:off x="6691839" y="3924905"/>
            <a:ext cx="653615"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EFF"/>
                </a:solidFill>
                <a:effectLst/>
                <a:uLnTx/>
                <a:uFillTx/>
                <a:ea typeface="+mn-ea"/>
                <a:cs typeface="+mn-cs"/>
              </a:rPr>
              <a:t>Arrange Collection</a:t>
            </a:r>
          </a:p>
        </p:txBody>
      </p:sp>
      <p:sp>
        <p:nvSpPr>
          <p:cNvPr id="98" name="Freeform 16">
            <a:extLst>
              <a:ext uri="{FF2B5EF4-FFF2-40B4-BE49-F238E27FC236}">
                <a16:creationId xmlns:a16="http://schemas.microsoft.com/office/drawing/2014/main" id="{81C6CA6D-1DA7-C4F1-F8DB-E974AB9C22DF}"/>
              </a:ext>
            </a:extLst>
          </p:cNvPr>
          <p:cNvSpPr/>
          <p:nvPr/>
        </p:nvSpPr>
        <p:spPr>
          <a:xfrm>
            <a:off x="7476721" y="3845621"/>
            <a:ext cx="1060704" cy="466344"/>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99" name="TextBox 98">
            <a:extLst>
              <a:ext uri="{FF2B5EF4-FFF2-40B4-BE49-F238E27FC236}">
                <a16:creationId xmlns:a16="http://schemas.microsoft.com/office/drawing/2014/main" id="{3380A601-7484-5728-18C6-E2263AC1F592}"/>
              </a:ext>
            </a:extLst>
          </p:cNvPr>
          <p:cNvSpPr txBox="1"/>
          <p:nvPr/>
        </p:nvSpPr>
        <p:spPr>
          <a:xfrm>
            <a:off x="7703821" y="3924905"/>
            <a:ext cx="606504" cy="307777"/>
          </a:xfrm>
          <a:prstGeom prst="rect">
            <a:avLst/>
          </a:prstGeom>
        </p:spPr>
        <p:txBody>
          <a:bodyPr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EFF"/>
                </a:solidFill>
                <a:effectLst/>
                <a:uLnTx/>
                <a:uFillTx/>
                <a:ea typeface="+mn-ea"/>
                <a:cs typeface="+mn-cs"/>
              </a:rPr>
              <a:t>Transport Shipment</a:t>
            </a:r>
          </a:p>
        </p:txBody>
      </p:sp>
      <p:sp>
        <p:nvSpPr>
          <p:cNvPr id="100" name="Freeform 18">
            <a:extLst>
              <a:ext uri="{FF2B5EF4-FFF2-40B4-BE49-F238E27FC236}">
                <a16:creationId xmlns:a16="http://schemas.microsoft.com/office/drawing/2014/main" id="{AFD795B0-B3EB-D260-0A88-93F4DC4F6943}"/>
              </a:ext>
            </a:extLst>
          </p:cNvPr>
          <p:cNvSpPr/>
          <p:nvPr/>
        </p:nvSpPr>
        <p:spPr>
          <a:xfrm>
            <a:off x="8465149" y="3845621"/>
            <a:ext cx="1057530" cy="466344"/>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1" name="TextBox 100">
            <a:extLst>
              <a:ext uri="{FF2B5EF4-FFF2-40B4-BE49-F238E27FC236}">
                <a16:creationId xmlns:a16="http://schemas.microsoft.com/office/drawing/2014/main" id="{234F01F8-530D-86DC-C339-CF308A99FA03}"/>
              </a:ext>
            </a:extLst>
          </p:cNvPr>
          <p:cNvSpPr txBox="1"/>
          <p:nvPr/>
        </p:nvSpPr>
        <p:spPr>
          <a:xfrm>
            <a:off x="8651531" y="3924905"/>
            <a:ext cx="684766"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EFF"/>
                </a:solidFill>
                <a:effectLst/>
                <a:uLnTx/>
                <a:uFillTx/>
                <a:ea typeface="+mn-ea"/>
                <a:cs typeface="+mn-cs"/>
              </a:rPr>
              <a:t>Deliver Shipment</a:t>
            </a:r>
          </a:p>
        </p:txBody>
      </p:sp>
      <p:sp>
        <p:nvSpPr>
          <p:cNvPr id="102" name="Freeform 20">
            <a:extLst>
              <a:ext uri="{FF2B5EF4-FFF2-40B4-BE49-F238E27FC236}">
                <a16:creationId xmlns:a16="http://schemas.microsoft.com/office/drawing/2014/main" id="{97339BF3-4918-2693-0CEE-8C5E48CF5C0E}"/>
              </a:ext>
            </a:extLst>
          </p:cNvPr>
          <p:cNvSpPr/>
          <p:nvPr/>
        </p:nvSpPr>
        <p:spPr>
          <a:xfrm>
            <a:off x="9453577" y="3845032"/>
            <a:ext cx="1060704" cy="467523"/>
          </a:xfrm>
          <a:custGeom>
            <a:avLst/>
            <a:gdLst/>
            <a:ahLst/>
            <a:cxnLst/>
            <a:rect l="l" t="t" r="r" b="b"/>
            <a:pathLst>
              <a:path w="1841500" h="596900">
                <a:moveTo>
                  <a:pt x="1555928" y="64"/>
                </a:moveTo>
                <a:lnTo>
                  <a:pt x="1841501"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3" name="TextBox 102">
            <a:extLst>
              <a:ext uri="{FF2B5EF4-FFF2-40B4-BE49-F238E27FC236}">
                <a16:creationId xmlns:a16="http://schemas.microsoft.com/office/drawing/2014/main" id="{27EEBDDC-E19F-6691-48DF-90EF0A716D0D}"/>
              </a:ext>
            </a:extLst>
          </p:cNvPr>
          <p:cNvSpPr txBox="1"/>
          <p:nvPr/>
        </p:nvSpPr>
        <p:spPr>
          <a:xfrm>
            <a:off x="9641770" y="3924905"/>
            <a:ext cx="684319"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EFF"/>
                </a:solidFill>
                <a:effectLst/>
                <a:uLnTx/>
                <a:uFillTx/>
                <a:ea typeface="+mn-ea"/>
                <a:cs typeface="+mn-cs"/>
              </a:rPr>
              <a:t>Bill </a:t>
            </a:r>
            <a:br>
              <a:rPr kumimoji="0" lang="en-US" sz="1000" b="1" i="0" u="none" strike="noStrike" kern="1200" cap="none" spc="0" normalizeH="0" baseline="0" noProof="0">
                <a:ln>
                  <a:noFill/>
                </a:ln>
                <a:solidFill>
                  <a:srgbClr val="FFFEFF"/>
                </a:solidFill>
                <a:effectLst/>
                <a:uLnTx/>
                <a:uFillTx/>
                <a:ea typeface="+mn-ea"/>
                <a:cs typeface="+mn-cs"/>
              </a:rPr>
            </a:br>
            <a:r>
              <a:rPr kumimoji="0" lang="en-US" sz="1000" b="1" i="0" u="none" strike="noStrike" kern="1200" cap="none" spc="0" normalizeH="0" baseline="0" noProof="0">
                <a:ln>
                  <a:noFill/>
                </a:ln>
                <a:solidFill>
                  <a:srgbClr val="FFFEFF"/>
                </a:solidFill>
                <a:effectLst/>
                <a:uLnTx/>
                <a:uFillTx/>
                <a:ea typeface="+mn-ea"/>
                <a:cs typeface="+mn-cs"/>
              </a:rPr>
              <a:t>Customer</a:t>
            </a:r>
          </a:p>
        </p:txBody>
      </p:sp>
      <p:sp>
        <p:nvSpPr>
          <p:cNvPr id="104" name="Freeform 23">
            <a:extLst>
              <a:ext uri="{FF2B5EF4-FFF2-40B4-BE49-F238E27FC236}">
                <a16:creationId xmlns:a16="http://schemas.microsoft.com/office/drawing/2014/main" id="{95961DF1-093E-DEF5-393A-B7DC86055B75}"/>
              </a:ext>
            </a:extLst>
          </p:cNvPr>
          <p:cNvSpPr/>
          <p:nvPr/>
        </p:nvSpPr>
        <p:spPr>
          <a:xfrm>
            <a:off x="7226676" y="4502863"/>
            <a:ext cx="3055492" cy="1180973"/>
          </a:xfrm>
          <a:custGeom>
            <a:avLst/>
            <a:gdLst/>
            <a:ahLst/>
            <a:cxnLst/>
            <a:rect l="l" t="t" r="r" b="b"/>
            <a:pathLst>
              <a:path w="4222750" h="1739900">
                <a:moveTo>
                  <a:pt x="0" y="1739900"/>
                </a:moveTo>
                <a:lnTo>
                  <a:pt x="4222750" y="1739900"/>
                </a:lnTo>
                <a:lnTo>
                  <a:pt x="42227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5" name="Freeform 24">
            <a:extLst>
              <a:ext uri="{FF2B5EF4-FFF2-40B4-BE49-F238E27FC236}">
                <a16:creationId xmlns:a16="http://schemas.microsoft.com/office/drawing/2014/main" id="{04024141-60B4-D6FE-00F2-6CBDBAD94E40}"/>
              </a:ext>
            </a:extLst>
          </p:cNvPr>
          <p:cNvSpPr/>
          <p:nvPr/>
        </p:nvSpPr>
        <p:spPr>
          <a:xfrm>
            <a:off x="7323165" y="4634734"/>
            <a:ext cx="2862513" cy="1012359"/>
          </a:xfrm>
          <a:custGeom>
            <a:avLst/>
            <a:gdLst/>
            <a:ahLst/>
            <a:cxnLst/>
            <a:rect l="l" t="t" r="r" b="b"/>
            <a:pathLst>
              <a:path w="3956050" h="1473200">
                <a:moveTo>
                  <a:pt x="0" y="0"/>
                </a:moveTo>
                <a:lnTo>
                  <a:pt x="3956050" y="0"/>
                </a:lnTo>
                <a:lnTo>
                  <a:pt x="3956050" y="1473200"/>
                </a:lnTo>
                <a:lnTo>
                  <a:pt x="0" y="1473200"/>
                </a:lnTo>
                <a:close/>
                <a:moveTo>
                  <a:pt x="3956050" y="508000"/>
                </a:moveTo>
                <a:lnTo>
                  <a:pt x="0" y="508000"/>
                </a:lnTo>
                <a:moveTo>
                  <a:pt x="3956050" y="1003300"/>
                </a:moveTo>
                <a:lnTo>
                  <a:pt x="0" y="1003300"/>
                </a:lnTo>
              </a:path>
            </a:pathLst>
          </a:custGeom>
          <a:solidFill>
            <a:srgbClr val="FFF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6" name="Freeform 26">
            <a:extLst>
              <a:ext uri="{FF2B5EF4-FFF2-40B4-BE49-F238E27FC236}">
                <a16:creationId xmlns:a16="http://schemas.microsoft.com/office/drawing/2014/main" id="{A19606B4-8368-9B4C-CFB2-7546A5581323}"/>
              </a:ext>
            </a:extLst>
          </p:cNvPr>
          <p:cNvSpPr/>
          <p:nvPr/>
        </p:nvSpPr>
        <p:spPr>
          <a:xfrm>
            <a:off x="7663175" y="4908776"/>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7" name="Freeform 27">
            <a:extLst>
              <a:ext uri="{FF2B5EF4-FFF2-40B4-BE49-F238E27FC236}">
                <a16:creationId xmlns:a16="http://schemas.microsoft.com/office/drawing/2014/main" id="{B2BC2659-2CD3-E6B0-9D4C-F740BF5696E2}"/>
              </a:ext>
            </a:extLst>
          </p:cNvPr>
          <p:cNvSpPr/>
          <p:nvPr/>
        </p:nvSpPr>
        <p:spPr>
          <a:xfrm>
            <a:off x="8274273" y="4908776"/>
            <a:ext cx="237744" cy="137160"/>
          </a:xfrm>
          <a:custGeom>
            <a:avLst/>
            <a:gdLst/>
            <a:ahLst/>
            <a:cxnLst/>
            <a:rect l="l" t="t" r="r" b="b"/>
            <a:pathLst>
              <a:path w="330200" h="158750">
                <a:moveTo>
                  <a:pt x="0" y="158750"/>
                </a:moveTo>
                <a:lnTo>
                  <a:pt x="330200" y="158750"/>
                </a:lnTo>
                <a:lnTo>
                  <a:pt x="33020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8" name="Freeform 28">
            <a:extLst>
              <a:ext uri="{FF2B5EF4-FFF2-40B4-BE49-F238E27FC236}">
                <a16:creationId xmlns:a16="http://schemas.microsoft.com/office/drawing/2014/main" id="{C1DE2B66-6FAC-6A67-25AE-DB0C47D87719}"/>
              </a:ext>
            </a:extLst>
          </p:cNvPr>
          <p:cNvSpPr/>
          <p:nvPr/>
        </p:nvSpPr>
        <p:spPr>
          <a:xfrm>
            <a:off x="8614283" y="4688215"/>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09" name="Freeform 30">
            <a:extLst>
              <a:ext uri="{FF2B5EF4-FFF2-40B4-BE49-F238E27FC236}">
                <a16:creationId xmlns:a16="http://schemas.microsoft.com/office/drawing/2014/main" id="{1D51A353-7B50-5A55-CDFD-59C6C06630DB}"/>
              </a:ext>
            </a:extLst>
          </p:cNvPr>
          <p:cNvSpPr/>
          <p:nvPr/>
        </p:nvSpPr>
        <p:spPr>
          <a:xfrm>
            <a:off x="9179434" y="5206245"/>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10" name="Freeform 31">
            <a:extLst>
              <a:ext uri="{FF2B5EF4-FFF2-40B4-BE49-F238E27FC236}">
                <a16:creationId xmlns:a16="http://schemas.microsoft.com/office/drawing/2014/main" id="{D6709712-F31C-00AC-E6DC-AA68F985825C}"/>
              </a:ext>
            </a:extLst>
          </p:cNvPr>
          <p:cNvSpPr/>
          <p:nvPr/>
        </p:nvSpPr>
        <p:spPr>
          <a:xfrm>
            <a:off x="9671069" y="5410295"/>
            <a:ext cx="237744" cy="13716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11" name="Freeform 33">
            <a:extLst>
              <a:ext uri="{FF2B5EF4-FFF2-40B4-BE49-F238E27FC236}">
                <a16:creationId xmlns:a16="http://schemas.microsoft.com/office/drawing/2014/main" id="{935A0B99-7886-B4C7-1A7A-EB8D28E0269D}"/>
              </a:ext>
            </a:extLst>
          </p:cNvPr>
          <p:cNvSpPr/>
          <p:nvPr/>
        </p:nvSpPr>
        <p:spPr>
          <a:xfrm>
            <a:off x="8954289" y="4688215"/>
            <a:ext cx="237744" cy="137160"/>
          </a:xfrm>
          <a:custGeom>
            <a:avLst/>
            <a:gdLst/>
            <a:ahLst/>
            <a:cxnLst/>
            <a:rect l="l" t="t" r="r" b="b"/>
            <a:pathLst>
              <a:path w="336550" h="158750">
                <a:moveTo>
                  <a:pt x="80912" y="0"/>
                </a:moveTo>
                <a:cubicBezTo>
                  <a:pt x="36220" y="0"/>
                  <a:pt x="0" y="35535"/>
                  <a:pt x="0" y="79375"/>
                </a:cubicBezTo>
                <a:cubicBezTo>
                  <a:pt x="0" y="123216"/>
                  <a:pt x="36220" y="158750"/>
                  <a:pt x="80912" y="158750"/>
                </a:cubicBezTo>
                <a:lnTo>
                  <a:pt x="255638" y="158750"/>
                </a:lnTo>
                <a:cubicBezTo>
                  <a:pt x="300330" y="158750"/>
                  <a:pt x="336550" y="123216"/>
                  <a:pt x="336550" y="79375"/>
                </a:cubicBezTo>
                <a:cubicBezTo>
                  <a:pt x="336550" y="35535"/>
                  <a:pt x="300330" y="0"/>
                  <a:pt x="255638" y="0"/>
                </a:cubicBez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cxnSp>
        <p:nvCxnSpPr>
          <p:cNvPr id="112" name="Connector 34">
            <a:extLst>
              <a:ext uri="{FF2B5EF4-FFF2-40B4-BE49-F238E27FC236}">
                <a16:creationId xmlns:a16="http://schemas.microsoft.com/office/drawing/2014/main" id="{AE333009-696B-567A-1D42-E07653311A63}"/>
              </a:ext>
            </a:extLst>
          </p:cNvPr>
          <p:cNvCxnSpPr>
            <a:cxnSpLocks/>
          </p:cNvCxnSpPr>
          <p:nvPr/>
        </p:nvCxnSpPr>
        <p:spPr>
          <a:xfrm>
            <a:off x="7511549" y="4977356"/>
            <a:ext cx="108123" cy="0"/>
          </a:xfrm>
          <a:prstGeom prst="line">
            <a:avLst/>
          </a:prstGeom>
          <a:noFill/>
          <a:ln w="12700" cap="sq">
            <a:solidFill>
              <a:srgbClr val="5A798C"/>
            </a:solidFill>
          </a:ln>
        </p:spPr>
      </p:cxnSp>
      <p:cxnSp>
        <p:nvCxnSpPr>
          <p:cNvPr id="113" name="Connector 36">
            <a:extLst>
              <a:ext uri="{FF2B5EF4-FFF2-40B4-BE49-F238E27FC236}">
                <a16:creationId xmlns:a16="http://schemas.microsoft.com/office/drawing/2014/main" id="{10F502B5-BEA9-183A-0720-61FB3FB13780}"/>
              </a:ext>
            </a:extLst>
          </p:cNvPr>
          <p:cNvCxnSpPr>
            <a:cxnSpLocks/>
          </p:cNvCxnSpPr>
          <p:nvPr/>
        </p:nvCxnSpPr>
        <p:spPr>
          <a:xfrm>
            <a:off x="7906695" y="4977356"/>
            <a:ext cx="75960" cy="0"/>
          </a:xfrm>
          <a:prstGeom prst="line">
            <a:avLst/>
          </a:prstGeom>
          <a:noFill/>
          <a:ln w="12700" cap="sq">
            <a:solidFill>
              <a:srgbClr val="5A798C"/>
            </a:solidFill>
          </a:ln>
        </p:spPr>
      </p:cxnSp>
      <p:cxnSp>
        <p:nvCxnSpPr>
          <p:cNvPr id="116" name="Connector 38">
            <a:extLst>
              <a:ext uri="{FF2B5EF4-FFF2-40B4-BE49-F238E27FC236}">
                <a16:creationId xmlns:a16="http://schemas.microsoft.com/office/drawing/2014/main" id="{762BF62D-9D23-6065-9B4F-ED5B72A9A5BE}"/>
              </a:ext>
            </a:extLst>
          </p:cNvPr>
          <p:cNvCxnSpPr>
            <a:cxnSpLocks/>
          </p:cNvCxnSpPr>
          <p:nvPr/>
        </p:nvCxnSpPr>
        <p:spPr>
          <a:xfrm>
            <a:off x="8145621" y="4977356"/>
            <a:ext cx="85149" cy="0"/>
          </a:xfrm>
          <a:prstGeom prst="line">
            <a:avLst/>
          </a:prstGeom>
          <a:noFill/>
          <a:ln w="12700" cap="sq">
            <a:solidFill>
              <a:srgbClr val="5A798C"/>
            </a:solidFill>
          </a:ln>
        </p:spPr>
      </p:cxnSp>
      <p:cxnSp>
        <p:nvCxnSpPr>
          <p:cNvPr id="118" name="Connector 40">
            <a:extLst>
              <a:ext uri="{FF2B5EF4-FFF2-40B4-BE49-F238E27FC236}">
                <a16:creationId xmlns:a16="http://schemas.microsoft.com/office/drawing/2014/main" id="{6BDED41E-D635-C11A-2821-AD879A24320A}"/>
              </a:ext>
            </a:extLst>
          </p:cNvPr>
          <p:cNvCxnSpPr>
            <a:cxnSpLocks/>
          </p:cNvCxnSpPr>
          <p:nvPr/>
        </p:nvCxnSpPr>
        <p:spPr>
          <a:xfrm>
            <a:off x="8517794" y="4756795"/>
            <a:ext cx="52986" cy="0"/>
          </a:xfrm>
          <a:prstGeom prst="line">
            <a:avLst/>
          </a:prstGeom>
          <a:noFill/>
          <a:ln w="12700" cap="sq">
            <a:solidFill>
              <a:srgbClr val="5A798C"/>
            </a:solidFill>
          </a:ln>
        </p:spPr>
      </p:cxnSp>
      <p:cxnSp>
        <p:nvCxnSpPr>
          <p:cNvPr id="119" name="Connector 42">
            <a:extLst>
              <a:ext uri="{FF2B5EF4-FFF2-40B4-BE49-F238E27FC236}">
                <a16:creationId xmlns:a16="http://schemas.microsoft.com/office/drawing/2014/main" id="{D4028BB1-7204-C84A-5060-1E541AE2F11F}"/>
              </a:ext>
            </a:extLst>
          </p:cNvPr>
          <p:cNvCxnSpPr>
            <a:cxnSpLocks/>
          </p:cNvCxnSpPr>
          <p:nvPr/>
        </p:nvCxnSpPr>
        <p:spPr>
          <a:xfrm>
            <a:off x="8719961" y="5274825"/>
            <a:ext cx="66770" cy="0"/>
          </a:xfrm>
          <a:prstGeom prst="line">
            <a:avLst/>
          </a:prstGeom>
          <a:noFill/>
          <a:ln w="12700" cap="sq">
            <a:solidFill>
              <a:srgbClr val="5A798C"/>
            </a:solidFill>
          </a:ln>
        </p:spPr>
      </p:cxnSp>
      <p:cxnSp>
        <p:nvCxnSpPr>
          <p:cNvPr id="120" name="Connector 46">
            <a:extLst>
              <a:ext uri="{FF2B5EF4-FFF2-40B4-BE49-F238E27FC236}">
                <a16:creationId xmlns:a16="http://schemas.microsoft.com/office/drawing/2014/main" id="{CA213E0A-6113-DDA9-F577-3048A6D62046}"/>
              </a:ext>
            </a:extLst>
          </p:cNvPr>
          <p:cNvCxnSpPr>
            <a:cxnSpLocks/>
          </p:cNvCxnSpPr>
          <p:nvPr/>
        </p:nvCxnSpPr>
        <p:spPr>
          <a:xfrm>
            <a:off x="9229976" y="5478875"/>
            <a:ext cx="57581" cy="0"/>
          </a:xfrm>
          <a:prstGeom prst="line">
            <a:avLst/>
          </a:prstGeom>
          <a:noFill/>
          <a:ln w="12700" cap="sq">
            <a:solidFill>
              <a:srgbClr val="5A798C"/>
            </a:solidFill>
            <a:headEnd w="med" len="med"/>
          </a:ln>
        </p:spPr>
      </p:cxnSp>
      <p:cxnSp>
        <p:nvCxnSpPr>
          <p:cNvPr id="121" name="Connector 48">
            <a:extLst>
              <a:ext uri="{FF2B5EF4-FFF2-40B4-BE49-F238E27FC236}">
                <a16:creationId xmlns:a16="http://schemas.microsoft.com/office/drawing/2014/main" id="{5E614F8C-B67B-F5F3-6BCE-4B6D65B8CCD9}"/>
              </a:ext>
            </a:extLst>
          </p:cNvPr>
          <p:cNvCxnSpPr>
            <a:cxnSpLocks/>
          </p:cNvCxnSpPr>
          <p:nvPr/>
        </p:nvCxnSpPr>
        <p:spPr>
          <a:xfrm>
            <a:off x="9069160" y="5274825"/>
            <a:ext cx="66770" cy="0"/>
          </a:xfrm>
          <a:prstGeom prst="line">
            <a:avLst/>
          </a:prstGeom>
          <a:noFill/>
          <a:ln w="12700" cap="sq">
            <a:solidFill>
              <a:srgbClr val="5A798C"/>
            </a:solidFill>
          </a:ln>
        </p:spPr>
      </p:cxnSp>
      <p:cxnSp>
        <p:nvCxnSpPr>
          <p:cNvPr id="122" name="Connector 50">
            <a:extLst>
              <a:ext uri="{FF2B5EF4-FFF2-40B4-BE49-F238E27FC236}">
                <a16:creationId xmlns:a16="http://schemas.microsoft.com/office/drawing/2014/main" id="{AF7B2E05-7D48-27B6-6B8E-314BE6492684}"/>
              </a:ext>
            </a:extLst>
          </p:cNvPr>
          <p:cNvCxnSpPr>
            <a:cxnSpLocks/>
          </p:cNvCxnSpPr>
          <p:nvPr/>
        </p:nvCxnSpPr>
        <p:spPr>
          <a:xfrm>
            <a:off x="9569985" y="5478875"/>
            <a:ext cx="57581" cy="0"/>
          </a:xfrm>
          <a:prstGeom prst="line">
            <a:avLst/>
          </a:prstGeom>
          <a:noFill/>
          <a:ln w="12700" cap="sq">
            <a:solidFill>
              <a:srgbClr val="5A798C"/>
            </a:solidFill>
            <a:headEnd w="med" len="med"/>
          </a:ln>
        </p:spPr>
      </p:cxnSp>
      <p:cxnSp>
        <p:nvCxnSpPr>
          <p:cNvPr id="123" name="Connector 54">
            <a:extLst>
              <a:ext uri="{FF2B5EF4-FFF2-40B4-BE49-F238E27FC236}">
                <a16:creationId xmlns:a16="http://schemas.microsoft.com/office/drawing/2014/main" id="{8A79024A-A045-FC22-F19F-EBEE65D016E3}"/>
              </a:ext>
            </a:extLst>
          </p:cNvPr>
          <p:cNvCxnSpPr>
            <a:cxnSpLocks/>
          </p:cNvCxnSpPr>
          <p:nvPr/>
        </p:nvCxnSpPr>
        <p:spPr>
          <a:xfrm>
            <a:off x="9914590" y="5478875"/>
            <a:ext cx="66770" cy="0"/>
          </a:xfrm>
          <a:prstGeom prst="line">
            <a:avLst/>
          </a:prstGeom>
          <a:noFill/>
          <a:ln w="12700" cap="sq">
            <a:solidFill>
              <a:srgbClr val="5A798C"/>
            </a:solidFill>
            <a:headEnd w="med" len="med"/>
          </a:ln>
        </p:spPr>
      </p:cxnSp>
      <p:cxnSp>
        <p:nvCxnSpPr>
          <p:cNvPr id="124" name="Connector 58">
            <a:extLst>
              <a:ext uri="{FF2B5EF4-FFF2-40B4-BE49-F238E27FC236}">
                <a16:creationId xmlns:a16="http://schemas.microsoft.com/office/drawing/2014/main" id="{0A0185AA-9FF6-01D4-1E4D-004174CF1576}"/>
              </a:ext>
            </a:extLst>
          </p:cNvPr>
          <p:cNvCxnSpPr>
            <a:cxnSpLocks/>
          </p:cNvCxnSpPr>
          <p:nvPr/>
        </p:nvCxnSpPr>
        <p:spPr>
          <a:xfrm>
            <a:off x="8857803" y="4756795"/>
            <a:ext cx="52986" cy="0"/>
          </a:xfrm>
          <a:prstGeom prst="line">
            <a:avLst/>
          </a:prstGeom>
          <a:noFill/>
          <a:ln w="12700" cap="sq">
            <a:solidFill>
              <a:srgbClr val="5A798C"/>
            </a:solidFill>
          </a:ln>
        </p:spPr>
      </p:cxnSp>
      <p:sp>
        <p:nvSpPr>
          <p:cNvPr id="125" name="Freeform 60">
            <a:extLst>
              <a:ext uri="{FF2B5EF4-FFF2-40B4-BE49-F238E27FC236}">
                <a16:creationId xmlns:a16="http://schemas.microsoft.com/office/drawing/2014/main" id="{F5B6AF9F-0A7E-76D3-5A80-FFDF0A9A9A09}"/>
              </a:ext>
            </a:extLst>
          </p:cNvPr>
          <p:cNvSpPr/>
          <p:nvPr/>
        </p:nvSpPr>
        <p:spPr>
          <a:xfrm>
            <a:off x="8099674" y="4757185"/>
            <a:ext cx="131096" cy="153849"/>
          </a:xfrm>
          <a:custGeom>
            <a:avLst/>
            <a:gdLst/>
            <a:ahLst/>
            <a:cxnLst/>
            <a:rect l="l" t="t" r="r" b="b"/>
            <a:pathLst>
              <a:path w="181178" h="155575">
                <a:moveTo>
                  <a:pt x="0" y="155575"/>
                </a:moveTo>
                <a:lnTo>
                  <a:pt x="0" y="0"/>
                </a:lnTo>
                <a:lnTo>
                  <a:pt x="181178" y="0"/>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26" name="Freeform 62">
            <a:extLst>
              <a:ext uri="{FF2B5EF4-FFF2-40B4-BE49-F238E27FC236}">
                <a16:creationId xmlns:a16="http://schemas.microsoft.com/office/drawing/2014/main" id="{682463AA-517E-3F7C-6C4B-C45D4721AF01}"/>
              </a:ext>
            </a:extLst>
          </p:cNvPr>
          <p:cNvSpPr/>
          <p:nvPr/>
        </p:nvSpPr>
        <p:spPr>
          <a:xfrm>
            <a:off x="8026158" y="4885916"/>
            <a:ext cx="147031" cy="182880"/>
          </a:xfrm>
          <a:custGeom>
            <a:avLst/>
            <a:gdLst/>
            <a:ahLst/>
            <a:cxnLst/>
            <a:rect l="l" t="t" r="r" b="b"/>
            <a:pathLst>
              <a:path w="203200" h="215900">
                <a:moveTo>
                  <a:pt x="101600" y="0"/>
                </a:moveTo>
                <a:lnTo>
                  <a:pt x="0" y="107950"/>
                </a:lnTo>
                <a:lnTo>
                  <a:pt x="101600" y="215900"/>
                </a:lnTo>
                <a:lnTo>
                  <a:pt x="203200" y="10795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27" name="Freeform 63">
            <a:extLst>
              <a:ext uri="{FF2B5EF4-FFF2-40B4-BE49-F238E27FC236}">
                <a16:creationId xmlns:a16="http://schemas.microsoft.com/office/drawing/2014/main" id="{7FCEE5FD-2CF9-3030-F9C9-5BA592BA21C3}"/>
              </a:ext>
            </a:extLst>
          </p:cNvPr>
          <p:cNvSpPr/>
          <p:nvPr/>
        </p:nvSpPr>
        <p:spPr>
          <a:xfrm>
            <a:off x="8274273" y="4688215"/>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29" name="Freeform 64">
            <a:extLst>
              <a:ext uri="{FF2B5EF4-FFF2-40B4-BE49-F238E27FC236}">
                <a16:creationId xmlns:a16="http://schemas.microsoft.com/office/drawing/2014/main" id="{179EA99E-9C4D-CBE6-D00A-430BEB3E658B}"/>
              </a:ext>
            </a:extLst>
          </p:cNvPr>
          <p:cNvSpPr/>
          <p:nvPr/>
        </p:nvSpPr>
        <p:spPr>
          <a:xfrm>
            <a:off x="8481036" y="5206245"/>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0" name="Freeform 65">
            <a:extLst>
              <a:ext uri="{FF2B5EF4-FFF2-40B4-BE49-F238E27FC236}">
                <a16:creationId xmlns:a16="http://schemas.microsoft.com/office/drawing/2014/main" id="{D31BC7B3-6CAF-C210-00EE-5F4EB8B986DC}"/>
              </a:ext>
            </a:extLst>
          </p:cNvPr>
          <p:cNvSpPr/>
          <p:nvPr/>
        </p:nvSpPr>
        <p:spPr>
          <a:xfrm>
            <a:off x="8995645" y="5410295"/>
            <a:ext cx="237744" cy="13716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1" name="Freeform 66">
            <a:extLst>
              <a:ext uri="{FF2B5EF4-FFF2-40B4-BE49-F238E27FC236}">
                <a16:creationId xmlns:a16="http://schemas.microsoft.com/office/drawing/2014/main" id="{1092F10C-D6A7-6553-E521-3A67EFEB7EDB}"/>
              </a:ext>
            </a:extLst>
          </p:cNvPr>
          <p:cNvSpPr/>
          <p:nvPr/>
        </p:nvSpPr>
        <p:spPr>
          <a:xfrm>
            <a:off x="10024863" y="5410295"/>
            <a:ext cx="137160" cy="137160"/>
          </a:xfrm>
          <a:custGeom>
            <a:avLst/>
            <a:gdLst/>
            <a:ahLst/>
            <a:cxnLst/>
            <a:rect l="l" t="t" r="r" b="b"/>
            <a:pathLst>
              <a:path w="158750" h="152400">
                <a:moveTo>
                  <a:pt x="79375" y="152400"/>
                </a:moveTo>
                <a:cubicBezTo>
                  <a:pt x="123216" y="152400"/>
                  <a:pt x="158750" y="118276"/>
                  <a:pt x="158750" y="76200"/>
                </a:cubicBezTo>
                <a:cubicBezTo>
                  <a:pt x="158750" y="34112"/>
                  <a:pt x="123216" y="0"/>
                  <a:pt x="79375" y="0"/>
                </a:cubicBezTo>
                <a:cubicBezTo>
                  <a:pt x="35534" y="0"/>
                  <a:pt x="0" y="34112"/>
                  <a:pt x="0" y="76200"/>
                </a:cubicBezTo>
                <a:cubicBezTo>
                  <a:pt x="0" y="118276"/>
                  <a:pt x="35534" y="152400"/>
                  <a:pt x="79375" y="152400"/>
                </a:cubicBezTo>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2" name="Freeform 68">
            <a:extLst>
              <a:ext uri="{FF2B5EF4-FFF2-40B4-BE49-F238E27FC236}">
                <a16:creationId xmlns:a16="http://schemas.microsoft.com/office/drawing/2014/main" id="{A24973C8-C158-F436-4AFA-888286355331}"/>
              </a:ext>
            </a:extLst>
          </p:cNvPr>
          <p:cNvSpPr/>
          <p:nvPr/>
        </p:nvSpPr>
        <p:spPr>
          <a:xfrm>
            <a:off x="8393736" y="5045799"/>
            <a:ext cx="33795" cy="228953"/>
          </a:xfrm>
          <a:custGeom>
            <a:avLst/>
            <a:gdLst/>
            <a:ahLst/>
            <a:cxnLst/>
            <a:rect l="l" t="t" r="r" b="b"/>
            <a:pathLst>
              <a:path w="60528" h="815975">
                <a:moveTo>
                  <a:pt x="0" y="0"/>
                </a:moveTo>
                <a:lnTo>
                  <a:pt x="0" y="815975"/>
                </a:lnTo>
                <a:lnTo>
                  <a:pt x="60528" y="815975"/>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3" name="Freeform 70">
            <a:extLst>
              <a:ext uri="{FF2B5EF4-FFF2-40B4-BE49-F238E27FC236}">
                <a16:creationId xmlns:a16="http://schemas.microsoft.com/office/drawing/2014/main" id="{53BA8E80-FEE6-398A-DF33-60E2F4E38855}"/>
              </a:ext>
            </a:extLst>
          </p:cNvPr>
          <p:cNvSpPr/>
          <p:nvPr/>
        </p:nvSpPr>
        <p:spPr>
          <a:xfrm>
            <a:off x="8894561" y="5356884"/>
            <a:ext cx="57581" cy="125591"/>
          </a:xfrm>
          <a:custGeom>
            <a:avLst/>
            <a:gdLst/>
            <a:ahLst/>
            <a:cxnLst/>
            <a:rect l="l" t="t" r="r" b="b"/>
            <a:pathLst>
              <a:path w="79578" h="127000">
                <a:moveTo>
                  <a:pt x="0" y="0"/>
                </a:moveTo>
                <a:lnTo>
                  <a:pt x="0" y="127000"/>
                </a:lnTo>
                <a:lnTo>
                  <a:pt x="79578" y="127000"/>
                </a:lnTo>
              </a:path>
            </a:pathLst>
          </a:custGeom>
          <a:noFill/>
          <a:ln w="12700" cap="sq">
            <a:solidFill>
              <a:srgbClr val="5A798C"/>
            </a:solidFill>
            <a:headEnd w="med" len="me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4" name="Freeform 72">
            <a:extLst>
              <a:ext uri="{FF2B5EF4-FFF2-40B4-BE49-F238E27FC236}">
                <a16:creationId xmlns:a16="http://schemas.microsoft.com/office/drawing/2014/main" id="{1DC04E68-89C2-94A1-1DAE-E3F5CEEDB4DC}"/>
              </a:ext>
            </a:extLst>
          </p:cNvPr>
          <p:cNvSpPr/>
          <p:nvPr/>
        </p:nvSpPr>
        <p:spPr>
          <a:xfrm>
            <a:off x="9422954" y="5278389"/>
            <a:ext cx="91894" cy="69276"/>
          </a:xfrm>
          <a:custGeom>
            <a:avLst/>
            <a:gdLst/>
            <a:ahLst/>
            <a:cxnLst/>
            <a:rect l="l" t="t" r="r" b="b"/>
            <a:pathLst>
              <a:path w="127000" h="70053">
                <a:moveTo>
                  <a:pt x="0" y="0"/>
                </a:moveTo>
                <a:lnTo>
                  <a:pt x="127000" y="0"/>
                </a:lnTo>
                <a:lnTo>
                  <a:pt x="127000" y="70054"/>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5" name="Freeform 35">
            <a:extLst>
              <a:ext uri="{FF2B5EF4-FFF2-40B4-BE49-F238E27FC236}">
                <a16:creationId xmlns:a16="http://schemas.microsoft.com/office/drawing/2014/main" id="{953E8D9B-6A3E-C663-FFDB-F0C61A627804}"/>
              </a:ext>
            </a:extLst>
          </p:cNvPr>
          <p:cNvSpPr/>
          <p:nvPr/>
        </p:nvSpPr>
        <p:spPr>
          <a:xfrm>
            <a:off x="7615390" y="4928313"/>
            <a:ext cx="45720" cy="98087"/>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6" name="Freeform 37">
            <a:extLst>
              <a:ext uri="{FF2B5EF4-FFF2-40B4-BE49-F238E27FC236}">
                <a16:creationId xmlns:a16="http://schemas.microsoft.com/office/drawing/2014/main" id="{62EB898B-6BBC-3F3D-1366-30E92BB7B4E7}"/>
              </a:ext>
            </a:extLst>
          </p:cNvPr>
          <p:cNvSpPr/>
          <p:nvPr/>
        </p:nvSpPr>
        <p:spPr>
          <a:xfrm>
            <a:off x="7978373" y="4928319"/>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0" name="Freeform 39">
            <a:extLst>
              <a:ext uri="{FF2B5EF4-FFF2-40B4-BE49-F238E27FC236}">
                <a16:creationId xmlns:a16="http://schemas.microsoft.com/office/drawing/2014/main" id="{728C00BF-C5CE-6D7B-C5A3-748CE2EAFB57}"/>
              </a:ext>
            </a:extLst>
          </p:cNvPr>
          <p:cNvSpPr/>
          <p:nvPr/>
        </p:nvSpPr>
        <p:spPr>
          <a:xfrm>
            <a:off x="8226488" y="4928319"/>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4" name="Freeform 41">
            <a:extLst>
              <a:ext uri="{FF2B5EF4-FFF2-40B4-BE49-F238E27FC236}">
                <a16:creationId xmlns:a16="http://schemas.microsoft.com/office/drawing/2014/main" id="{B374DEC1-364F-C946-772F-7207A133A17A}"/>
              </a:ext>
            </a:extLst>
          </p:cNvPr>
          <p:cNvSpPr/>
          <p:nvPr/>
        </p:nvSpPr>
        <p:spPr>
          <a:xfrm>
            <a:off x="8566498" y="470775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5" name="Freeform 43">
            <a:extLst>
              <a:ext uri="{FF2B5EF4-FFF2-40B4-BE49-F238E27FC236}">
                <a16:creationId xmlns:a16="http://schemas.microsoft.com/office/drawing/2014/main" id="{6B518EC7-FA51-5AA6-0999-37D4D81AE089}"/>
              </a:ext>
            </a:extLst>
          </p:cNvPr>
          <p:cNvSpPr/>
          <p:nvPr/>
        </p:nvSpPr>
        <p:spPr>
          <a:xfrm>
            <a:off x="8782450" y="522578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6" name="Freeform 45">
            <a:extLst>
              <a:ext uri="{FF2B5EF4-FFF2-40B4-BE49-F238E27FC236}">
                <a16:creationId xmlns:a16="http://schemas.microsoft.com/office/drawing/2014/main" id="{39E7AA77-E84B-B076-B4F5-D0363ED739C7}"/>
              </a:ext>
            </a:extLst>
          </p:cNvPr>
          <p:cNvSpPr/>
          <p:nvPr/>
        </p:nvSpPr>
        <p:spPr>
          <a:xfrm>
            <a:off x="8433251" y="522578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7" name="Freeform 47">
            <a:extLst>
              <a:ext uri="{FF2B5EF4-FFF2-40B4-BE49-F238E27FC236}">
                <a16:creationId xmlns:a16="http://schemas.microsoft.com/office/drawing/2014/main" id="{25951F42-5554-EDB9-9F16-3E0573DDEF0B}"/>
              </a:ext>
            </a:extLst>
          </p:cNvPr>
          <p:cNvSpPr/>
          <p:nvPr/>
        </p:nvSpPr>
        <p:spPr>
          <a:xfrm>
            <a:off x="9283275" y="542983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8" name="Freeform 49">
            <a:extLst>
              <a:ext uri="{FF2B5EF4-FFF2-40B4-BE49-F238E27FC236}">
                <a16:creationId xmlns:a16="http://schemas.microsoft.com/office/drawing/2014/main" id="{6C1C7F01-FAAE-3CA0-720A-3644385BBD9A}"/>
              </a:ext>
            </a:extLst>
          </p:cNvPr>
          <p:cNvSpPr/>
          <p:nvPr/>
        </p:nvSpPr>
        <p:spPr>
          <a:xfrm>
            <a:off x="9131649" y="522578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49" name="Freeform 51">
            <a:extLst>
              <a:ext uri="{FF2B5EF4-FFF2-40B4-BE49-F238E27FC236}">
                <a16:creationId xmlns:a16="http://schemas.microsoft.com/office/drawing/2014/main" id="{64AD0080-9AEC-6F4D-8280-6D4ADB704916}"/>
              </a:ext>
            </a:extLst>
          </p:cNvPr>
          <p:cNvSpPr/>
          <p:nvPr/>
        </p:nvSpPr>
        <p:spPr>
          <a:xfrm>
            <a:off x="9623285" y="542983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0" name="Freeform 55">
            <a:extLst>
              <a:ext uri="{FF2B5EF4-FFF2-40B4-BE49-F238E27FC236}">
                <a16:creationId xmlns:a16="http://schemas.microsoft.com/office/drawing/2014/main" id="{82209FAE-EB82-9C8D-6F89-CDC2574F9D84}"/>
              </a:ext>
            </a:extLst>
          </p:cNvPr>
          <p:cNvSpPr/>
          <p:nvPr/>
        </p:nvSpPr>
        <p:spPr>
          <a:xfrm>
            <a:off x="9977078" y="542983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1" name="Freeform 59">
            <a:extLst>
              <a:ext uri="{FF2B5EF4-FFF2-40B4-BE49-F238E27FC236}">
                <a16:creationId xmlns:a16="http://schemas.microsoft.com/office/drawing/2014/main" id="{AA231BD1-C55E-9E73-4FB8-D665C3A13EEC}"/>
              </a:ext>
            </a:extLst>
          </p:cNvPr>
          <p:cNvSpPr/>
          <p:nvPr/>
        </p:nvSpPr>
        <p:spPr>
          <a:xfrm>
            <a:off x="8906507" y="4707758"/>
            <a:ext cx="45720" cy="9807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2" name="Freeform 61">
            <a:extLst>
              <a:ext uri="{FF2B5EF4-FFF2-40B4-BE49-F238E27FC236}">
                <a16:creationId xmlns:a16="http://schemas.microsoft.com/office/drawing/2014/main" id="{BC46405D-B7C1-0C8F-7979-452C16221854}"/>
              </a:ext>
            </a:extLst>
          </p:cNvPr>
          <p:cNvSpPr/>
          <p:nvPr/>
        </p:nvSpPr>
        <p:spPr>
          <a:xfrm>
            <a:off x="8226488" y="4707752"/>
            <a:ext cx="45720" cy="98087"/>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3" name="Freeform 71">
            <a:extLst>
              <a:ext uri="{FF2B5EF4-FFF2-40B4-BE49-F238E27FC236}">
                <a16:creationId xmlns:a16="http://schemas.microsoft.com/office/drawing/2014/main" id="{7EA44285-514A-2C57-287D-05CA6F6D7006}"/>
              </a:ext>
            </a:extLst>
          </p:cNvPr>
          <p:cNvSpPr/>
          <p:nvPr/>
        </p:nvSpPr>
        <p:spPr>
          <a:xfrm>
            <a:off x="8947860" y="5429832"/>
            <a:ext cx="45720" cy="98087"/>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4" name="Freeform 73">
            <a:extLst>
              <a:ext uri="{FF2B5EF4-FFF2-40B4-BE49-F238E27FC236}">
                <a16:creationId xmlns:a16="http://schemas.microsoft.com/office/drawing/2014/main" id="{B78A34BC-3269-D200-488D-0979065CB339}"/>
              </a:ext>
            </a:extLst>
          </p:cNvPr>
          <p:cNvSpPr/>
          <p:nvPr/>
        </p:nvSpPr>
        <p:spPr>
          <a:xfrm>
            <a:off x="9466262" y="5341813"/>
            <a:ext cx="100584" cy="45720"/>
          </a:xfrm>
          <a:custGeom>
            <a:avLst/>
            <a:gdLst/>
            <a:ahLst/>
            <a:cxnLst/>
            <a:rect l="l" t="t" r="r" b="b"/>
            <a:pathLst>
              <a:path w="99187" h="53340">
                <a:moveTo>
                  <a:pt x="49594" y="53340"/>
                </a:moveTo>
                <a:lnTo>
                  <a:pt x="99187"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5" name="Freeform 74">
            <a:extLst>
              <a:ext uri="{FF2B5EF4-FFF2-40B4-BE49-F238E27FC236}">
                <a16:creationId xmlns:a16="http://schemas.microsoft.com/office/drawing/2014/main" id="{D227C151-750E-7832-5C1D-5C878EE17C3A}"/>
              </a:ext>
            </a:extLst>
          </p:cNvPr>
          <p:cNvSpPr/>
          <p:nvPr/>
        </p:nvSpPr>
        <p:spPr>
          <a:xfrm>
            <a:off x="9331060" y="5410295"/>
            <a:ext cx="237744" cy="13716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6" name="Freeform 75">
            <a:extLst>
              <a:ext uri="{FF2B5EF4-FFF2-40B4-BE49-F238E27FC236}">
                <a16:creationId xmlns:a16="http://schemas.microsoft.com/office/drawing/2014/main" id="{F2A2C8B1-770A-8EA9-B0CC-629DF848EAEA}"/>
              </a:ext>
            </a:extLst>
          </p:cNvPr>
          <p:cNvSpPr/>
          <p:nvPr/>
        </p:nvSpPr>
        <p:spPr>
          <a:xfrm>
            <a:off x="8830235" y="5206245"/>
            <a:ext cx="237744" cy="13716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7" name="Freeform 76">
            <a:extLst>
              <a:ext uri="{FF2B5EF4-FFF2-40B4-BE49-F238E27FC236}">
                <a16:creationId xmlns:a16="http://schemas.microsoft.com/office/drawing/2014/main" id="{7BD7DBD3-F06E-EE64-9B12-7CB54CBAC455}"/>
              </a:ext>
            </a:extLst>
          </p:cNvPr>
          <p:cNvSpPr/>
          <p:nvPr/>
        </p:nvSpPr>
        <p:spPr>
          <a:xfrm>
            <a:off x="7419654" y="4908776"/>
            <a:ext cx="137160" cy="137160"/>
          </a:xfrm>
          <a:custGeom>
            <a:avLst/>
            <a:gdLst/>
            <a:ahLst/>
            <a:cxnLst/>
            <a:rect l="l" t="t" r="r" b="b"/>
            <a:pathLst>
              <a:path w="184150" h="158750">
                <a:moveTo>
                  <a:pt x="92075" y="158750"/>
                </a:moveTo>
                <a:lnTo>
                  <a:pt x="0" y="0"/>
                </a:lnTo>
                <a:lnTo>
                  <a:pt x="18415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8" name="Freeform 23">
            <a:extLst>
              <a:ext uri="{FF2B5EF4-FFF2-40B4-BE49-F238E27FC236}">
                <a16:creationId xmlns:a16="http://schemas.microsoft.com/office/drawing/2014/main" id="{9FC12C69-73F8-6014-1A44-2E551CF6ED0D}"/>
              </a:ext>
            </a:extLst>
          </p:cNvPr>
          <p:cNvSpPr/>
          <p:nvPr/>
        </p:nvSpPr>
        <p:spPr>
          <a:xfrm>
            <a:off x="7650817" y="3224691"/>
            <a:ext cx="109728" cy="109728"/>
          </a:xfrm>
          <a:custGeom>
            <a:avLst/>
            <a:gdLst/>
            <a:ahLst/>
            <a:cxnLst/>
            <a:rect l="l" t="t" r="r" b="b"/>
            <a:pathLst>
              <a:path w="116205" h="116205">
                <a:moveTo>
                  <a:pt x="0" y="116204"/>
                </a:moveTo>
                <a:lnTo>
                  <a:pt x="116205" y="116204"/>
                </a:lnTo>
                <a:lnTo>
                  <a:pt x="116205"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59" name="TextBox 158">
            <a:extLst>
              <a:ext uri="{FF2B5EF4-FFF2-40B4-BE49-F238E27FC236}">
                <a16:creationId xmlns:a16="http://schemas.microsoft.com/office/drawing/2014/main" id="{10318128-9E21-BF9F-9952-A69DEEBDEF6E}"/>
              </a:ext>
            </a:extLst>
          </p:cNvPr>
          <p:cNvSpPr txBox="1"/>
          <p:nvPr/>
        </p:nvSpPr>
        <p:spPr>
          <a:xfrm>
            <a:off x="7755543" y="3210306"/>
            <a:ext cx="864980" cy="153888"/>
          </a:xfrm>
          <a:prstGeom prst="rect">
            <a:avLst/>
          </a:prstGeom>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Value Stream</a:t>
            </a:r>
          </a:p>
        </p:txBody>
      </p:sp>
      <p:sp>
        <p:nvSpPr>
          <p:cNvPr id="160" name="Freeform 25">
            <a:extLst>
              <a:ext uri="{FF2B5EF4-FFF2-40B4-BE49-F238E27FC236}">
                <a16:creationId xmlns:a16="http://schemas.microsoft.com/office/drawing/2014/main" id="{EDDEF4D3-E1C5-A3A8-F7E0-5DCD4A1398BA}"/>
              </a:ext>
            </a:extLst>
          </p:cNvPr>
          <p:cNvSpPr/>
          <p:nvPr/>
        </p:nvSpPr>
        <p:spPr>
          <a:xfrm>
            <a:off x="6147370" y="3224691"/>
            <a:ext cx="109728" cy="109728"/>
          </a:xfrm>
          <a:custGeom>
            <a:avLst/>
            <a:gdLst/>
            <a:ahLst/>
            <a:cxnLst/>
            <a:rect l="l" t="t" r="r" b="b"/>
            <a:pathLst>
              <a:path w="116205" h="116205">
                <a:moveTo>
                  <a:pt x="0" y="116204"/>
                </a:moveTo>
                <a:lnTo>
                  <a:pt x="116205" y="116204"/>
                </a:lnTo>
                <a:lnTo>
                  <a:pt x="116205"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61" name="TextBox 160">
            <a:extLst>
              <a:ext uri="{FF2B5EF4-FFF2-40B4-BE49-F238E27FC236}">
                <a16:creationId xmlns:a16="http://schemas.microsoft.com/office/drawing/2014/main" id="{01BB9A63-85E5-9A9E-86E9-C31BFCC94382}"/>
              </a:ext>
            </a:extLst>
          </p:cNvPr>
          <p:cNvSpPr txBox="1"/>
          <p:nvPr/>
        </p:nvSpPr>
        <p:spPr>
          <a:xfrm>
            <a:off x="6251007" y="3210306"/>
            <a:ext cx="1305807" cy="153888"/>
          </a:xfrm>
          <a:prstGeom prst="rect">
            <a:avLst/>
          </a:prstGeom>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Business Capabilities</a:t>
            </a:r>
          </a:p>
        </p:txBody>
      </p:sp>
      <p:sp>
        <p:nvSpPr>
          <p:cNvPr id="162" name="Freeform 27">
            <a:extLst>
              <a:ext uri="{FF2B5EF4-FFF2-40B4-BE49-F238E27FC236}">
                <a16:creationId xmlns:a16="http://schemas.microsoft.com/office/drawing/2014/main" id="{648D3E61-64DC-E4F8-F665-5CDCB804BEC9}"/>
              </a:ext>
            </a:extLst>
          </p:cNvPr>
          <p:cNvSpPr/>
          <p:nvPr/>
        </p:nvSpPr>
        <p:spPr>
          <a:xfrm>
            <a:off x="8807310" y="3224691"/>
            <a:ext cx="109728" cy="109728"/>
          </a:xfrm>
          <a:custGeom>
            <a:avLst/>
            <a:gdLst/>
            <a:ahLst/>
            <a:cxnLst/>
            <a:rect l="l" t="t" r="r" b="b"/>
            <a:pathLst>
              <a:path w="116205" h="116205">
                <a:moveTo>
                  <a:pt x="0" y="116204"/>
                </a:moveTo>
                <a:lnTo>
                  <a:pt x="116205" y="116204"/>
                </a:lnTo>
                <a:lnTo>
                  <a:pt x="116205"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64" name="TextBox 163">
            <a:extLst>
              <a:ext uri="{FF2B5EF4-FFF2-40B4-BE49-F238E27FC236}">
                <a16:creationId xmlns:a16="http://schemas.microsoft.com/office/drawing/2014/main" id="{AD9951AC-3B33-AB47-728C-659DB8C7D7A3}"/>
              </a:ext>
            </a:extLst>
          </p:cNvPr>
          <p:cNvSpPr txBox="1"/>
          <p:nvPr/>
        </p:nvSpPr>
        <p:spPr>
          <a:xfrm>
            <a:off x="8917038" y="3210306"/>
            <a:ext cx="1350691" cy="153888"/>
          </a:xfrm>
          <a:prstGeom prst="rect">
            <a:avLst/>
          </a:prstGeom>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Processes/Workflows</a:t>
            </a:r>
          </a:p>
        </p:txBody>
      </p:sp>
      <p:sp>
        <p:nvSpPr>
          <p:cNvPr id="165" name="TextBox 164">
            <a:extLst>
              <a:ext uri="{FF2B5EF4-FFF2-40B4-BE49-F238E27FC236}">
                <a16:creationId xmlns:a16="http://schemas.microsoft.com/office/drawing/2014/main" id="{9D497CD1-D75C-B7F0-8C8C-969332EBD045}"/>
              </a:ext>
            </a:extLst>
          </p:cNvPr>
          <p:cNvSpPr txBox="1"/>
          <p:nvPr/>
        </p:nvSpPr>
        <p:spPr>
          <a:xfrm>
            <a:off x="5845525" y="4133618"/>
            <a:ext cx="569067" cy="307777"/>
          </a:xfrm>
          <a:prstGeom prst="rect">
            <a:avLst/>
          </a:prstGeom>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Customer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Request</a:t>
            </a:r>
          </a:p>
        </p:txBody>
      </p:sp>
      <p:cxnSp>
        <p:nvCxnSpPr>
          <p:cNvPr id="166" name="Straight Connector 165">
            <a:extLst>
              <a:ext uri="{FF2B5EF4-FFF2-40B4-BE49-F238E27FC236}">
                <a16:creationId xmlns:a16="http://schemas.microsoft.com/office/drawing/2014/main" id="{723F8CB7-26F6-5CFD-9C75-E22D04432167}"/>
              </a:ext>
            </a:extLst>
          </p:cNvPr>
          <p:cNvCxnSpPr>
            <a:cxnSpLocks/>
          </p:cNvCxnSpPr>
          <p:nvPr/>
        </p:nvCxnSpPr>
        <p:spPr>
          <a:xfrm>
            <a:off x="7226676" y="5141596"/>
            <a:ext cx="3055491" cy="0"/>
          </a:xfrm>
          <a:prstGeom prst="line">
            <a:avLst/>
          </a:prstGeom>
          <a:noFill/>
          <a:ln w="12700" cap="flat" cmpd="sng">
            <a:solidFill>
              <a:srgbClr val="5A798C"/>
            </a:solidFill>
            <a:prstDash val="solid"/>
            <a:round/>
            <a:headEnd type="none" w="lg" len="med"/>
            <a:tailEnd type="none" w="lg" len="med"/>
          </a:ln>
        </p:spPr>
      </p:cxnSp>
      <p:sp>
        <p:nvSpPr>
          <p:cNvPr id="167" name="TextBox 166">
            <a:extLst>
              <a:ext uri="{FF2B5EF4-FFF2-40B4-BE49-F238E27FC236}">
                <a16:creationId xmlns:a16="http://schemas.microsoft.com/office/drawing/2014/main" id="{01E43DDC-2C88-B148-59B3-207E8975BB8B}"/>
              </a:ext>
            </a:extLst>
          </p:cNvPr>
          <p:cNvSpPr txBox="1"/>
          <p:nvPr/>
        </p:nvSpPr>
        <p:spPr>
          <a:xfrm>
            <a:off x="6160783" y="4729840"/>
            <a:ext cx="941832" cy="307777"/>
          </a:xfrm>
          <a:prstGeom prst="rect">
            <a:avLst/>
          </a:prstGeom>
          <a:solidFill>
            <a:srgbClr val="1F96FF"/>
          </a:solidFill>
        </p:spPr>
        <p:txBody>
          <a:bodyPr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Transport shipment</a:t>
            </a:r>
          </a:p>
        </p:txBody>
      </p:sp>
      <p:sp>
        <p:nvSpPr>
          <p:cNvPr id="168" name="TextBox 167">
            <a:extLst>
              <a:ext uri="{FF2B5EF4-FFF2-40B4-BE49-F238E27FC236}">
                <a16:creationId xmlns:a16="http://schemas.microsoft.com/office/drawing/2014/main" id="{E2D23B00-75A6-995D-E331-1271F68B8EAF}"/>
              </a:ext>
            </a:extLst>
          </p:cNvPr>
          <p:cNvSpPr txBox="1"/>
          <p:nvPr/>
        </p:nvSpPr>
        <p:spPr>
          <a:xfrm>
            <a:off x="6160783" y="5251036"/>
            <a:ext cx="941832" cy="307777"/>
          </a:xfrm>
          <a:prstGeom prst="rect">
            <a:avLst/>
          </a:prstGeom>
          <a:solidFill>
            <a:srgbClr val="1F96FF"/>
          </a:solidFill>
        </p:spPr>
        <p:txBody>
          <a:bodyPr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Identify delivery route </a:t>
            </a:r>
          </a:p>
        </p:txBody>
      </p:sp>
      <p:grpSp>
        <p:nvGrpSpPr>
          <p:cNvPr id="169" name="Group 168">
            <a:extLst>
              <a:ext uri="{FF2B5EF4-FFF2-40B4-BE49-F238E27FC236}">
                <a16:creationId xmlns:a16="http://schemas.microsoft.com/office/drawing/2014/main" id="{8DC19287-BEB2-799A-E71B-DAE3E8CD8AA6}"/>
              </a:ext>
            </a:extLst>
          </p:cNvPr>
          <p:cNvGrpSpPr/>
          <p:nvPr/>
        </p:nvGrpSpPr>
        <p:grpSpPr>
          <a:xfrm>
            <a:off x="4897769" y="3719393"/>
            <a:ext cx="475234" cy="1872728"/>
            <a:chOff x="4058866" y="3000185"/>
            <a:chExt cx="475234" cy="1872728"/>
          </a:xfrm>
        </p:grpSpPr>
        <p:cxnSp>
          <p:nvCxnSpPr>
            <p:cNvPr id="170" name="Google Shape;978;p13">
              <a:extLst>
                <a:ext uri="{FF2B5EF4-FFF2-40B4-BE49-F238E27FC236}">
                  <a16:creationId xmlns:a16="http://schemas.microsoft.com/office/drawing/2014/main" id="{08647676-6249-E27C-C7DA-DC95E06A6C05}"/>
                </a:ext>
              </a:extLst>
            </p:cNvPr>
            <p:cNvCxnSpPr>
              <a:cxnSpLocks/>
            </p:cNvCxnSpPr>
            <p:nvPr/>
          </p:nvCxnSpPr>
          <p:spPr>
            <a:xfrm flipH="1">
              <a:off x="4058866" y="3936549"/>
              <a:ext cx="475234" cy="0"/>
            </a:xfrm>
            <a:prstGeom prst="straightConnector1">
              <a:avLst/>
            </a:prstGeom>
            <a:noFill/>
            <a:ln w="25400" cap="flat" cmpd="sng">
              <a:solidFill>
                <a:srgbClr val="0057AF"/>
              </a:solidFill>
              <a:prstDash val="solid"/>
              <a:round/>
              <a:headEnd type="none" w="sm" len="sm"/>
              <a:tailEnd type="none" w="sm" len="sm"/>
            </a:ln>
          </p:spPr>
        </p:cxnSp>
        <p:cxnSp>
          <p:nvCxnSpPr>
            <p:cNvPr id="171" name="Google Shape;462;p8">
              <a:extLst>
                <a:ext uri="{FF2B5EF4-FFF2-40B4-BE49-F238E27FC236}">
                  <a16:creationId xmlns:a16="http://schemas.microsoft.com/office/drawing/2014/main" id="{BD8F1C69-7428-6304-4CFB-6BAC48878086}"/>
                </a:ext>
              </a:extLst>
            </p:cNvPr>
            <p:cNvCxnSpPr>
              <a:cxnSpLocks/>
            </p:cNvCxnSpPr>
            <p:nvPr/>
          </p:nvCxnSpPr>
          <p:spPr>
            <a:xfrm flipV="1">
              <a:off x="4534100" y="3000185"/>
              <a:ext cx="0" cy="1872728"/>
            </a:xfrm>
            <a:prstGeom prst="straightConnector1">
              <a:avLst/>
            </a:prstGeom>
            <a:noFill/>
            <a:ln w="25400" cap="flat" cmpd="sng">
              <a:solidFill>
                <a:srgbClr val="0057AF"/>
              </a:solidFill>
              <a:prstDash val="solid"/>
              <a:round/>
              <a:headEnd type="none" w="sm" len="sm"/>
              <a:tailEnd type="none" w="sm" len="sm"/>
            </a:ln>
          </p:spPr>
        </p:cxnSp>
      </p:grpSp>
      <p:pic>
        <p:nvPicPr>
          <p:cNvPr id="172" name="Graphic 171">
            <a:extLst>
              <a:ext uri="{FF2B5EF4-FFF2-40B4-BE49-F238E27FC236}">
                <a16:creationId xmlns:a16="http://schemas.microsoft.com/office/drawing/2014/main" id="{E33A92D6-C41A-E691-A6D0-2EA5AE1E67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10239" y="3854570"/>
            <a:ext cx="381012" cy="296343"/>
          </a:xfrm>
          <a:prstGeom prst="rect">
            <a:avLst/>
          </a:prstGeom>
        </p:spPr>
      </p:pic>
      <p:pic>
        <p:nvPicPr>
          <p:cNvPr id="173" name="Graphic 172">
            <a:extLst>
              <a:ext uri="{FF2B5EF4-FFF2-40B4-BE49-F238E27FC236}">
                <a16:creationId xmlns:a16="http://schemas.microsoft.com/office/drawing/2014/main" id="{09BB04E2-83A8-66C5-8CE9-4C5E91DEF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9551" y="3815486"/>
            <a:ext cx="381012" cy="296343"/>
          </a:xfrm>
          <a:prstGeom prst="rect">
            <a:avLst/>
          </a:prstGeom>
        </p:spPr>
      </p:pic>
      <p:sp>
        <p:nvSpPr>
          <p:cNvPr id="2" name="Google Shape;959;p13">
            <a:extLst>
              <a:ext uri="{FF2B5EF4-FFF2-40B4-BE49-F238E27FC236}">
                <a16:creationId xmlns:a16="http://schemas.microsoft.com/office/drawing/2014/main" id="{11F277A8-1D9B-699D-4869-47BE2108854A}"/>
              </a:ext>
            </a:extLst>
          </p:cNvPr>
          <p:cNvSpPr txBox="1"/>
          <p:nvPr/>
        </p:nvSpPr>
        <p:spPr>
          <a:xfrm>
            <a:off x="528356" y="3061246"/>
            <a:ext cx="4669297" cy="3146975"/>
          </a:xfrm>
          <a:prstGeom prst="rect">
            <a:avLst/>
          </a:prstGeom>
          <a:solidFill>
            <a:srgbClr val="E0F1FF"/>
          </a:solidFill>
          <a:ln w="25400">
            <a:noFill/>
          </a:ln>
        </p:spPr>
        <p:txBody>
          <a:bodyPr spcFirstLastPara="1" wrap="square" lIns="91425" tIns="45700" rIns="91425" bIns="45700" anchor="t" anchorCtr="0">
            <a:spAutoFit/>
          </a:bodyPr>
          <a:lstStyle/>
          <a:p>
            <a:pPr marL="0" marR="0" lvl="0" indent="0" algn="l" defTabSz="457200" rtl="0" eaLnBrk="1" fontAlgn="auto" latinLnBrk="0" hangingPunct="1">
              <a:lnSpc>
                <a:spcPct val="90000"/>
              </a:lnSpc>
              <a:spcBef>
                <a:spcPts val="0"/>
              </a:spcBef>
              <a:spcAft>
                <a:spcPts val="400"/>
              </a:spcAft>
              <a:buClr>
                <a:srgbClr val="000000"/>
              </a:buClr>
              <a:buSzPts val="1400"/>
              <a:buFont typeface="Arial"/>
              <a:buNone/>
              <a:tabLst/>
              <a:defRPr/>
            </a:pPr>
            <a:r>
              <a:rPr kumimoji="0" lang="en-US" sz="1000" b="1" i="0" u="none" strike="noStrike" kern="1200" cap="none" spc="0" normalizeH="0" baseline="0" noProof="0" dirty="0">
                <a:ln>
                  <a:noFill/>
                </a:ln>
                <a:solidFill>
                  <a:srgbClr val="000000"/>
                </a:solidFill>
                <a:effectLst/>
                <a:uLnTx/>
                <a:uFillTx/>
                <a:ea typeface="Arial"/>
                <a:cs typeface="Arial"/>
                <a:sym typeface="Arial"/>
              </a:rPr>
              <a:t>1. </a:t>
            </a:r>
            <a:r>
              <a:rPr kumimoji="0" lang="en-US" sz="1100" b="1" i="0" u="none" strike="noStrike" kern="1200" cap="none" spc="0" normalizeH="0" baseline="0" noProof="0" dirty="0">
                <a:ln>
                  <a:noFill/>
                </a:ln>
                <a:solidFill>
                  <a:srgbClr val="000000"/>
                </a:solidFill>
                <a:effectLst/>
                <a:uLnTx/>
                <a:uFillTx/>
                <a:ea typeface="Arial"/>
                <a:cs typeface="Arial"/>
                <a:sym typeface="Arial"/>
              </a:rPr>
              <a:t>Assess Performance Improvement Opportunities:</a:t>
            </a:r>
          </a:p>
          <a:p>
            <a:pPr marL="226695" lvl="0" indent="-109220">
              <a:lnSpc>
                <a:spcPct val="90000"/>
              </a:lnSpc>
              <a:spcAft>
                <a:spcPts val="400"/>
              </a:spcAft>
              <a:buFont typeface="Arial" panose="020B0604020202020204" pitchFamily="34" charset="0"/>
              <a:buChar char="•"/>
              <a:defRPr/>
            </a:pPr>
            <a:r>
              <a:rPr lang="en-US" sz="1100" dirty="0">
                <a:solidFill>
                  <a:prstClr val="black"/>
                </a:solidFill>
              </a:rPr>
              <a:t>Process excellence and efficiency (incl. cost and time)</a:t>
            </a:r>
            <a:endParaRPr lang="en-US" sz="1100" dirty="0">
              <a:solidFill>
                <a:prstClr val="black"/>
              </a:solidFill>
              <a:cs typeface="Arial"/>
            </a:endParaRPr>
          </a:p>
          <a:p>
            <a:pPr marL="226695" lvl="0" indent="-109220">
              <a:lnSpc>
                <a:spcPct val="90000"/>
              </a:lnSpc>
              <a:spcAft>
                <a:spcPts val="400"/>
              </a:spcAft>
              <a:buFont typeface="Arial" panose="020B0604020202020204" pitchFamily="34" charset="0"/>
              <a:buChar char="•"/>
              <a:defRPr/>
            </a:pPr>
            <a:r>
              <a:rPr lang="en-US" sz="1100" dirty="0">
                <a:solidFill>
                  <a:prstClr val="black"/>
                </a:solidFill>
              </a:rPr>
              <a:t>Reduce delays during and between process steps</a:t>
            </a:r>
            <a:endParaRPr lang="en-US" sz="1100" dirty="0">
              <a:solidFill>
                <a:prstClr val="black"/>
              </a:solidFill>
              <a:cs typeface="Arial"/>
            </a:endParaRPr>
          </a:p>
          <a:p>
            <a:pPr marL="226695" indent="-109220">
              <a:lnSpc>
                <a:spcPct val="90000"/>
              </a:lnSpc>
              <a:spcAft>
                <a:spcPts val="400"/>
              </a:spcAft>
              <a:buFont typeface="Arial" panose="020B0604020202020204" pitchFamily="34" charset="0"/>
              <a:buChar char="•"/>
              <a:defRPr/>
            </a:pPr>
            <a:r>
              <a:rPr lang="en-US" sz="1100" dirty="0"/>
              <a:t>Eliminate waste and surplus in</a:t>
            </a:r>
            <a:r>
              <a:rPr lang="en-US" sz="1100" dirty="0">
                <a:ea typeface="+mn-lt"/>
                <a:cs typeface="+mn-lt"/>
              </a:rPr>
              <a:t> production and services</a:t>
            </a:r>
          </a:p>
          <a:p>
            <a:pPr lvl="0">
              <a:lnSpc>
                <a:spcPct val="90000"/>
              </a:lnSpc>
              <a:spcAft>
                <a:spcPts val="400"/>
              </a:spcAft>
              <a:defRPr/>
            </a:pPr>
            <a:r>
              <a:rPr lang="en-US" sz="1100" b="1" dirty="0">
                <a:solidFill>
                  <a:prstClr val="black"/>
                </a:solidFill>
              </a:rPr>
              <a:t>2. Data &amp; Reliability</a:t>
            </a:r>
            <a:endParaRPr lang="en-US" sz="1100" b="1" dirty="0">
              <a:solidFill>
                <a:prstClr val="black"/>
              </a:solidFill>
              <a:cs typeface="Arial"/>
            </a:endParaRPr>
          </a:p>
          <a:p>
            <a:pPr marL="228600" lvl="0" indent="-111125">
              <a:lnSpc>
                <a:spcPct val="90000"/>
              </a:lnSpc>
              <a:spcAft>
                <a:spcPts val="400"/>
              </a:spcAft>
              <a:buFont typeface="Arial" panose="020B0604020202020204" pitchFamily="34" charset="0"/>
              <a:buChar char="•"/>
              <a:tabLst>
                <a:tab pos="117475" algn="l"/>
              </a:tabLst>
              <a:defRPr/>
            </a:pPr>
            <a:r>
              <a:rPr lang="en-US" sz="1100" dirty="0">
                <a:solidFill>
                  <a:prstClr val="black"/>
                </a:solidFill>
              </a:rPr>
              <a:t>Improve data, information, relevance, and deliverable reliability</a:t>
            </a:r>
            <a:endParaRPr lang="en-US" sz="1100" dirty="0">
              <a:solidFill>
                <a:prstClr val="black"/>
              </a:solidFill>
              <a:cs typeface="Arial"/>
            </a:endParaRPr>
          </a:p>
          <a:p>
            <a:pPr lvl="0">
              <a:lnSpc>
                <a:spcPct val="90000"/>
              </a:lnSpc>
              <a:spcAft>
                <a:spcPts val="400"/>
              </a:spcAft>
              <a:defRPr/>
            </a:pPr>
            <a:r>
              <a:rPr lang="en-US" sz="1100" b="1" dirty="0">
                <a:solidFill>
                  <a:prstClr val="black"/>
                </a:solidFill>
              </a:rPr>
              <a:t>3. Governance, Risk &amp; Decision Making</a:t>
            </a:r>
            <a:endParaRPr lang="en-US" sz="1100" b="1" dirty="0">
              <a:solidFill>
                <a:prstClr val="black"/>
              </a:solidFill>
              <a:cs typeface="Arial"/>
            </a:endParaRPr>
          </a:p>
          <a:p>
            <a:pPr marL="171450" lvl="0" indent="-53975">
              <a:lnSpc>
                <a:spcPct val="90000"/>
              </a:lnSpc>
              <a:spcAft>
                <a:spcPts val="400"/>
              </a:spcAft>
              <a:buFont typeface="Arial" panose="020B0604020202020204" pitchFamily="34" charset="0"/>
              <a:buChar char="•"/>
              <a:defRPr/>
            </a:pPr>
            <a:r>
              <a:rPr lang="en-US" sz="1100" b="1" dirty="0">
                <a:solidFill>
                  <a:prstClr val="black"/>
                </a:solidFill>
              </a:rPr>
              <a:t> </a:t>
            </a:r>
            <a:r>
              <a:rPr lang="en-US" sz="1100" dirty="0">
                <a:solidFill>
                  <a:prstClr val="black"/>
                </a:solidFill>
              </a:rPr>
              <a:t>Manage operational and compliance risks</a:t>
            </a:r>
            <a:endParaRPr lang="en-US" sz="1100" dirty="0">
              <a:solidFill>
                <a:prstClr val="black"/>
              </a:solidFill>
              <a:cs typeface="Arial"/>
            </a:endParaRPr>
          </a:p>
          <a:p>
            <a:pPr marL="228600" lvl="0" indent="-111125">
              <a:lnSpc>
                <a:spcPct val="90000"/>
              </a:lnSpc>
              <a:spcAft>
                <a:spcPts val="400"/>
              </a:spcAft>
              <a:buFont typeface="Arial" panose="020B0604020202020204" pitchFamily="34" charset="0"/>
              <a:buChar char="•"/>
              <a:defRPr/>
            </a:pPr>
            <a:r>
              <a:rPr lang="en-US" sz="1100" dirty="0">
                <a:solidFill>
                  <a:prstClr val="black"/>
                </a:solidFill>
              </a:rPr>
              <a:t>Simplify ownership and decision rights</a:t>
            </a:r>
            <a:endParaRPr lang="en-US" sz="1100" dirty="0">
              <a:solidFill>
                <a:prstClr val="black"/>
              </a:solidFill>
              <a:cs typeface="Arial"/>
            </a:endParaRPr>
          </a:p>
          <a:p>
            <a:pPr lvl="0">
              <a:lnSpc>
                <a:spcPct val="90000"/>
              </a:lnSpc>
              <a:spcAft>
                <a:spcPts val="400"/>
              </a:spcAft>
              <a:defRPr/>
            </a:pPr>
            <a:r>
              <a:rPr lang="en-US" sz="1100" b="1" dirty="0">
                <a:solidFill>
                  <a:prstClr val="black"/>
                </a:solidFill>
              </a:rPr>
              <a:t>4. People, Capacity &amp; Collaboration</a:t>
            </a:r>
            <a:endParaRPr lang="en-US" sz="1100" b="1" dirty="0">
              <a:solidFill>
                <a:prstClr val="black"/>
              </a:solidFill>
              <a:cs typeface="Arial"/>
            </a:endParaRPr>
          </a:p>
          <a:p>
            <a:pPr marL="226695" lvl="0" indent="-109220">
              <a:lnSpc>
                <a:spcPct val="90000"/>
              </a:lnSpc>
              <a:spcAft>
                <a:spcPts val="400"/>
              </a:spcAft>
              <a:buFont typeface="Arial" panose="020B0604020202020204" pitchFamily="34" charset="0"/>
              <a:buChar char="•"/>
              <a:defRPr/>
            </a:pPr>
            <a:r>
              <a:rPr lang="en-US" sz="1100" dirty="0">
                <a:solidFill>
                  <a:prstClr val="black"/>
                </a:solidFill>
              </a:rPr>
              <a:t>Optimize resource allocation and workload balance (Capacity)</a:t>
            </a:r>
            <a:endParaRPr lang="en-US" sz="1100" dirty="0">
              <a:solidFill>
                <a:prstClr val="black"/>
              </a:solidFill>
              <a:cs typeface="Arial"/>
            </a:endParaRPr>
          </a:p>
          <a:p>
            <a:pPr marL="226695" lvl="0" indent="-109220">
              <a:lnSpc>
                <a:spcPct val="90000"/>
              </a:lnSpc>
              <a:spcAft>
                <a:spcPts val="400"/>
              </a:spcAft>
              <a:buFont typeface="Arial" panose="020B0604020202020204" pitchFamily="34" charset="0"/>
              <a:buChar char="•"/>
              <a:defRPr/>
            </a:pPr>
            <a:r>
              <a:rPr lang="en-US" sz="1100" dirty="0">
                <a:solidFill>
                  <a:prstClr val="black"/>
                </a:solidFill>
              </a:rPr>
              <a:t>Add, upgrade, or rationalize skills (Capability building)</a:t>
            </a:r>
            <a:endParaRPr lang="en-US" sz="1100" dirty="0">
              <a:solidFill>
                <a:prstClr val="black"/>
              </a:solidFill>
              <a:cs typeface="Arial"/>
            </a:endParaRPr>
          </a:p>
          <a:p>
            <a:pPr marL="226695" lvl="0" indent="-109220">
              <a:lnSpc>
                <a:spcPct val="90000"/>
              </a:lnSpc>
              <a:spcAft>
                <a:spcPts val="400"/>
              </a:spcAft>
              <a:buFont typeface="Arial" panose="020B0604020202020204" pitchFamily="34" charset="0"/>
              <a:buChar char="•"/>
              <a:defRPr/>
            </a:pPr>
            <a:r>
              <a:rPr lang="en-US" sz="1100" dirty="0">
                <a:solidFill>
                  <a:prstClr val="black"/>
                </a:solidFill>
              </a:rPr>
              <a:t>Improve cross-functional coordination/reduce latency</a:t>
            </a:r>
            <a:endParaRPr lang="en-US" sz="1100" dirty="0">
              <a:solidFill>
                <a:prstClr val="black"/>
              </a:solidFill>
              <a:cs typeface="Arial"/>
            </a:endParaRPr>
          </a:p>
          <a:p>
            <a:pPr marL="226695" indent="-109220">
              <a:lnSpc>
                <a:spcPct val="90000"/>
              </a:lnSpc>
              <a:spcAft>
                <a:spcPts val="400"/>
              </a:spcAft>
              <a:buFont typeface="Arial" panose="020B0604020202020204" pitchFamily="34" charset="0"/>
              <a:buChar char="•"/>
              <a:defRPr/>
            </a:pPr>
            <a:r>
              <a:rPr lang="en-US" sz="1100" dirty="0">
                <a:solidFill>
                  <a:prstClr val="black"/>
                </a:solidFill>
              </a:rPr>
              <a:t>Improve customer and employee experience/engagement.</a:t>
            </a:r>
            <a:endParaRPr lang="en-US" sz="1100" dirty="0">
              <a:solidFill>
                <a:prstClr val="black"/>
              </a:solidFill>
              <a:latin typeface="Gartner Sans"/>
              <a:cs typeface="Arial"/>
            </a:endParaRPr>
          </a:p>
          <a:p>
            <a:pPr marL="226695" indent="-109220">
              <a:lnSpc>
                <a:spcPct val="90000"/>
              </a:lnSpc>
              <a:spcAft>
                <a:spcPts val="400"/>
              </a:spcAft>
              <a:buFont typeface="Arial" panose="020B0604020202020204" pitchFamily="34" charset="0"/>
              <a:buChar char="•"/>
              <a:defRPr/>
            </a:pPr>
            <a:r>
              <a:rPr lang="en-US" sz="1100" dirty="0">
                <a:solidFill>
                  <a:prstClr val="black"/>
                </a:solidFill>
                <a:latin typeface="Segoe UI"/>
                <a:cs typeface="Segoe UI"/>
              </a:rPr>
              <a:t>Note where employees provide nonobvious value beyond task lists </a:t>
            </a:r>
          </a:p>
        </p:txBody>
      </p:sp>
      <p:sp>
        <p:nvSpPr>
          <p:cNvPr id="3" name="Rectangle 2">
            <a:extLst>
              <a:ext uri="{FF2B5EF4-FFF2-40B4-BE49-F238E27FC236}">
                <a16:creationId xmlns:a16="http://schemas.microsoft.com/office/drawing/2014/main" id="{97686903-E5D6-FAF0-A055-22787CE5A675}"/>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Collaboration</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
        <p:nvSpPr>
          <p:cNvPr id="7" name="TextBox 6">
            <a:extLst>
              <a:ext uri="{FF2B5EF4-FFF2-40B4-BE49-F238E27FC236}">
                <a16:creationId xmlns:a16="http://schemas.microsoft.com/office/drawing/2014/main" id="{DD1519FF-FE10-B402-D2C5-F1E7C90CE4AA}"/>
              </a:ext>
            </a:extLst>
          </p:cNvPr>
          <p:cNvSpPr txBox="1"/>
          <p:nvPr/>
        </p:nvSpPr>
        <p:spPr>
          <a:xfrm>
            <a:off x="457200" y="731520"/>
            <a:ext cx="11183112" cy="369332"/>
          </a:xfrm>
          <a:prstGeom prst="rect">
            <a:avLst/>
          </a:prstGeom>
          <a:noFill/>
        </p:spPr>
        <p:txBody>
          <a:bodyPr wrap="square" lIns="0" rIns="0">
            <a:spAutoFit/>
          </a:bodyPr>
          <a:lstStyle/>
          <a:p>
            <a:r>
              <a:rPr lang="en-US" dirty="0"/>
              <a:t>Where are the current pain points or risks: performance, data, capacity, customer or employee experience?</a:t>
            </a:r>
          </a:p>
        </p:txBody>
      </p:sp>
      <p:sp>
        <p:nvSpPr>
          <p:cNvPr id="5" name="Title 4">
            <a:extLst>
              <a:ext uri="{FF2B5EF4-FFF2-40B4-BE49-F238E27FC236}">
                <a16:creationId xmlns:a16="http://schemas.microsoft.com/office/drawing/2014/main" id="{4017E8F5-E832-E415-F9A6-800EF2DCD7C2}"/>
              </a:ext>
            </a:extLst>
          </p:cNvPr>
          <p:cNvSpPr>
            <a:spLocks noGrp="1"/>
          </p:cNvSpPr>
          <p:nvPr>
            <p:ph type="title"/>
          </p:nvPr>
        </p:nvSpPr>
        <p:spPr/>
        <p:txBody>
          <a:bodyPr/>
          <a:lstStyle/>
          <a:p>
            <a:r>
              <a:rPr lang="en-US">
                <a:solidFill>
                  <a:srgbClr val="002869"/>
                </a:solidFill>
              </a:rPr>
              <a:t>2. Assess Process Performance</a:t>
            </a:r>
            <a:endParaRPr lang="en-US"/>
          </a:p>
        </p:txBody>
      </p:sp>
    </p:spTree>
    <p:extLst>
      <p:ext uri="{BB962C8B-B14F-4D97-AF65-F5344CB8AC3E}">
        <p14:creationId xmlns:p14="http://schemas.microsoft.com/office/powerpoint/2010/main" val="27821872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16D03-DE10-0ECA-0EFB-06031D69D6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5194DDF-5F53-DB31-EBF0-465EFAC01950}"/>
              </a:ext>
            </a:extLst>
          </p:cNvPr>
          <p:cNvSpPr>
            <a:spLocks noGrp="1"/>
          </p:cNvSpPr>
          <p:nvPr>
            <p:ph type="title"/>
          </p:nvPr>
        </p:nvSpPr>
        <p:spPr>
          <a:xfrm>
            <a:off x="457200" y="361950"/>
            <a:ext cx="11274552" cy="451231"/>
          </a:xfrm>
        </p:spPr>
        <p:txBody>
          <a:bodyPr/>
          <a:lstStyle/>
          <a:p>
            <a:r>
              <a:rPr lang="en-US"/>
              <a:t>3. Define People + Technology Contribution</a:t>
            </a:r>
          </a:p>
        </p:txBody>
      </p:sp>
      <p:sp>
        <p:nvSpPr>
          <p:cNvPr id="10" name="TextBox 9">
            <a:extLst>
              <a:ext uri="{FF2B5EF4-FFF2-40B4-BE49-F238E27FC236}">
                <a16:creationId xmlns:a16="http://schemas.microsoft.com/office/drawing/2014/main" id="{957E36FC-5696-DAA9-170A-EBF7D8187A6F}"/>
              </a:ext>
            </a:extLst>
          </p:cNvPr>
          <p:cNvSpPr txBox="1"/>
          <p:nvPr/>
        </p:nvSpPr>
        <p:spPr>
          <a:xfrm>
            <a:off x="304800" y="7536856"/>
            <a:ext cx="1236133" cy="575733"/>
          </a:xfrm>
          <a:prstGeom prst="rect">
            <a:avLst/>
          </a:prstGeom>
        </p:spPr>
        <p:txBody>
          <a:bodyPr lIns="0" tIns="0" rIns="0" bIns="0" anchor="t"/>
          <a:lstStyle/>
          <a:p>
            <a:pPr marL="0" marR="0" lvl="0" indent="0" algn="l" defTabSz="457200" rtl="0" eaLnBrk="1" fontAlgn="auto" latinLnBrk="0" hangingPunct="1">
              <a:lnSpc>
                <a:spcPts val="2267"/>
              </a:lnSpc>
              <a:spcBef>
                <a:spcPts val="0"/>
              </a:spcBef>
              <a:spcAft>
                <a:spcPts val="0"/>
              </a:spcAft>
              <a:buClrTx/>
              <a:buSzTx/>
              <a:buFontTx/>
              <a:buNone/>
              <a:tabLst/>
              <a:defRPr/>
            </a:pPr>
            <a: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Source: Gartner</a:t>
            </a:r>
            <a:b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br>
            <a:r>
              <a:rPr kumimoji="0" lang="en-US" sz="1333"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766498_C</a:t>
            </a:r>
          </a:p>
        </p:txBody>
      </p:sp>
      <p:cxnSp>
        <p:nvCxnSpPr>
          <p:cNvPr id="2" name="Google Shape;462;p8">
            <a:extLst>
              <a:ext uri="{FF2B5EF4-FFF2-40B4-BE49-F238E27FC236}">
                <a16:creationId xmlns:a16="http://schemas.microsoft.com/office/drawing/2014/main" id="{CBA1C6CE-ABA2-09F1-D5C1-659E6854FDB6}"/>
              </a:ext>
            </a:extLst>
          </p:cNvPr>
          <p:cNvCxnSpPr>
            <a:cxnSpLocks/>
          </p:cNvCxnSpPr>
          <p:nvPr/>
        </p:nvCxnSpPr>
        <p:spPr>
          <a:xfrm flipV="1">
            <a:off x="9591697" y="2785548"/>
            <a:ext cx="12313" cy="942605"/>
          </a:xfrm>
          <a:prstGeom prst="straightConnector1">
            <a:avLst/>
          </a:prstGeom>
          <a:noFill/>
          <a:ln w="25400" cap="flat" cmpd="sng">
            <a:solidFill>
              <a:srgbClr val="0057AF"/>
            </a:solidFill>
            <a:prstDash val="solid"/>
            <a:round/>
            <a:headEnd type="none" w="sm" len="sm"/>
            <a:tailEnd type="none" w="sm" len="sm"/>
          </a:ln>
        </p:spPr>
      </p:cxnSp>
      <p:sp>
        <p:nvSpPr>
          <p:cNvPr id="5" name="Freeform 3">
            <a:extLst>
              <a:ext uri="{FF2B5EF4-FFF2-40B4-BE49-F238E27FC236}">
                <a16:creationId xmlns:a16="http://schemas.microsoft.com/office/drawing/2014/main" id="{A622C8F1-BFEF-C734-44D8-F4CBC1AED2C2}"/>
              </a:ext>
            </a:extLst>
          </p:cNvPr>
          <p:cNvSpPr/>
          <p:nvPr/>
        </p:nvSpPr>
        <p:spPr>
          <a:xfrm>
            <a:off x="6399954" y="1684180"/>
            <a:ext cx="5066334" cy="1214328"/>
          </a:xfrm>
          <a:custGeom>
            <a:avLst/>
            <a:gdLst/>
            <a:ahLst/>
            <a:cxnLst/>
            <a:rect l="l" t="t" r="r" b="b"/>
            <a:pathLst>
              <a:path w="7416800" h="787400">
                <a:moveTo>
                  <a:pt x="0" y="787400"/>
                </a:moveTo>
                <a:lnTo>
                  <a:pt x="7416800" y="787400"/>
                </a:lnTo>
                <a:lnTo>
                  <a:pt x="7416800" y="0"/>
                </a:lnTo>
                <a:lnTo>
                  <a:pt x="0" y="0"/>
                </a:lnTo>
                <a:close/>
              </a:path>
            </a:pathLst>
          </a:custGeom>
          <a:solidFill>
            <a:srgbClr val="E0F1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12" name="Freeform 1">
            <a:extLst>
              <a:ext uri="{FF2B5EF4-FFF2-40B4-BE49-F238E27FC236}">
                <a16:creationId xmlns:a16="http://schemas.microsoft.com/office/drawing/2014/main" id="{32ECE109-EA6B-B6DE-F885-047F53ABD1A3}"/>
              </a:ext>
            </a:extLst>
          </p:cNvPr>
          <p:cNvSpPr/>
          <p:nvPr/>
        </p:nvSpPr>
        <p:spPr>
          <a:xfrm>
            <a:off x="7626192" y="1193401"/>
            <a:ext cx="3946768" cy="351617"/>
          </a:xfrm>
          <a:custGeom>
            <a:avLst/>
            <a:gdLst/>
            <a:ahLst/>
            <a:cxnLst/>
            <a:rect l="l" t="t" r="r" b="b"/>
            <a:pathLst>
              <a:path w="4222750" h="292100">
                <a:moveTo>
                  <a:pt x="1638300" y="0"/>
                </a:moveTo>
                <a:lnTo>
                  <a:pt x="0" y="292100"/>
                </a:lnTo>
                <a:lnTo>
                  <a:pt x="4222750" y="29210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14" name="Freeform 23">
            <a:extLst>
              <a:ext uri="{FF2B5EF4-FFF2-40B4-BE49-F238E27FC236}">
                <a16:creationId xmlns:a16="http://schemas.microsoft.com/office/drawing/2014/main" id="{BC2488EE-1480-A3D3-D883-592179CB57B8}"/>
              </a:ext>
            </a:extLst>
          </p:cNvPr>
          <p:cNvSpPr/>
          <p:nvPr/>
        </p:nvSpPr>
        <p:spPr>
          <a:xfrm>
            <a:off x="7651953" y="1534904"/>
            <a:ext cx="3860130" cy="1369881"/>
          </a:xfrm>
          <a:custGeom>
            <a:avLst/>
            <a:gdLst/>
            <a:ahLst/>
            <a:cxnLst/>
            <a:rect l="l" t="t" r="r" b="b"/>
            <a:pathLst>
              <a:path w="4222750" h="1739900">
                <a:moveTo>
                  <a:pt x="0" y="1739900"/>
                </a:moveTo>
                <a:lnTo>
                  <a:pt x="4222750" y="1739900"/>
                </a:lnTo>
                <a:lnTo>
                  <a:pt x="42227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15" name="Freeform 24">
            <a:extLst>
              <a:ext uri="{FF2B5EF4-FFF2-40B4-BE49-F238E27FC236}">
                <a16:creationId xmlns:a16="http://schemas.microsoft.com/office/drawing/2014/main" id="{52BC2E8A-2498-B32F-5B7B-59E2DF12885C}"/>
              </a:ext>
            </a:extLst>
          </p:cNvPr>
          <p:cNvSpPr/>
          <p:nvPr/>
        </p:nvSpPr>
        <p:spPr>
          <a:xfrm>
            <a:off x="7800859" y="1664261"/>
            <a:ext cx="3616333" cy="1146106"/>
          </a:xfrm>
          <a:custGeom>
            <a:avLst/>
            <a:gdLst/>
            <a:ahLst/>
            <a:cxnLst/>
            <a:rect l="l" t="t" r="r" b="b"/>
            <a:pathLst>
              <a:path w="3956050" h="1473200">
                <a:moveTo>
                  <a:pt x="0" y="0"/>
                </a:moveTo>
                <a:lnTo>
                  <a:pt x="3956050" y="0"/>
                </a:lnTo>
                <a:lnTo>
                  <a:pt x="3956050" y="1473200"/>
                </a:lnTo>
                <a:lnTo>
                  <a:pt x="0" y="1473200"/>
                </a:lnTo>
                <a:close/>
                <a:moveTo>
                  <a:pt x="3956050" y="508000"/>
                </a:moveTo>
                <a:lnTo>
                  <a:pt x="0" y="508000"/>
                </a:lnTo>
                <a:moveTo>
                  <a:pt x="3956050" y="1003300"/>
                </a:moveTo>
                <a:lnTo>
                  <a:pt x="0" y="1003300"/>
                </a:lnTo>
              </a:path>
            </a:pathLst>
          </a:custGeom>
          <a:solidFill>
            <a:srgbClr val="FFF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16" name="TextBox 15">
            <a:extLst>
              <a:ext uri="{FF2B5EF4-FFF2-40B4-BE49-F238E27FC236}">
                <a16:creationId xmlns:a16="http://schemas.microsoft.com/office/drawing/2014/main" id="{AE340C1F-18D9-56B1-7A39-FECEA0E2257E}"/>
              </a:ext>
            </a:extLst>
          </p:cNvPr>
          <p:cNvSpPr txBox="1"/>
          <p:nvPr/>
        </p:nvSpPr>
        <p:spPr>
          <a:xfrm>
            <a:off x="6541306" y="2050118"/>
            <a:ext cx="978855" cy="482453"/>
          </a:xfrm>
          <a:prstGeom prst="rect">
            <a:avLst/>
          </a:prstGeom>
          <a:solidFill>
            <a:srgbClr val="1F96FF"/>
          </a:solidFill>
        </p:spPr>
        <p:txBody>
          <a:bodyPr lIns="0" tIns="0" rIns="0" bIns="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artner Sans" panose="020B0504030402040204" pitchFamily="34" charset="0"/>
              </a:rPr>
              <a:t> </a:t>
            </a:r>
            <a:r>
              <a:rPr kumimoji="0" lang="en-US" sz="1000" b="1" i="0" u="none" strike="noStrike" kern="1200" cap="none" spc="0" normalizeH="0" baseline="0" noProof="0">
                <a:ln>
                  <a:noFill/>
                </a:ln>
                <a:solidFill>
                  <a:schemeClr val="bg1"/>
                </a:solidFill>
                <a:effectLst/>
                <a:uLnTx/>
                <a:uFillTx/>
                <a:latin typeface="Gartner Sans" panose="020B0504030402040204" pitchFamily="34" charset="0"/>
              </a:rPr>
              <a:t>Identify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Gartner Sans" panose="020B0504030402040204" pitchFamily="34" charset="0"/>
              </a:rPr>
              <a:t> delivery route </a:t>
            </a:r>
          </a:p>
        </p:txBody>
      </p:sp>
      <p:sp>
        <p:nvSpPr>
          <p:cNvPr id="17" name="Freeform 30">
            <a:extLst>
              <a:ext uri="{FF2B5EF4-FFF2-40B4-BE49-F238E27FC236}">
                <a16:creationId xmlns:a16="http://schemas.microsoft.com/office/drawing/2014/main" id="{0A394054-57C7-66CE-0961-F5847ADCBE15}"/>
              </a:ext>
            </a:extLst>
          </p:cNvPr>
          <p:cNvSpPr/>
          <p:nvPr/>
        </p:nvSpPr>
        <p:spPr>
          <a:xfrm>
            <a:off x="9335028" y="1907456"/>
            <a:ext cx="424879" cy="299216"/>
          </a:xfrm>
          <a:custGeom>
            <a:avLst/>
            <a:gdLst/>
            <a:ahLst/>
            <a:cxnLst/>
            <a:rect l="l" t="t" r="r" b="b"/>
            <a:pathLst>
              <a:path w="336550" h="158750">
                <a:moveTo>
                  <a:pt x="0" y="158750"/>
                </a:moveTo>
                <a:lnTo>
                  <a:pt x="336550" y="158750"/>
                </a:lnTo>
                <a:lnTo>
                  <a:pt x="336550"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18" name="Freeform 31">
            <a:extLst>
              <a:ext uri="{FF2B5EF4-FFF2-40B4-BE49-F238E27FC236}">
                <a16:creationId xmlns:a16="http://schemas.microsoft.com/office/drawing/2014/main" id="{116224BB-56CA-9778-E096-85CA5C017AC9}"/>
              </a:ext>
            </a:extLst>
          </p:cNvPr>
          <p:cNvSpPr/>
          <p:nvPr/>
        </p:nvSpPr>
        <p:spPr>
          <a:xfrm>
            <a:off x="10192803" y="2302461"/>
            <a:ext cx="424879" cy="287248"/>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cxnSp>
        <p:nvCxnSpPr>
          <p:cNvPr id="20" name="Connector 42">
            <a:extLst>
              <a:ext uri="{FF2B5EF4-FFF2-40B4-BE49-F238E27FC236}">
                <a16:creationId xmlns:a16="http://schemas.microsoft.com/office/drawing/2014/main" id="{73BC18EC-42CE-CE1E-C3C5-556AB7C89FD0}"/>
              </a:ext>
            </a:extLst>
          </p:cNvPr>
          <p:cNvCxnSpPr>
            <a:cxnSpLocks/>
          </p:cNvCxnSpPr>
          <p:nvPr/>
        </p:nvCxnSpPr>
        <p:spPr>
          <a:xfrm>
            <a:off x="8533371" y="2057064"/>
            <a:ext cx="116496" cy="0"/>
          </a:xfrm>
          <a:prstGeom prst="line">
            <a:avLst/>
          </a:prstGeom>
          <a:noFill/>
          <a:ln w="25400" cap="sq">
            <a:solidFill>
              <a:srgbClr val="5A798C"/>
            </a:solidFill>
          </a:ln>
        </p:spPr>
      </p:cxnSp>
      <p:sp>
        <p:nvSpPr>
          <p:cNvPr id="22" name="Freeform 43">
            <a:extLst>
              <a:ext uri="{FF2B5EF4-FFF2-40B4-BE49-F238E27FC236}">
                <a16:creationId xmlns:a16="http://schemas.microsoft.com/office/drawing/2014/main" id="{59F5E345-729C-A9EA-D23A-6EE099209C98}"/>
              </a:ext>
            </a:extLst>
          </p:cNvPr>
          <p:cNvSpPr/>
          <p:nvPr/>
        </p:nvSpPr>
        <p:spPr>
          <a:xfrm>
            <a:off x="8642397" y="1983912"/>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cxnSp>
        <p:nvCxnSpPr>
          <p:cNvPr id="29" name="Connector 44">
            <a:extLst>
              <a:ext uri="{FF2B5EF4-FFF2-40B4-BE49-F238E27FC236}">
                <a16:creationId xmlns:a16="http://schemas.microsoft.com/office/drawing/2014/main" id="{220E450F-0733-82B3-53BC-D1AD5BAC2EF3}"/>
              </a:ext>
            </a:extLst>
          </p:cNvPr>
          <p:cNvCxnSpPr>
            <a:cxnSpLocks/>
          </p:cNvCxnSpPr>
          <p:nvPr/>
        </p:nvCxnSpPr>
        <p:spPr>
          <a:xfrm>
            <a:off x="7945532" y="2057064"/>
            <a:ext cx="76414" cy="0"/>
          </a:xfrm>
          <a:prstGeom prst="line">
            <a:avLst/>
          </a:prstGeom>
          <a:noFill/>
          <a:ln w="25400" cap="sq">
            <a:solidFill>
              <a:srgbClr val="5A798C"/>
            </a:solidFill>
          </a:ln>
        </p:spPr>
      </p:cxnSp>
      <p:sp>
        <p:nvSpPr>
          <p:cNvPr id="31" name="Freeform 45">
            <a:extLst>
              <a:ext uri="{FF2B5EF4-FFF2-40B4-BE49-F238E27FC236}">
                <a16:creationId xmlns:a16="http://schemas.microsoft.com/office/drawing/2014/main" id="{9FE088AD-ADF1-E58A-C62E-22461CF8DBBB}"/>
              </a:ext>
            </a:extLst>
          </p:cNvPr>
          <p:cNvSpPr/>
          <p:nvPr/>
        </p:nvSpPr>
        <p:spPr>
          <a:xfrm>
            <a:off x="8014474" y="1983912"/>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32" name="Freeform 47">
            <a:extLst>
              <a:ext uri="{FF2B5EF4-FFF2-40B4-BE49-F238E27FC236}">
                <a16:creationId xmlns:a16="http://schemas.microsoft.com/office/drawing/2014/main" id="{FA7DC76B-F343-1DBE-8F5F-6F5A8EA8DD71}"/>
              </a:ext>
            </a:extLst>
          </p:cNvPr>
          <p:cNvSpPr/>
          <p:nvPr/>
        </p:nvSpPr>
        <p:spPr>
          <a:xfrm>
            <a:off x="9516204" y="2372933"/>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cxnSp>
        <p:nvCxnSpPr>
          <p:cNvPr id="33" name="Connector 48">
            <a:extLst>
              <a:ext uri="{FF2B5EF4-FFF2-40B4-BE49-F238E27FC236}">
                <a16:creationId xmlns:a16="http://schemas.microsoft.com/office/drawing/2014/main" id="{69C423FC-A65C-FB8A-3594-2DD56150F1AF}"/>
              </a:ext>
            </a:extLst>
          </p:cNvPr>
          <p:cNvCxnSpPr>
            <a:cxnSpLocks/>
          </p:cNvCxnSpPr>
          <p:nvPr/>
        </p:nvCxnSpPr>
        <p:spPr>
          <a:xfrm>
            <a:off x="9142631" y="2057064"/>
            <a:ext cx="116496" cy="0"/>
          </a:xfrm>
          <a:prstGeom prst="line">
            <a:avLst/>
          </a:prstGeom>
          <a:noFill/>
          <a:ln w="25400" cap="sq">
            <a:solidFill>
              <a:srgbClr val="5A798C"/>
            </a:solidFill>
          </a:ln>
        </p:spPr>
      </p:cxnSp>
      <p:sp>
        <p:nvSpPr>
          <p:cNvPr id="36" name="Freeform 49">
            <a:extLst>
              <a:ext uri="{FF2B5EF4-FFF2-40B4-BE49-F238E27FC236}">
                <a16:creationId xmlns:a16="http://schemas.microsoft.com/office/drawing/2014/main" id="{FC471BCE-7625-54D1-7446-8B839DEEBAD2}"/>
              </a:ext>
            </a:extLst>
          </p:cNvPr>
          <p:cNvSpPr/>
          <p:nvPr/>
        </p:nvSpPr>
        <p:spPr>
          <a:xfrm>
            <a:off x="9251657" y="1983912"/>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37" name="Freeform 51">
            <a:extLst>
              <a:ext uri="{FF2B5EF4-FFF2-40B4-BE49-F238E27FC236}">
                <a16:creationId xmlns:a16="http://schemas.microsoft.com/office/drawing/2014/main" id="{EAC46910-FFFC-E96C-07F8-0779F8C8289C}"/>
              </a:ext>
            </a:extLst>
          </p:cNvPr>
          <p:cNvSpPr/>
          <p:nvPr/>
        </p:nvSpPr>
        <p:spPr>
          <a:xfrm>
            <a:off x="10109431" y="2372933"/>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cxnSp>
        <p:nvCxnSpPr>
          <p:cNvPr id="38" name="Connector 54">
            <a:extLst>
              <a:ext uri="{FF2B5EF4-FFF2-40B4-BE49-F238E27FC236}">
                <a16:creationId xmlns:a16="http://schemas.microsoft.com/office/drawing/2014/main" id="{3EA5F8F9-8A61-06B8-0963-3A5574FCF9DD}"/>
              </a:ext>
            </a:extLst>
          </p:cNvPr>
          <p:cNvCxnSpPr>
            <a:cxnSpLocks/>
          </p:cNvCxnSpPr>
          <p:nvPr/>
        </p:nvCxnSpPr>
        <p:spPr>
          <a:xfrm>
            <a:off x="10617680" y="2446085"/>
            <a:ext cx="116496" cy="0"/>
          </a:xfrm>
          <a:prstGeom prst="line">
            <a:avLst/>
          </a:prstGeom>
          <a:noFill/>
          <a:ln w="25400" cap="sq">
            <a:solidFill>
              <a:srgbClr val="5A798C"/>
            </a:solidFill>
          </a:ln>
        </p:spPr>
      </p:cxnSp>
      <p:sp>
        <p:nvSpPr>
          <p:cNvPr id="41" name="Freeform 55">
            <a:extLst>
              <a:ext uri="{FF2B5EF4-FFF2-40B4-BE49-F238E27FC236}">
                <a16:creationId xmlns:a16="http://schemas.microsoft.com/office/drawing/2014/main" id="{BDDE04FD-F9DA-B951-4763-28FF0B97882B}"/>
              </a:ext>
            </a:extLst>
          </p:cNvPr>
          <p:cNvSpPr/>
          <p:nvPr/>
        </p:nvSpPr>
        <p:spPr>
          <a:xfrm>
            <a:off x="10726708" y="2372933"/>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2" name="Freeform 64">
            <a:extLst>
              <a:ext uri="{FF2B5EF4-FFF2-40B4-BE49-F238E27FC236}">
                <a16:creationId xmlns:a16="http://schemas.microsoft.com/office/drawing/2014/main" id="{7C3B5008-5C5C-04B8-45DC-46F464761ED6}"/>
              </a:ext>
            </a:extLst>
          </p:cNvPr>
          <p:cNvSpPr/>
          <p:nvPr/>
        </p:nvSpPr>
        <p:spPr>
          <a:xfrm>
            <a:off x="8116509" y="1907495"/>
            <a:ext cx="424879" cy="299216"/>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3" name="Freeform 66">
            <a:extLst>
              <a:ext uri="{FF2B5EF4-FFF2-40B4-BE49-F238E27FC236}">
                <a16:creationId xmlns:a16="http://schemas.microsoft.com/office/drawing/2014/main" id="{F2BF7551-055C-33B0-A5EC-78FD8702CB20}"/>
              </a:ext>
            </a:extLst>
          </p:cNvPr>
          <p:cNvSpPr/>
          <p:nvPr/>
        </p:nvSpPr>
        <p:spPr>
          <a:xfrm>
            <a:off x="10810078" y="2304353"/>
            <a:ext cx="283464" cy="283464"/>
          </a:xfrm>
          <a:custGeom>
            <a:avLst/>
            <a:gdLst/>
            <a:ahLst/>
            <a:cxnLst/>
            <a:rect l="l" t="t" r="r" b="b"/>
            <a:pathLst>
              <a:path w="158750" h="152400">
                <a:moveTo>
                  <a:pt x="79375" y="152400"/>
                </a:moveTo>
                <a:cubicBezTo>
                  <a:pt x="123216" y="152400"/>
                  <a:pt x="158750" y="118276"/>
                  <a:pt x="158750" y="76200"/>
                </a:cubicBezTo>
                <a:cubicBezTo>
                  <a:pt x="158750" y="34112"/>
                  <a:pt x="123216" y="0"/>
                  <a:pt x="79375" y="0"/>
                </a:cubicBezTo>
                <a:cubicBezTo>
                  <a:pt x="35534" y="0"/>
                  <a:pt x="0" y="34112"/>
                  <a:pt x="0" y="76200"/>
                </a:cubicBezTo>
                <a:cubicBezTo>
                  <a:pt x="0" y="118276"/>
                  <a:pt x="35534" y="152400"/>
                  <a:pt x="79375" y="152400"/>
                </a:cubicBezTo>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5" name="Freeform 70">
            <a:extLst>
              <a:ext uri="{FF2B5EF4-FFF2-40B4-BE49-F238E27FC236}">
                <a16:creationId xmlns:a16="http://schemas.microsoft.com/office/drawing/2014/main" id="{CE56B8D4-4C40-EF5E-6AFB-BC65E78608B4}"/>
              </a:ext>
            </a:extLst>
          </p:cNvPr>
          <p:cNvSpPr/>
          <p:nvPr/>
        </p:nvSpPr>
        <p:spPr>
          <a:xfrm>
            <a:off x="8838001" y="2206711"/>
            <a:ext cx="100464" cy="239373"/>
          </a:xfrm>
          <a:custGeom>
            <a:avLst/>
            <a:gdLst/>
            <a:ahLst/>
            <a:cxnLst/>
            <a:rect l="l" t="t" r="r" b="b"/>
            <a:pathLst>
              <a:path w="79578" h="127000">
                <a:moveTo>
                  <a:pt x="0" y="0"/>
                </a:moveTo>
                <a:lnTo>
                  <a:pt x="0" y="127000"/>
                </a:lnTo>
                <a:lnTo>
                  <a:pt x="79578" y="127000"/>
                </a:lnTo>
              </a:path>
            </a:pathLst>
          </a:custGeom>
          <a:noFill/>
          <a:ln w="25400" cap="sq">
            <a:solidFill>
              <a:srgbClr val="5A798C"/>
            </a:solidFill>
          </a:ln>
        </p:spPr>
        <p:txBody>
          <a:bodyPr lIns="4572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6" name="Freeform 71">
            <a:extLst>
              <a:ext uri="{FF2B5EF4-FFF2-40B4-BE49-F238E27FC236}">
                <a16:creationId xmlns:a16="http://schemas.microsoft.com/office/drawing/2014/main" id="{50D13ED4-6572-ED76-4554-27C3A48079CC}"/>
              </a:ext>
            </a:extLst>
          </p:cNvPr>
          <p:cNvSpPr/>
          <p:nvPr/>
        </p:nvSpPr>
        <p:spPr>
          <a:xfrm>
            <a:off x="8930993" y="2372933"/>
            <a:ext cx="82296" cy="146304"/>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7" name="Freeform 72">
            <a:extLst>
              <a:ext uri="{FF2B5EF4-FFF2-40B4-BE49-F238E27FC236}">
                <a16:creationId xmlns:a16="http://schemas.microsoft.com/office/drawing/2014/main" id="{EADF860E-904C-FA69-9777-CB8AF30E79B6}"/>
              </a:ext>
            </a:extLst>
          </p:cNvPr>
          <p:cNvSpPr/>
          <p:nvPr/>
        </p:nvSpPr>
        <p:spPr>
          <a:xfrm>
            <a:off x="9759907" y="2057103"/>
            <a:ext cx="160331" cy="132038"/>
          </a:xfrm>
          <a:custGeom>
            <a:avLst/>
            <a:gdLst/>
            <a:ahLst/>
            <a:cxnLst/>
            <a:rect l="l" t="t" r="r" b="b"/>
            <a:pathLst>
              <a:path w="127000" h="70053">
                <a:moveTo>
                  <a:pt x="0" y="0"/>
                </a:moveTo>
                <a:lnTo>
                  <a:pt x="127000" y="0"/>
                </a:lnTo>
                <a:lnTo>
                  <a:pt x="127000" y="70054"/>
                </a:lnTo>
              </a:path>
            </a:pathLst>
          </a:custGeom>
          <a:noFill/>
          <a:ln w="25400" cap="sq">
            <a:solidFill>
              <a:srgbClr val="5A798C"/>
            </a:solidFill>
          </a:ln>
        </p:spPr>
        <p:txBody>
          <a:bodyPr lIns="4572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8" name="Freeform 73">
            <a:extLst>
              <a:ext uri="{FF2B5EF4-FFF2-40B4-BE49-F238E27FC236}">
                <a16:creationId xmlns:a16="http://schemas.microsoft.com/office/drawing/2014/main" id="{8B0B2CE0-FB77-EAF3-85A4-29C3F04361E7}"/>
              </a:ext>
            </a:extLst>
          </p:cNvPr>
          <p:cNvSpPr/>
          <p:nvPr/>
        </p:nvSpPr>
        <p:spPr>
          <a:xfrm>
            <a:off x="9848103" y="2177987"/>
            <a:ext cx="146304" cy="82296"/>
          </a:xfrm>
          <a:custGeom>
            <a:avLst/>
            <a:gdLst/>
            <a:ahLst/>
            <a:cxnLst/>
            <a:rect l="l" t="t" r="r" b="b"/>
            <a:pathLst>
              <a:path w="99187" h="53340">
                <a:moveTo>
                  <a:pt x="49594" y="53340"/>
                </a:moveTo>
                <a:lnTo>
                  <a:pt x="99187"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9" name="Freeform 74">
            <a:extLst>
              <a:ext uri="{FF2B5EF4-FFF2-40B4-BE49-F238E27FC236}">
                <a16:creationId xmlns:a16="http://schemas.microsoft.com/office/drawing/2014/main" id="{4023AC51-7AC0-2423-C72E-F68E43778E0F}"/>
              </a:ext>
            </a:extLst>
          </p:cNvPr>
          <p:cNvSpPr/>
          <p:nvPr/>
        </p:nvSpPr>
        <p:spPr>
          <a:xfrm>
            <a:off x="9599576" y="2302461"/>
            <a:ext cx="424879" cy="287248"/>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54" name="Freeform 75">
            <a:extLst>
              <a:ext uri="{FF2B5EF4-FFF2-40B4-BE49-F238E27FC236}">
                <a16:creationId xmlns:a16="http://schemas.microsoft.com/office/drawing/2014/main" id="{C7459881-C919-2AA9-C971-27BED341ECF4}"/>
              </a:ext>
            </a:extLst>
          </p:cNvPr>
          <p:cNvSpPr/>
          <p:nvPr/>
        </p:nvSpPr>
        <p:spPr>
          <a:xfrm>
            <a:off x="8725769" y="1907456"/>
            <a:ext cx="424879" cy="299216"/>
          </a:xfrm>
          <a:custGeom>
            <a:avLst/>
            <a:gdLst/>
            <a:ahLst/>
            <a:cxnLst/>
            <a:rect l="l" t="t" r="r" b="b"/>
            <a:pathLst>
              <a:path w="336550" h="158750">
                <a:moveTo>
                  <a:pt x="0" y="158750"/>
                </a:moveTo>
                <a:lnTo>
                  <a:pt x="336550" y="158750"/>
                </a:lnTo>
                <a:lnTo>
                  <a:pt x="336550" y="0"/>
                </a:lnTo>
                <a:lnTo>
                  <a:pt x="0" y="0"/>
                </a:lnTo>
                <a:close/>
              </a:path>
            </a:pathLst>
          </a:custGeom>
          <a:solidFill>
            <a:srgbClr val="0057A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58" name="Freeform 33">
            <a:extLst>
              <a:ext uri="{FF2B5EF4-FFF2-40B4-BE49-F238E27FC236}">
                <a16:creationId xmlns:a16="http://schemas.microsoft.com/office/drawing/2014/main" id="{05CE5787-4F38-3079-DB63-3B3076F53BD0}"/>
              </a:ext>
            </a:extLst>
          </p:cNvPr>
          <p:cNvSpPr/>
          <p:nvPr/>
        </p:nvSpPr>
        <p:spPr>
          <a:xfrm>
            <a:off x="8099433" y="1907417"/>
            <a:ext cx="458726" cy="299294"/>
          </a:xfrm>
          <a:custGeom>
            <a:avLst/>
            <a:gdLst/>
            <a:ahLst/>
            <a:cxnLst/>
            <a:rect l="l" t="t" r="r" b="b"/>
            <a:pathLst>
              <a:path w="448729" h="211671">
                <a:moveTo>
                  <a:pt x="0" y="211671"/>
                </a:moveTo>
                <a:lnTo>
                  <a:pt x="448729" y="211671"/>
                </a:lnTo>
                <a:lnTo>
                  <a:pt x="448729"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62" name="TextBox 61">
            <a:extLst>
              <a:ext uri="{FF2B5EF4-FFF2-40B4-BE49-F238E27FC236}">
                <a16:creationId xmlns:a16="http://schemas.microsoft.com/office/drawing/2014/main" id="{ED95B39E-B117-ECEA-E986-C0CB61EDFFD8}"/>
              </a:ext>
            </a:extLst>
          </p:cNvPr>
          <p:cNvSpPr txBox="1"/>
          <p:nvPr/>
        </p:nvSpPr>
        <p:spPr>
          <a:xfrm>
            <a:off x="9013622" y="1051993"/>
            <a:ext cx="597578" cy="394521"/>
          </a:xfrm>
          <a:prstGeom prst="rect">
            <a:avLst/>
          </a:prstGeom>
        </p:spPr>
        <p:txBody>
          <a:bodyPr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Gartner Sans" panose="020B0504030402040204" pitchFamily="34" charset="0"/>
              </a:rPr>
              <a:t>Manage Delivery</a:t>
            </a:r>
          </a:p>
        </p:txBody>
      </p:sp>
      <p:sp>
        <p:nvSpPr>
          <p:cNvPr id="63" name="Freeform 18">
            <a:extLst>
              <a:ext uri="{FF2B5EF4-FFF2-40B4-BE49-F238E27FC236}">
                <a16:creationId xmlns:a16="http://schemas.microsoft.com/office/drawing/2014/main" id="{06D36CFD-9AEC-039E-C70C-181C198408B6}"/>
              </a:ext>
            </a:extLst>
          </p:cNvPr>
          <p:cNvSpPr/>
          <p:nvPr/>
        </p:nvSpPr>
        <p:spPr>
          <a:xfrm>
            <a:off x="8538334" y="1090933"/>
            <a:ext cx="1634645" cy="402816"/>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64" name="TextBox 63">
            <a:extLst>
              <a:ext uri="{FF2B5EF4-FFF2-40B4-BE49-F238E27FC236}">
                <a16:creationId xmlns:a16="http://schemas.microsoft.com/office/drawing/2014/main" id="{2DDEC41D-9D96-E46A-27D1-0BE3C41025A0}"/>
              </a:ext>
            </a:extLst>
          </p:cNvPr>
          <p:cNvSpPr txBox="1"/>
          <p:nvPr/>
        </p:nvSpPr>
        <p:spPr>
          <a:xfrm>
            <a:off x="8977117" y="1095080"/>
            <a:ext cx="757079" cy="394522"/>
          </a:xfrm>
          <a:prstGeom prst="rect">
            <a:avLst/>
          </a:prstGeom>
        </p:spPr>
        <p:txBody>
          <a:bodyPr lIns="0" tIns="0" rIns="0" bIns="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EFF"/>
                </a:solidFill>
                <a:effectLst/>
                <a:uLnTx/>
                <a:uFillTx/>
                <a:latin typeface="Gartner Sans" panose="020B0504030402040204" pitchFamily="34" charset="0"/>
              </a:rPr>
              <a:t>Deliver Shipment</a:t>
            </a:r>
          </a:p>
        </p:txBody>
      </p:sp>
      <p:sp>
        <p:nvSpPr>
          <p:cNvPr id="65" name="Google Shape;467;p8">
            <a:extLst>
              <a:ext uri="{FF2B5EF4-FFF2-40B4-BE49-F238E27FC236}">
                <a16:creationId xmlns:a16="http://schemas.microsoft.com/office/drawing/2014/main" id="{84748576-F292-0932-2D9D-1CC0E96536F2}"/>
              </a:ext>
            </a:extLst>
          </p:cNvPr>
          <p:cNvSpPr txBox="1"/>
          <p:nvPr/>
        </p:nvSpPr>
        <p:spPr>
          <a:xfrm>
            <a:off x="8418969" y="3050695"/>
            <a:ext cx="2356665" cy="400110"/>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45720" tIns="45720" rIns="45720" bIns="45720" anchor="ctr" anchorCtr="0">
            <a:spAutoFit/>
          </a:bodyPr>
          <a:lstStyle/>
          <a:p>
            <a:pPr marL="0" marR="0" lvl="0" indent="0" defTabSz="457200" rtl="0" eaLnBrk="1" fontAlgn="auto" latinLnBrk="0" hangingPunct="1">
              <a:lnSpc>
                <a:spcPct val="100000"/>
              </a:lnSpc>
              <a:spcBef>
                <a:spcPts val="0"/>
              </a:spcBef>
              <a:spcAft>
                <a:spcPts val="0"/>
              </a:spcAft>
              <a:buClr>
                <a:srgbClr val="000000"/>
              </a:buClr>
              <a:buSzPts val="1400"/>
              <a:buFontTx/>
              <a:buNone/>
              <a:tabLst/>
              <a:defRPr/>
            </a:pPr>
            <a:r>
              <a:rPr kumimoji="0" lang="en-US" sz="1000" b="0" i="0" u="none" strike="noStrike" kern="1200" cap="none" spc="0" normalizeH="0" baseline="0" noProof="0">
                <a:ln>
                  <a:noFill/>
                </a:ln>
                <a:solidFill>
                  <a:prstClr val="black"/>
                </a:solidFill>
                <a:effectLst/>
                <a:uLnTx/>
                <a:uFillTx/>
                <a:latin typeface="Gartner Sans" panose="020B0504030402040204" pitchFamily="34" charset="0"/>
              </a:rPr>
              <a:t>Define opportunities for automation, augmentation, and people-centric tasks</a:t>
            </a:r>
            <a:endPar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Arial"/>
              <a:cs typeface="Arial"/>
              <a:sym typeface="Arial"/>
            </a:endParaRPr>
          </a:p>
        </p:txBody>
      </p:sp>
      <p:graphicFrame>
        <p:nvGraphicFramePr>
          <p:cNvPr id="67" name="Google Shape;159;p7">
            <a:extLst>
              <a:ext uri="{FF2B5EF4-FFF2-40B4-BE49-F238E27FC236}">
                <a16:creationId xmlns:a16="http://schemas.microsoft.com/office/drawing/2014/main" id="{ECE1B371-DC77-2BB7-1EA0-D8670A2F3C7F}"/>
              </a:ext>
            </a:extLst>
          </p:cNvPr>
          <p:cNvGraphicFramePr/>
          <p:nvPr>
            <p:extLst>
              <p:ext uri="{D42A27DB-BD31-4B8C-83A1-F6EECF244321}">
                <p14:modId xmlns:p14="http://schemas.microsoft.com/office/powerpoint/2010/main" val="1110574399"/>
              </p:ext>
            </p:extLst>
          </p:nvPr>
        </p:nvGraphicFramePr>
        <p:xfrm>
          <a:off x="458372" y="1369209"/>
          <a:ext cx="5475256" cy="4524756"/>
        </p:xfrm>
        <a:graphic>
          <a:graphicData uri="http://schemas.openxmlformats.org/drawingml/2006/table">
            <a:tbl>
              <a:tblPr firstRow="1" bandRow="1">
                <a:noFill/>
              </a:tblPr>
              <a:tblGrid>
                <a:gridCol w="5475256">
                  <a:extLst>
                    <a:ext uri="{9D8B030D-6E8A-4147-A177-3AD203B41FA5}">
                      <a16:colId xmlns:a16="http://schemas.microsoft.com/office/drawing/2014/main" val="20001"/>
                    </a:ext>
                  </a:extLst>
                </a:gridCol>
              </a:tblGrid>
              <a:tr h="0">
                <a:tc>
                  <a:txBody>
                    <a:bodyPr/>
                    <a:lstStyle/>
                    <a:p>
                      <a:pPr marL="0" marR="0" lvl="0" indent="0" algn="l" rtl="0">
                        <a:lnSpc>
                          <a:spcPct val="90000"/>
                        </a:lnSpc>
                        <a:spcBef>
                          <a:spcPts val="0"/>
                        </a:spcBef>
                        <a:spcAft>
                          <a:spcPts val="0"/>
                        </a:spcAft>
                        <a:buNone/>
                      </a:pPr>
                      <a:r>
                        <a:rPr lang="en-US" sz="1100" b="1" dirty="0">
                          <a:solidFill>
                            <a:srgbClr val="FFFFFF"/>
                          </a:solidFill>
                        </a:rPr>
                        <a:t>Guidance</a:t>
                      </a:r>
                      <a:endParaRPr sz="1100" dirty="0">
                        <a:solidFill>
                          <a:srgbClr val="FFFFFF"/>
                        </a:solidFill>
                      </a:endParaRP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296525">
                <a:tc>
                  <a:txBody>
                    <a:bodyPr/>
                    <a:lstStyle/>
                    <a:p>
                      <a:pPr marL="0" marR="0" lvl="0" indent="0" algn="l" rtl="0">
                        <a:lnSpc>
                          <a:spcPct val="90000"/>
                        </a:lnSpc>
                        <a:spcBef>
                          <a:spcPts val="0"/>
                        </a:spcBef>
                        <a:spcAft>
                          <a:spcPts val="600"/>
                        </a:spcAft>
                        <a:buNone/>
                      </a:pPr>
                      <a:r>
                        <a:rPr lang="en-US" sz="1100" b="0" dirty="0">
                          <a:solidFill>
                            <a:schemeClr val="tx1"/>
                          </a:solidFill>
                        </a:rPr>
                        <a:t>Collaborate as part of the executive team, alongside the CIO and other leaders, to define how people and technology combine for speed, scale, and strategic impact. Champion human-centric design principles and ensure alignment with workforce capabilities., brand/trust moments, regulatory guardrails and design principles</a:t>
                      </a:r>
                    </a:p>
                    <a:p>
                      <a:pPr marL="228600" marR="0" lvl="0" indent="-228600" algn="l" rtl="0">
                        <a:lnSpc>
                          <a:spcPct val="90000"/>
                        </a:lnSpc>
                        <a:spcBef>
                          <a:spcPts val="0"/>
                        </a:spcBef>
                        <a:spcAft>
                          <a:spcPts val="300"/>
                        </a:spcAft>
                        <a:buFont typeface="+mj-lt"/>
                        <a:buAutoNum type="arabicPeriod"/>
                      </a:pPr>
                      <a:r>
                        <a:rPr lang="en-US" sz="1100" b="1" dirty="0">
                          <a:solidFill>
                            <a:schemeClr val="tx1"/>
                          </a:solidFill>
                        </a:rPr>
                        <a:t>Evaluate Tasks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Provide workforce insights to identify where human effort is concentrated.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Assess current technology and how it supports efficiency, employee experience, and business needs.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Map tasks to workflows and processes. Leverage task intelligence to identify repetitive, rule-based steps ripe for automation/augmentation. </a:t>
                      </a:r>
                    </a:p>
                    <a:p>
                      <a:pPr marL="0" marR="0" lvl="0" indent="0" algn="l" rtl="0">
                        <a:lnSpc>
                          <a:spcPct val="90000"/>
                        </a:lnSpc>
                        <a:spcBef>
                          <a:spcPts val="0"/>
                        </a:spcBef>
                        <a:spcAft>
                          <a:spcPts val="300"/>
                        </a:spcAft>
                        <a:buNone/>
                      </a:pPr>
                      <a:r>
                        <a:rPr lang="en-US" sz="1100" b="1" dirty="0">
                          <a:solidFill>
                            <a:schemeClr val="tx1"/>
                          </a:solidFill>
                        </a:rPr>
                        <a:t>Key requisite: </a:t>
                      </a:r>
                      <a:r>
                        <a:rPr lang="en-US" sz="1100" b="0" dirty="0">
                          <a:solidFill>
                            <a:schemeClr val="tx1"/>
                          </a:solidFill>
                        </a:rPr>
                        <a:t>Avoid automating broken workflows. </a:t>
                      </a:r>
                    </a:p>
                    <a:p>
                      <a:pPr marL="228600" marR="0" lvl="0" indent="-228600" algn="l" rtl="0">
                        <a:lnSpc>
                          <a:spcPct val="90000"/>
                        </a:lnSpc>
                        <a:spcBef>
                          <a:spcPts val="0"/>
                        </a:spcBef>
                        <a:spcAft>
                          <a:spcPts val="300"/>
                        </a:spcAft>
                        <a:buFont typeface="+mj-lt"/>
                        <a:buAutoNum type="arabicPeriod"/>
                      </a:pPr>
                      <a:r>
                        <a:rPr lang="en-US" sz="1100" b="1" dirty="0">
                          <a:solidFill>
                            <a:schemeClr val="tx1"/>
                          </a:solidFill>
                        </a:rPr>
                        <a:t>Decide Who Does What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Human-Centric: Tasks requiring judgment, deep knowledge, empathy, or complex decisions Consider brand/trust and regulatory requirements.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Augment: Blend human insight + technology for creativity/speed.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Automate: Move routine, rule-based tasks to technology. </a:t>
                      </a:r>
                    </a:p>
                    <a:p>
                      <a:pPr marL="228600" marR="0" lvl="0" indent="-228600" algn="l" rtl="0">
                        <a:lnSpc>
                          <a:spcPct val="90000"/>
                        </a:lnSpc>
                        <a:spcBef>
                          <a:spcPts val="0"/>
                        </a:spcBef>
                        <a:spcAft>
                          <a:spcPts val="300"/>
                        </a:spcAft>
                        <a:buFont typeface="+mj-lt"/>
                        <a:buAutoNum type="arabicPeriod"/>
                      </a:pPr>
                      <a:r>
                        <a:rPr lang="en-US" sz="1100" b="1" dirty="0">
                          <a:solidFill>
                            <a:schemeClr val="tx1"/>
                          </a:solidFill>
                        </a:rPr>
                        <a:t>Assess Key Factors: Check readiness across: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Technology &amp; Data </a:t>
                      </a:r>
                      <a:r>
                        <a:rPr kumimoji="0" lang="en-US" sz="800" b="0" i="0" u="none" strike="noStrike" kern="0" cap="none" spc="0" normalizeH="0" baseline="30000" noProof="0" dirty="0">
                          <a:ln>
                            <a:noFill/>
                          </a:ln>
                          <a:solidFill>
                            <a:srgbClr val="000000"/>
                          </a:solidFill>
                          <a:effectLst/>
                          <a:uLnTx/>
                          <a:uFillTx/>
                          <a:ea typeface="Arial"/>
                          <a:cs typeface="Arial"/>
                          <a:sym typeface="Arial"/>
                        </a:rPr>
                        <a:t>1</a:t>
                      </a:r>
                      <a:endParaRPr lang="en-US" sz="1100" b="0" dirty="0">
                        <a:solidFill>
                          <a:schemeClr val="tx1"/>
                        </a:solidFill>
                      </a:endParaRP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Process Stability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Workforce Adoption &amp; Change Effort </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Workforce capabilities readiness</a:t>
                      </a:r>
                    </a:p>
                    <a:p>
                      <a:pPr marL="447675" marR="0" lvl="1" indent="-171450" algn="l" rtl="0">
                        <a:lnSpc>
                          <a:spcPct val="90000"/>
                        </a:lnSpc>
                        <a:spcBef>
                          <a:spcPts val="0"/>
                        </a:spcBef>
                        <a:spcAft>
                          <a:spcPts val="300"/>
                        </a:spcAft>
                        <a:buFont typeface="Arial" panose="020B0604020202020204" pitchFamily="34" charset="0"/>
                        <a:buChar char="•"/>
                      </a:pPr>
                      <a:r>
                        <a:rPr lang="en-US" sz="1100" b="0" dirty="0">
                          <a:solidFill>
                            <a:schemeClr val="tx1"/>
                          </a:solidFill>
                        </a:rPr>
                        <a:t>Sustainability Cost ($) and Resources (FTE) </a:t>
                      </a:r>
                    </a:p>
                    <a:p>
                      <a:pPr marL="0" marR="0" lvl="0" indent="0" algn="l" rtl="0">
                        <a:lnSpc>
                          <a:spcPct val="90000"/>
                        </a:lnSpc>
                        <a:spcBef>
                          <a:spcPts val="0"/>
                        </a:spcBef>
                        <a:spcAft>
                          <a:spcPts val="300"/>
                        </a:spcAft>
                        <a:buNone/>
                      </a:pPr>
                      <a:r>
                        <a:rPr lang="en-US" sz="1100" b="0" i="1" dirty="0">
                          <a:solidFill>
                            <a:srgbClr val="6F7878"/>
                          </a:solidFill>
                        </a:rPr>
                        <a:t>Note: Detailed investment decisions are made following prioritization.</a:t>
                      </a: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71" name="Google Shape;159;p7">
            <a:extLst>
              <a:ext uri="{FF2B5EF4-FFF2-40B4-BE49-F238E27FC236}">
                <a16:creationId xmlns:a16="http://schemas.microsoft.com/office/drawing/2014/main" id="{BFA53FB2-6913-B693-8AE5-77AB9CB2EA65}"/>
              </a:ext>
            </a:extLst>
          </p:cNvPr>
          <p:cNvGraphicFramePr/>
          <p:nvPr>
            <p:extLst>
              <p:ext uri="{D42A27DB-BD31-4B8C-83A1-F6EECF244321}">
                <p14:modId xmlns:p14="http://schemas.microsoft.com/office/powerpoint/2010/main" val="1458991624"/>
              </p:ext>
            </p:extLst>
          </p:nvPr>
        </p:nvGraphicFramePr>
        <p:xfrm>
          <a:off x="6234113" y="3610066"/>
          <a:ext cx="5504688" cy="2438400"/>
        </p:xfrm>
        <a:graphic>
          <a:graphicData uri="http://schemas.openxmlformats.org/drawingml/2006/table">
            <a:tbl>
              <a:tblPr firstRow="1" bandRow="1">
                <a:noFill/>
              </a:tblPr>
              <a:tblGrid>
                <a:gridCol w="1319292">
                  <a:extLst>
                    <a:ext uri="{9D8B030D-6E8A-4147-A177-3AD203B41FA5}">
                      <a16:colId xmlns:a16="http://schemas.microsoft.com/office/drawing/2014/main" val="20001"/>
                    </a:ext>
                  </a:extLst>
                </a:gridCol>
                <a:gridCol w="1621331">
                  <a:extLst>
                    <a:ext uri="{9D8B030D-6E8A-4147-A177-3AD203B41FA5}">
                      <a16:colId xmlns:a16="http://schemas.microsoft.com/office/drawing/2014/main" val="20002"/>
                    </a:ext>
                  </a:extLst>
                </a:gridCol>
                <a:gridCol w="1298602">
                  <a:extLst>
                    <a:ext uri="{9D8B030D-6E8A-4147-A177-3AD203B41FA5}">
                      <a16:colId xmlns:a16="http://schemas.microsoft.com/office/drawing/2014/main" val="2954750524"/>
                    </a:ext>
                  </a:extLst>
                </a:gridCol>
                <a:gridCol w="1265463">
                  <a:extLst>
                    <a:ext uri="{9D8B030D-6E8A-4147-A177-3AD203B41FA5}">
                      <a16:colId xmlns:a16="http://schemas.microsoft.com/office/drawing/2014/main" val="1026487214"/>
                    </a:ext>
                  </a:extLst>
                </a:gridCol>
              </a:tblGrid>
              <a:tr h="0">
                <a:tc>
                  <a:txBody>
                    <a:bodyPr/>
                    <a:lstStyle/>
                    <a:p>
                      <a:pPr marL="0" marR="0" lvl="0" indent="0" algn="l" rtl="0">
                        <a:spcBef>
                          <a:spcPts val="0"/>
                        </a:spcBef>
                        <a:spcAft>
                          <a:spcPts val="0"/>
                        </a:spcAft>
                        <a:buNone/>
                      </a:pPr>
                      <a:r>
                        <a:rPr lang="en-US" sz="1000" b="1" dirty="0">
                          <a:solidFill>
                            <a:srgbClr val="FFFFFF"/>
                          </a:solidFill>
                        </a:rPr>
                        <a:t>Category</a:t>
                      </a:r>
                      <a:endParaRPr sz="1000" dirty="0">
                        <a:solidFill>
                          <a:srgbClr val="FFFFFF"/>
                        </a:solidFill>
                      </a:endParaRPr>
                    </a:p>
                  </a:txBody>
                  <a:tcPr marL="45720" marR="45720">
                    <a:lnL w="12700" cap="flat" cmpd="sng" algn="ctr">
                      <a:solidFill>
                        <a:srgbClr val="002856"/>
                      </a:solidFill>
                      <a:prstDash val="solid"/>
                      <a:round/>
                      <a:headEnd type="none" w="med" len="med"/>
                      <a:tailEnd type="none" w="med" len="med"/>
                    </a:lnL>
                    <a:lnR w="12700" cmpd="sng">
                      <a:noFill/>
                      <a:prstDash val="soli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rPr>
                        <a:t>Tasks</a:t>
                      </a:r>
                      <a:endParaRPr lang="en-US" sz="1000">
                        <a:solidFill>
                          <a:srgbClr val="FFFFFF"/>
                        </a:solidFill>
                      </a:endParaRPr>
                    </a:p>
                  </a:txBody>
                  <a:tcPr marL="45720" marR="45720">
                    <a:lnL w="12700" cmpd="sng">
                      <a:noFill/>
                      <a:prstDash val="solid"/>
                    </a:lnL>
                    <a:lnR w="12700" cap="flat" cmpd="sng" algn="ctr">
                      <a:no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rPr>
                        <a:t>Tools</a:t>
                      </a:r>
                      <a:endParaRPr lang="en-US" sz="1000">
                        <a:solidFill>
                          <a:srgbClr val="FFFFFF"/>
                        </a:solidFill>
                      </a:endParaRPr>
                    </a:p>
                  </a:txBody>
                  <a:tcPr marL="45720" marR="45720">
                    <a:lnL w="12700" cmpd="sng">
                      <a:noFill/>
                      <a:prstDash val="solid"/>
                    </a:lnL>
                    <a:lnR w="12700" cap="flat" cmpd="sng" algn="ctr">
                      <a:no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rPr>
                        <a:t>KPIs</a:t>
                      </a:r>
                      <a:endParaRPr lang="en-US" sz="1000">
                        <a:solidFill>
                          <a:srgbClr val="FFFFFF"/>
                        </a:solidFill>
                      </a:endParaRPr>
                    </a:p>
                  </a:txBody>
                  <a:tcPr marL="45720" marR="45720">
                    <a:lnL w="12700" cmpd="sng">
                      <a:noFill/>
                      <a:prstDash val="solid"/>
                    </a:lnL>
                    <a:lnR w="1270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204217">
                <a:tc>
                  <a:txBody>
                    <a:bodyPr/>
                    <a:lstStyle/>
                    <a:p>
                      <a:pPr marL="0" marR="0" lvl="0" indent="0" algn="l" rtl="0">
                        <a:spcBef>
                          <a:spcPts val="0"/>
                        </a:spcBef>
                        <a:spcAft>
                          <a:spcPts val="600"/>
                        </a:spcAft>
                        <a:buNone/>
                      </a:pPr>
                      <a:r>
                        <a:rPr lang="en-US" sz="1000" b="1">
                          <a:solidFill>
                            <a:schemeClr val="tx1"/>
                          </a:solidFill>
                        </a:rPr>
                        <a:t>Current Tech</a:t>
                      </a:r>
                    </a:p>
                  </a:txBody>
                  <a:tcPr marL="365760" marR="45720">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0">
                          <a:solidFill>
                            <a:schemeClr val="tx1"/>
                          </a:solidFill>
                        </a:rPr>
                        <a:t>Static route planning; distance-based cost calculation</a:t>
                      </a:r>
                    </a:p>
                  </a:txBody>
                  <a:tcPr marL="45720" marR="45720">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0">
                          <a:solidFill>
                            <a:schemeClr val="tx1"/>
                          </a:solidFill>
                        </a:rPr>
                        <a:t>Trans. Management System</a:t>
                      </a:r>
                    </a:p>
                  </a:txBody>
                  <a:tcPr marL="45720" marR="45720">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0">
                          <a:solidFill>
                            <a:schemeClr val="tx1"/>
                          </a:solidFill>
                        </a:rPr>
                        <a:t>Cost per route</a:t>
                      </a:r>
                    </a:p>
                  </a:txBody>
                  <a:tcPr marL="45720" marR="45720">
                    <a:lnL w="12700" cmpd="sng">
                      <a:noFill/>
                      <a:prstDash val="soli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04217">
                <a:tc>
                  <a:txBody>
                    <a:bodyPr/>
                    <a:lstStyle/>
                    <a:p>
                      <a:pPr marL="0" marR="0" lvl="0" indent="0" algn="l" rtl="0">
                        <a:spcBef>
                          <a:spcPts val="0"/>
                        </a:spcBef>
                        <a:spcAft>
                          <a:spcPts val="600"/>
                        </a:spcAft>
                        <a:buNone/>
                      </a:pPr>
                      <a:r>
                        <a:rPr lang="en-US" sz="1000" b="1">
                          <a:solidFill>
                            <a:schemeClr val="tx1"/>
                          </a:solidFill>
                        </a:rPr>
                        <a:t>Augment</a:t>
                      </a:r>
                      <a:endParaRPr sz="1000" b="1">
                        <a:solidFill>
                          <a:schemeClr val="tx1"/>
                        </a:solidFill>
                      </a:endParaRPr>
                    </a:p>
                  </a:txBody>
                  <a:tcPr marL="36576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Dynamic routing with approval; sustain</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Dynamic routing module</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Delivery accuracy; successful reroutes</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2"/>
                  </a:ext>
                </a:extLst>
              </a:tr>
              <a:tr h="310580">
                <a:tc>
                  <a:txBody>
                    <a:bodyPr/>
                    <a:lstStyle/>
                    <a:p>
                      <a:pPr marL="0" marR="0" lvl="0" indent="0" algn="l" rtl="0">
                        <a:spcBef>
                          <a:spcPts val="0"/>
                        </a:spcBef>
                        <a:spcAft>
                          <a:spcPts val="600"/>
                        </a:spcAft>
                        <a:buNone/>
                      </a:pPr>
                      <a:r>
                        <a:rPr lang="en-US" sz="1000" b="1">
                          <a:solidFill>
                            <a:schemeClr val="tx1"/>
                          </a:solidFill>
                        </a:rPr>
                        <a:t>Automate</a:t>
                      </a:r>
                      <a:endParaRPr sz="1000" b="1">
                        <a:solidFill>
                          <a:schemeClr val="tx1"/>
                        </a:solidFill>
                      </a:endParaRPr>
                    </a:p>
                  </a:txBody>
                  <a:tcPr marL="36576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600"/>
                        </a:spcAft>
                        <a:buNone/>
                      </a:pPr>
                      <a:r>
                        <a:rPr lang="en-US" sz="1000" b="0">
                          <a:solidFill>
                            <a:schemeClr val="tx1"/>
                          </a:solidFill>
                        </a:rPr>
                        <a:t>Real-time route optimization; carrier assignment; ETA recalculation; delay alerts</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600"/>
                        </a:spcAft>
                        <a:buNone/>
                      </a:pPr>
                      <a:r>
                        <a:rPr lang="en-US" sz="1000" b="0">
                          <a:solidFill>
                            <a:schemeClr val="tx1"/>
                          </a:solidFill>
                        </a:rPr>
                        <a:t>Prescriptive AI; Machine learning; telematics; analytics</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600"/>
                        </a:spcAft>
                        <a:buNone/>
                      </a:pPr>
                      <a:r>
                        <a:rPr lang="en-US" sz="1000" b="0" dirty="0">
                          <a:solidFill>
                            <a:schemeClr val="tx1"/>
                          </a:solidFill>
                        </a:rPr>
                        <a:t>On-time delivery %; cost per drop; empty miles reduction</a:t>
                      </a:r>
                      <a:endParaRPr sz="1000" b="0" dirty="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7399">
                <a:tc>
                  <a:txBody>
                    <a:bodyPr/>
                    <a:lstStyle/>
                    <a:p>
                      <a:pPr marL="0" marR="0" lvl="0" indent="0" algn="l" rtl="0">
                        <a:spcBef>
                          <a:spcPts val="0"/>
                        </a:spcBef>
                        <a:spcAft>
                          <a:spcPts val="600"/>
                        </a:spcAft>
                        <a:buNone/>
                      </a:pPr>
                      <a:r>
                        <a:rPr lang="en-US" sz="1000" b="1">
                          <a:solidFill>
                            <a:schemeClr val="tx1"/>
                          </a:solidFill>
                        </a:rPr>
                        <a:t>Human Centric</a:t>
                      </a:r>
                      <a:endParaRPr sz="1000" b="1">
                        <a:solidFill>
                          <a:schemeClr val="tx1"/>
                        </a:solidFill>
                      </a:endParaRPr>
                    </a:p>
                  </a:txBody>
                  <a:tcPr marL="36576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Manual override; judgment for VIP, fragile, safety decisions</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Policy tool; escalation workflow</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00" b="0">
                          <a:solidFill>
                            <a:schemeClr val="tx1"/>
                          </a:solidFill>
                        </a:rPr>
                        <a:t>Manual override %; manual work reduction</a:t>
                      </a:r>
                      <a:endParaRPr sz="1000" b="0">
                        <a:solidFill>
                          <a:schemeClr val="tx1"/>
                        </a:solidFill>
                      </a:endParaRPr>
                    </a:p>
                  </a:txBody>
                  <a:tcPr marL="45720" marR="45720">
                    <a:lnL w="12700" cmpd="sng">
                      <a:noFill/>
                      <a:prstDash val="soli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4"/>
                  </a:ext>
                </a:extLst>
              </a:tr>
            </a:tbl>
          </a:graphicData>
        </a:graphic>
      </p:graphicFrame>
      <p:cxnSp>
        <p:nvCxnSpPr>
          <p:cNvPr id="78" name="Connector 48">
            <a:extLst>
              <a:ext uri="{FF2B5EF4-FFF2-40B4-BE49-F238E27FC236}">
                <a16:creationId xmlns:a16="http://schemas.microsoft.com/office/drawing/2014/main" id="{6B5A71C7-5124-B038-508C-BB3BCF06C677}"/>
              </a:ext>
            </a:extLst>
          </p:cNvPr>
          <p:cNvCxnSpPr>
            <a:cxnSpLocks/>
          </p:cNvCxnSpPr>
          <p:nvPr/>
        </p:nvCxnSpPr>
        <p:spPr>
          <a:xfrm>
            <a:off x="9399708" y="2446085"/>
            <a:ext cx="116496" cy="0"/>
          </a:xfrm>
          <a:prstGeom prst="line">
            <a:avLst/>
          </a:prstGeom>
          <a:noFill/>
          <a:ln w="25400" cap="sq">
            <a:solidFill>
              <a:srgbClr val="5A798C"/>
            </a:solidFill>
          </a:ln>
        </p:spPr>
      </p:cxnSp>
      <p:cxnSp>
        <p:nvCxnSpPr>
          <p:cNvPr id="79" name="Connector 48">
            <a:extLst>
              <a:ext uri="{FF2B5EF4-FFF2-40B4-BE49-F238E27FC236}">
                <a16:creationId xmlns:a16="http://schemas.microsoft.com/office/drawing/2014/main" id="{5EE94B22-5CF5-3141-F874-1D75CDF0EDF9}"/>
              </a:ext>
            </a:extLst>
          </p:cNvPr>
          <p:cNvCxnSpPr>
            <a:cxnSpLocks/>
          </p:cNvCxnSpPr>
          <p:nvPr/>
        </p:nvCxnSpPr>
        <p:spPr>
          <a:xfrm>
            <a:off x="10024455" y="2446085"/>
            <a:ext cx="116496" cy="0"/>
          </a:xfrm>
          <a:prstGeom prst="line">
            <a:avLst/>
          </a:prstGeom>
          <a:noFill/>
          <a:ln w="25400" cap="sq">
            <a:solidFill>
              <a:srgbClr val="5A798C"/>
            </a:solidFill>
          </a:ln>
        </p:spPr>
      </p:cxnSp>
      <p:sp>
        <p:nvSpPr>
          <p:cNvPr id="80" name="Freeform 33">
            <a:extLst>
              <a:ext uri="{FF2B5EF4-FFF2-40B4-BE49-F238E27FC236}">
                <a16:creationId xmlns:a16="http://schemas.microsoft.com/office/drawing/2014/main" id="{BF885E3D-5E98-794F-164D-BAB4553FC7D7}"/>
              </a:ext>
            </a:extLst>
          </p:cNvPr>
          <p:cNvSpPr/>
          <p:nvPr/>
        </p:nvSpPr>
        <p:spPr>
          <a:xfrm>
            <a:off x="6334317" y="4847650"/>
            <a:ext cx="137160" cy="137160"/>
          </a:xfrm>
          <a:custGeom>
            <a:avLst/>
            <a:gdLst/>
            <a:ahLst/>
            <a:cxnLst/>
            <a:rect l="l" t="t" r="r" b="b"/>
            <a:pathLst>
              <a:path w="448729" h="211671">
                <a:moveTo>
                  <a:pt x="0" y="211671"/>
                </a:moveTo>
                <a:lnTo>
                  <a:pt x="448729" y="211671"/>
                </a:lnTo>
                <a:lnTo>
                  <a:pt x="448729"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81" name="Freeform 75">
            <a:extLst>
              <a:ext uri="{FF2B5EF4-FFF2-40B4-BE49-F238E27FC236}">
                <a16:creationId xmlns:a16="http://schemas.microsoft.com/office/drawing/2014/main" id="{684BE662-1457-8597-4B93-71F04E66D50C}"/>
              </a:ext>
            </a:extLst>
          </p:cNvPr>
          <p:cNvSpPr/>
          <p:nvPr/>
        </p:nvSpPr>
        <p:spPr>
          <a:xfrm>
            <a:off x="6334317" y="4462303"/>
            <a:ext cx="137160" cy="137160"/>
          </a:xfrm>
          <a:custGeom>
            <a:avLst/>
            <a:gdLst/>
            <a:ahLst/>
            <a:cxnLst/>
            <a:rect l="l" t="t" r="r" b="b"/>
            <a:pathLst>
              <a:path w="336550" h="158750">
                <a:moveTo>
                  <a:pt x="0" y="158750"/>
                </a:moveTo>
                <a:lnTo>
                  <a:pt x="336550" y="158750"/>
                </a:lnTo>
                <a:lnTo>
                  <a:pt x="336550" y="0"/>
                </a:lnTo>
                <a:lnTo>
                  <a:pt x="0" y="0"/>
                </a:lnTo>
                <a:close/>
              </a:path>
            </a:pathLst>
          </a:custGeom>
          <a:solidFill>
            <a:srgbClr val="0057A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82" name="Freeform 65">
            <a:extLst>
              <a:ext uri="{FF2B5EF4-FFF2-40B4-BE49-F238E27FC236}">
                <a16:creationId xmlns:a16="http://schemas.microsoft.com/office/drawing/2014/main" id="{5219AE48-E471-D517-6840-9B956254C5A5}"/>
              </a:ext>
            </a:extLst>
          </p:cNvPr>
          <p:cNvSpPr/>
          <p:nvPr/>
        </p:nvSpPr>
        <p:spPr>
          <a:xfrm>
            <a:off x="6334317" y="5572830"/>
            <a:ext cx="137160" cy="137160"/>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83" name="Freeform 33">
            <a:extLst>
              <a:ext uri="{FF2B5EF4-FFF2-40B4-BE49-F238E27FC236}">
                <a16:creationId xmlns:a16="http://schemas.microsoft.com/office/drawing/2014/main" id="{816FD17E-43A9-B665-F403-F6ECA7F04DC1}"/>
              </a:ext>
            </a:extLst>
          </p:cNvPr>
          <p:cNvSpPr/>
          <p:nvPr/>
        </p:nvSpPr>
        <p:spPr>
          <a:xfrm>
            <a:off x="6334317" y="3907325"/>
            <a:ext cx="137160" cy="137160"/>
          </a:xfrm>
          <a:custGeom>
            <a:avLst/>
            <a:gdLst/>
            <a:ahLst/>
            <a:cxnLst/>
            <a:rect l="l" t="t" r="r" b="b"/>
            <a:pathLst>
              <a:path w="448729" h="211671">
                <a:moveTo>
                  <a:pt x="0" y="211671"/>
                </a:moveTo>
                <a:lnTo>
                  <a:pt x="448729" y="211671"/>
                </a:lnTo>
                <a:lnTo>
                  <a:pt x="448729"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84" name="Freeform 65">
            <a:extLst>
              <a:ext uri="{FF2B5EF4-FFF2-40B4-BE49-F238E27FC236}">
                <a16:creationId xmlns:a16="http://schemas.microsoft.com/office/drawing/2014/main" id="{E3431879-90E3-A3C4-A1DC-E51132AD70CF}"/>
              </a:ext>
            </a:extLst>
          </p:cNvPr>
          <p:cNvSpPr/>
          <p:nvPr/>
        </p:nvSpPr>
        <p:spPr>
          <a:xfrm>
            <a:off x="9014366" y="2302461"/>
            <a:ext cx="424879" cy="287248"/>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4" name="Rectangle 3">
            <a:extLst>
              <a:ext uri="{FF2B5EF4-FFF2-40B4-BE49-F238E27FC236}">
                <a16:creationId xmlns:a16="http://schemas.microsoft.com/office/drawing/2014/main" id="{21BFD4C0-CC4C-C7C9-A469-1BD27026153B}"/>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Collaboration</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
        <p:nvSpPr>
          <p:cNvPr id="6" name="TextBox 5">
            <a:extLst>
              <a:ext uri="{FF2B5EF4-FFF2-40B4-BE49-F238E27FC236}">
                <a16:creationId xmlns:a16="http://schemas.microsoft.com/office/drawing/2014/main" id="{6F7FDFFB-6787-2186-3F4F-B1D44305714C}"/>
              </a:ext>
            </a:extLst>
          </p:cNvPr>
          <p:cNvSpPr txBox="1"/>
          <p:nvPr/>
        </p:nvSpPr>
        <p:spPr>
          <a:xfrm>
            <a:off x="457200" y="731520"/>
            <a:ext cx="7188200" cy="369332"/>
          </a:xfrm>
          <a:prstGeom prst="rect">
            <a:avLst/>
          </a:prstGeom>
          <a:noFill/>
        </p:spPr>
        <p:txBody>
          <a:bodyPr wrap="square" lIns="0">
            <a:spAutoFit/>
          </a:bodyPr>
          <a:lstStyle/>
          <a:p>
            <a:r>
              <a:rPr lang="en-US"/>
              <a:t>Which tasks are best performed by humans versus by technology?</a:t>
            </a:r>
          </a:p>
        </p:txBody>
      </p:sp>
      <p:sp>
        <p:nvSpPr>
          <p:cNvPr id="7" name="TextBox 6">
            <a:extLst>
              <a:ext uri="{FF2B5EF4-FFF2-40B4-BE49-F238E27FC236}">
                <a16:creationId xmlns:a16="http://schemas.microsoft.com/office/drawing/2014/main" id="{2F40BB2C-E831-4B4D-B1E4-B220293AE4C5}"/>
              </a:ext>
            </a:extLst>
          </p:cNvPr>
          <p:cNvSpPr txBox="1"/>
          <p:nvPr/>
        </p:nvSpPr>
        <p:spPr>
          <a:xfrm>
            <a:off x="445306" y="6100584"/>
            <a:ext cx="6096000" cy="215444"/>
          </a:xfrm>
          <a:prstGeom prst="rect">
            <a:avLst/>
          </a:prstGeom>
          <a:noFill/>
        </p:spPr>
        <p:txBody>
          <a:bodyPr wrap="square">
            <a:spAutoFit/>
          </a:bodyPr>
          <a:lstStyle/>
          <a:p>
            <a:r>
              <a:rPr lang="en-US" sz="800" kern="0" baseline="30000" dirty="0">
                <a:solidFill>
                  <a:srgbClr val="000000"/>
                </a:solidFill>
                <a:ea typeface="Arial"/>
                <a:cs typeface="Arial"/>
                <a:sym typeface="Arial"/>
              </a:rPr>
              <a:t>1 </a:t>
            </a:r>
            <a:r>
              <a:rPr lang="en-US" sz="800" dirty="0">
                <a:hlinkClick r:id="rId3"/>
              </a:rPr>
              <a:t>Use This Checklist to Ensure Your Data Is Ready for the Agentic AI Era</a:t>
            </a:r>
            <a:endParaRPr lang="en-US" sz="800" dirty="0"/>
          </a:p>
        </p:txBody>
      </p:sp>
    </p:spTree>
    <p:extLst>
      <p:ext uri="{BB962C8B-B14F-4D97-AF65-F5344CB8AC3E}">
        <p14:creationId xmlns:p14="http://schemas.microsoft.com/office/powerpoint/2010/main" val="2860094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8">
          <a:extLst>
            <a:ext uri="{FF2B5EF4-FFF2-40B4-BE49-F238E27FC236}">
              <a16:creationId xmlns:a16="http://schemas.microsoft.com/office/drawing/2014/main" id="{EB570644-1BD0-CE80-3437-2B36FB1FEC2B}"/>
            </a:ext>
          </a:extLst>
        </p:cNvPr>
        <p:cNvGrpSpPr/>
        <p:nvPr/>
      </p:nvGrpSpPr>
      <p:grpSpPr>
        <a:xfrm>
          <a:off x="0" y="0"/>
          <a:ext cx="0" cy="0"/>
          <a:chOff x="0" y="0"/>
          <a:chExt cx="0" cy="0"/>
        </a:xfrm>
      </p:grpSpPr>
      <p:sp>
        <p:nvSpPr>
          <p:cNvPr id="62" name="TextBox 12">
            <a:extLst>
              <a:ext uri="{FF2B5EF4-FFF2-40B4-BE49-F238E27FC236}">
                <a16:creationId xmlns:a16="http://schemas.microsoft.com/office/drawing/2014/main" id="{1FA9AF91-7BBD-B677-34B0-49A8A834481B}"/>
              </a:ext>
            </a:extLst>
          </p:cNvPr>
          <p:cNvSpPr txBox="1"/>
          <p:nvPr/>
        </p:nvSpPr>
        <p:spPr>
          <a:xfrm>
            <a:off x="9392949" y="2234093"/>
            <a:ext cx="2407971" cy="2807208"/>
          </a:xfrm>
          <a:prstGeom prst="rect">
            <a:avLst/>
          </a:prstGeom>
          <a:noFill/>
          <a:ln w="25400">
            <a:solidFill>
              <a:srgbClr val="0057AF"/>
            </a:solidFill>
          </a:ln>
        </p:spPr>
        <p:txBody>
          <a:bodyPr wrap="square" lIns="91440" tIns="91440" rIns="91440" bIns="9144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65760" marR="0" lvl="0" indent="0" algn="l" defTabSz="457200" rtl="0" eaLnBrk="1" fontAlgn="auto" latinLnBrk="0" hangingPunct="1">
              <a:lnSpc>
                <a:spcPct val="90000"/>
              </a:lnSpc>
              <a:spcBef>
                <a:spcPts val="0"/>
              </a:spcBef>
              <a:spcAft>
                <a:spcPts val="600"/>
              </a:spcAft>
              <a:buClrTx/>
              <a:buSzTx/>
              <a:buFontTx/>
              <a:buNone/>
              <a:tabLst/>
              <a:defRPr/>
            </a:pPr>
            <a:r>
              <a:rPr kumimoji="0" lang="en-US" sz="1100" b="1" i="0" u="none" strike="noStrike" kern="1200" cap="none" spc="0" normalizeH="0" baseline="0" noProof="0" dirty="0">
                <a:ln>
                  <a:noFill/>
                </a:ln>
                <a:solidFill>
                  <a:prstClr val="black"/>
                </a:solidFill>
                <a:effectLst/>
                <a:uLnTx/>
                <a:uFillTx/>
                <a:ea typeface="+mn-ea"/>
                <a:cs typeface="+mn-cs"/>
              </a:rPr>
              <a:t>Augment:</a:t>
            </a:r>
            <a:r>
              <a:rPr kumimoji="0" lang="en-US" sz="1100" b="0" i="0" u="none" strike="noStrike" kern="1200" cap="none" spc="0" normalizeH="0" baseline="0" noProof="0" dirty="0">
                <a:ln>
                  <a:noFill/>
                </a:ln>
                <a:solidFill>
                  <a:prstClr val="black"/>
                </a:solidFill>
                <a:effectLst/>
                <a:uLnTx/>
                <a:uFillTx/>
                <a:ea typeface="+mn-ea"/>
                <a:cs typeface="+mn-cs"/>
              </a:rPr>
              <a:t> People do the </a:t>
            </a:r>
            <a:r>
              <a:rPr kumimoji="0" lang="en-US" sz="1100" b="1" i="0" u="none" strike="noStrike" kern="1200" cap="none" spc="0" normalizeH="0" baseline="0" noProof="0" dirty="0">
                <a:ln>
                  <a:noFill/>
                </a:ln>
                <a:solidFill>
                  <a:prstClr val="black"/>
                </a:solidFill>
                <a:effectLst/>
                <a:uLnTx/>
                <a:uFillTx/>
                <a:ea typeface="+mn-ea"/>
                <a:cs typeface="+mn-cs"/>
              </a:rPr>
              <a:t>work with technology/AI</a:t>
            </a:r>
            <a:r>
              <a:rPr kumimoji="0" lang="en-US" sz="1100" b="0" i="0" u="none" strike="noStrike" kern="1200" cap="none" spc="0" normalizeH="0" baseline="0" noProof="0" dirty="0">
                <a:ln>
                  <a:noFill/>
                </a:ln>
                <a:solidFill>
                  <a:prstClr val="black"/>
                </a:solidFill>
                <a:effectLst/>
                <a:uLnTx/>
                <a:uFillTx/>
                <a:ea typeface="+mn-ea"/>
                <a:cs typeface="+mn-cs"/>
              </a:rPr>
              <a:t> </a:t>
            </a:r>
            <a:br>
              <a:rPr kumimoji="0" lang="en-US" sz="1100" b="0" i="0" u="none" strike="noStrike" kern="1200" cap="none" spc="0" normalizeH="0" baseline="0" noProof="0" dirty="0">
                <a:ln>
                  <a:noFill/>
                </a:ln>
                <a:solidFill>
                  <a:prstClr val="black"/>
                </a:solidFill>
                <a:effectLst/>
                <a:uLnTx/>
                <a:uFillTx/>
                <a:ea typeface="+mn-ea"/>
                <a:cs typeface="+mn-cs"/>
              </a:rPr>
            </a:br>
            <a:r>
              <a:rPr kumimoji="0" lang="en-US" sz="1100" b="0" i="0" u="none" strike="noStrike" kern="1200" cap="none" spc="0" normalizeH="0" baseline="0" noProof="0" dirty="0">
                <a:ln>
                  <a:noFill/>
                </a:ln>
                <a:solidFill>
                  <a:prstClr val="black"/>
                </a:solidFill>
                <a:effectLst/>
                <a:uLnTx/>
                <a:uFillTx/>
                <a:ea typeface="+mn-ea"/>
                <a:cs typeface="+mn-cs"/>
              </a:rPr>
              <a:t>to enhance judgment, speed, creativity.</a:t>
            </a:r>
          </a:p>
          <a:p>
            <a:pPr marL="0" marR="0" lvl="0" indent="0" algn="l" defTabSz="457200" rtl="0" eaLnBrk="1" fontAlgn="auto" latinLnBrk="0" hangingPunct="1">
              <a:lnSpc>
                <a:spcPct val="90000"/>
              </a:lnSpc>
              <a:spcBef>
                <a:spcPts val="0"/>
              </a:spcBef>
              <a:spcAft>
                <a:spcPts val="1600"/>
              </a:spcAft>
              <a:buClrTx/>
              <a:buSzTx/>
              <a:buFontTx/>
              <a:buNone/>
              <a:tabLst/>
              <a:defRPr/>
            </a:pPr>
            <a:r>
              <a:rPr kumimoji="0" lang="en-US" sz="1100" b="1" i="0" u="none" strike="noStrike" kern="1200" cap="none" spc="0" normalizeH="0" baseline="0" noProof="0" dirty="0">
                <a:ln>
                  <a:noFill/>
                </a:ln>
                <a:solidFill>
                  <a:prstClr val="black"/>
                </a:solidFill>
                <a:effectLst/>
                <a:uLnTx/>
                <a:uFillTx/>
                <a:ea typeface="+mn-ea"/>
                <a:cs typeface="+mn-cs"/>
              </a:rPr>
              <a:t>Examples: </a:t>
            </a:r>
            <a:r>
              <a:rPr kumimoji="0" lang="en-US" sz="1100" b="0" i="0" u="none" strike="noStrike" kern="1200" cap="none" spc="0" normalizeH="0" baseline="0" noProof="0" dirty="0">
                <a:ln>
                  <a:noFill/>
                </a:ln>
                <a:solidFill>
                  <a:prstClr val="black"/>
                </a:solidFill>
                <a:effectLst/>
                <a:uLnTx/>
                <a:uFillTx/>
                <a:ea typeface="+mn-ea"/>
                <a:cs typeface="+mn-cs"/>
              </a:rPr>
              <a:t>Generative AI, predictive analytics, decision support systems, collaboration platforms, AI-assisted design.</a:t>
            </a:r>
          </a:p>
          <a:p>
            <a:pPr marL="365760" marR="0" lvl="0" indent="0" algn="l" defTabSz="457200" rtl="0" eaLnBrk="1" fontAlgn="auto" latinLnBrk="0" hangingPunct="1">
              <a:lnSpc>
                <a:spcPct val="90000"/>
              </a:lnSpc>
              <a:spcBef>
                <a:spcPts val="0"/>
              </a:spcBef>
              <a:spcAft>
                <a:spcPts val="600"/>
              </a:spcAft>
              <a:buClrTx/>
              <a:buSzTx/>
              <a:buFontTx/>
              <a:buNone/>
              <a:tabLst/>
              <a:defRPr/>
            </a:pPr>
            <a:r>
              <a:rPr kumimoji="0" lang="en-US" sz="1100" b="1" i="0" u="none" strike="noStrike" kern="1200" cap="none" spc="0" normalizeH="0" baseline="0" noProof="0" dirty="0">
                <a:ln>
                  <a:noFill/>
                </a:ln>
                <a:solidFill>
                  <a:prstClr val="black"/>
                </a:solidFill>
                <a:effectLst/>
                <a:uLnTx/>
                <a:uFillTx/>
                <a:ea typeface="+mn-ea"/>
                <a:cs typeface="+mn-cs"/>
              </a:rPr>
              <a:t>Automate:</a:t>
            </a:r>
            <a:r>
              <a:rPr kumimoji="0" lang="en-US" sz="1100" b="0" i="0" u="none" strike="noStrike" kern="1200" cap="none" spc="0" normalizeH="0" baseline="0" noProof="0" dirty="0">
                <a:ln>
                  <a:noFill/>
                </a:ln>
                <a:solidFill>
                  <a:prstClr val="black"/>
                </a:solidFill>
                <a:effectLst/>
                <a:uLnTx/>
                <a:uFillTx/>
                <a:ea typeface="+mn-ea"/>
                <a:cs typeface="+mn-cs"/>
              </a:rPr>
              <a:t> Technology performs routine or rule-based tasks independently.</a:t>
            </a:r>
          </a:p>
          <a:p>
            <a:pPr marL="0" marR="0" lvl="0" indent="0" algn="l" defTabSz="457200" rtl="0" eaLnBrk="1" fontAlgn="auto" latinLnBrk="0" hangingPunct="1">
              <a:lnSpc>
                <a:spcPct val="90000"/>
              </a:lnSpc>
              <a:spcBef>
                <a:spcPts val="0"/>
              </a:spcBef>
              <a:spcAft>
                <a:spcPts val="600"/>
              </a:spcAft>
              <a:buClrTx/>
              <a:buSzTx/>
              <a:buFontTx/>
              <a:buNone/>
              <a:tabLst/>
              <a:defRPr/>
            </a:pPr>
            <a:r>
              <a:rPr kumimoji="0" lang="en-US" sz="1100" b="1" i="0" u="none" strike="noStrike" kern="1200" cap="none" spc="0" normalizeH="0" baseline="0" noProof="0" dirty="0">
                <a:ln>
                  <a:noFill/>
                </a:ln>
                <a:solidFill>
                  <a:prstClr val="black"/>
                </a:solidFill>
                <a:effectLst/>
                <a:uLnTx/>
                <a:uFillTx/>
                <a:ea typeface="+mn-ea"/>
                <a:cs typeface="+mn-cs"/>
              </a:rPr>
              <a:t>Examples: </a:t>
            </a:r>
            <a:r>
              <a:rPr kumimoji="0" lang="en-US" sz="1100" b="0" i="0" u="none" strike="noStrike" kern="1200" cap="none" spc="0" normalizeH="0" baseline="0" noProof="0" dirty="0">
                <a:ln>
                  <a:noFill/>
                </a:ln>
                <a:solidFill>
                  <a:prstClr val="black"/>
                </a:solidFill>
                <a:effectLst/>
                <a:uLnTx/>
                <a:uFillTx/>
                <a:ea typeface="+mn-ea"/>
                <a:cs typeface="+mn-cs"/>
              </a:rPr>
              <a:t>Workflow automation, Robotic process automation (RPA, AI agents for customer interactions, self-service HR/IT.</a:t>
            </a:r>
          </a:p>
        </p:txBody>
      </p:sp>
      <p:graphicFrame>
        <p:nvGraphicFramePr>
          <p:cNvPr id="5" name="Google Shape;992;p35">
            <a:extLst>
              <a:ext uri="{FF2B5EF4-FFF2-40B4-BE49-F238E27FC236}">
                <a16:creationId xmlns:a16="http://schemas.microsoft.com/office/drawing/2014/main" id="{EDE91AAF-64FF-BB3C-F37E-D399D5BA5DDA}"/>
              </a:ext>
            </a:extLst>
          </p:cNvPr>
          <p:cNvGraphicFramePr/>
          <p:nvPr>
            <p:extLst>
              <p:ext uri="{D42A27DB-BD31-4B8C-83A1-F6EECF244321}">
                <p14:modId xmlns:p14="http://schemas.microsoft.com/office/powerpoint/2010/main" val="2813094194"/>
              </p:ext>
            </p:extLst>
          </p:nvPr>
        </p:nvGraphicFramePr>
        <p:xfrm>
          <a:off x="1310729" y="2234093"/>
          <a:ext cx="7902130" cy="2810300"/>
        </p:xfrm>
        <a:graphic>
          <a:graphicData uri="http://schemas.openxmlformats.org/drawingml/2006/table">
            <a:tbl>
              <a:tblPr firstRow="1" bandRow="1">
                <a:noFill/>
              </a:tblPr>
              <a:tblGrid>
                <a:gridCol w="3820947">
                  <a:extLst>
                    <a:ext uri="{9D8B030D-6E8A-4147-A177-3AD203B41FA5}">
                      <a16:colId xmlns:a16="http://schemas.microsoft.com/office/drawing/2014/main" val="20000"/>
                    </a:ext>
                  </a:extLst>
                </a:gridCol>
                <a:gridCol w="4081183">
                  <a:extLst>
                    <a:ext uri="{9D8B030D-6E8A-4147-A177-3AD203B41FA5}">
                      <a16:colId xmlns:a16="http://schemas.microsoft.com/office/drawing/2014/main" val="20001"/>
                    </a:ext>
                  </a:extLst>
                </a:gridCol>
              </a:tblGrid>
              <a:tr h="2796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Gartner Sans" panose="020B0504030402040204" pitchFamily="34" charset="0"/>
                          <a:ea typeface="+mn-ea"/>
                          <a:cs typeface="+mn-cs"/>
                        </a:rPr>
                        <a:t>Nonstrategic impact</a:t>
                      </a:r>
                    </a:p>
                  </a:txBody>
                  <a:tcPr marL="109728" marR="109728" marT="64008" marB="64008" anchor="ctr">
                    <a:lnL w="12700" cap="flat" cmpd="sng" algn="ctr">
                      <a:solidFill>
                        <a:srgbClr val="6F7878"/>
                      </a:solidFill>
                      <a:prstDash val="solid"/>
                      <a:round/>
                      <a:headEnd type="none" w="med" len="med"/>
                      <a:tailEnd type="none" w="med" len="med"/>
                    </a:lnL>
                    <a:lnR w="6350" cap="flat" cmpd="sng" algn="ctr">
                      <a:solidFill>
                        <a:srgbClr val="6F7878"/>
                      </a:solidFill>
                      <a:prstDash val="solid"/>
                      <a:round/>
                      <a:headEnd type="none" w="med" len="med"/>
                      <a:tailEnd type="none" w="med" len="med"/>
                    </a:lnR>
                    <a:lnT w="12700" cap="flat" cmpd="sng" algn="ctr">
                      <a:solidFill>
                        <a:srgbClr val="6F787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979D9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Gartner Sans" panose="020B0504030402040204" pitchFamily="34" charset="0"/>
                          <a:ea typeface="+mn-ea"/>
                          <a:cs typeface="+mn-cs"/>
                        </a:rPr>
                        <a:t>Strategic impact</a:t>
                      </a:r>
                    </a:p>
                  </a:txBody>
                  <a:tcPr marL="109728" marR="109728" marT="64008" marB="64008" anchor="ctr">
                    <a:lnL w="6350" cap="flat" cmpd="sng" algn="ctr">
                      <a:solidFill>
                        <a:srgbClr val="6F7878"/>
                      </a:solidFill>
                      <a:prstDash val="solid"/>
                      <a:round/>
                      <a:headEnd type="none" w="med" len="med"/>
                      <a:tailEnd type="none" w="med" len="med"/>
                    </a:lnL>
                    <a:lnR w="12700" cap="flat" cmpd="sng" algn="ctr">
                      <a:solidFill>
                        <a:srgbClr val="6F7878"/>
                      </a:solidFill>
                      <a:prstDash val="solid"/>
                      <a:round/>
                      <a:headEnd type="none" w="med" len="med"/>
                      <a:tailEnd type="none" w="med" len="med"/>
                    </a:lnR>
                    <a:lnT w="12700" cap="flat" cmpd="sng" algn="ctr">
                      <a:solidFill>
                        <a:srgbClr val="6F787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222412752"/>
                  </a:ext>
                </a:extLst>
              </a:tr>
              <a:tr h="279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rgbClr val="000000"/>
                          </a:solidFill>
                        </a:rPr>
                        <a:t>Noncore capabilities/high complexity</a:t>
                      </a:r>
                    </a:p>
                  </a:txBody>
                  <a:tcPr marL="109728" marR="109728" marT="64008" marB="64008" anchor="ctr">
                    <a:lnL w="12700" cap="flat" cmpd="sng" algn="ctr">
                      <a:solidFill>
                        <a:srgbClr val="6F7878"/>
                      </a:solidFill>
                      <a:prstDash val="solid"/>
                      <a:round/>
                      <a:headEnd type="none" w="med" len="med"/>
                      <a:tailEnd type="none" w="med" len="med"/>
                    </a:lnL>
                    <a:lnR w="6350" cap="flat" cmpd="sng" algn="ctr">
                      <a:solidFill>
                        <a:srgbClr val="6F7878"/>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8DEFF"/>
                    </a:solidFill>
                  </a:tcPr>
                </a:tc>
                <a:tc>
                  <a:txBody>
                    <a:bodyPr/>
                    <a:lstStyle/>
                    <a:p>
                      <a:pPr marL="0" marR="0" lvl="0" indent="0" algn="l" rtl="0">
                        <a:spcBef>
                          <a:spcPts val="0"/>
                        </a:spcBef>
                        <a:spcAft>
                          <a:spcPts val="0"/>
                        </a:spcAft>
                        <a:buNone/>
                      </a:pPr>
                      <a:r>
                        <a:rPr lang="en-US" sz="1100" b="1">
                          <a:solidFill>
                            <a:schemeClr val="bg1"/>
                          </a:solidFill>
                        </a:rPr>
                        <a:t>Differentiating capabilities/high complexity</a:t>
                      </a:r>
                    </a:p>
                  </a:txBody>
                  <a:tcPr marL="109728" marR="109728" marT="64008" marB="64008" anchor="ctr">
                    <a:lnL w="6350" cap="flat" cmpd="sng" algn="ctr">
                      <a:solidFill>
                        <a:srgbClr val="6F7878"/>
                      </a:solidFill>
                      <a:prstDash val="solid"/>
                      <a:round/>
                      <a:headEnd type="none" w="med" len="med"/>
                      <a:tailEnd type="none" w="med" len="med"/>
                    </a:lnL>
                    <a:lnR w="12700" cap="flat" cmpd="sng" algn="ctr">
                      <a:solidFill>
                        <a:srgbClr val="6F7878"/>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2869"/>
                    </a:solidFill>
                  </a:tcPr>
                </a:tc>
                <a:extLst>
                  <a:ext uri="{0D108BD9-81ED-4DB2-BD59-A6C34878D82A}">
                    <a16:rowId xmlns:a16="http://schemas.microsoft.com/office/drawing/2014/main" val="10000"/>
                  </a:ext>
                </a:extLst>
              </a:tr>
              <a:tr h="1008932">
                <a:tc>
                  <a:txBody>
                    <a:bodyPr/>
                    <a:lstStyle/>
                    <a:p>
                      <a:pPr marL="169863" marR="0" lvl="0" indent="0" algn="l" rtl="0">
                        <a:spcBef>
                          <a:spcPts val="600"/>
                        </a:spcBef>
                        <a:spcAft>
                          <a:spcPts val="600"/>
                        </a:spcAft>
                        <a:buNone/>
                      </a:pPr>
                      <a:r>
                        <a:rPr lang="en-US" sz="1100" b="1" dirty="0">
                          <a:solidFill>
                            <a:srgbClr val="000000"/>
                          </a:solidFill>
                        </a:rPr>
                        <a:t>Automate/augment </a:t>
                      </a:r>
                      <a:r>
                        <a:rPr lang="en-US" sz="1100" b="0" dirty="0">
                          <a:solidFill>
                            <a:srgbClr val="000000"/>
                          </a:solidFill>
                        </a:rPr>
                        <a:t>repetitive tasks in complex workflows (e.g., legacy IT troubleshooting).</a:t>
                      </a:r>
                    </a:p>
                    <a:p>
                      <a:pPr marL="457200" marR="0" lvl="0" indent="-287338" algn="l" rtl="0">
                        <a:spcBef>
                          <a:spcPts val="600"/>
                        </a:spcBef>
                        <a:spcAft>
                          <a:spcPts val="600"/>
                        </a:spcAft>
                        <a:buNone/>
                      </a:pPr>
                      <a:r>
                        <a:rPr lang="en-US" sz="1100" b="0" i="1" dirty="0">
                          <a:solidFill>
                            <a:srgbClr val="000000"/>
                          </a:solidFill>
                        </a:rPr>
                        <a:t>ROI cue: If justified, considering low strategic impact</a:t>
                      </a:r>
                    </a:p>
                  </a:txBody>
                  <a:tcPr marL="109728" marR="109728" marT="64008" marB="64008">
                    <a:lnL w="12700" cap="flat" cmpd="sng" algn="ctr">
                      <a:solidFill>
                        <a:srgbClr val="6F7878"/>
                      </a:solidFill>
                      <a:prstDash val="solid"/>
                      <a:round/>
                      <a:headEnd type="none" w="med" len="med"/>
                      <a:tailEnd type="none" w="med" len="med"/>
                    </a:lnL>
                    <a:lnR w="635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457200" marR="0" lvl="0" indent="-339725" algn="l" rtl="0">
                        <a:lnSpc>
                          <a:spcPct val="100000"/>
                        </a:lnSpc>
                        <a:spcBef>
                          <a:spcPts val="0"/>
                        </a:spcBef>
                        <a:spcAft>
                          <a:spcPts val="0"/>
                        </a:spcAft>
                        <a:buNone/>
                      </a:pPr>
                      <a:r>
                        <a:rPr lang="en-US" sz="1100" b="1" dirty="0"/>
                        <a:t>Automate/augment with AI: </a:t>
                      </a:r>
                      <a:r>
                        <a:rPr lang="en-US" sz="1100" b="0" dirty="0"/>
                        <a:t>E</a:t>
                      </a:r>
                      <a:r>
                        <a:rPr lang="en-US" sz="1100" b="0" dirty="0">
                          <a:solidFill>
                            <a:srgbClr val="000000"/>
                          </a:solidFill>
                        </a:rPr>
                        <a:t>xtend human capacity in</a:t>
                      </a:r>
                    </a:p>
                    <a:p>
                      <a:pPr marL="457200" marR="0" lvl="0" indent="-339725" algn="l" rtl="0">
                        <a:lnSpc>
                          <a:spcPct val="100000"/>
                        </a:lnSpc>
                        <a:spcBef>
                          <a:spcPts val="0"/>
                        </a:spcBef>
                        <a:spcAft>
                          <a:spcPts val="0"/>
                        </a:spcAft>
                        <a:buNone/>
                      </a:pPr>
                      <a:r>
                        <a:rPr lang="en-US" sz="1100" b="0" dirty="0">
                          <a:solidFill>
                            <a:srgbClr val="000000"/>
                          </a:solidFill>
                        </a:rPr>
                        <a:t>complex workflows (e.g., autonomous vehicle algorithms,</a:t>
                      </a:r>
                    </a:p>
                    <a:p>
                      <a:pPr marL="457200" marR="0" lvl="0" indent="-339725" algn="l" rtl="0">
                        <a:lnSpc>
                          <a:spcPct val="100000"/>
                        </a:lnSpc>
                        <a:spcBef>
                          <a:spcPts val="0"/>
                        </a:spcBef>
                        <a:spcAft>
                          <a:spcPts val="0"/>
                        </a:spcAft>
                        <a:buNone/>
                      </a:pPr>
                      <a:r>
                        <a:rPr lang="en-US" sz="1100" b="0" dirty="0">
                          <a:solidFill>
                            <a:srgbClr val="000000"/>
                          </a:solidFill>
                        </a:rPr>
                        <a:t>genomic data analysis).</a:t>
                      </a:r>
                      <a:endParaRPr lang="en-US" sz="1100" b="0" i="0" dirty="0">
                        <a:solidFill>
                          <a:srgbClr val="000000"/>
                        </a:solidFill>
                      </a:endParaRPr>
                    </a:p>
                    <a:p>
                      <a:pPr marL="457200" marR="0" lvl="0" indent="-339725" algn="l" rtl="0">
                        <a:lnSpc>
                          <a:spcPct val="100000"/>
                        </a:lnSpc>
                        <a:spcBef>
                          <a:spcPts val="0"/>
                        </a:spcBef>
                        <a:spcAft>
                          <a:spcPts val="0"/>
                        </a:spcAft>
                        <a:buNone/>
                      </a:pPr>
                      <a:endParaRPr lang="en-US" sz="1100" b="0" i="0" dirty="0">
                        <a:solidFill>
                          <a:srgbClr val="000000"/>
                        </a:solidFill>
                      </a:endParaRPr>
                    </a:p>
                    <a:p>
                      <a:pPr marL="457200" marR="0" lvl="0" indent="-339725" algn="l" rtl="0">
                        <a:lnSpc>
                          <a:spcPct val="100000"/>
                        </a:lnSpc>
                        <a:spcBef>
                          <a:spcPts val="0"/>
                        </a:spcBef>
                        <a:spcAft>
                          <a:spcPts val="0"/>
                        </a:spcAft>
                        <a:buNone/>
                      </a:pPr>
                      <a:r>
                        <a:rPr lang="en-US" sz="1100" b="0" i="1" dirty="0">
                          <a:solidFill>
                            <a:srgbClr val="000000"/>
                          </a:solidFill>
                        </a:rPr>
                        <a:t>Apply selectively, manage risks</a:t>
                      </a:r>
                    </a:p>
                  </a:txBody>
                  <a:tcPr marL="109728" marR="109728" marT="64008" marB="64008">
                    <a:lnL w="6350" cap="flat" cmpd="sng" algn="ctr">
                      <a:solidFill>
                        <a:srgbClr val="6F7878"/>
                      </a:solidFill>
                      <a:prstDash val="solid"/>
                      <a:round/>
                      <a:headEnd type="none" w="med" len="med"/>
                      <a:tailEnd type="none" w="med" len="med"/>
                    </a:lnL>
                    <a:lnR w="1270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10001"/>
                  </a:ext>
                </a:extLst>
              </a:tr>
              <a:tr h="279677">
                <a:tc>
                  <a:txBody>
                    <a:bodyPr/>
                    <a:lstStyle/>
                    <a:p>
                      <a:pPr marL="0" marR="0" lvl="0" indent="0" algn="l" rtl="0">
                        <a:spcBef>
                          <a:spcPts val="0"/>
                        </a:spcBef>
                        <a:spcAft>
                          <a:spcPts val="0"/>
                        </a:spcAft>
                        <a:buNone/>
                      </a:pPr>
                      <a:r>
                        <a:rPr lang="en-US" sz="1100" b="1">
                          <a:solidFill>
                            <a:srgbClr val="000000"/>
                          </a:solidFill>
                        </a:rPr>
                        <a:t>Requisite capabilities/low complexity</a:t>
                      </a:r>
                    </a:p>
                  </a:txBody>
                  <a:tcPr marL="109728" marR="109728" marT="64008" marB="64008" anchor="ctr">
                    <a:lnL w="12700" cap="flat" cmpd="sng" algn="ctr">
                      <a:solidFill>
                        <a:srgbClr val="6F7878"/>
                      </a:solidFill>
                      <a:prstDash val="solid"/>
                      <a:round/>
                      <a:headEnd type="none" w="med" len="med"/>
                      <a:tailEnd type="none" w="med" len="med"/>
                    </a:lnL>
                    <a:lnR w="635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8DEFF"/>
                    </a:solidFill>
                  </a:tcPr>
                </a:tc>
                <a:tc>
                  <a:txBody>
                    <a:bodyPr/>
                    <a:lstStyle/>
                    <a:p>
                      <a:pPr marL="0" marR="0" lvl="0" indent="0" algn="l" rtl="0">
                        <a:spcBef>
                          <a:spcPts val="0"/>
                        </a:spcBef>
                        <a:spcAft>
                          <a:spcPts val="0"/>
                        </a:spcAft>
                        <a:buNone/>
                      </a:pPr>
                      <a:r>
                        <a:rPr lang="en-US" sz="1100" b="1" dirty="0">
                          <a:solidFill>
                            <a:schemeClr val="bg1"/>
                          </a:solidFill>
                        </a:rPr>
                        <a:t>Core capabilities/ow complexity</a:t>
                      </a:r>
                    </a:p>
                  </a:txBody>
                  <a:tcPr marL="109728" marR="109728" marT="64008" marB="64008" anchor="ctr">
                    <a:lnL w="6350" cap="flat" cmpd="sng" algn="ctr">
                      <a:solidFill>
                        <a:srgbClr val="6F7878"/>
                      </a:solidFill>
                      <a:prstDash val="solid"/>
                      <a:round/>
                      <a:headEnd type="none" w="med" len="med"/>
                      <a:tailEnd type="none" w="med" len="med"/>
                    </a:lnL>
                    <a:lnR w="1270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2869"/>
                    </a:solidFill>
                  </a:tcPr>
                </a:tc>
                <a:extLst>
                  <a:ext uri="{0D108BD9-81ED-4DB2-BD59-A6C34878D82A}">
                    <a16:rowId xmlns:a16="http://schemas.microsoft.com/office/drawing/2014/main" val="10002"/>
                  </a:ext>
                </a:extLst>
              </a:tr>
              <a:tr h="914400">
                <a:tc>
                  <a:txBody>
                    <a:bodyPr/>
                    <a:lstStyle/>
                    <a:p>
                      <a:pPr marL="173038" marR="0" lvl="0" indent="-3175" algn="l" rtl="0">
                        <a:lnSpc>
                          <a:spcPct val="100000"/>
                        </a:lnSpc>
                        <a:spcBef>
                          <a:spcPts val="1200"/>
                        </a:spcBef>
                        <a:spcAft>
                          <a:spcPts val="800"/>
                        </a:spcAft>
                        <a:buNone/>
                      </a:pPr>
                      <a:r>
                        <a:rPr lang="en-US" sz="1100" b="1" dirty="0">
                          <a:solidFill>
                            <a:srgbClr val="000000"/>
                          </a:solidFill>
                        </a:rPr>
                        <a:t>Automate </a:t>
                      </a:r>
                      <a:r>
                        <a:rPr lang="en-US" sz="1100" b="0" dirty="0">
                          <a:solidFill>
                            <a:srgbClr val="000000"/>
                          </a:solidFill>
                        </a:rPr>
                        <a:t>fully repetitive tasks (e.g., payroll, expense auditing, mfg. conveyors)</a:t>
                      </a:r>
                    </a:p>
                    <a:p>
                      <a:pPr marL="173038" marR="0" lvl="0" indent="-3175" algn="l" rtl="0">
                        <a:lnSpc>
                          <a:spcPct val="100000"/>
                        </a:lnSpc>
                        <a:spcBef>
                          <a:spcPts val="1200"/>
                        </a:spcBef>
                        <a:spcAft>
                          <a:spcPts val="800"/>
                        </a:spcAft>
                        <a:buNone/>
                      </a:pPr>
                      <a:r>
                        <a:rPr lang="en-US" sz="1100" b="0" i="1" dirty="0">
                          <a:solidFill>
                            <a:srgbClr val="000000"/>
                          </a:solidFill>
                        </a:rPr>
                        <a:t>ROI cue: When positive for cost efficiency/scalability</a:t>
                      </a:r>
                    </a:p>
                  </a:txBody>
                  <a:tcPr marL="109728" marR="109728" marT="64008" marB="64008">
                    <a:lnL w="12700" cap="flat" cmpd="sng" algn="ctr">
                      <a:solidFill>
                        <a:srgbClr val="6F7878"/>
                      </a:solidFill>
                      <a:prstDash val="solid"/>
                      <a:round/>
                      <a:headEnd type="none" w="med" len="med"/>
                      <a:tailEnd type="none" w="med" len="med"/>
                    </a:lnL>
                    <a:lnR w="635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6F787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457200" marR="0" lvl="0" indent="-344488" algn="l" rtl="0">
                        <a:spcBef>
                          <a:spcPts val="600"/>
                        </a:spcBef>
                        <a:spcAft>
                          <a:spcPts val="600"/>
                        </a:spcAft>
                        <a:buNone/>
                      </a:pPr>
                      <a:r>
                        <a:rPr lang="en-US" sz="1100" b="1" dirty="0">
                          <a:solidFill>
                            <a:srgbClr val="000000"/>
                          </a:solidFill>
                        </a:rPr>
                        <a:t>Automate </a:t>
                      </a:r>
                      <a:r>
                        <a:rPr lang="en-US" sz="1100" b="0" dirty="0">
                          <a:solidFill>
                            <a:srgbClr val="000000"/>
                          </a:solidFill>
                        </a:rPr>
                        <a:t>rule-based tasks (e.g., mfg. line quality checks).</a:t>
                      </a:r>
                    </a:p>
                    <a:p>
                      <a:pPr marL="457200" marR="0" lvl="0" indent="-344488" algn="l" rtl="0">
                        <a:spcBef>
                          <a:spcPts val="600"/>
                        </a:spcBef>
                        <a:spcAft>
                          <a:spcPts val="600"/>
                        </a:spcAft>
                        <a:buNone/>
                      </a:pPr>
                      <a:r>
                        <a:rPr lang="en-US" sz="1100" b="1" dirty="0">
                          <a:solidFill>
                            <a:srgbClr val="000000"/>
                          </a:solidFill>
                        </a:rPr>
                        <a:t>Augment </a:t>
                      </a:r>
                      <a:r>
                        <a:rPr lang="en-US" sz="1100" b="0" dirty="0">
                          <a:solidFill>
                            <a:srgbClr val="000000"/>
                          </a:solidFill>
                        </a:rPr>
                        <a:t>knowledge work </a:t>
                      </a:r>
                      <a:r>
                        <a:rPr lang="en-US" sz="1100" b="0" dirty="0"/>
                        <a:t>(judgment + AI assist)</a:t>
                      </a:r>
                      <a:r>
                        <a:rPr lang="en-US" sz="1100" b="0" dirty="0">
                          <a:solidFill>
                            <a:schemeClr val="tx1"/>
                          </a:solidFill>
                        </a:rPr>
                        <a:t> </a:t>
                      </a:r>
                      <a:r>
                        <a:rPr lang="en-US" sz="1100" b="0" dirty="0">
                          <a:solidFill>
                            <a:srgbClr val="000000"/>
                          </a:solidFill>
                        </a:rPr>
                        <a:t>e.g., regulatory compliance reporting.</a:t>
                      </a:r>
                    </a:p>
                  </a:txBody>
                  <a:tcPr marL="109728" marR="109728" marT="64008" marB="64008">
                    <a:lnL w="6350" cap="flat" cmpd="sng" algn="ctr">
                      <a:solidFill>
                        <a:srgbClr val="6F7878"/>
                      </a:solidFill>
                      <a:prstDash val="solid"/>
                      <a:round/>
                      <a:headEnd type="none" w="med" len="med"/>
                      <a:tailEnd type="none" w="med" len="med"/>
                    </a:lnL>
                    <a:lnR w="12700" cap="flat" cmpd="sng" algn="ctr">
                      <a:solidFill>
                        <a:srgbClr val="6F7878"/>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6F7878"/>
                      </a:solidFill>
                      <a:prstDash val="solid"/>
                      <a:round/>
                      <a:headEnd type="none" w="med" len="med"/>
                      <a:tailEnd type="none" w="med" len="med"/>
                    </a:lnB>
                    <a:lnTlToBr w="12700" cmpd="sng">
                      <a:noFill/>
                      <a:prstDash val="solid"/>
                    </a:lnTlToBr>
                    <a:lnBlToTr w="12700" cmpd="sng">
                      <a:noFill/>
                      <a:prstDash val="solid"/>
                    </a:lnBlToTr>
                    <a:solidFill>
                      <a:schemeClr val="bg2">
                        <a:lumMod val="95000"/>
                      </a:schemeClr>
                    </a:solidFill>
                  </a:tcPr>
                </a:tc>
                <a:extLst>
                  <a:ext uri="{0D108BD9-81ED-4DB2-BD59-A6C34878D82A}">
                    <a16:rowId xmlns:a16="http://schemas.microsoft.com/office/drawing/2014/main" val="10003"/>
                  </a:ext>
                </a:extLst>
              </a:tr>
            </a:tbl>
          </a:graphicData>
        </a:graphic>
      </p:graphicFrame>
      <p:cxnSp>
        <p:nvCxnSpPr>
          <p:cNvPr id="19" name="Straight Arrow Connector 18">
            <a:extLst>
              <a:ext uri="{FF2B5EF4-FFF2-40B4-BE49-F238E27FC236}">
                <a16:creationId xmlns:a16="http://schemas.microsoft.com/office/drawing/2014/main" id="{7B3F2B2B-7DF0-0390-5034-19A1E36CE772}"/>
              </a:ext>
            </a:extLst>
          </p:cNvPr>
          <p:cNvCxnSpPr>
            <a:cxnSpLocks/>
          </p:cNvCxnSpPr>
          <p:nvPr/>
        </p:nvCxnSpPr>
        <p:spPr>
          <a:xfrm>
            <a:off x="1157638" y="5100056"/>
            <a:ext cx="8141686" cy="0"/>
          </a:xfrm>
          <a:prstGeom prst="straightConnector1">
            <a:avLst/>
          </a:prstGeom>
          <a:noFill/>
          <a:ln w="19050" cap="flat" cmpd="sng">
            <a:solidFill>
              <a:srgbClr val="5A798C"/>
            </a:solidFill>
            <a:prstDash val="solid"/>
            <a:round/>
            <a:headEnd type="none" w="lg" len="med"/>
            <a:tailEnd type="triangle" w="lg" len="med"/>
          </a:ln>
        </p:spPr>
      </p:cxnSp>
      <p:sp>
        <p:nvSpPr>
          <p:cNvPr id="24" name="TextBox 23">
            <a:extLst>
              <a:ext uri="{FF2B5EF4-FFF2-40B4-BE49-F238E27FC236}">
                <a16:creationId xmlns:a16="http://schemas.microsoft.com/office/drawing/2014/main" id="{DEB6E097-35F7-3ABD-36E2-FCAF733EF0E3}"/>
              </a:ext>
            </a:extLst>
          </p:cNvPr>
          <p:cNvSpPr txBox="1"/>
          <p:nvPr/>
        </p:nvSpPr>
        <p:spPr>
          <a:xfrm>
            <a:off x="272568" y="3521065"/>
            <a:ext cx="869266" cy="707886"/>
          </a:xfrm>
          <a:prstGeom prst="rect">
            <a:avLst/>
          </a:prstGeom>
          <a:noFill/>
        </p:spPr>
        <p:txBody>
          <a:bodyPr wrap="square" rIns="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Task complexity/knowledge density </a:t>
            </a:r>
          </a:p>
        </p:txBody>
      </p:sp>
      <p:cxnSp>
        <p:nvCxnSpPr>
          <p:cNvPr id="25" name="Straight Arrow Connector 24">
            <a:extLst>
              <a:ext uri="{FF2B5EF4-FFF2-40B4-BE49-F238E27FC236}">
                <a16:creationId xmlns:a16="http://schemas.microsoft.com/office/drawing/2014/main" id="{84F8ECEA-B590-0786-700D-30952BDC50FC}"/>
              </a:ext>
            </a:extLst>
          </p:cNvPr>
          <p:cNvCxnSpPr>
            <a:cxnSpLocks/>
          </p:cNvCxnSpPr>
          <p:nvPr/>
        </p:nvCxnSpPr>
        <p:spPr>
          <a:xfrm flipV="1">
            <a:off x="1164823" y="2215043"/>
            <a:ext cx="0" cy="2885013"/>
          </a:xfrm>
          <a:prstGeom prst="straightConnector1">
            <a:avLst/>
          </a:prstGeom>
          <a:noFill/>
          <a:ln w="19050" cap="sq" cmpd="sng">
            <a:solidFill>
              <a:srgbClr val="5A798C"/>
            </a:solidFill>
            <a:prstDash val="solid"/>
            <a:round/>
            <a:headEnd type="none" w="lg" len="med"/>
            <a:tailEnd type="triangle" w="lg" len="med"/>
          </a:ln>
        </p:spPr>
      </p:cxnSp>
      <p:sp>
        <p:nvSpPr>
          <p:cNvPr id="54" name="Right Arrow 2">
            <a:extLst>
              <a:ext uri="{FF2B5EF4-FFF2-40B4-BE49-F238E27FC236}">
                <a16:creationId xmlns:a16="http://schemas.microsoft.com/office/drawing/2014/main" id="{7C6F5336-F8F2-28D9-0D0F-2CC83F109592}"/>
              </a:ext>
            </a:extLst>
          </p:cNvPr>
          <p:cNvSpPr/>
          <p:nvPr/>
        </p:nvSpPr>
        <p:spPr>
          <a:xfrm>
            <a:off x="1190951" y="5286777"/>
            <a:ext cx="8141686" cy="929097"/>
          </a:xfrm>
          <a:prstGeom prst="rightArrow">
            <a:avLst>
              <a:gd name="adj1" fmla="val 61465"/>
              <a:gd name="adj2" fmla="val 50000"/>
            </a:avLst>
          </a:prstGeom>
          <a:solidFill>
            <a:schemeClr val="accent5"/>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1" i="0" u="none" strike="noStrike" kern="1200" cap="none" spc="0" normalizeH="0" baseline="0" noProof="0" dirty="0">
              <a:ln>
                <a:noFill/>
              </a:ln>
              <a:solidFill>
                <a:prstClr val="white"/>
              </a:solidFill>
              <a:effectLst/>
              <a:uLnTx/>
              <a:uFillTx/>
              <a:latin typeface="Gartner Sans" panose="020B050403040204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ea typeface="+mn-ea"/>
                <a:cs typeface="+mn-cs"/>
              </a:rPr>
              <a:t>New Perspective</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ea typeface="+mn-ea"/>
                <a:cs typeface="+mn-cs"/>
              </a:rPr>
              <a:t>From cost-efficiency to advantage:</a:t>
            </a:r>
            <a:r>
              <a:rPr kumimoji="0" lang="en-US" sz="1100" b="0" i="0" u="none" strike="noStrike" kern="1200" cap="none" spc="0" normalizeH="0" baseline="0" noProof="0" dirty="0">
                <a:ln>
                  <a:noFill/>
                </a:ln>
                <a:solidFill>
                  <a:prstClr val="white"/>
                </a:solidFill>
                <a:effectLst/>
                <a:uLnTx/>
                <a:uFillTx/>
                <a:ea typeface="+mn-ea"/>
                <a:cs typeface="+mn-cs"/>
              </a:rPr>
              <a:t> Automation is no longer only for standardized, low-value work.</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1200" cap="none" spc="0" normalizeH="0" baseline="0" noProof="0" dirty="0">
                <a:ln>
                  <a:noFill/>
                </a:ln>
                <a:solidFill>
                  <a:prstClr val="white"/>
                </a:solidFill>
                <a:effectLst/>
                <a:uLnTx/>
                <a:uFillTx/>
                <a:ea typeface="+mn-ea"/>
                <a:cs typeface="+mn-cs"/>
              </a:rPr>
              <a:t>Advanced tech (e.g., GenAI) shifts the frontier</a:t>
            </a:r>
            <a:r>
              <a:rPr kumimoji="0" lang="en-US" sz="1100" b="0" i="0" u="none" strike="noStrike" kern="1200" cap="none" spc="0" normalizeH="0" baseline="0" noProof="0" dirty="0">
                <a:ln>
                  <a:noFill/>
                </a:ln>
                <a:solidFill>
                  <a:prstClr val="white"/>
                </a:solidFill>
                <a:effectLst/>
                <a:uLnTx/>
                <a:uFillTx/>
                <a:ea typeface="+mn-ea"/>
                <a:cs typeface="+mn-cs"/>
              </a:rPr>
              <a:t> and enables augmentation of high-value, complex work.</a:t>
            </a:r>
            <a:endParaRPr kumimoji="0" lang="en-US" sz="1100" b="1" i="0" u="none" strike="noStrike" kern="1200" cap="none" spc="0" normalizeH="0" baseline="0" noProof="0" dirty="0">
              <a:ln>
                <a:noFill/>
              </a:ln>
              <a:solidFill>
                <a:prstClr val="white"/>
              </a:solidFill>
              <a:effectLst/>
              <a:uLnTx/>
              <a:uFillTx/>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Gartner Sans" panose="020B0504030402040204" pitchFamily="34" charset="0"/>
              <a:ea typeface="+mn-ea"/>
              <a:cs typeface="+mn-cs"/>
            </a:endParaRPr>
          </a:p>
        </p:txBody>
      </p:sp>
      <p:sp>
        <p:nvSpPr>
          <p:cNvPr id="57" name="TextBox 56">
            <a:extLst>
              <a:ext uri="{FF2B5EF4-FFF2-40B4-BE49-F238E27FC236}">
                <a16:creationId xmlns:a16="http://schemas.microsoft.com/office/drawing/2014/main" id="{93C06177-8229-C682-B707-E0F5DA66CEA8}"/>
              </a:ext>
            </a:extLst>
          </p:cNvPr>
          <p:cNvSpPr txBox="1"/>
          <p:nvPr/>
        </p:nvSpPr>
        <p:spPr>
          <a:xfrm>
            <a:off x="3435811" y="5125879"/>
            <a:ext cx="3585341"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ea typeface="+mn-ea"/>
                <a:cs typeface="+mn-cs"/>
              </a:rPr>
              <a:t>Business capability strategic value/impact</a:t>
            </a:r>
          </a:p>
        </p:txBody>
      </p:sp>
      <p:sp>
        <p:nvSpPr>
          <p:cNvPr id="59" name="TextBox 58">
            <a:extLst>
              <a:ext uri="{FF2B5EF4-FFF2-40B4-BE49-F238E27FC236}">
                <a16:creationId xmlns:a16="http://schemas.microsoft.com/office/drawing/2014/main" id="{F9AD71D4-A3DD-B227-72DE-14DF113A396F}"/>
              </a:ext>
            </a:extLst>
          </p:cNvPr>
          <p:cNvSpPr txBox="1"/>
          <p:nvPr/>
        </p:nvSpPr>
        <p:spPr>
          <a:xfrm>
            <a:off x="612290" y="5116383"/>
            <a:ext cx="529544" cy="2462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Low</a:t>
            </a:r>
          </a:p>
        </p:txBody>
      </p:sp>
      <p:sp>
        <p:nvSpPr>
          <p:cNvPr id="60" name="TextBox 59">
            <a:extLst>
              <a:ext uri="{FF2B5EF4-FFF2-40B4-BE49-F238E27FC236}">
                <a16:creationId xmlns:a16="http://schemas.microsoft.com/office/drawing/2014/main" id="{463750A7-43AD-EB86-41C5-86BE598A18DE}"/>
              </a:ext>
            </a:extLst>
          </p:cNvPr>
          <p:cNvSpPr txBox="1"/>
          <p:nvPr/>
        </p:nvSpPr>
        <p:spPr>
          <a:xfrm>
            <a:off x="8883055" y="5116383"/>
            <a:ext cx="710958"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High</a:t>
            </a:r>
          </a:p>
        </p:txBody>
      </p:sp>
      <p:sp>
        <p:nvSpPr>
          <p:cNvPr id="61" name="TextBox 60">
            <a:extLst>
              <a:ext uri="{FF2B5EF4-FFF2-40B4-BE49-F238E27FC236}">
                <a16:creationId xmlns:a16="http://schemas.microsoft.com/office/drawing/2014/main" id="{FEC5D646-756D-390C-67B2-69D7ECD05D05}"/>
              </a:ext>
            </a:extLst>
          </p:cNvPr>
          <p:cNvSpPr txBox="1"/>
          <p:nvPr/>
        </p:nvSpPr>
        <p:spPr>
          <a:xfrm>
            <a:off x="677986" y="2178806"/>
            <a:ext cx="463848" cy="2462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ea typeface="+mn-ea"/>
                <a:cs typeface="+mn-cs"/>
              </a:rPr>
              <a:t>High</a:t>
            </a:r>
          </a:p>
        </p:txBody>
      </p:sp>
      <p:pic>
        <p:nvPicPr>
          <p:cNvPr id="66" name="Graphic 65">
            <a:extLst>
              <a:ext uri="{FF2B5EF4-FFF2-40B4-BE49-F238E27FC236}">
                <a16:creationId xmlns:a16="http://schemas.microsoft.com/office/drawing/2014/main" id="{6202DAD6-8E82-B9B5-C83A-8FBB5D2F4C7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24263" y="3969291"/>
            <a:ext cx="392214" cy="305055"/>
          </a:xfrm>
          <a:prstGeom prst="rect">
            <a:avLst/>
          </a:prstGeom>
        </p:spPr>
      </p:pic>
      <p:graphicFrame>
        <p:nvGraphicFramePr>
          <p:cNvPr id="67" name="Google Shape;159;p7">
            <a:extLst>
              <a:ext uri="{FF2B5EF4-FFF2-40B4-BE49-F238E27FC236}">
                <a16:creationId xmlns:a16="http://schemas.microsoft.com/office/drawing/2014/main" id="{78E206B8-0FCB-E543-3124-D10027BC87BB}"/>
              </a:ext>
            </a:extLst>
          </p:cNvPr>
          <p:cNvGraphicFramePr/>
          <p:nvPr>
            <p:extLst>
              <p:ext uri="{D42A27DB-BD31-4B8C-83A1-F6EECF244321}">
                <p14:modId xmlns:p14="http://schemas.microsoft.com/office/powerpoint/2010/main" val="32855648"/>
              </p:ext>
            </p:extLst>
          </p:nvPr>
        </p:nvGraphicFramePr>
        <p:xfrm>
          <a:off x="457200" y="914400"/>
          <a:ext cx="11359504" cy="1144524"/>
        </p:xfrm>
        <a:graphic>
          <a:graphicData uri="http://schemas.openxmlformats.org/drawingml/2006/table">
            <a:tbl>
              <a:tblPr firstRow="1" bandRow="1">
                <a:noFill/>
              </a:tblPr>
              <a:tblGrid>
                <a:gridCol w="11359504">
                  <a:extLst>
                    <a:ext uri="{9D8B030D-6E8A-4147-A177-3AD203B41FA5}">
                      <a16:colId xmlns:a16="http://schemas.microsoft.com/office/drawing/2014/main" val="20001"/>
                    </a:ext>
                  </a:extLst>
                </a:gridCol>
              </a:tblGrid>
              <a:tr h="175209">
                <a:tc>
                  <a:txBody>
                    <a:bodyPr/>
                    <a:lstStyle/>
                    <a:p>
                      <a:pPr marL="0" marR="0" lvl="0" indent="0" algn="l" rtl="0">
                        <a:spcBef>
                          <a:spcPts val="0"/>
                        </a:spcBef>
                        <a:spcAft>
                          <a:spcPts val="0"/>
                        </a:spcAft>
                        <a:buNone/>
                      </a:pPr>
                      <a:r>
                        <a:rPr lang="en-US" sz="1100" b="1">
                          <a:solidFill>
                            <a:srgbClr val="FFFFFF"/>
                          </a:solidFill>
                        </a:rPr>
                        <a:t>Instructions</a:t>
                      </a:r>
                      <a:endParaRPr lang="en-US" sz="1100">
                        <a:solidFill>
                          <a:srgbClr val="FFFFFF"/>
                        </a:solidFill>
                      </a:endParaRPr>
                    </a:p>
                  </a:txBody>
                  <a:tcPr marL="109728" marR="109728" marB="1828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690461">
                <a:tc>
                  <a:txBody>
                    <a:bodyPr/>
                    <a:lstStyle/>
                    <a:p>
                      <a:pPr>
                        <a:lnSpc>
                          <a:spcPct val="100000"/>
                        </a:lnSpc>
                        <a:spcBef>
                          <a:spcPts val="0"/>
                        </a:spcBef>
                        <a:spcAft>
                          <a:spcPts val="300"/>
                        </a:spcAft>
                      </a:pPr>
                      <a:r>
                        <a:rPr lang="en-US" sz="1100" b="1"/>
                        <a:t>Answer two key questions to guide technology assessments: </a:t>
                      </a:r>
                    </a:p>
                    <a:p>
                      <a:pPr marL="228600" indent="-228600">
                        <a:lnSpc>
                          <a:spcPct val="100000"/>
                        </a:lnSpc>
                        <a:spcBef>
                          <a:spcPts val="0"/>
                        </a:spcBef>
                        <a:spcAft>
                          <a:spcPts val="300"/>
                        </a:spcAft>
                        <a:buFont typeface="+mj-lt"/>
                        <a:buAutoNum type="arabicPeriod"/>
                      </a:pPr>
                      <a:r>
                        <a:rPr lang="en-US" sz="1100" b="0"/>
                        <a:t>Does the work create competitive advantage? </a:t>
                      </a:r>
                    </a:p>
                    <a:p>
                      <a:pPr marL="228600" indent="-228600">
                        <a:lnSpc>
                          <a:spcPct val="100000"/>
                        </a:lnSpc>
                        <a:spcBef>
                          <a:spcPts val="0"/>
                        </a:spcBef>
                        <a:spcAft>
                          <a:spcPts val="300"/>
                        </a:spcAft>
                        <a:buFont typeface="+mj-lt"/>
                        <a:buAutoNum type="arabicPeriod"/>
                      </a:pPr>
                      <a:r>
                        <a:rPr lang="en-US" sz="1100"/>
                        <a:t>Task complexity and knowledge density: Is the task routine, or does it rely on deep expertise and judgment that AI can’t easily replicate?</a:t>
                      </a:r>
                      <a:endParaRPr lang="en-US" sz="1100" b="0" spc="-20">
                        <a:solidFill>
                          <a:srgbClr val="000000"/>
                        </a:solidFill>
                      </a:endParaRPr>
                    </a:p>
                    <a:p>
                      <a:pPr lvl="0" defTabSz="914400">
                        <a:lnSpc>
                          <a:spcPct val="100000"/>
                        </a:lnSpc>
                        <a:spcBef>
                          <a:spcPts val="0"/>
                        </a:spcBef>
                        <a:spcAft>
                          <a:spcPts val="300"/>
                        </a:spcAft>
                        <a:defRPr/>
                      </a:pPr>
                      <a:r>
                        <a:rPr lang="en-US" sz="1100" b="1" spc="-20">
                          <a:solidFill>
                            <a:srgbClr val="000000"/>
                          </a:solidFill>
                        </a:rPr>
                        <a:t>Caution: </a:t>
                      </a:r>
                      <a:r>
                        <a:rPr lang="en-US" sz="1100" spc="-20">
                          <a:solidFill>
                            <a:srgbClr val="000000"/>
                          </a:solidFill>
                        </a:rPr>
                        <a:t>Redesign processes for digital execution; assess return versus feasibility and change effort.</a:t>
                      </a: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905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2" name="Title 1">
            <a:extLst>
              <a:ext uri="{FF2B5EF4-FFF2-40B4-BE49-F238E27FC236}">
                <a16:creationId xmlns:a16="http://schemas.microsoft.com/office/drawing/2014/main" id="{6CB4F43A-E2C0-AA8C-C7AA-B550BEA14395}"/>
              </a:ext>
            </a:extLst>
          </p:cNvPr>
          <p:cNvSpPr>
            <a:spLocks noGrp="1"/>
          </p:cNvSpPr>
          <p:nvPr>
            <p:ph type="title"/>
          </p:nvPr>
        </p:nvSpPr>
        <p:spPr>
          <a:xfrm>
            <a:off x="457200" y="361950"/>
            <a:ext cx="11274552" cy="451231"/>
          </a:xfrm>
        </p:spPr>
        <p:txBody>
          <a:bodyPr/>
          <a:lstStyle/>
          <a:p>
            <a:r>
              <a:rPr lang="en-US"/>
              <a:t>Align Technology to Work Value and Complexity</a:t>
            </a:r>
          </a:p>
        </p:txBody>
      </p:sp>
      <p:pic>
        <p:nvPicPr>
          <p:cNvPr id="12" name="Graphic 11">
            <a:extLst>
              <a:ext uri="{FF2B5EF4-FFF2-40B4-BE49-F238E27FC236}">
                <a16:creationId xmlns:a16="http://schemas.microsoft.com/office/drawing/2014/main" id="{73AA7865-674E-3E1A-ACBF-1BFC23DA76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45712" y="2354879"/>
            <a:ext cx="349315" cy="271690"/>
          </a:xfrm>
          <a:prstGeom prst="rect">
            <a:avLst/>
          </a:prstGeom>
        </p:spPr>
      </p:pic>
      <p:sp>
        <p:nvSpPr>
          <p:cNvPr id="3" name="Rectangle 2">
            <a:extLst>
              <a:ext uri="{FF2B5EF4-FFF2-40B4-BE49-F238E27FC236}">
                <a16:creationId xmlns:a16="http://schemas.microsoft.com/office/drawing/2014/main" id="{BD30B6F5-DCD8-5546-1E58-E4B1D9FE5573}"/>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Collaboration</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Tree>
    <p:extLst>
      <p:ext uri="{BB962C8B-B14F-4D97-AF65-F5344CB8AC3E}">
        <p14:creationId xmlns:p14="http://schemas.microsoft.com/office/powerpoint/2010/main" val="2949548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B1EC3-52CB-5E5A-4819-061C52461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43843-3169-3159-2234-7FAED7FDC879}"/>
              </a:ext>
            </a:extLst>
          </p:cNvPr>
          <p:cNvSpPr>
            <a:spLocks noGrp="1"/>
          </p:cNvSpPr>
          <p:nvPr>
            <p:ph type="title"/>
          </p:nvPr>
        </p:nvSpPr>
        <p:spPr>
          <a:xfrm>
            <a:off x="457200" y="361950"/>
            <a:ext cx="11274552" cy="451231"/>
          </a:xfrm>
        </p:spPr>
        <p:txBody>
          <a:bodyPr/>
          <a:lstStyle/>
          <a:p>
            <a:r>
              <a:rPr lang="en-US" dirty="0"/>
              <a:t>Assess Return vs. Feasibility and Change Effort</a:t>
            </a:r>
          </a:p>
        </p:txBody>
      </p:sp>
      <p:graphicFrame>
        <p:nvGraphicFramePr>
          <p:cNvPr id="3" name="Table 2">
            <a:extLst>
              <a:ext uri="{FF2B5EF4-FFF2-40B4-BE49-F238E27FC236}">
                <a16:creationId xmlns:a16="http://schemas.microsoft.com/office/drawing/2014/main" id="{5A223CFE-BA8B-B72D-337A-CA58B704CED3}"/>
              </a:ext>
            </a:extLst>
          </p:cNvPr>
          <p:cNvGraphicFramePr>
            <a:graphicFrameLocks noGrp="1"/>
          </p:cNvGraphicFramePr>
          <p:nvPr>
            <p:extLst>
              <p:ext uri="{D42A27DB-BD31-4B8C-83A1-F6EECF244321}">
                <p14:modId xmlns:p14="http://schemas.microsoft.com/office/powerpoint/2010/main" val="210628559"/>
              </p:ext>
            </p:extLst>
          </p:nvPr>
        </p:nvGraphicFramePr>
        <p:xfrm>
          <a:off x="1613039" y="1399538"/>
          <a:ext cx="4897087" cy="4369073"/>
        </p:xfrm>
        <a:graphic>
          <a:graphicData uri="http://schemas.openxmlformats.org/drawingml/2006/table">
            <a:tbl>
              <a:tblPr/>
              <a:tblGrid>
                <a:gridCol w="1049330">
                  <a:extLst>
                    <a:ext uri="{9D8B030D-6E8A-4147-A177-3AD203B41FA5}">
                      <a16:colId xmlns:a16="http://schemas.microsoft.com/office/drawing/2014/main" val="2593746804"/>
                    </a:ext>
                  </a:extLst>
                </a:gridCol>
                <a:gridCol w="3847757">
                  <a:extLst>
                    <a:ext uri="{9D8B030D-6E8A-4147-A177-3AD203B41FA5}">
                      <a16:colId xmlns:a16="http://schemas.microsoft.com/office/drawing/2014/main" val="251900541"/>
                    </a:ext>
                  </a:extLst>
                </a:gridCol>
              </a:tblGrid>
              <a:tr h="411480">
                <a:tc>
                  <a:txBody>
                    <a:bodyPr/>
                    <a:lstStyle/>
                    <a:p>
                      <a:pPr>
                        <a:buNone/>
                      </a:pPr>
                      <a:r>
                        <a:rPr lang="en-US" sz="1050" b="1" dirty="0">
                          <a:solidFill>
                            <a:schemeClr val="bg1"/>
                          </a:solidFill>
                        </a:rPr>
                        <a:t>Business Return </a:t>
                      </a:r>
                    </a:p>
                  </a:txBody>
                  <a:tcPr anchor="ctr">
                    <a:lnL>
                      <a:noFill/>
                    </a:lnL>
                    <a:lnR>
                      <a:noFill/>
                    </a:lnR>
                    <a:lnT>
                      <a:noFill/>
                    </a:lnT>
                    <a:lnB w="7620" cap="flat" cmpd="sng" algn="ctr">
                      <a:solidFill>
                        <a:srgbClr val="E0E0E0"/>
                      </a:solidFill>
                      <a:prstDash val="solid"/>
                      <a:round/>
                      <a:headEnd type="none" w="med" len="med"/>
                      <a:tailEnd type="none" w="med" len="med"/>
                    </a:lnB>
                    <a:solidFill>
                      <a:schemeClr val="accent5"/>
                    </a:solidFill>
                  </a:tcPr>
                </a:tc>
                <a:tc>
                  <a:txBody>
                    <a:bodyPr/>
                    <a:lstStyle/>
                    <a:p>
                      <a:pPr>
                        <a:buNone/>
                      </a:pPr>
                      <a:r>
                        <a:rPr lang="en-US" sz="1050" b="1">
                          <a:solidFill>
                            <a:schemeClr val="bg1"/>
                          </a:solidFill>
                        </a:rPr>
                        <a:t>Guiding Questions</a:t>
                      </a:r>
                      <a:endParaRPr lang="en-US" sz="1050">
                        <a:solidFill>
                          <a:schemeClr val="bg1"/>
                        </a:solidFill>
                      </a:endParaRPr>
                    </a:p>
                  </a:txBody>
                  <a:tcPr anchor="ctr">
                    <a:lnL>
                      <a:noFill/>
                    </a:lnL>
                    <a:lnR>
                      <a:noFill/>
                    </a:lnR>
                    <a:lnT>
                      <a:noFill/>
                    </a:lnT>
                    <a:lnB w="7620" cap="flat" cmpd="sng" algn="ctr">
                      <a:solidFill>
                        <a:srgbClr val="E0E0E0"/>
                      </a:solidFill>
                      <a:prstDash val="solid"/>
                      <a:round/>
                      <a:headEnd type="none" w="med" len="med"/>
                      <a:tailEnd type="none" w="med" len="med"/>
                    </a:lnB>
                    <a:solidFill>
                      <a:schemeClr val="accent5"/>
                    </a:solidFill>
                  </a:tcPr>
                </a:tc>
                <a:extLst>
                  <a:ext uri="{0D108BD9-81ED-4DB2-BD59-A6C34878D82A}">
                    <a16:rowId xmlns:a16="http://schemas.microsoft.com/office/drawing/2014/main" val="697584885"/>
                  </a:ext>
                </a:extLst>
              </a:tr>
              <a:tr h="411480">
                <a:tc>
                  <a:txBody>
                    <a:bodyPr/>
                    <a:lstStyle/>
                    <a:p>
                      <a:pPr>
                        <a:buNone/>
                      </a:pPr>
                      <a:r>
                        <a:rPr lang="en-US" sz="1050" b="1">
                          <a:solidFill>
                            <a:srgbClr val="000000"/>
                          </a:solidFill>
                        </a:rPr>
                        <a:t>Strategic Alignment</a:t>
                      </a:r>
                      <a:endParaRPr lang="en-US" sz="1050">
                        <a:solidFill>
                          <a:srgbClr val="000000"/>
                        </a:solidFill>
                      </a:endParaRP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buNone/>
                      </a:pPr>
                      <a:r>
                        <a:rPr lang="en-US" sz="1050">
                          <a:solidFill>
                            <a:srgbClr val="000000"/>
                          </a:solidFill>
                        </a:rPr>
                        <a:t>Does this initiative align with enterprise strategy?</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extLst>
                  <a:ext uri="{0D108BD9-81ED-4DB2-BD59-A6C34878D82A}">
                    <a16:rowId xmlns:a16="http://schemas.microsoft.com/office/drawing/2014/main" val="3120949729"/>
                  </a:ext>
                </a:extLst>
              </a:tr>
              <a:tr h="262381">
                <a:tc>
                  <a:txBody>
                    <a:bodyPr/>
                    <a:lstStyle/>
                    <a:p>
                      <a:pPr>
                        <a:buNone/>
                      </a:pPr>
                      <a:r>
                        <a:rPr lang="en-US" sz="1050" b="1"/>
                        <a:t>Innovation</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a:buNone/>
                      </a:pPr>
                      <a:r>
                        <a:rPr lang="en-US" sz="1050" i="0"/>
                        <a:t>Will it enable new </a:t>
                      </a:r>
                      <a:r>
                        <a:rPr lang="en-US" sz="1050" b="1" i="0"/>
                        <a:t>products, services, or business model</a:t>
                      </a:r>
                      <a:r>
                        <a:rPr lang="en-US" sz="1050" i="0"/>
                        <a:t>s?</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3617092751"/>
                  </a:ext>
                </a:extLst>
              </a:tr>
              <a:tr h="970013">
                <a:tc>
                  <a:txBody>
                    <a:bodyPr/>
                    <a:lstStyle/>
                    <a:p>
                      <a:pPr>
                        <a:buNone/>
                      </a:pPr>
                      <a:r>
                        <a:rPr lang="en-US" sz="1050" b="1"/>
                        <a:t>Customer Experience</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a:spcAft>
                          <a:spcPts val="300"/>
                        </a:spcAft>
                      </a:pPr>
                      <a:r>
                        <a:rPr lang="en-US" sz="1050" i="0" dirty="0"/>
                        <a:t>Will it create a </a:t>
                      </a:r>
                      <a:r>
                        <a:rPr lang="en-US" sz="1050" b="1" i="0" dirty="0"/>
                        <a:t>new way of engaging </a:t>
                      </a:r>
                      <a:r>
                        <a:rPr lang="en-US" sz="1050" b="0" i="0" dirty="0"/>
                        <a:t>customers or redefine the customer experience in a way that disrupts the market or business model? (Strategic bet: ROF)</a:t>
                      </a:r>
                    </a:p>
                    <a:p>
                      <a:pPr>
                        <a:spcAft>
                          <a:spcPts val="300"/>
                        </a:spcAft>
                      </a:pPr>
                      <a:r>
                        <a:rPr lang="en-US" sz="1050" i="0" dirty="0"/>
                        <a:t>Will it improve how the organization </a:t>
                      </a:r>
                      <a:r>
                        <a:rPr lang="en-US" sz="1050" b="1" i="0" dirty="0"/>
                        <a:t>delivers customer interactions</a:t>
                      </a:r>
                      <a:r>
                        <a:rPr lang="en-US" sz="1050" b="0" i="0" dirty="0"/>
                        <a:t>, making service faster, easier</a:t>
                      </a:r>
                      <a:r>
                        <a:rPr lang="en-US" sz="1050" i="0" dirty="0"/>
                        <a:t>? (Incremental ROI)</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3390150700"/>
                  </a:ext>
                </a:extLst>
              </a:tr>
              <a:tr h="596319">
                <a:tc>
                  <a:txBody>
                    <a:bodyPr/>
                    <a:lstStyle/>
                    <a:p>
                      <a:pPr>
                        <a:buNone/>
                      </a:pPr>
                      <a:r>
                        <a:rPr lang="en-US" sz="1050" b="1"/>
                        <a:t>Cost Reduction</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a:buNone/>
                      </a:pPr>
                      <a:r>
                        <a:rPr lang="en-US" sz="1050" i="0" dirty="0"/>
                        <a:t>Will this change </a:t>
                      </a:r>
                      <a:r>
                        <a:rPr lang="en-US" sz="1050" b="1" i="0" dirty="0"/>
                        <a:t>lower operating </a:t>
                      </a:r>
                      <a:r>
                        <a:rPr lang="en-US" sz="1050" i="0" dirty="0"/>
                        <a:t>costs through process optimization/automation, or </a:t>
                      </a:r>
                      <a:r>
                        <a:rPr lang="en-US" sz="1050" b="0" i="0" dirty="0"/>
                        <a:t>minimize waste/excess resources?</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365977915"/>
                  </a:ext>
                </a:extLst>
              </a:tr>
              <a:tr h="429350">
                <a:tc>
                  <a:txBody>
                    <a:bodyPr/>
                    <a:lstStyle/>
                    <a:p>
                      <a:pPr>
                        <a:buNone/>
                      </a:pPr>
                      <a:r>
                        <a:rPr lang="en-US" sz="1050" b="1"/>
                        <a:t>Margin Improvement</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a:buNone/>
                      </a:pPr>
                      <a:r>
                        <a:rPr lang="en-US" sz="1050" i="0"/>
                        <a:t>Will it </a:t>
                      </a:r>
                      <a:r>
                        <a:rPr lang="en-US" sz="1050" b="1" i="0"/>
                        <a:t>improve profitability </a:t>
                      </a:r>
                      <a:r>
                        <a:rPr lang="en-US" sz="1050" i="0"/>
                        <a:t>by reducing waste, optimizing cost-to-revenue ratios, and improving resource allocation?</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239653768"/>
                  </a:ext>
                </a:extLst>
              </a:tr>
              <a:tr h="429350">
                <a:tc>
                  <a:txBody>
                    <a:bodyPr/>
                    <a:lstStyle/>
                    <a:p>
                      <a:pPr>
                        <a:buNone/>
                      </a:pPr>
                      <a:r>
                        <a:rPr lang="en-US" sz="1050" b="1"/>
                        <a:t>Revenue per Employee</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buNone/>
                      </a:pPr>
                      <a:r>
                        <a:rPr lang="en-US" sz="1050" i="0"/>
                        <a:t>Can it </a:t>
                      </a:r>
                      <a:r>
                        <a:rPr lang="en-US" sz="1050" b="1" i="0"/>
                        <a:t>increase revenue contribution </a:t>
                      </a:r>
                      <a:r>
                        <a:rPr lang="en-US" sz="1050" i="0"/>
                        <a:t>per employee by leveraging automation, AI, and redesigned workflows?</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chemeClr val="bg1"/>
                    </a:solidFill>
                  </a:tcPr>
                </a:tc>
                <a:extLst>
                  <a:ext uri="{0D108BD9-81ED-4DB2-BD59-A6C34878D82A}">
                    <a16:rowId xmlns:a16="http://schemas.microsoft.com/office/drawing/2014/main" val="1409183567"/>
                  </a:ext>
                </a:extLst>
              </a:tr>
              <a:tr h="429350">
                <a:tc>
                  <a:txBody>
                    <a:bodyPr/>
                    <a:lstStyle/>
                    <a:p>
                      <a:pPr>
                        <a:buNone/>
                      </a:pPr>
                      <a:r>
                        <a:rPr lang="en-US" sz="1050" b="1"/>
                        <a:t>Productivity Gains</a:t>
                      </a:r>
                      <a:endParaRPr lang="en-US" sz="1050"/>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buNone/>
                      </a:pPr>
                      <a:r>
                        <a:rPr lang="en-US" sz="1050" i="0"/>
                        <a:t>Will it </a:t>
                      </a:r>
                      <a:r>
                        <a:rPr lang="en-US" sz="1050" b="1" i="0"/>
                        <a:t>increase output per employee</a:t>
                      </a:r>
                      <a:r>
                        <a:rPr lang="en-US" sz="1050" i="0"/>
                        <a:t>, shorten cycle times, reduce delays, and improve process efficiency?</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66570482"/>
                  </a:ext>
                </a:extLst>
              </a:tr>
              <a:tr h="429350">
                <a:tc>
                  <a:txBody>
                    <a:bodyPr/>
                    <a:lstStyle/>
                    <a:p>
                      <a:pPr>
                        <a:buNone/>
                      </a:pPr>
                      <a:r>
                        <a:rPr lang="en-US" sz="1050" b="1"/>
                        <a:t>Employee Experience</a:t>
                      </a:r>
                      <a:endParaRPr lang="en-US" sz="1050"/>
                    </a:p>
                  </a:txBody>
                  <a:tcPr anchor="ctr">
                    <a:lnL>
                      <a:noFill/>
                    </a:lnL>
                    <a:lnR>
                      <a:noFill/>
                    </a:lnR>
                    <a:lnT w="7620" cap="flat" cmpd="sng" algn="ctr">
                      <a:solidFill>
                        <a:srgbClr val="E0E0E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buNone/>
                      </a:pPr>
                      <a:r>
                        <a:rPr lang="en-US" sz="1050" i="0"/>
                        <a:t>Will it </a:t>
                      </a:r>
                      <a:r>
                        <a:rPr lang="en-US" sz="1050" b="1" i="0"/>
                        <a:t>boost engagement</a:t>
                      </a:r>
                      <a:r>
                        <a:rPr lang="en-US" sz="1050" i="0"/>
                        <a:t>, retention, capability growth, or enable workforce agility?</a:t>
                      </a:r>
                    </a:p>
                  </a:txBody>
                  <a:tcPr anchor="ctr">
                    <a:lnL>
                      <a:noFill/>
                    </a:lnL>
                    <a:lnR>
                      <a:noFill/>
                    </a:lnR>
                    <a:lnT w="7620" cap="flat" cmpd="sng" algn="ctr">
                      <a:solidFill>
                        <a:srgbClr val="E0E0E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018970685"/>
                  </a:ext>
                </a:extLst>
              </a:tr>
            </a:tbl>
          </a:graphicData>
        </a:graphic>
      </p:graphicFrame>
      <p:graphicFrame>
        <p:nvGraphicFramePr>
          <p:cNvPr id="4" name="Table 3">
            <a:extLst>
              <a:ext uri="{FF2B5EF4-FFF2-40B4-BE49-F238E27FC236}">
                <a16:creationId xmlns:a16="http://schemas.microsoft.com/office/drawing/2014/main" id="{3AF1C68D-E84C-887A-9858-2D6E04C52C4C}"/>
              </a:ext>
            </a:extLst>
          </p:cNvPr>
          <p:cNvGraphicFramePr>
            <a:graphicFrameLocks noGrp="1"/>
          </p:cNvGraphicFramePr>
          <p:nvPr>
            <p:extLst>
              <p:ext uri="{D42A27DB-BD31-4B8C-83A1-F6EECF244321}">
                <p14:modId xmlns:p14="http://schemas.microsoft.com/office/powerpoint/2010/main" val="1215926848"/>
              </p:ext>
            </p:extLst>
          </p:nvPr>
        </p:nvGraphicFramePr>
        <p:xfrm>
          <a:off x="6735209" y="1399539"/>
          <a:ext cx="5009281" cy="4381500"/>
        </p:xfrm>
        <a:graphic>
          <a:graphicData uri="http://schemas.openxmlformats.org/drawingml/2006/table">
            <a:tbl>
              <a:tblPr/>
              <a:tblGrid>
                <a:gridCol w="1415975">
                  <a:extLst>
                    <a:ext uri="{9D8B030D-6E8A-4147-A177-3AD203B41FA5}">
                      <a16:colId xmlns:a16="http://schemas.microsoft.com/office/drawing/2014/main" val="2593746804"/>
                    </a:ext>
                  </a:extLst>
                </a:gridCol>
                <a:gridCol w="3593306">
                  <a:extLst>
                    <a:ext uri="{9D8B030D-6E8A-4147-A177-3AD203B41FA5}">
                      <a16:colId xmlns:a16="http://schemas.microsoft.com/office/drawing/2014/main" val="251900541"/>
                    </a:ext>
                  </a:extLst>
                </a:gridCol>
              </a:tblGrid>
              <a:tr h="406830">
                <a:tc>
                  <a:txBody>
                    <a:bodyPr/>
                    <a:lstStyle/>
                    <a:p>
                      <a:pPr>
                        <a:buNone/>
                      </a:pPr>
                      <a:r>
                        <a:rPr lang="en-US" sz="1050" b="1" dirty="0">
                          <a:solidFill>
                            <a:schemeClr val="bg1"/>
                          </a:solidFill>
                        </a:rPr>
                        <a:t>Feasibility/Change Effort</a:t>
                      </a:r>
                      <a:endParaRPr lang="en-US" sz="1050" dirty="0">
                        <a:solidFill>
                          <a:schemeClr val="bg1"/>
                        </a:solidFill>
                      </a:endParaRPr>
                    </a:p>
                  </a:txBody>
                  <a:tcPr anchor="ctr">
                    <a:lnL>
                      <a:noFill/>
                    </a:lnL>
                    <a:lnR>
                      <a:noFill/>
                    </a:lnR>
                    <a:lnT>
                      <a:noFill/>
                    </a:lnT>
                    <a:lnB w="7620" cap="flat" cmpd="sng" algn="ctr">
                      <a:solidFill>
                        <a:srgbClr val="E0E0E0"/>
                      </a:solidFill>
                      <a:prstDash val="solid"/>
                      <a:round/>
                      <a:headEnd type="none" w="med" len="med"/>
                      <a:tailEnd type="none" w="med" len="med"/>
                    </a:lnB>
                    <a:solidFill>
                      <a:schemeClr val="accent5"/>
                    </a:solidFill>
                  </a:tcPr>
                </a:tc>
                <a:tc>
                  <a:txBody>
                    <a:bodyPr/>
                    <a:lstStyle/>
                    <a:p>
                      <a:pPr>
                        <a:buNone/>
                      </a:pPr>
                      <a:r>
                        <a:rPr lang="en-US" sz="1050" b="1">
                          <a:solidFill>
                            <a:schemeClr val="bg1"/>
                          </a:solidFill>
                        </a:rPr>
                        <a:t>Guiding Questions</a:t>
                      </a:r>
                      <a:endParaRPr lang="en-US" sz="1050">
                        <a:solidFill>
                          <a:schemeClr val="bg1"/>
                        </a:solidFill>
                      </a:endParaRPr>
                    </a:p>
                  </a:txBody>
                  <a:tcPr anchor="ctr">
                    <a:lnL>
                      <a:noFill/>
                    </a:lnL>
                    <a:lnR>
                      <a:noFill/>
                    </a:lnR>
                    <a:lnT>
                      <a:noFill/>
                    </a:lnT>
                    <a:lnB w="7620" cap="flat" cmpd="sng" algn="ctr">
                      <a:solidFill>
                        <a:srgbClr val="E0E0E0"/>
                      </a:solidFill>
                      <a:prstDash val="solid"/>
                      <a:round/>
                      <a:headEnd type="none" w="med" len="med"/>
                      <a:tailEnd type="none" w="med" len="med"/>
                    </a:lnB>
                    <a:solidFill>
                      <a:schemeClr val="accent5"/>
                    </a:solidFill>
                  </a:tcPr>
                </a:tc>
                <a:extLst>
                  <a:ext uri="{0D108BD9-81ED-4DB2-BD59-A6C34878D82A}">
                    <a16:rowId xmlns:a16="http://schemas.microsoft.com/office/drawing/2014/main" val="697584885"/>
                  </a:ext>
                </a:extLst>
              </a:tr>
              <a:tr h="342369">
                <a:tc>
                  <a:txBody>
                    <a:bodyPr/>
                    <a:lstStyle/>
                    <a:p>
                      <a:pPr>
                        <a:buNone/>
                      </a:pPr>
                      <a:r>
                        <a:rPr lang="en-US" sz="1050" b="1" dirty="0">
                          <a:solidFill>
                            <a:srgbClr val="000000"/>
                          </a:solidFill>
                        </a:rPr>
                        <a:t>Overall Feasibility/Effort</a:t>
                      </a:r>
                    </a:p>
                  </a:txBody>
                  <a:tcPr marR="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buNone/>
                      </a:pPr>
                      <a:r>
                        <a:rPr lang="en-US" sz="1050" b="0">
                          <a:solidFill>
                            <a:srgbClr val="000000"/>
                          </a:solidFill>
                        </a:rPr>
                        <a:t>What is the overall level of feasibility and overall effort required to implement the changes successfully?</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extLst>
                  <a:ext uri="{0D108BD9-81ED-4DB2-BD59-A6C34878D82A}">
                    <a16:rowId xmlns:a16="http://schemas.microsoft.com/office/drawing/2014/main" val="2515716976"/>
                  </a:ext>
                </a:extLst>
              </a:tr>
              <a:tr h="876619">
                <a:tc>
                  <a:txBody>
                    <a:bodyPr/>
                    <a:lstStyle/>
                    <a:p>
                      <a:pPr>
                        <a:buNone/>
                      </a:pPr>
                      <a:r>
                        <a:rPr lang="en-US" sz="1050" b="1">
                          <a:effectLst/>
                        </a:rPr>
                        <a:t>Technology &amp; Data, Process Readiness</a:t>
                      </a:r>
                      <a:endParaRPr lang="en-US" sz="1050">
                        <a:effectLst/>
                      </a:endParaRP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b="1">
                          <a:effectLst/>
                        </a:rPr>
                        <a:t>Technology Readiness</a:t>
                      </a:r>
                      <a:r>
                        <a:rPr lang="en-US" sz="1050">
                          <a:effectLst/>
                        </a:rPr>
                        <a:t>: Is the technology mature and available to support the change? </a:t>
                      </a:r>
                    </a:p>
                    <a:p>
                      <a:pPr marL="171450" indent="-171450">
                        <a:buFont typeface="Arial" panose="020B0604020202020204" pitchFamily="34" charset="0"/>
                        <a:buChar char="•"/>
                      </a:pPr>
                      <a:r>
                        <a:rPr lang="en-US" sz="1050" b="1">
                          <a:effectLst/>
                        </a:rPr>
                        <a:t>Data Readiness</a:t>
                      </a:r>
                      <a:r>
                        <a:rPr lang="en-US" sz="1050">
                          <a:effectLst/>
                        </a:rPr>
                        <a:t>: Is data accurate, complete, relevant, and integrated for automation or analytics? </a:t>
                      </a:r>
                    </a:p>
                    <a:p>
                      <a:pPr marL="171450" indent="-171450">
                        <a:buFont typeface="Arial" panose="020B0604020202020204" pitchFamily="34" charset="0"/>
                        <a:buChar char="•"/>
                      </a:pPr>
                      <a:r>
                        <a:rPr lang="en-US" sz="1050" b="1">
                          <a:effectLst/>
                        </a:rPr>
                        <a:t>Process Stability: </a:t>
                      </a:r>
                      <a:r>
                        <a:rPr lang="en-US" sz="1050">
                          <a:effectLst/>
                        </a:rPr>
                        <a:t>Are processes documented, standardized, and ready for redesign?</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365977915"/>
                  </a:ext>
                </a:extLst>
              </a:tr>
              <a:tr h="1090508">
                <a:tc>
                  <a:txBody>
                    <a:bodyPr/>
                    <a:lstStyle/>
                    <a:p>
                      <a:pPr>
                        <a:buNone/>
                      </a:pPr>
                      <a:r>
                        <a:rPr lang="en-US" sz="1050" b="1">
                          <a:effectLst/>
                        </a:rPr>
                        <a:t>Implementation &amp; Change Effort</a:t>
                      </a:r>
                      <a:endParaRPr lang="en-US" sz="1050">
                        <a:effectLst/>
                      </a:endParaRP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50" b="1" dirty="0">
                          <a:effectLst/>
                        </a:rPr>
                        <a:t>Deployment Effort: </a:t>
                      </a:r>
                      <a:r>
                        <a:rPr lang="en-US" sz="1050" dirty="0">
                          <a:effectLst/>
                        </a:rPr>
                        <a:t>How complex are systems, integrations, and governance requirements?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effectLst/>
                        </a:rPr>
                        <a:t>Resource Effort (FTE/Time): </a:t>
                      </a:r>
                      <a:r>
                        <a:rPr lang="en-US" sz="1050" dirty="0">
                          <a:effectLst/>
                        </a:rPr>
                        <a:t>How much workforce time and capacity will be needed for implementation?</a:t>
                      </a:r>
                    </a:p>
                    <a:p>
                      <a:pPr marL="171450" indent="-171450">
                        <a:buFont typeface="Arial" panose="020B0604020202020204" pitchFamily="34" charset="0"/>
                        <a:buChar char="•"/>
                      </a:pPr>
                      <a:r>
                        <a:rPr lang="en-US" sz="1050" b="1" dirty="0">
                          <a:effectLst/>
                        </a:rPr>
                        <a:t>Change Management Effort: </a:t>
                      </a:r>
                      <a:r>
                        <a:rPr lang="en-US" sz="1050" dirty="0">
                          <a:effectLst/>
                        </a:rPr>
                        <a:t>What will be needed to prepare, train, and engage the workforce for successful adoption of the change? </a:t>
                      </a:r>
                    </a:p>
                    <a:p>
                      <a:pPr marL="0" indent="0">
                        <a:buFont typeface="Arial" panose="020B0604020202020204" pitchFamily="34" charset="0"/>
                        <a:buNone/>
                      </a:pPr>
                      <a:r>
                        <a:rPr lang="en-US" sz="1050" i="1" dirty="0">
                          <a:effectLst/>
                        </a:rPr>
                        <a:t> (</a:t>
                      </a:r>
                      <a:r>
                        <a:rPr lang="en-US" sz="1050" i="1">
                          <a:effectLst/>
                        </a:rPr>
                        <a:t>Note: often </a:t>
                      </a:r>
                      <a:r>
                        <a:rPr lang="en-US" sz="1050" i="1" dirty="0">
                          <a:effectLst/>
                        </a:rPr>
                        <a:t>1.5–2× tech deployment effort)</a:t>
                      </a:r>
                      <a:r>
                        <a:rPr lang="en-US" sz="1050" dirty="0">
                          <a:effectLst/>
                        </a:rPr>
                        <a:t> </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noFill/>
                  </a:tcPr>
                </a:tc>
                <a:extLst>
                  <a:ext uri="{0D108BD9-81ED-4DB2-BD59-A6C34878D82A}">
                    <a16:rowId xmlns:a16="http://schemas.microsoft.com/office/drawing/2014/main" val="2239653768"/>
                  </a:ext>
                </a:extLst>
              </a:tr>
              <a:tr h="551595">
                <a:tc>
                  <a:txBody>
                    <a:bodyPr/>
                    <a:lstStyle/>
                    <a:p>
                      <a:pPr>
                        <a:buNone/>
                      </a:pPr>
                      <a:r>
                        <a:rPr lang="en-US" sz="1050" b="1">
                          <a:effectLst/>
                        </a:rPr>
                        <a:t>Sustainability</a:t>
                      </a: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marL="171450" indent="-171450" fontAlgn="t">
                        <a:lnSpc>
                          <a:spcPts val="1500"/>
                        </a:lnSpc>
                        <a:buFont typeface="Arial" panose="020B0604020202020204" pitchFamily="34" charset="0"/>
                        <a:buChar char="•"/>
                      </a:pPr>
                      <a:r>
                        <a:rPr lang="en-US" sz="1050" b="1">
                          <a:effectLst/>
                        </a:rPr>
                        <a:t>Sustainability Compliance: </a:t>
                      </a:r>
                      <a:r>
                        <a:rPr lang="en-US" sz="1050">
                          <a:effectLst/>
                        </a:rPr>
                        <a:t>Does the change align with ESG goals and regulatory requirements without excessive cost or complexity</a:t>
                      </a:r>
                      <a:endParaRPr lang="en-US" sz="1050" b="0" i="0">
                        <a:effectLst/>
                        <a:latin typeface="Segoe UI" panose="020B0502040204020203" pitchFamily="34" charset="0"/>
                      </a:endParaRPr>
                    </a:p>
                  </a:txBody>
                  <a:tcPr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chemeClr val="bg1"/>
                    </a:solidFill>
                  </a:tcPr>
                </a:tc>
                <a:extLst>
                  <a:ext uri="{0D108BD9-81ED-4DB2-BD59-A6C34878D82A}">
                    <a16:rowId xmlns:a16="http://schemas.microsoft.com/office/drawing/2014/main" val="1409183567"/>
                  </a:ext>
                </a:extLst>
              </a:tr>
              <a:tr h="456492">
                <a:tc>
                  <a:txBody>
                    <a:bodyPr/>
                    <a:lstStyle/>
                    <a:p>
                      <a:pPr>
                        <a:buNone/>
                      </a:pPr>
                      <a:r>
                        <a:rPr lang="en-US" sz="1050" b="1">
                          <a:effectLst/>
                        </a:rPr>
                        <a:t>Financial Considerations</a:t>
                      </a:r>
                      <a:endParaRPr lang="en-US" sz="1050">
                        <a:effectLst/>
                      </a:endParaRPr>
                    </a:p>
                  </a:txBody>
                  <a:tcPr anchor="ctr">
                    <a:lnL>
                      <a:noFill/>
                    </a:lnL>
                    <a:lnR>
                      <a:noFill/>
                    </a:lnR>
                    <a:lnT w="7620" cap="flat" cmpd="sng" algn="ctr">
                      <a:solidFill>
                        <a:srgbClr val="E0E0E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marL="171450" indent="-171450" fontAlgn="t">
                        <a:lnSpc>
                          <a:spcPts val="1500"/>
                        </a:lnSpc>
                        <a:buFont typeface="Arial" panose="020B0604020202020204" pitchFamily="34" charset="0"/>
                        <a:buChar char="•"/>
                      </a:pPr>
                      <a:r>
                        <a:rPr lang="en-US" sz="1050" b="1">
                          <a:effectLst/>
                        </a:rPr>
                        <a:t>Cost: </a:t>
                      </a:r>
                      <a:r>
                        <a:rPr lang="en-US" sz="1050">
                          <a:effectLst/>
                        </a:rPr>
                        <a:t>What is the estimated financial investment for technology and change management? </a:t>
                      </a:r>
                    </a:p>
                  </a:txBody>
                  <a:tcPr anchor="ctr">
                    <a:lnL>
                      <a:noFill/>
                    </a:lnL>
                    <a:lnR>
                      <a:noFill/>
                    </a:lnR>
                    <a:lnT w="7620" cap="flat" cmpd="sng" algn="ctr">
                      <a:solidFill>
                        <a:srgbClr val="E0E0E0"/>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66570482"/>
                  </a:ext>
                </a:extLst>
              </a:tr>
            </a:tbl>
          </a:graphicData>
        </a:graphic>
      </p:graphicFrame>
      <p:sp>
        <p:nvSpPr>
          <p:cNvPr id="14" name="TextBox 13">
            <a:extLst>
              <a:ext uri="{FF2B5EF4-FFF2-40B4-BE49-F238E27FC236}">
                <a16:creationId xmlns:a16="http://schemas.microsoft.com/office/drawing/2014/main" id="{96A532F4-493C-9760-CBB0-3EECA329C1A5}"/>
              </a:ext>
            </a:extLst>
          </p:cNvPr>
          <p:cNvSpPr txBox="1"/>
          <p:nvPr/>
        </p:nvSpPr>
        <p:spPr>
          <a:xfrm>
            <a:off x="104342" y="5559607"/>
            <a:ext cx="1364137" cy="415498"/>
          </a:xfrm>
          <a:prstGeom prst="rect">
            <a:avLst/>
          </a:prstGeom>
          <a:noFill/>
        </p:spPr>
        <p:txBody>
          <a:bodyPr wrap="square" lIns="45720" tIns="45720" rIns="45720" bIns="4572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u="none" strike="noStrike" kern="1200" cap="none" spc="0" normalizeH="0" baseline="0" noProof="0">
                <a:ln>
                  <a:noFill/>
                </a:ln>
                <a:solidFill>
                  <a:prstClr val="black"/>
                </a:solidFill>
                <a:effectLst/>
                <a:uLnTx/>
                <a:uFillTx/>
                <a:latin typeface="Gartner Sans" panose="020B0504030402040204" pitchFamily="34" charset="0"/>
                <a:ea typeface="+mn-ea"/>
                <a:cs typeface="Arial" panose="020B0604020202020204" pitchFamily="34" charset="0"/>
              </a:rPr>
              <a:t>Good for employee &amp; operations</a:t>
            </a:r>
          </a:p>
        </p:txBody>
      </p:sp>
      <p:sp>
        <p:nvSpPr>
          <p:cNvPr id="15" name="TextBox 14">
            <a:extLst>
              <a:ext uri="{FF2B5EF4-FFF2-40B4-BE49-F238E27FC236}">
                <a16:creationId xmlns:a16="http://schemas.microsoft.com/office/drawing/2014/main" id="{BA5BFD87-9A38-1569-BD90-ECA2F3E4CD26}"/>
              </a:ext>
            </a:extLst>
          </p:cNvPr>
          <p:cNvSpPr txBox="1"/>
          <p:nvPr/>
        </p:nvSpPr>
        <p:spPr>
          <a:xfrm>
            <a:off x="174169" y="4236245"/>
            <a:ext cx="1189971" cy="253916"/>
          </a:xfrm>
          <a:prstGeom prst="rect">
            <a:avLst/>
          </a:prstGeom>
          <a:noFill/>
        </p:spPr>
        <p:txBody>
          <a:bodyPr wrap="square" lIns="45720" tIns="45720" rIns="45720" bIns="4572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u="none" strike="noStrike" kern="1200" cap="none" spc="0" normalizeH="0" baseline="0" noProof="0">
                <a:ln>
                  <a:noFill/>
                </a:ln>
                <a:solidFill>
                  <a:prstClr val="black"/>
                </a:solidFill>
                <a:effectLst/>
                <a:uLnTx/>
                <a:uFillTx/>
                <a:latin typeface="Gartner Sans" panose="020B0504030402040204" pitchFamily="34" charset="0"/>
                <a:ea typeface="+mn-ea"/>
                <a:cs typeface="Arial" panose="020B0604020202020204" pitchFamily="34" charset="0"/>
              </a:rPr>
              <a:t>Financial return</a:t>
            </a:r>
          </a:p>
        </p:txBody>
      </p:sp>
      <p:sp>
        <p:nvSpPr>
          <p:cNvPr id="16" name="TextBox 15">
            <a:extLst>
              <a:ext uri="{FF2B5EF4-FFF2-40B4-BE49-F238E27FC236}">
                <a16:creationId xmlns:a16="http://schemas.microsoft.com/office/drawing/2014/main" id="{8E4C236E-6E55-4910-70E8-CC20E46B4DC1}"/>
              </a:ext>
            </a:extLst>
          </p:cNvPr>
          <p:cNvSpPr txBox="1"/>
          <p:nvPr/>
        </p:nvSpPr>
        <p:spPr>
          <a:xfrm>
            <a:off x="457199" y="2907864"/>
            <a:ext cx="906940" cy="253916"/>
          </a:xfrm>
          <a:prstGeom prst="rect">
            <a:avLst/>
          </a:prstGeom>
          <a:noFill/>
        </p:spPr>
        <p:txBody>
          <a:bodyPr wrap="square" lIns="45720" tIns="45720" rIns="45720" bIns="4572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050" b="0" u="none" strike="noStrike" kern="1200" cap="none" spc="0" normalizeH="0" baseline="0" noProof="0">
                <a:ln>
                  <a:noFill/>
                </a:ln>
                <a:solidFill>
                  <a:prstClr val="black"/>
                </a:solidFill>
                <a:effectLst/>
                <a:uLnTx/>
                <a:uFillTx/>
                <a:latin typeface="Gartner Sans" panose="020B0504030402040204" pitchFamily="34" charset="0"/>
                <a:ea typeface="+mn-ea"/>
                <a:cs typeface="Arial" panose="020B0604020202020204" pitchFamily="34" charset="0"/>
              </a:rPr>
              <a:t>Strategic bet</a:t>
            </a:r>
          </a:p>
        </p:txBody>
      </p:sp>
      <p:sp>
        <p:nvSpPr>
          <p:cNvPr id="18" name="TextBox 17">
            <a:extLst>
              <a:ext uri="{FF2B5EF4-FFF2-40B4-BE49-F238E27FC236}">
                <a16:creationId xmlns:a16="http://schemas.microsoft.com/office/drawing/2014/main" id="{D3B5ACB2-3D7F-4481-AB81-18EB495A732C}"/>
              </a:ext>
            </a:extLst>
          </p:cNvPr>
          <p:cNvSpPr txBox="1"/>
          <p:nvPr/>
        </p:nvSpPr>
        <p:spPr>
          <a:xfrm>
            <a:off x="470224" y="6094354"/>
            <a:ext cx="3648423" cy="246221"/>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Source: </a:t>
            </a:r>
            <a:r>
              <a:rPr kumimoji="0" lang="en-US" sz="1000" b="0" i="0" u="none" strike="noStrike" kern="1200" cap="none" spc="0" normalizeH="0" baseline="0" noProof="0">
                <a:ln>
                  <a:noFill/>
                </a:ln>
                <a:solidFill>
                  <a:prstClr val="black"/>
                </a:solidFill>
                <a:effectLst/>
                <a:uLnTx/>
                <a:uFillTx/>
                <a:latin typeface="Gartner Sans" panose="020B0504030402040204" pitchFamily="34" charset="0"/>
                <a:ea typeface="+mn-ea"/>
                <a:cs typeface="+mn-cs"/>
                <a:hlinkClick r:id="rId3"/>
              </a:rPr>
              <a:t>The 3 Business Cases of Generative AI Value</a:t>
            </a: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grpSp>
        <p:nvGrpSpPr>
          <p:cNvPr id="25" name="Group 24">
            <a:extLst>
              <a:ext uri="{FF2B5EF4-FFF2-40B4-BE49-F238E27FC236}">
                <a16:creationId xmlns:a16="http://schemas.microsoft.com/office/drawing/2014/main" id="{B0E80CC9-AA1E-19F6-736B-C6FA12A9F5B8}"/>
              </a:ext>
            </a:extLst>
          </p:cNvPr>
          <p:cNvGrpSpPr/>
          <p:nvPr/>
        </p:nvGrpSpPr>
        <p:grpSpPr>
          <a:xfrm rot="10800000" flipH="1">
            <a:off x="1254721" y="2261058"/>
            <a:ext cx="257687" cy="783966"/>
            <a:chOff x="11474450" y="2673408"/>
            <a:chExt cx="257687" cy="553968"/>
          </a:xfrm>
        </p:grpSpPr>
        <p:cxnSp>
          <p:nvCxnSpPr>
            <p:cNvPr id="26" name="Straight Connector 25">
              <a:extLst>
                <a:ext uri="{FF2B5EF4-FFF2-40B4-BE49-F238E27FC236}">
                  <a16:creationId xmlns:a16="http://schemas.microsoft.com/office/drawing/2014/main" id="{70D741BC-8523-F958-5E59-543A37CCE247}"/>
                </a:ext>
              </a:extLst>
            </p:cNvPr>
            <p:cNvCxnSpPr/>
            <p:nvPr/>
          </p:nvCxnSpPr>
          <p:spPr>
            <a:xfrm>
              <a:off x="11732137" y="2673408"/>
              <a:ext cx="0" cy="553968"/>
            </a:xfrm>
            <a:prstGeom prst="line">
              <a:avLst/>
            </a:prstGeom>
            <a:noFill/>
            <a:ln w="25400" cap="flat" cmpd="sng">
              <a:solidFill>
                <a:srgbClr val="0057AF"/>
              </a:solidFill>
              <a:prstDash val="solid"/>
              <a:round/>
              <a:headEnd type="none" w="lg" len="med"/>
              <a:tailEnd type="none" w="lg" len="med"/>
            </a:ln>
          </p:spPr>
        </p:cxnSp>
        <p:cxnSp>
          <p:nvCxnSpPr>
            <p:cNvPr id="27" name="Straight Connector 26">
              <a:extLst>
                <a:ext uri="{FF2B5EF4-FFF2-40B4-BE49-F238E27FC236}">
                  <a16:creationId xmlns:a16="http://schemas.microsoft.com/office/drawing/2014/main" id="{3C084CEC-3E45-8D25-98F9-4787B0C4B4C5}"/>
                </a:ext>
              </a:extLst>
            </p:cNvPr>
            <p:cNvCxnSpPr/>
            <p:nvPr/>
          </p:nvCxnSpPr>
          <p:spPr>
            <a:xfrm flipH="1">
              <a:off x="11474450" y="2947891"/>
              <a:ext cx="257302" cy="0"/>
            </a:xfrm>
            <a:prstGeom prst="line">
              <a:avLst/>
            </a:prstGeom>
            <a:noFill/>
            <a:ln w="25400" cap="flat" cmpd="sng">
              <a:solidFill>
                <a:srgbClr val="0057AF"/>
              </a:solidFill>
              <a:prstDash val="solid"/>
              <a:round/>
              <a:headEnd type="none" w="lg" len="med"/>
              <a:tailEnd type="none" w="lg" len="med"/>
            </a:ln>
          </p:spPr>
        </p:cxnSp>
      </p:grpSp>
      <p:grpSp>
        <p:nvGrpSpPr>
          <p:cNvPr id="28" name="Group 27">
            <a:extLst>
              <a:ext uri="{FF2B5EF4-FFF2-40B4-BE49-F238E27FC236}">
                <a16:creationId xmlns:a16="http://schemas.microsoft.com/office/drawing/2014/main" id="{F9635931-22A0-DBBC-97FE-3DE702A37D50}"/>
              </a:ext>
            </a:extLst>
          </p:cNvPr>
          <p:cNvGrpSpPr/>
          <p:nvPr/>
        </p:nvGrpSpPr>
        <p:grpSpPr>
          <a:xfrm rot="10800000" flipH="1">
            <a:off x="1254721" y="3136842"/>
            <a:ext cx="257687" cy="1693679"/>
            <a:chOff x="11474450" y="2673408"/>
            <a:chExt cx="257687" cy="553968"/>
          </a:xfrm>
        </p:grpSpPr>
        <p:cxnSp>
          <p:nvCxnSpPr>
            <p:cNvPr id="29" name="Straight Connector 28">
              <a:extLst>
                <a:ext uri="{FF2B5EF4-FFF2-40B4-BE49-F238E27FC236}">
                  <a16:creationId xmlns:a16="http://schemas.microsoft.com/office/drawing/2014/main" id="{7C7835AD-5BD6-B93C-21AE-ADFE5440290D}"/>
                </a:ext>
              </a:extLst>
            </p:cNvPr>
            <p:cNvCxnSpPr/>
            <p:nvPr/>
          </p:nvCxnSpPr>
          <p:spPr>
            <a:xfrm>
              <a:off x="11732137" y="2673408"/>
              <a:ext cx="0" cy="553968"/>
            </a:xfrm>
            <a:prstGeom prst="line">
              <a:avLst/>
            </a:prstGeom>
            <a:noFill/>
            <a:ln w="25400" cap="flat" cmpd="sng">
              <a:solidFill>
                <a:srgbClr val="0057AF"/>
              </a:solidFill>
              <a:prstDash val="solid"/>
              <a:round/>
              <a:headEnd type="none" w="lg" len="med"/>
              <a:tailEnd type="none" w="lg" len="med"/>
            </a:ln>
          </p:spPr>
        </p:cxnSp>
        <p:cxnSp>
          <p:nvCxnSpPr>
            <p:cNvPr id="30" name="Straight Connector 29">
              <a:extLst>
                <a:ext uri="{FF2B5EF4-FFF2-40B4-BE49-F238E27FC236}">
                  <a16:creationId xmlns:a16="http://schemas.microsoft.com/office/drawing/2014/main" id="{2B014982-F517-B2FB-067D-0F36747123B0}"/>
                </a:ext>
              </a:extLst>
            </p:cNvPr>
            <p:cNvCxnSpPr/>
            <p:nvPr/>
          </p:nvCxnSpPr>
          <p:spPr>
            <a:xfrm flipH="1">
              <a:off x="11474450" y="2947891"/>
              <a:ext cx="257302" cy="0"/>
            </a:xfrm>
            <a:prstGeom prst="line">
              <a:avLst/>
            </a:prstGeom>
            <a:noFill/>
            <a:ln w="25400" cap="flat" cmpd="sng">
              <a:solidFill>
                <a:srgbClr val="0057AF"/>
              </a:solidFill>
              <a:prstDash val="solid"/>
              <a:round/>
              <a:headEnd type="none" w="lg" len="med"/>
              <a:tailEnd type="none" w="lg" len="med"/>
            </a:ln>
          </p:spPr>
        </p:cxnSp>
      </p:grpSp>
      <p:grpSp>
        <p:nvGrpSpPr>
          <p:cNvPr id="31" name="Group 30">
            <a:extLst>
              <a:ext uri="{FF2B5EF4-FFF2-40B4-BE49-F238E27FC236}">
                <a16:creationId xmlns:a16="http://schemas.microsoft.com/office/drawing/2014/main" id="{60391219-3680-024C-BC7E-9DA398947EBE}"/>
              </a:ext>
            </a:extLst>
          </p:cNvPr>
          <p:cNvGrpSpPr/>
          <p:nvPr/>
        </p:nvGrpSpPr>
        <p:grpSpPr>
          <a:xfrm rot="10800000" flipH="1">
            <a:off x="1254720" y="4937633"/>
            <a:ext cx="257687" cy="747366"/>
            <a:chOff x="11474450" y="2673408"/>
            <a:chExt cx="257687" cy="553968"/>
          </a:xfrm>
        </p:grpSpPr>
        <p:cxnSp>
          <p:nvCxnSpPr>
            <p:cNvPr id="32" name="Straight Connector 31">
              <a:extLst>
                <a:ext uri="{FF2B5EF4-FFF2-40B4-BE49-F238E27FC236}">
                  <a16:creationId xmlns:a16="http://schemas.microsoft.com/office/drawing/2014/main" id="{D56D7DA8-9752-48BC-D5DD-1A5374543EC9}"/>
                </a:ext>
              </a:extLst>
            </p:cNvPr>
            <p:cNvCxnSpPr/>
            <p:nvPr/>
          </p:nvCxnSpPr>
          <p:spPr>
            <a:xfrm>
              <a:off x="11732137" y="2673408"/>
              <a:ext cx="0" cy="553968"/>
            </a:xfrm>
            <a:prstGeom prst="line">
              <a:avLst/>
            </a:prstGeom>
            <a:noFill/>
            <a:ln w="25400" cap="flat" cmpd="sng">
              <a:solidFill>
                <a:srgbClr val="0057AF"/>
              </a:solidFill>
              <a:prstDash val="solid"/>
              <a:round/>
              <a:headEnd type="none" w="lg" len="med"/>
              <a:tailEnd type="none" w="lg" len="med"/>
            </a:ln>
          </p:spPr>
        </p:cxnSp>
        <p:cxnSp>
          <p:nvCxnSpPr>
            <p:cNvPr id="33" name="Straight Connector 32">
              <a:extLst>
                <a:ext uri="{FF2B5EF4-FFF2-40B4-BE49-F238E27FC236}">
                  <a16:creationId xmlns:a16="http://schemas.microsoft.com/office/drawing/2014/main" id="{D23996A3-2341-5C93-7CAE-4EAA5A8267D5}"/>
                </a:ext>
              </a:extLst>
            </p:cNvPr>
            <p:cNvCxnSpPr/>
            <p:nvPr/>
          </p:nvCxnSpPr>
          <p:spPr>
            <a:xfrm flipH="1">
              <a:off x="11474450" y="2947891"/>
              <a:ext cx="257302" cy="0"/>
            </a:xfrm>
            <a:prstGeom prst="line">
              <a:avLst/>
            </a:prstGeom>
            <a:noFill/>
            <a:ln w="25400" cap="flat" cmpd="sng">
              <a:solidFill>
                <a:srgbClr val="0057AF"/>
              </a:solidFill>
              <a:prstDash val="solid"/>
              <a:round/>
              <a:headEnd type="none" w="lg" len="med"/>
              <a:tailEnd type="none" w="lg" len="med"/>
            </a:ln>
          </p:spPr>
        </p:cxnSp>
      </p:grpSp>
      <p:sp>
        <p:nvSpPr>
          <p:cNvPr id="35" name="TextBox 34">
            <a:extLst>
              <a:ext uri="{FF2B5EF4-FFF2-40B4-BE49-F238E27FC236}">
                <a16:creationId xmlns:a16="http://schemas.microsoft.com/office/drawing/2014/main" id="{6F4924A4-CEE2-AD06-BFC4-542DB62DBC76}"/>
              </a:ext>
            </a:extLst>
          </p:cNvPr>
          <p:cNvSpPr txBox="1"/>
          <p:nvPr/>
        </p:nvSpPr>
        <p:spPr>
          <a:xfrm>
            <a:off x="457199" y="815998"/>
            <a:ext cx="11274552" cy="430887"/>
          </a:xfrm>
          <a:prstGeom prst="rect">
            <a:avLst/>
          </a:prstGeom>
          <a:noFill/>
          <a:ln w="25400">
            <a:solidFill>
              <a:srgbClr val="0057AF"/>
            </a:solidFill>
          </a:ln>
        </p:spPr>
        <p:txBody>
          <a:bodyPr wrap="square">
            <a:spAutoFit/>
          </a:bodyPr>
          <a:lstStyle/>
          <a:p>
            <a:pPr marL="0" marR="0" lvl="0" indent="0" algn="l" defTabSz="4572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100" b="0" i="0" u="none" strike="noStrike" kern="1200" cap="none" spc="0" normalizeH="0" baseline="0" noProof="0">
                <a:ln>
                  <a:noFill/>
                </a:ln>
                <a:solidFill>
                  <a:schemeClr val="tx1"/>
                </a:solidFill>
                <a:effectLst/>
                <a:uLnTx/>
                <a:uFillTx/>
                <a:latin typeface="+mn-lt"/>
                <a:ea typeface="+mn-ea"/>
                <a:cs typeface="+mn-cs"/>
              </a:rPr>
              <a:t>As teams work through the redesign process and prioritize opportunities for optimization and greater use of technology, they should continually weigh the potential value and benefit of any changes. At the same time, they need to assess the feasibility of those changes. </a:t>
            </a:r>
            <a:r>
              <a:rPr lang="en-US" sz="1100"/>
              <a:t>U</a:t>
            </a:r>
            <a:r>
              <a:rPr kumimoji="0" lang="en-US" sz="1100" b="0" i="0" u="none" strike="noStrike" kern="1200" cap="none" spc="0" normalizeH="0" baseline="0" noProof="0">
                <a:ln>
                  <a:noFill/>
                </a:ln>
                <a:solidFill>
                  <a:schemeClr val="tx1"/>
                </a:solidFill>
                <a:effectLst/>
                <a:uLnTx/>
                <a:uFillTx/>
                <a:latin typeface="+mn-lt"/>
                <a:ea typeface="+mn-ea"/>
                <a:cs typeface="+mn-cs"/>
              </a:rPr>
              <a:t>sing these guiding questions assess both return and feasibility and change effort.</a:t>
            </a:r>
            <a:endParaRPr lang="en-US" sz="1100" kern="1200">
              <a:solidFill>
                <a:schemeClr val="tx1"/>
              </a:solidFill>
              <a:effectLst/>
              <a:latin typeface="+mn-lt"/>
              <a:ea typeface="+mn-ea"/>
              <a:cs typeface="+mn-cs"/>
            </a:endParaRPr>
          </a:p>
        </p:txBody>
      </p:sp>
      <p:sp>
        <p:nvSpPr>
          <p:cNvPr id="5" name="Rectangle 4">
            <a:extLst>
              <a:ext uri="{FF2B5EF4-FFF2-40B4-BE49-F238E27FC236}">
                <a16:creationId xmlns:a16="http://schemas.microsoft.com/office/drawing/2014/main" id="{4C88D9B3-038E-6593-98A8-E2897BA0A17C}"/>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Collaboration</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
        <p:nvSpPr>
          <p:cNvPr id="6" name="Rounded Rectangle 5">
            <a:extLst>
              <a:ext uri="{FF2B5EF4-FFF2-40B4-BE49-F238E27FC236}">
                <a16:creationId xmlns:a16="http://schemas.microsoft.com/office/drawing/2014/main" id="{012D6C1C-B59B-74E8-0FAD-2D7A1B6EEDE9}"/>
              </a:ext>
            </a:extLst>
          </p:cNvPr>
          <p:cNvSpPr/>
          <p:nvPr/>
        </p:nvSpPr>
        <p:spPr>
          <a:xfrm>
            <a:off x="174168" y="3764980"/>
            <a:ext cx="1189973" cy="457200"/>
          </a:xfrm>
          <a:prstGeom prst="roundRect">
            <a:avLst>
              <a:gd name="adj" fmla="val 0"/>
            </a:avLst>
          </a:prstGeom>
          <a:solidFill>
            <a:schemeClr val="accent5"/>
          </a:solidFill>
          <a:ln w="25400">
            <a:solidFill>
              <a:srgbClr val="0057A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bg1"/>
                </a:solidFill>
                <a:effectLst/>
                <a:uLnTx/>
                <a:uFillTx/>
                <a:latin typeface="Gartner Sans" panose="020B0504030402040204" pitchFamily="34" charset="0"/>
                <a:ea typeface="+mn-ea"/>
                <a:cs typeface="Arial" panose="020B0604020202020204" pitchFamily="34" charset="0"/>
              </a:rPr>
              <a:t>Return on Investment</a:t>
            </a:r>
          </a:p>
        </p:txBody>
      </p:sp>
      <p:sp>
        <p:nvSpPr>
          <p:cNvPr id="9" name="Rounded Rectangle 5">
            <a:extLst>
              <a:ext uri="{FF2B5EF4-FFF2-40B4-BE49-F238E27FC236}">
                <a16:creationId xmlns:a16="http://schemas.microsoft.com/office/drawing/2014/main" id="{CEA9D02F-1069-EF0A-0CBF-EF5770837E6F}"/>
              </a:ext>
            </a:extLst>
          </p:cNvPr>
          <p:cNvSpPr/>
          <p:nvPr/>
        </p:nvSpPr>
        <p:spPr>
          <a:xfrm>
            <a:off x="174170" y="2427601"/>
            <a:ext cx="1189972" cy="457200"/>
          </a:xfrm>
          <a:prstGeom prst="roundRect">
            <a:avLst>
              <a:gd name="adj" fmla="val 0"/>
            </a:avLst>
          </a:prstGeom>
          <a:solidFill>
            <a:schemeClr val="accent5"/>
          </a:solidFill>
          <a:ln w="25400">
            <a:solidFill>
              <a:srgbClr val="0057A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bg1"/>
                </a:solidFill>
                <a:effectLst/>
                <a:uLnTx/>
                <a:uFillTx/>
                <a:latin typeface="Gartner Sans" panose="020B0504030402040204" pitchFamily="34" charset="0"/>
                <a:ea typeface="+mn-ea"/>
                <a:cs typeface="Arial" panose="020B0604020202020204" pitchFamily="34" charset="0"/>
              </a:rPr>
              <a:t>Return on Future </a:t>
            </a:r>
          </a:p>
        </p:txBody>
      </p:sp>
      <p:sp>
        <p:nvSpPr>
          <p:cNvPr id="10" name="Rounded Rectangle 5">
            <a:extLst>
              <a:ext uri="{FF2B5EF4-FFF2-40B4-BE49-F238E27FC236}">
                <a16:creationId xmlns:a16="http://schemas.microsoft.com/office/drawing/2014/main" id="{B1C2A943-822E-F212-045A-0AB753A704FC}"/>
              </a:ext>
            </a:extLst>
          </p:cNvPr>
          <p:cNvSpPr/>
          <p:nvPr/>
        </p:nvSpPr>
        <p:spPr>
          <a:xfrm>
            <a:off x="174170" y="5076946"/>
            <a:ext cx="1189971" cy="457200"/>
          </a:xfrm>
          <a:prstGeom prst="roundRect">
            <a:avLst>
              <a:gd name="adj" fmla="val 0"/>
            </a:avLst>
          </a:prstGeom>
          <a:solidFill>
            <a:schemeClr val="accent5"/>
          </a:solidFill>
          <a:ln w="25400">
            <a:solidFill>
              <a:srgbClr val="0057A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chemeClr val="bg1"/>
                </a:solidFill>
                <a:effectLst/>
                <a:uLnTx/>
                <a:uFillTx/>
                <a:latin typeface="Gartner Sans" panose="020B0504030402040204" pitchFamily="34" charset="0"/>
                <a:ea typeface="+mn-ea"/>
                <a:cs typeface="Arial" panose="020B0604020202020204" pitchFamily="34" charset="0"/>
              </a:rPr>
              <a:t>Return on Employee</a:t>
            </a:r>
          </a:p>
        </p:txBody>
      </p:sp>
    </p:spTree>
    <p:extLst>
      <p:ext uri="{BB962C8B-B14F-4D97-AF65-F5344CB8AC3E}">
        <p14:creationId xmlns:p14="http://schemas.microsoft.com/office/powerpoint/2010/main" val="2004590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dissolv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8E16-4EC7-7265-0B6A-EB53B99D2BC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E4FB981-A2C2-DC3B-608B-4766B7F858D8}"/>
              </a:ext>
            </a:extLst>
          </p:cNvPr>
          <p:cNvGrpSpPr/>
          <p:nvPr/>
        </p:nvGrpSpPr>
        <p:grpSpPr>
          <a:xfrm>
            <a:off x="3819800" y="3756891"/>
            <a:ext cx="4449661" cy="1316736"/>
            <a:chOff x="3615143" y="3754696"/>
            <a:chExt cx="4449661" cy="1316736"/>
          </a:xfrm>
        </p:grpSpPr>
        <p:sp>
          <p:nvSpPr>
            <p:cNvPr id="5" name="Freeform 23">
              <a:extLst>
                <a:ext uri="{FF2B5EF4-FFF2-40B4-BE49-F238E27FC236}">
                  <a16:creationId xmlns:a16="http://schemas.microsoft.com/office/drawing/2014/main" id="{221AB499-7060-A602-E13E-F2D4405842E4}"/>
                </a:ext>
              </a:extLst>
            </p:cNvPr>
            <p:cNvSpPr/>
            <p:nvPr/>
          </p:nvSpPr>
          <p:spPr>
            <a:xfrm>
              <a:off x="4592564" y="3754696"/>
              <a:ext cx="3472240" cy="1316736"/>
            </a:xfrm>
            <a:custGeom>
              <a:avLst/>
              <a:gdLst/>
              <a:ahLst/>
              <a:cxnLst/>
              <a:rect l="l" t="t" r="r" b="b"/>
              <a:pathLst>
                <a:path w="4222750" h="1739900">
                  <a:moveTo>
                    <a:pt x="0" y="1739900"/>
                  </a:moveTo>
                  <a:lnTo>
                    <a:pt x="4222750" y="1739900"/>
                  </a:lnTo>
                  <a:lnTo>
                    <a:pt x="4222750" y="0"/>
                  </a:lnTo>
                  <a:lnTo>
                    <a:pt x="0" y="0"/>
                  </a:lnTo>
                  <a:close/>
                </a:path>
              </a:pathLst>
            </a:custGeom>
            <a:solidFill>
              <a:schemeClr val="tx2">
                <a:lumMod val="20000"/>
                <a:lumOff val="8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9" name="Freeform 24">
              <a:extLst>
                <a:ext uri="{FF2B5EF4-FFF2-40B4-BE49-F238E27FC236}">
                  <a16:creationId xmlns:a16="http://schemas.microsoft.com/office/drawing/2014/main" id="{E623A082-56FA-2B61-022D-34BD53C38F0E}"/>
                </a:ext>
              </a:extLst>
            </p:cNvPr>
            <p:cNvSpPr/>
            <p:nvPr/>
          </p:nvSpPr>
          <p:spPr>
            <a:xfrm>
              <a:off x="4700010" y="3851130"/>
              <a:ext cx="3257348" cy="1123869"/>
            </a:xfrm>
            <a:custGeom>
              <a:avLst/>
              <a:gdLst/>
              <a:ahLst/>
              <a:cxnLst/>
              <a:rect l="l" t="t" r="r" b="b"/>
              <a:pathLst>
                <a:path w="3956050" h="1473200">
                  <a:moveTo>
                    <a:pt x="0" y="0"/>
                  </a:moveTo>
                  <a:lnTo>
                    <a:pt x="3956050" y="0"/>
                  </a:lnTo>
                  <a:lnTo>
                    <a:pt x="3956050" y="1473200"/>
                  </a:lnTo>
                  <a:lnTo>
                    <a:pt x="0" y="1473200"/>
                  </a:lnTo>
                  <a:close/>
                  <a:moveTo>
                    <a:pt x="3956050" y="508000"/>
                  </a:moveTo>
                  <a:lnTo>
                    <a:pt x="0" y="508000"/>
                  </a:lnTo>
                  <a:moveTo>
                    <a:pt x="3956050" y="1003300"/>
                  </a:moveTo>
                  <a:lnTo>
                    <a:pt x="0" y="1003300"/>
                  </a:lnTo>
                </a:path>
              </a:pathLst>
            </a:custGeom>
            <a:solidFill>
              <a:srgbClr val="FFF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10" name="Connector 42">
              <a:extLst>
                <a:ext uri="{FF2B5EF4-FFF2-40B4-BE49-F238E27FC236}">
                  <a16:creationId xmlns:a16="http://schemas.microsoft.com/office/drawing/2014/main" id="{A5047A59-0F22-323E-4D49-CB1C65A388E0}"/>
                </a:ext>
              </a:extLst>
            </p:cNvPr>
            <p:cNvCxnSpPr>
              <a:cxnSpLocks/>
            </p:cNvCxnSpPr>
            <p:nvPr/>
          </p:nvCxnSpPr>
          <p:spPr>
            <a:xfrm>
              <a:off x="5350273" y="4292864"/>
              <a:ext cx="113443" cy="0"/>
            </a:xfrm>
            <a:prstGeom prst="line">
              <a:avLst/>
            </a:prstGeom>
            <a:noFill/>
            <a:ln w="25400" cap="sq">
              <a:solidFill>
                <a:srgbClr val="6F7878"/>
              </a:solidFill>
            </a:ln>
          </p:spPr>
        </p:cxnSp>
        <p:sp>
          <p:nvSpPr>
            <p:cNvPr id="11" name="Freeform 43">
              <a:extLst>
                <a:ext uri="{FF2B5EF4-FFF2-40B4-BE49-F238E27FC236}">
                  <a16:creationId xmlns:a16="http://schemas.microsoft.com/office/drawing/2014/main" id="{2AD17957-CA9C-2DBF-59C0-B8143A38DA05}"/>
                </a:ext>
              </a:extLst>
            </p:cNvPr>
            <p:cNvSpPr/>
            <p:nvPr/>
          </p:nvSpPr>
          <p:spPr>
            <a:xfrm>
              <a:off x="5456442" y="4219712"/>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13" name="Connector 44">
              <a:extLst>
                <a:ext uri="{FF2B5EF4-FFF2-40B4-BE49-F238E27FC236}">
                  <a16:creationId xmlns:a16="http://schemas.microsoft.com/office/drawing/2014/main" id="{5C41223A-198F-2229-8DD0-4BEA68F0CD0A}"/>
                </a:ext>
              </a:extLst>
            </p:cNvPr>
            <p:cNvCxnSpPr>
              <a:cxnSpLocks/>
            </p:cNvCxnSpPr>
            <p:nvPr/>
          </p:nvCxnSpPr>
          <p:spPr>
            <a:xfrm>
              <a:off x="4776963" y="4292864"/>
              <a:ext cx="74411" cy="0"/>
            </a:xfrm>
            <a:prstGeom prst="line">
              <a:avLst/>
            </a:prstGeom>
            <a:noFill/>
            <a:ln w="25400" cap="sq">
              <a:solidFill>
                <a:srgbClr val="6F7878"/>
              </a:solidFill>
            </a:ln>
          </p:spPr>
        </p:cxnSp>
        <p:sp>
          <p:nvSpPr>
            <p:cNvPr id="14" name="Freeform 45">
              <a:extLst>
                <a:ext uri="{FF2B5EF4-FFF2-40B4-BE49-F238E27FC236}">
                  <a16:creationId xmlns:a16="http://schemas.microsoft.com/office/drawing/2014/main" id="{4AF19F78-BC5E-54FA-5C9F-8ABA073F887F}"/>
                </a:ext>
              </a:extLst>
            </p:cNvPr>
            <p:cNvSpPr/>
            <p:nvPr/>
          </p:nvSpPr>
          <p:spPr>
            <a:xfrm>
              <a:off x="4844098" y="4219712"/>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 name="Freeform 47">
              <a:extLst>
                <a:ext uri="{FF2B5EF4-FFF2-40B4-BE49-F238E27FC236}">
                  <a16:creationId xmlns:a16="http://schemas.microsoft.com/office/drawing/2014/main" id="{6FDEC081-29D8-6171-D43F-0C4219CF5E3E}"/>
                </a:ext>
              </a:extLst>
            </p:cNvPr>
            <p:cNvSpPr/>
            <p:nvPr/>
          </p:nvSpPr>
          <p:spPr>
            <a:xfrm>
              <a:off x="6307350" y="4626749"/>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17" name="Connector 48">
              <a:extLst>
                <a:ext uri="{FF2B5EF4-FFF2-40B4-BE49-F238E27FC236}">
                  <a16:creationId xmlns:a16="http://schemas.microsoft.com/office/drawing/2014/main" id="{7844A79C-68E6-39FA-BA88-D68D9B1A197B}"/>
                </a:ext>
              </a:extLst>
            </p:cNvPr>
            <p:cNvCxnSpPr>
              <a:cxnSpLocks/>
            </p:cNvCxnSpPr>
            <p:nvPr/>
          </p:nvCxnSpPr>
          <p:spPr>
            <a:xfrm>
              <a:off x="5943567" y="4292864"/>
              <a:ext cx="113443" cy="0"/>
            </a:xfrm>
            <a:prstGeom prst="line">
              <a:avLst/>
            </a:prstGeom>
            <a:noFill/>
            <a:ln w="25400" cap="sq">
              <a:solidFill>
                <a:srgbClr val="6F7878"/>
              </a:solidFill>
            </a:ln>
          </p:spPr>
        </p:cxnSp>
        <p:sp>
          <p:nvSpPr>
            <p:cNvPr id="18" name="Freeform 49">
              <a:extLst>
                <a:ext uri="{FF2B5EF4-FFF2-40B4-BE49-F238E27FC236}">
                  <a16:creationId xmlns:a16="http://schemas.microsoft.com/office/drawing/2014/main" id="{2CDB7B6D-DD22-A12F-211C-D4A4C910C031}"/>
                </a:ext>
              </a:extLst>
            </p:cNvPr>
            <p:cNvSpPr/>
            <p:nvPr/>
          </p:nvSpPr>
          <p:spPr>
            <a:xfrm>
              <a:off x="6049735" y="4219712"/>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 name="Freeform 51">
              <a:extLst>
                <a:ext uri="{FF2B5EF4-FFF2-40B4-BE49-F238E27FC236}">
                  <a16:creationId xmlns:a16="http://schemas.microsoft.com/office/drawing/2014/main" id="{DA392884-C6B6-4FE3-0FDD-49AFF416FBED}"/>
                </a:ext>
              </a:extLst>
            </p:cNvPr>
            <p:cNvSpPr/>
            <p:nvPr/>
          </p:nvSpPr>
          <p:spPr>
            <a:xfrm>
              <a:off x="6885030" y="4626749"/>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cxnSp>
          <p:nvCxnSpPr>
            <p:cNvPr id="20" name="Connector 54">
              <a:extLst>
                <a:ext uri="{FF2B5EF4-FFF2-40B4-BE49-F238E27FC236}">
                  <a16:creationId xmlns:a16="http://schemas.microsoft.com/office/drawing/2014/main" id="{D307A5E2-0D99-CAA9-ED9D-4D9F140C8086}"/>
                </a:ext>
              </a:extLst>
            </p:cNvPr>
            <p:cNvCxnSpPr>
              <a:cxnSpLocks/>
            </p:cNvCxnSpPr>
            <p:nvPr/>
          </p:nvCxnSpPr>
          <p:spPr>
            <a:xfrm>
              <a:off x="7379962" y="4699901"/>
              <a:ext cx="113443" cy="0"/>
            </a:xfrm>
            <a:prstGeom prst="line">
              <a:avLst/>
            </a:prstGeom>
            <a:noFill/>
            <a:ln w="25400" cap="sq">
              <a:solidFill>
                <a:srgbClr val="6F7878"/>
              </a:solidFill>
            </a:ln>
          </p:spPr>
        </p:cxnSp>
        <p:sp>
          <p:nvSpPr>
            <p:cNvPr id="21" name="Freeform 55">
              <a:extLst>
                <a:ext uri="{FF2B5EF4-FFF2-40B4-BE49-F238E27FC236}">
                  <a16:creationId xmlns:a16="http://schemas.microsoft.com/office/drawing/2014/main" id="{F5D3C724-EA43-308B-D9C6-DE321319553F}"/>
                </a:ext>
              </a:extLst>
            </p:cNvPr>
            <p:cNvSpPr/>
            <p:nvPr/>
          </p:nvSpPr>
          <p:spPr>
            <a:xfrm>
              <a:off x="7486131" y="4626749"/>
              <a:ext cx="82296" cy="146304"/>
            </a:xfrm>
            <a:custGeom>
              <a:avLst/>
              <a:gdLst/>
              <a:ahLst/>
              <a:cxnLst/>
              <a:rect l="l" t="t" r="r" b="b"/>
              <a:pathLst>
                <a:path w="53340" h="99174">
                  <a:moveTo>
                    <a:pt x="53340" y="49593"/>
                  </a:moveTo>
                  <a:lnTo>
                    <a:pt x="0" y="0"/>
                  </a:lnTo>
                  <a:lnTo>
                    <a:pt x="0" y="99174"/>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 name="Freeform 66">
              <a:extLst>
                <a:ext uri="{FF2B5EF4-FFF2-40B4-BE49-F238E27FC236}">
                  <a16:creationId xmlns:a16="http://schemas.microsoft.com/office/drawing/2014/main" id="{73BCFBDD-2DF7-D968-6C83-D3C0A0413F1B}"/>
                </a:ext>
              </a:extLst>
            </p:cNvPr>
            <p:cNvSpPr/>
            <p:nvPr/>
          </p:nvSpPr>
          <p:spPr>
            <a:xfrm>
              <a:off x="7567319" y="4553598"/>
              <a:ext cx="292608" cy="292607"/>
            </a:xfrm>
            <a:custGeom>
              <a:avLst/>
              <a:gdLst/>
              <a:ahLst/>
              <a:cxnLst/>
              <a:rect l="l" t="t" r="r" b="b"/>
              <a:pathLst>
                <a:path w="158750" h="152400">
                  <a:moveTo>
                    <a:pt x="79375" y="152400"/>
                  </a:moveTo>
                  <a:cubicBezTo>
                    <a:pt x="123216" y="152400"/>
                    <a:pt x="158750" y="118276"/>
                    <a:pt x="158750" y="76200"/>
                  </a:cubicBezTo>
                  <a:cubicBezTo>
                    <a:pt x="158750" y="34112"/>
                    <a:pt x="123216" y="0"/>
                    <a:pt x="79375" y="0"/>
                  </a:cubicBezTo>
                  <a:cubicBezTo>
                    <a:pt x="35534" y="0"/>
                    <a:pt x="0" y="34112"/>
                    <a:pt x="0" y="76200"/>
                  </a:cubicBezTo>
                  <a:cubicBezTo>
                    <a:pt x="0" y="118276"/>
                    <a:pt x="35534" y="152400"/>
                    <a:pt x="79375" y="152400"/>
                  </a:cubicBezTo>
                </a:path>
              </a:pathLst>
            </a:custGeom>
            <a:solidFill>
              <a:srgbClr val="91DCF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 name="Freeform 70">
              <a:extLst>
                <a:ext uri="{FF2B5EF4-FFF2-40B4-BE49-F238E27FC236}">
                  <a16:creationId xmlns:a16="http://schemas.microsoft.com/office/drawing/2014/main" id="{63C720D1-2C16-F5A2-CE66-E32047C44416}"/>
                </a:ext>
              </a:extLst>
            </p:cNvPr>
            <p:cNvSpPr/>
            <p:nvPr/>
          </p:nvSpPr>
          <p:spPr>
            <a:xfrm>
              <a:off x="5646920" y="4453450"/>
              <a:ext cx="97831" cy="246713"/>
            </a:xfrm>
            <a:custGeom>
              <a:avLst/>
              <a:gdLst/>
              <a:ahLst/>
              <a:cxnLst/>
              <a:rect l="l" t="t" r="r" b="b"/>
              <a:pathLst>
                <a:path w="79578" h="127000">
                  <a:moveTo>
                    <a:pt x="0" y="0"/>
                  </a:moveTo>
                  <a:lnTo>
                    <a:pt x="0" y="127000"/>
                  </a:lnTo>
                  <a:lnTo>
                    <a:pt x="79578" y="127000"/>
                  </a:lnTo>
                </a:path>
              </a:pathLst>
            </a:custGeom>
            <a:noFill/>
            <a:ln w="25400" cap="sq">
              <a:solidFill>
                <a:srgbClr val="6F787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 name="Freeform 71">
              <a:extLst>
                <a:ext uri="{FF2B5EF4-FFF2-40B4-BE49-F238E27FC236}">
                  <a16:creationId xmlns:a16="http://schemas.microsoft.com/office/drawing/2014/main" id="{7A01ED57-7D26-063A-0EE3-5A667E925137}"/>
                </a:ext>
              </a:extLst>
            </p:cNvPr>
            <p:cNvSpPr/>
            <p:nvPr/>
          </p:nvSpPr>
          <p:spPr>
            <a:xfrm>
              <a:off x="5737475" y="4626749"/>
              <a:ext cx="82296" cy="146304"/>
            </a:xfrm>
            <a:custGeom>
              <a:avLst/>
              <a:gdLst/>
              <a:ahLst/>
              <a:cxnLst/>
              <a:rect l="l" t="t" r="r" b="b"/>
              <a:pathLst>
                <a:path w="53340" h="99187">
                  <a:moveTo>
                    <a:pt x="53340" y="49593"/>
                  </a:moveTo>
                  <a:lnTo>
                    <a:pt x="0" y="0"/>
                  </a:lnTo>
                  <a:lnTo>
                    <a:pt x="0" y="99187"/>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 name="Freeform 72">
              <a:extLst>
                <a:ext uri="{FF2B5EF4-FFF2-40B4-BE49-F238E27FC236}">
                  <a16:creationId xmlns:a16="http://schemas.microsoft.com/office/drawing/2014/main" id="{EA1269BC-7D98-8AA9-7410-7886C40EB1A1}"/>
                </a:ext>
              </a:extLst>
            </p:cNvPr>
            <p:cNvSpPr/>
            <p:nvPr/>
          </p:nvSpPr>
          <p:spPr>
            <a:xfrm>
              <a:off x="6544667" y="4292905"/>
              <a:ext cx="156130" cy="136087"/>
            </a:xfrm>
            <a:custGeom>
              <a:avLst/>
              <a:gdLst/>
              <a:ahLst/>
              <a:cxnLst/>
              <a:rect l="l" t="t" r="r" b="b"/>
              <a:pathLst>
                <a:path w="127000" h="70053">
                  <a:moveTo>
                    <a:pt x="0" y="0"/>
                  </a:moveTo>
                  <a:lnTo>
                    <a:pt x="127000" y="0"/>
                  </a:lnTo>
                  <a:lnTo>
                    <a:pt x="127000" y="70054"/>
                  </a:lnTo>
                </a:path>
              </a:pathLst>
            </a:custGeom>
            <a:noFill/>
            <a:ln w="25400" cap="sq">
              <a:solidFill>
                <a:srgbClr val="6F787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 name="Freeform 73">
              <a:extLst>
                <a:ext uri="{FF2B5EF4-FFF2-40B4-BE49-F238E27FC236}">
                  <a16:creationId xmlns:a16="http://schemas.microsoft.com/office/drawing/2014/main" id="{84FB62FC-A2E2-DC55-9938-DC027C679B95}"/>
                </a:ext>
              </a:extLst>
            </p:cNvPr>
            <p:cNvSpPr/>
            <p:nvPr/>
          </p:nvSpPr>
          <p:spPr>
            <a:xfrm>
              <a:off x="6627126" y="4417495"/>
              <a:ext cx="146304" cy="82296"/>
            </a:xfrm>
            <a:custGeom>
              <a:avLst/>
              <a:gdLst/>
              <a:ahLst/>
              <a:cxnLst/>
              <a:rect l="l" t="t" r="r" b="b"/>
              <a:pathLst>
                <a:path w="99187" h="53340">
                  <a:moveTo>
                    <a:pt x="49594" y="53340"/>
                  </a:moveTo>
                  <a:lnTo>
                    <a:pt x="99187" y="0"/>
                  </a:lnTo>
                  <a:lnTo>
                    <a:pt x="0" y="0"/>
                  </a:lnTo>
                  <a:close/>
                </a:path>
              </a:pathLst>
            </a:custGeom>
            <a:solidFill>
              <a:srgbClr val="6F787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 name="Freeform 75">
              <a:extLst>
                <a:ext uri="{FF2B5EF4-FFF2-40B4-BE49-F238E27FC236}">
                  <a16:creationId xmlns:a16="http://schemas.microsoft.com/office/drawing/2014/main" id="{6A34CC37-169C-5682-7171-E1D2F207B999}"/>
                </a:ext>
              </a:extLst>
            </p:cNvPr>
            <p:cNvSpPr/>
            <p:nvPr/>
          </p:nvSpPr>
          <p:spPr>
            <a:xfrm>
              <a:off x="5537629" y="4138669"/>
              <a:ext cx="413744" cy="308390"/>
            </a:xfrm>
            <a:custGeom>
              <a:avLst/>
              <a:gdLst/>
              <a:ahLst/>
              <a:cxnLst/>
              <a:rect l="l" t="t" r="r" b="b"/>
              <a:pathLst>
                <a:path w="336550" h="158750">
                  <a:moveTo>
                    <a:pt x="0" y="158750"/>
                  </a:moveTo>
                  <a:lnTo>
                    <a:pt x="336550" y="158750"/>
                  </a:lnTo>
                  <a:lnTo>
                    <a:pt x="336550" y="0"/>
                  </a:lnTo>
                  <a:lnTo>
                    <a:pt x="0" y="0"/>
                  </a:lnTo>
                  <a:close/>
                </a:path>
              </a:pathLst>
            </a:custGeom>
            <a:solidFill>
              <a:srgbClr val="6A80A3"/>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 name="Google Shape;1443;p19">
              <a:extLst>
                <a:ext uri="{FF2B5EF4-FFF2-40B4-BE49-F238E27FC236}">
                  <a16:creationId xmlns:a16="http://schemas.microsoft.com/office/drawing/2014/main" id="{843771F0-EEA4-F962-734D-1D95B44DFDFE}"/>
                </a:ext>
              </a:extLst>
            </p:cNvPr>
            <p:cNvSpPr/>
            <p:nvPr/>
          </p:nvSpPr>
          <p:spPr>
            <a:xfrm rot="10800000">
              <a:off x="5386150" y="4064366"/>
              <a:ext cx="99903" cy="106573"/>
            </a:xfrm>
            <a:prstGeom prst="rect">
              <a:avLst/>
            </a:prstGeom>
            <a:noFill/>
            <a:ln w="28575"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29" name="Google Shape;1443;p19">
              <a:extLst>
                <a:ext uri="{FF2B5EF4-FFF2-40B4-BE49-F238E27FC236}">
                  <a16:creationId xmlns:a16="http://schemas.microsoft.com/office/drawing/2014/main" id="{BDABD0BF-E544-EDA9-9E67-414A537911D0}"/>
                </a:ext>
              </a:extLst>
            </p:cNvPr>
            <p:cNvSpPr/>
            <p:nvPr/>
          </p:nvSpPr>
          <p:spPr>
            <a:xfrm rot="10800000">
              <a:off x="6014621" y="4078025"/>
              <a:ext cx="99903" cy="106573"/>
            </a:xfrm>
            <a:prstGeom prst="rect">
              <a:avLst/>
            </a:prstGeom>
            <a:noFill/>
            <a:ln w="28575"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30" name="TextBox 29">
              <a:extLst>
                <a:ext uri="{FF2B5EF4-FFF2-40B4-BE49-F238E27FC236}">
                  <a16:creationId xmlns:a16="http://schemas.microsoft.com/office/drawing/2014/main" id="{AB41C459-6122-F026-991C-5939365B8EBF}"/>
                </a:ext>
              </a:extLst>
            </p:cNvPr>
            <p:cNvSpPr txBox="1"/>
            <p:nvPr/>
          </p:nvSpPr>
          <p:spPr>
            <a:xfrm>
              <a:off x="3615143" y="4193439"/>
              <a:ext cx="977902" cy="439250"/>
            </a:xfrm>
            <a:prstGeom prst="rect">
              <a:avLst/>
            </a:prstGeom>
            <a:solidFill>
              <a:srgbClr val="009AD7"/>
            </a:solidFill>
          </p:spPr>
          <p:txBody>
            <a:bodyPr lIns="0" tIns="0" rIns="0" bIns="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Identify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panose="020B0604020202020204" pitchFamily="34" charset="0"/>
                  <a:ea typeface="+mn-ea"/>
                  <a:cs typeface="+mn-cs"/>
                </a:rPr>
                <a:t> delivery route </a:t>
              </a:r>
            </a:p>
          </p:txBody>
        </p:sp>
        <p:cxnSp>
          <p:nvCxnSpPr>
            <p:cNvPr id="31" name="Connector 54">
              <a:extLst>
                <a:ext uri="{FF2B5EF4-FFF2-40B4-BE49-F238E27FC236}">
                  <a16:creationId xmlns:a16="http://schemas.microsoft.com/office/drawing/2014/main" id="{43BFFCA1-27A8-F262-817D-7B929788057D}"/>
                </a:ext>
              </a:extLst>
            </p:cNvPr>
            <p:cNvCxnSpPr>
              <a:cxnSpLocks/>
            </p:cNvCxnSpPr>
            <p:nvPr/>
          </p:nvCxnSpPr>
          <p:spPr>
            <a:xfrm>
              <a:off x="6771588" y="4699901"/>
              <a:ext cx="113443" cy="0"/>
            </a:xfrm>
            <a:prstGeom prst="line">
              <a:avLst/>
            </a:prstGeom>
            <a:noFill/>
            <a:ln w="25400" cap="sq">
              <a:solidFill>
                <a:srgbClr val="6F7878"/>
              </a:solidFill>
            </a:ln>
          </p:spPr>
        </p:cxnSp>
        <p:cxnSp>
          <p:nvCxnSpPr>
            <p:cNvPr id="32" name="Connector 54">
              <a:extLst>
                <a:ext uri="{FF2B5EF4-FFF2-40B4-BE49-F238E27FC236}">
                  <a16:creationId xmlns:a16="http://schemas.microsoft.com/office/drawing/2014/main" id="{2476FA22-F309-273D-AE45-C94AAC401570}"/>
                </a:ext>
              </a:extLst>
            </p:cNvPr>
            <p:cNvCxnSpPr>
              <a:cxnSpLocks/>
            </p:cNvCxnSpPr>
            <p:nvPr/>
          </p:nvCxnSpPr>
          <p:spPr>
            <a:xfrm>
              <a:off x="6211084" y="4699901"/>
              <a:ext cx="113443" cy="0"/>
            </a:xfrm>
            <a:prstGeom prst="line">
              <a:avLst/>
            </a:prstGeom>
            <a:noFill/>
            <a:ln w="25400" cap="sq">
              <a:solidFill>
                <a:srgbClr val="6F7878"/>
              </a:solidFill>
            </a:ln>
          </p:spPr>
        </p:cxnSp>
        <p:sp>
          <p:nvSpPr>
            <p:cNvPr id="33" name="Freeform 33">
              <a:extLst>
                <a:ext uri="{FF2B5EF4-FFF2-40B4-BE49-F238E27FC236}">
                  <a16:creationId xmlns:a16="http://schemas.microsoft.com/office/drawing/2014/main" id="{B3AE6D8F-AF04-98E7-E266-D2061C8E5E6F}"/>
                </a:ext>
              </a:extLst>
            </p:cNvPr>
            <p:cNvSpPr/>
            <p:nvPr/>
          </p:nvSpPr>
          <p:spPr>
            <a:xfrm>
              <a:off x="4927707" y="4138629"/>
              <a:ext cx="446704" cy="308471"/>
            </a:xfrm>
            <a:custGeom>
              <a:avLst/>
              <a:gdLst/>
              <a:ahLst/>
              <a:cxnLst/>
              <a:rect l="l" t="t" r="r" b="b"/>
              <a:pathLst>
                <a:path w="448729" h="211671">
                  <a:moveTo>
                    <a:pt x="0" y="211671"/>
                  </a:moveTo>
                  <a:lnTo>
                    <a:pt x="448729" y="211671"/>
                  </a:lnTo>
                  <a:lnTo>
                    <a:pt x="448729" y="0"/>
                  </a:lnTo>
                  <a:lnTo>
                    <a:pt x="0" y="0"/>
                  </a:lnTo>
                  <a:close/>
                </a:path>
              </a:pathLst>
            </a:custGeom>
            <a:solidFill>
              <a:srgbClr val="A1B3CA"/>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 name="Freeform 31">
              <a:extLst>
                <a:ext uri="{FF2B5EF4-FFF2-40B4-BE49-F238E27FC236}">
                  <a16:creationId xmlns:a16="http://schemas.microsoft.com/office/drawing/2014/main" id="{737EC36A-1AF9-55D4-7414-CFDF21AADCF8}"/>
                </a:ext>
              </a:extLst>
            </p:cNvPr>
            <p:cNvSpPr/>
            <p:nvPr/>
          </p:nvSpPr>
          <p:spPr>
            <a:xfrm>
              <a:off x="6966219" y="4551874"/>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91DCF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 name="Freeform 65">
              <a:extLst>
                <a:ext uri="{FF2B5EF4-FFF2-40B4-BE49-F238E27FC236}">
                  <a16:creationId xmlns:a16="http://schemas.microsoft.com/office/drawing/2014/main" id="{A2269880-097A-52D4-91F8-E3D002A1E944}"/>
                </a:ext>
              </a:extLst>
            </p:cNvPr>
            <p:cNvSpPr/>
            <p:nvPr/>
          </p:nvSpPr>
          <p:spPr>
            <a:xfrm>
              <a:off x="5818663" y="4551874"/>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91DCF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 name="Freeform 74">
              <a:extLst>
                <a:ext uri="{FF2B5EF4-FFF2-40B4-BE49-F238E27FC236}">
                  <a16:creationId xmlns:a16="http://schemas.microsoft.com/office/drawing/2014/main" id="{2393121D-48AA-5691-B19C-39AAC60BBC3B}"/>
                </a:ext>
              </a:extLst>
            </p:cNvPr>
            <p:cNvSpPr/>
            <p:nvPr/>
          </p:nvSpPr>
          <p:spPr>
            <a:xfrm>
              <a:off x="6388537" y="4551874"/>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91DCF8"/>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 name="Google Shape;1447;p19">
              <a:extLst>
                <a:ext uri="{FF2B5EF4-FFF2-40B4-BE49-F238E27FC236}">
                  <a16:creationId xmlns:a16="http://schemas.microsoft.com/office/drawing/2014/main" id="{FDD36ECB-DD4C-E50D-745D-8E5883CDAE90}"/>
                </a:ext>
              </a:extLst>
            </p:cNvPr>
            <p:cNvSpPr/>
            <p:nvPr/>
          </p:nvSpPr>
          <p:spPr>
            <a:xfrm rot="10800000">
              <a:off x="5047683" y="4203791"/>
              <a:ext cx="99903" cy="106573"/>
            </a:xfrm>
            <a:prstGeom prst="rect">
              <a:avLst/>
            </a:prstGeom>
            <a:noFill/>
            <a:ln w="28575"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3" name="Google Shape;1445;p19">
              <a:extLst>
                <a:ext uri="{FF2B5EF4-FFF2-40B4-BE49-F238E27FC236}">
                  <a16:creationId xmlns:a16="http://schemas.microsoft.com/office/drawing/2014/main" id="{AC9A2601-56BE-7F89-F391-F36AD2957391}"/>
                </a:ext>
              </a:extLst>
            </p:cNvPr>
            <p:cNvSpPr/>
            <p:nvPr/>
          </p:nvSpPr>
          <p:spPr>
            <a:xfrm rot="10800000">
              <a:off x="7029708" y="4634380"/>
              <a:ext cx="99903" cy="106573"/>
            </a:xfrm>
            <a:prstGeom prst="rect">
              <a:avLst/>
            </a:prstGeom>
            <a:noFill/>
            <a:ln w="28575" cap="flat" cmpd="sng">
              <a:solidFill>
                <a:srgbClr val="FEC10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4" name="Freeform 30">
              <a:extLst>
                <a:ext uri="{FF2B5EF4-FFF2-40B4-BE49-F238E27FC236}">
                  <a16:creationId xmlns:a16="http://schemas.microsoft.com/office/drawing/2014/main" id="{4F1022BE-C675-E942-D0BD-DE3D853F6A5D}"/>
                </a:ext>
              </a:extLst>
            </p:cNvPr>
            <p:cNvSpPr/>
            <p:nvPr/>
          </p:nvSpPr>
          <p:spPr>
            <a:xfrm>
              <a:off x="6130923" y="4138669"/>
              <a:ext cx="413744" cy="308390"/>
            </a:xfrm>
            <a:custGeom>
              <a:avLst/>
              <a:gdLst/>
              <a:ahLst/>
              <a:cxnLst/>
              <a:rect l="l" t="t" r="r" b="b"/>
              <a:pathLst>
                <a:path w="336550" h="158750">
                  <a:moveTo>
                    <a:pt x="0" y="158750"/>
                  </a:moveTo>
                  <a:lnTo>
                    <a:pt x="336550" y="158750"/>
                  </a:lnTo>
                  <a:lnTo>
                    <a:pt x="336550" y="0"/>
                  </a:lnTo>
                  <a:lnTo>
                    <a:pt x="0" y="0"/>
                  </a:lnTo>
                  <a:close/>
                </a:path>
              </a:pathLst>
            </a:custGeom>
            <a:solidFill>
              <a:srgbClr val="002856"/>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 name="Google Shape;1441;p19">
              <a:extLst>
                <a:ext uri="{FF2B5EF4-FFF2-40B4-BE49-F238E27FC236}">
                  <a16:creationId xmlns:a16="http://schemas.microsoft.com/office/drawing/2014/main" id="{D6F266CD-4BDF-CDC6-1E9A-E84C1E53F330}"/>
                </a:ext>
              </a:extLst>
            </p:cNvPr>
            <p:cNvSpPr/>
            <p:nvPr/>
          </p:nvSpPr>
          <p:spPr>
            <a:xfrm rot="10800000">
              <a:off x="6217855" y="4205282"/>
              <a:ext cx="99903" cy="106573"/>
            </a:xfrm>
            <a:prstGeom prst="rect">
              <a:avLst/>
            </a:prstGeom>
            <a:noFill/>
            <a:ln w="28575" cap="flat" cmpd="sng">
              <a:solidFill>
                <a:srgbClr val="009AD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grpSp>
      <p:sp>
        <p:nvSpPr>
          <p:cNvPr id="4" name="Title 3">
            <a:extLst>
              <a:ext uri="{FF2B5EF4-FFF2-40B4-BE49-F238E27FC236}">
                <a16:creationId xmlns:a16="http://schemas.microsoft.com/office/drawing/2014/main" id="{E34797E3-FF12-8926-B5E7-5C431E54C532}"/>
              </a:ext>
            </a:extLst>
          </p:cNvPr>
          <p:cNvSpPr>
            <a:spLocks noGrp="1"/>
          </p:cNvSpPr>
          <p:nvPr>
            <p:ph type="title"/>
          </p:nvPr>
        </p:nvSpPr>
        <p:spPr/>
        <p:txBody>
          <a:bodyPr/>
          <a:lstStyle/>
          <a:p>
            <a:r>
              <a:rPr lang="en-US">
                <a:solidFill>
                  <a:srgbClr val="002869"/>
                </a:solidFill>
              </a:rPr>
              <a:t>4. Redesign Processes</a:t>
            </a:r>
            <a:endParaRPr lang="en-US"/>
          </a:p>
        </p:txBody>
      </p:sp>
      <p:graphicFrame>
        <p:nvGraphicFramePr>
          <p:cNvPr id="6" name="Table 5">
            <a:extLst>
              <a:ext uri="{FF2B5EF4-FFF2-40B4-BE49-F238E27FC236}">
                <a16:creationId xmlns:a16="http://schemas.microsoft.com/office/drawing/2014/main" id="{C8C0A641-AE66-CD6F-1A0D-A105F5E0F38C}"/>
              </a:ext>
            </a:extLst>
          </p:cNvPr>
          <p:cNvGraphicFramePr>
            <a:graphicFrameLocks noGrp="1"/>
          </p:cNvGraphicFramePr>
          <p:nvPr>
            <p:extLst>
              <p:ext uri="{D42A27DB-BD31-4B8C-83A1-F6EECF244321}">
                <p14:modId xmlns:p14="http://schemas.microsoft.com/office/powerpoint/2010/main" val="3739700758"/>
              </p:ext>
            </p:extLst>
          </p:nvPr>
        </p:nvGraphicFramePr>
        <p:xfrm>
          <a:off x="457200" y="1097280"/>
          <a:ext cx="11274552" cy="2021332"/>
        </p:xfrm>
        <a:graphic>
          <a:graphicData uri="http://schemas.openxmlformats.org/drawingml/2006/table">
            <a:tbl>
              <a:tblPr firstRow="1" bandRow="1">
                <a:noFill/>
              </a:tblPr>
              <a:tblGrid>
                <a:gridCol w="11274552">
                  <a:extLst>
                    <a:ext uri="{9D8B030D-6E8A-4147-A177-3AD203B41FA5}">
                      <a16:colId xmlns:a16="http://schemas.microsoft.com/office/drawing/2014/main" val="3360203907"/>
                    </a:ext>
                  </a:extLst>
                </a:gridCol>
              </a:tblGrid>
              <a:tr h="248404">
                <a:tc>
                  <a:txBody>
                    <a:bodyPr/>
                    <a:lstStyle/>
                    <a:p>
                      <a:pPr marL="0" marR="0" lvl="0" indent="0" algn="l" rtl="0">
                        <a:spcBef>
                          <a:spcPts val="0"/>
                        </a:spcBef>
                        <a:spcAft>
                          <a:spcPts val="0"/>
                        </a:spcAft>
                        <a:buNone/>
                      </a:pPr>
                      <a:r>
                        <a:rPr lang="en-US" sz="1100" b="1" dirty="0">
                          <a:solidFill>
                            <a:srgbClr val="FFFFFF"/>
                          </a:solidFill>
                        </a:rPr>
                        <a:t>Instructions</a:t>
                      </a:r>
                      <a:endParaRPr lang="en-US" sz="1100" dirty="0">
                        <a:solidFill>
                          <a:srgbClr val="FFFFFF"/>
                        </a:solidFill>
                      </a:endParaRP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256032709"/>
                  </a:ext>
                </a:extLst>
              </a:tr>
              <a:tr h="1590725">
                <a:tc>
                  <a:txBody>
                    <a:bodyPr/>
                    <a:lstStyle/>
                    <a:p>
                      <a:pPr marL="0" indent="0">
                        <a:spcAft>
                          <a:spcPts val="100"/>
                        </a:spcAft>
                      </a:pPr>
                      <a:r>
                        <a:rPr lang="en-US" sz="1100" dirty="0"/>
                        <a:t>Co shape process redesign efforts to improve efficiency, scalability, and innovation, ensuring HR collaboration to inform workforce planning, capability shifts, and change efforts.</a:t>
                      </a:r>
                    </a:p>
                    <a:p>
                      <a:pPr marL="0" indent="231775">
                        <a:spcAft>
                          <a:spcPts val="100"/>
                        </a:spcAft>
                        <a:buFont typeface="+mj-lt"/>
                        <a:buAutoNum type="arabicPeriod"/>
                      </a:pPr>
                      <a:r>
                        <a:rPr lang="en-US" sz="1100" b="1" dirty="0"/>
                        <a:t>Prioritize for Impact</a:t>
                      </a:r>
                      <a:r>
                        <a:rPr lang="en-US" sz="1100" b="0" dirty="0"/>
                        <a:t>: Evaluate optimization and technology opportunities (see appendix pages 9–10).</a:t>
                      </a:r>
                    </a:p>
                    <a:p>
                      <a:pPr marL="265176" indent="173736">
                        <a:spcAft>
                          <a:spcPts val="100"/>
                        </a:spcAft>
                        <a:buFont typeface="Arial" panose="020B0604020202020204" pitchFamily="34" charset="0"/>
                        <a:buChar char="•"/>
                      </a:pPr>
                      <a:r>
                        <a:rPr lang="en-US" sz="1100" b="0" dirty="0"/>
                        <a:t>Business return dimensions: innovation, customer/employee experience, cost reduction, margin improvement, productivity gains.</a:t>
                      </a:r>
                    </a:p>
                    <a:p>
                      <a:pPr marL="265176" indent="173736">
                        <a:spcAft>
                          <a:spcPts val="100"/>
                        </a:spcAft>
                        <a:buFont typeface="Arial" panose="020B0604020202020204" pitchFamily="34" charset="0"/>
                        <a:buChar char="•"/>
                      </a:pPr>
                      <a:r>
                        <a:rPr lang="en-US" sz="1100" b="0" dirty="0"/>
                        <a:t>Feasibility factors: technology readiness, data quality, change effort, expected/desired time to outcome and cost.</a:t>
                      </a:r>
                    </a:p>
                    <a:p>
                      <a:pPr marL="231775" indent="-231775">
                        <a:spcAft>
                          <a:spcPts val="100"/>
                        </a:spcAft>
                        <a:buFont typeface="+mj-lt"/>
                        <a:buAutoNum type="arabicPeriod" startAt="2"/>
                      </a:pPr>
                      <a:r>
                        <a:rPr lang="en-US" sz="1100" b="1" dirty="0"/>
                        <a:t>Synchronize process, technology redesign, and workforce capabilities shifts</a:t>
                      </a:r>
                      <a:r>
                        <a:rPr lang="en-US" sz="1100" b="0" dirty="0"/>
                        <a:t>: Prioritize process optimization first to avoid automating inefficiencies. Before automating, assess if tasks can be improved, simplified, extended, or eliminated.</a:t>
                      </a:r>
                    </a:p>
                    <a:p>
                      <a:pPr marL="231775" indent="-231775">
                        <a:spcAft>
                          <a:spcPts val="100"/>
                        </a:spcAft>
                        <a:buFont typeface="+mj-lt"/>
                        <a:buAutoNum type="arabicPeriod" startAt="2"/>
                      </a:pPr>
                      <a:r>
                        <a:rPr lang="en-US" sz="1100" b="1" dirty="0"/>
                        <a:t>Design Future State</a:t>
                      </a:r>
                      <a:r>
                        <a:rPr lang="en-US" sz="1100" dirty="0"/>
                        <a:t>: Map workflows with Human + Tech checkpoints: use process mining for big-picture visibility and task mining for detailed fixes.</a:t>
                      </a:r>
                      <a:endParaRPr lang="en-US" sz="1100" b="0" dirty="0"/>
                    </a:p>
                    <a:p>
                      <a:pPr marL="231775" indent="-231775">
                        <a:spcAft>
                          <a:spcPts val="100"/>
                        </a:spcAft>
                        <a:buFont typeface="+mj-lt"/>
                        <a:buAutoNum type="arabicPeriod" startAt="2"/>
                      </a:pPr>
                      <a:r>
                        <a:rPr lang="en-US" sz="1100" b="1" dirty="0"/>
                        <a:t>Set Outcome Metrics</a:t>
                      </a:r>
                      <a:r>
                        <a:rPr lang="en-US" sz="1100" b="0" dirty="0"/>
                        <a:t>: Define efficiency, quality, and business impact targets vs. baseline; add workforce KPIs (adoption, readiness, capability shifts) for tracking. </a:t>
                      </a:r>
                    </a:p>
                    <a:p>
                      <a:pPr marL="231775" indent="-231775">
                        <a:spcAft>
                          <a:spcPts val="100"/>
                        </a:spcAft>
                        <a:buFont typeface="+mj-lt"/>
                        <a:buAutoNum type="arabicPeriod" startAt="2"/>
                      </a:pPr>
                      <a:r>
                        <a:rPr lang="en-US" sz="1100" b="1" dirty="0"/>
                        <a:t>Enable Dynamic Recalibration</a:t>
                      </a:r>
                      <a:r>
                        <a:rPr lang="en-US" sz="1100" b="0" dirty="0"/>
                        <a:t>: Build a cycle for ongoing adjustments to manage AI elasticity and change speed, backed by HR-led change and reskilling</a:t>
                      </a:r>
                      <a:r>
                        <a:rPr lang="en-US" sz="1100" dirty="0"/>
                        <a:t>.</a:t>
                      </a:r>
                    </a:p>
                  </a:txBody>
                  <a:tcPr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905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1450980"/>
                  </a:ext>
                </a:extLst>
              </a:tr>
            </a:tbl>
          </a:graphicData>
        </a:graphic>
      </p:graphicFrame>
      <p:sp>
        <p:nvSpPr>
          <p:cNvPr id="7" name="Google Shape;1511;p20">
            <a:extLst>
              <a:ext uri="{FF2B5EF4-FFF2-40B4-BE49-F238E27FC236}">
                <a16:creationId xmlns:a16="http://schemas.microsoft.com/office/drawing/2014/main" id="{DC9613AB-B98E-EADD-FD92-80DA4D29B96C}"/>
              </a:ext>
            </a:extLst>
          </p:cNvPr>
          <p:cNvSpPr/>
          <p:nvPr/>
        </p:nvSpPr>
        <p:spPr>
          <a:xfrm>
            <a:off x="3300346" y="4460764"/>
            <a:ext cx="140245" cy="280490"/>
          </a:xfrm>
          <a:custGeom>
            <a:avLst/>
            <a:gdLst/>
            <a:ahLst/>
            <a:cxnLst/>
            <a:rect l="l" t="t" r="r" b="b"/>
            <a:pathLst>
              <a:path w="304038" h="608076" extrusionOk="0">
                <a:moveTo>
                  <a:pt x="304038" y="304038"/>
                </a:moveTo>
                <a:lnTo>
                  <a:pt x="0" y="0"/>
                </a:lnTo>
                <a:lnTo>
                  <a:pt x="0" y="608076"/>
                </a:lnTo>
                <a:close/>
              </a:path>
            </a:pathLst>
          </a:custGeom>
          <a:solidFill>
            <a:srgbClr val="5A798C"/>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12" name="Google Shape;1509;p20">
            <a:extLst>
              <a:ext uri="{FF2B5EF4-FFF2-40B4-BE49-F238E27FC236}">
                <a16:creationId xmlns:a16="http://schemas.microsoft.com/office/drawing/2014/main" id="{A361BD27-F707-DEFA-737D-5D38FB7A0D73}"/>
              </a:ext>
            </a:extLst>
          </p:cNvPr>
          <p:cNvSpPr txBox="1"/>
          <p:nvPr/>
        </p:nvSpPr>
        <p:spPr>
          <a:xfrm>
            <a:off x="379659" y="3268214"/>
            <a:ext cx="2837475" cy="230832"/>
          </a:xfrm>
          <a:prstGeom prst="rect">
            <a:avLst/>
          </a:prstGeom>
          <a:noFill/>
          <a:ln>
            <a:noFill/>
          </a:ln>
        </p:spPr>
        <p:txBody>
          <a:bodyPr spcFirstLastPara="1" wrap="square" lIns="45720" tIns="45720" rIns="45720" bIns="45720" anchor="t" anchorCtr="0">
            <a:spAutoFit/>
          </a:bodyPr>
          <a:lstStyle/>
          <a:p>
            <a:pPr marL="0" marR="0" lvl="0" indent="0" algn="ctr" defTabSz="457200" rtl="0" eaLnBrk="1" fontAlgn="auto" latinLnBrk="0" hangingPunct="1">
              <a:lnSpc>
                <a:spcPct val="90000"/>
              </a:lnSpc>
              <a:spcBef>
                <a:spcPts val="0"/>
              </a:spcBef>
              <a:spcAft>
                <a:spcPts val="0"/>
              </a:spcAft>
              <a:buClr>
                <a:srgbClr val="FFFFFF"/>
              </a:buClr>
              <a:buSzPts val="1400"/>
              <a:buFont typeface="Arial"/>
              <a:buNone/>
              <a:tabLst/>
              <a:defRPr/>
            </a:pPr>
            <a:r>
              <a:rPr kumimoji="0" lang="en-US" sz="1000" b="1" i="0" u="none" strike="noStrike" kern="1200" cap="none" spc="0" normalizeH="0" baseline="0" noProof="0">
                <a:ln>
                  <a:noFill/>
                </a:ln>
                <a:solidFill>
                  <a:srgbClr val="000000"/>
                </a:solidFill>
                <a:effectLst/>
                <a:uLnTx/>
                <a:uFillTx/>
                <a:latin typeface="Gartner Sans" panose="020B0504030402040204" pitchFamily="34" charset="0"/>
                <a:ea typeface="Arial"/>
                <a:cs typeface="Arial"/>
                <a:sym typeface="Arial"/>
              </a:rPr>
              <a:t>Process Optimization</a:t>
            </a:r>
          </a:p>
        </p:txBody>
      </p:sp>
      <p:sp>
        <p:nvSpPr>
          <p:cNvPr id="39" name="Google Shape;1446;p19">
            <a:extLst>
              <a:ext uri="{FF2B5EF4-FFF2-40B4-BE49-F238E27FC236}">
                <a16:creationId xmlns:a16="http://schemas.microsoft.com/office/drawing/2014/main" id="{2F505184-03AF-4253-03AF-D4F9C6B73924}"/>
              </a:ext>
            </a:extLst>
          </p:cNvPr>
          <p:cNvSpPr txBox="1"/>
          <p:nvPr/>
        </p:nvSpPr>
        <p:spPr>
          <a:xfrm>
            <a:off x="457200" y="3154439"/>
            <a:ext cx="2832606" cy="2831544"/>
          </a:xfrm>
          <a:prstGeom prst="rect">
            <a:avLst/>
          </a:prstGeom>
          <a:noFill/>
          <a:ln w="25400">
            <a:solidFill>
              <a:srgbClr val="002869"/>
            </a:solidFill>
          </a:ln>
        </p:spPr>
        <p:txBody>
          <a:bodyPr spcFirstLastPara="1" wrap="square" lIns="365760" tIns="91440" rIns="91440" bIns="91440" anchor="t" anchorCtr="0">
            <a:spAutoFit/>
          </a:bodyPr>
          <a:lstStyle/>
          <a:p>
            <a:pPr marL="0" marR="0" lvl="1" indent="0" algn="l" defTabSz="457200" rtl="0" eaLnBrk="1" fontAlgn="auto" latinLnBrk="0" hangingPunct="1">
              <a:lnSpc>
                <a:spcPct val="100000"/>
              </a:lnSpc>
              <a:spcBef>
                <a:spcPts val="0"/>
              </a:spcBef>
              <a:spcAft>
                <a:spcPts val="600"/>
              </a:spcAft>
              <a:buClr>
                <a:srgbClr val="000000"/>
              </a:buClr>
              <a:buSzPts val="1400"/>
              <a:buFont typeface="Arial"/>
              <a:buNone/>
              <a:tabLst/>
              <a:defRPr/>
            </a:pPr>
            <a:endPar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endParaRPr>
          </a:p>
          <a:p>
            <a:pPr marL="0" marR="0" lvl="1" indent="0" algn="l" defTabSz="457200" rtl="0" eaLnBrk="1" fontAlgn="auto" latinLnBrk="0" hangingPunct="1">
              <a:lnSpc>
                <a:spcPct val="100000"/>
              </a:lnSpc>
              <a:spcBef>
                <a:spcPts val="0"/>
              </a:spcBef>
              <a:spcAft>
                <a:spcPts val="600"/>
              </a:spcAft>
              <a:buClr>
                <a:srgbClr val="000000"/>
              </a:buClr>
              <a:buSzPts val="1400"/>
              <a:buFont typeface="Arial"/>
              <a:buNone/>
              <a:tabLst/>
              <a:defRPr/>
            </a:pPr>
            <a: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Improve performance/efficiency</a:t>
            </a:r>
            <a:b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br>
            <a: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Example: Reduce manual route planning steps (Dispatch Team)</a:t>
            </a:r>
          </a:p>
          <a:p>
            <a:pPr marL="0" marR="0" lvl="1" indent="0" algn="l" defTabSz="457200" rtl="0" eaLnBrk="1" fontAlgn="auto" latinLnBrk="0" hangingPunct="1">
              <a:lnSpc>
                <a:spcPct val="100000"/>
              </a:lnSpc>
              <a:spcBef>
                <a:spcPts val="0"/>
              </a:spcBef>
              <a:spcAft>
                <a:spcPts val="600"/>
              </a:spcAft>
              <a:buClr>
                <a:srgbClr val="000000"/>
              </a:buClr>
              <a:buSzPts val="1400"/>
              <a:buFontTx/>
              <a:buNone/>
              <a:tabLst/>
              <a:defRPr/>
            </a:pPr>
            <a: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Reduce delays during and between process steps</a:t>
            </a:r>
            <a:b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br>
            <a: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Example: Shorten approval cycles for delivery changes (Ops. Manager)</a:t>
            </a:r>
          </a:p>
          <a:p>
            <a:pPr marL="0" marR="0" lvl="1" indent="0" algn="l" defTabSz="457200" rtl="0" eaLnBrk="1" fontAlgn="auto" latinLnBrk="0" hangingPunct="1">
              <a:lnSpc>
                <a:spcPct val="100000"/>
              </a:lnSpc>
              <a:spcBef>
                <a:spcPts val="0"/>
              </a:spcBef>
              <a:spcAft>
                <a:spcPts val="600"/>
              </a:spcAft>
              <a:buClr>
                <a:srgbClr val="000000"/>
              </a:buClr>
              <a:buSzPts val="1400"/>
              <a:buFontTx/>
              <a:buNone/>
              <a:tabLst/>
              <a:defRPr/>
            </a:pPr>
            <a: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Improve data, information and deliverable reliability</a:t>
            </a:r>
            <a:b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br>
            <a: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Example: Standardize delivery status updates (Cust Services)</a:t>
            </a:r>
          </a:p>
          <a:p>
            <a:pPr marL="0" marR="0" lvl="1" indent="0" algn="l" defTabSz="457200" rtl="0" eaLnBrk="1" fontAlgn="auto" latinLnBrk="0" hangingPunct="1">
              <a:lnSpc>
                <a:spcPct val="100000"/>
              </a:lnSpc>
              <a:spcBef>
                <a:spcPts val="0"/>
              </a:spcBef>
              <a:spcAft>
                <a:spcPts val="0"/>
              </a:spcAft>
              <a:buClr>
                <a:srgbClr val="000000"/>
              </a:buClr>
              <a:buSzPts val="1400"/>
              <a:buFontTx/>
              <a:buNone/>
              <a:tabLst/>
              <a:defRPr/>
            </a:pPr>
            <a:r>
              <a:rPr kumimoji="0" lang="en-US" sz="950" b="1"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Add, upgrade or rationalize capabilities</a:t>
            </a:r>
            <a: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 </a:t>
            </a:r>
            <a:b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br>
            <a:r>
              <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rPr>
              <a:t>Example: customer service high-value shipments (Cust Services)</a:t>
            </a:r>
          </a:p>
          <a:p>
            <a:pPr marL="0" marR="0" lvl="1" indent="0" algn="l" defTabSz="457200" rtl="0" eaLnBrk="1" fontAlgn="auto" latinLnBrk="0" hangingPunct="1">
              <a:lnSpc>
                <a:spcPct val="100000"/>
              </a:lnSpc>
              <a:spcBef>
                <a:spcPts val="0"/>
              </a:spcBef>
              <a:spcAft>
                <a:spcPts val="0"/>
              </a:spcAft>
              <a:buClr>
                <a:srgbClr val="000000"/>
              </a:buClr>
              <a:buSzPts val="1400"/>
              <a:buFontTx/>
              <a:buNone/>
              <a:tabLst/>
              <a:defRPr/>
            </a:pPr>
            <a:endParaRPr kumimoji="0" lang="en-US" sz="950" b="0" i="0" u="none" strike="noStrike" kern="1200" cap="none" spc="0" normalizeH="0" baseline="0" noProof="0" dirty="0">
              <a:ln>
                <a:noFill/>
              </a:ln>
              <a:solidFill>
                <a:srgbClr val="000000"/>
              </a:solidFill>
              <a:effectLst/>
              <a:uLnTx/>
              <a:uFillTx/>
              <a:latin typeface="Gartner Sans" panose="020B0504030402040204" pitchFamily="34" charset="0"/>
              <a:ea typeface="Arial"/>
              <a:cs typeface="Arial"/>
              <a:sym typeface="Arial"/>
            </a:endParaRPr>
          </a:p>
        </p:txBody>
      </p:sp>
      <p:sp>
        <p:nvSpPr>
          <p:cNvPr id="54" name="Google Shape;1507;p20">
            <a:extLst>
              <a:ext uri="{FF2B5EF4-FFF2-40B4-BE49-F238E27FC236}">
                <a16:creationId xmlns:a16="http://schemas.microsoft.com/office/drawing/2014/main" id="{36737A51-6E98-AFD8-98BC-4C7F2673FA37}"/>
              </a:ext>
            </a:extLst>
          </p:cNvPr>
          <p:cNvSpPr txBox="1"/>
          <p:nvPr/>
        </p:nvSpPr>
        <p:spPr>
          <a:xfrm>
            <a:off x="8772004" y="3154439"/>
            <a:ext cx="2959748" cy="3011526"/>
          </a:xfrm>
          <a:prstGeom prst="rect">
            <a:avLst/>
          </a:prstGeom>
          <a:noFill/>
          <a:ln w="25400" cap="flat" cmpd="sng">
            <a:solidFill>
              <a:srgbClr val="002869"/>
            </a:solidFill>
            <a:prstDash val="solid"/>
            <a:round/>
            <a:headEnd type="none" w="sm" len="sm"/>
            <a:tailEnd type="none" w="sm" len="sm"/>
          </a:ln>
        </p:spPr>
        <p:txBody>
          <a:bodyPr spcFirstLastPara="1" wrap="square" lIns="91440" tIns="91440" rIns="91440" bIns="91440" anchor="t" anchorCtr="0">
            <a:noAutofit/>
          </a:bodyPr>
          <a:lstStyle/>
          <a:p>
            <a:pPr marL="287337" marR="0" lvl="0" indent="0" algn="l" defTabSz="457200" rtl="0" eaLnBrk="1" fontAlgn="auto" latinLnBrk="0" hangingPunct="1">
              <a:lnSpc>
                <a:spcPct val="100000"/>
              </a:lnSpc>
              <a:spcBef>
                <a:spcPts val="0"/>
              </a:spcBef>
              <a:spcAft>
                <a:spcPts val="0"/>
              </a:spcAft>
              <a:buClr>
                <a:srgbClr val="000000"/>
              </a:buClr>
              <a:buSzPts val="1400"/>
              <a:buFontTx/>
              <a:buNone/>
              <a:tabLst>
                <a:tab pos="166688" algn="l"/>
              </a:tabLst>
              <a:defRPr/>
            </a:pPr>
            <a:endParaRPr kumimoji="0" lang="en-US" sz="950" b="1" i="0" u="none" strike="noStrike" kern="1200" cap="none" spc="0" normalizeH="0" baseline="0" noProof="0" dirty="0">
              <a:ln>
                <a:noFill/>
              </a:ln>
              <a:solidFill>
                <a:srgbClr val="000000"/>
              </a:solidFill>
              <a:effectLst/>
              <a:uLnTx/>
              <a:uFillTx/>
              <a:ea typeface="Arial"/>
              <a:cs typeface="Arial"/>
              <a:sym typeface="Arial"/>
            </a:endParaRPr>
          </a:p>
          <a:p>
            <a:pPr marL="287337" marR="0" lvl="0" indent="0" algn="l" defTabSz="457200" rtl="0" eaLnBrk="1" fontAlgn="auto" latinLnBrk="0" hangingPunct="1">
              <a:lnSpc>
                <a:spcPct val="100000"/>
              </a:lnSpc>
              <a:spcBef>
                <a:spcPts val="0"/>
              </a:spcBef>
              <a:spcAft>
                <a:spcPts val="0"/>
              </a:spcAft>
              <a:buClr>
                <a:srgbClr val="000000"/>
              </a:buClr>
              <a:buSzPts val="1400"/>
              <a:buFontTx/>
              <a:buNone/>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Automation </a:t>
            </a:r>
          </a:p>
          <a:p>
            <a:pPr marL="458787" marR="0" lvl="1" indent="-171450" algn="l" defTabSz="4572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tab pos="166688" algn="l"/>
              </a:tabLst>
              <a:defRPr/>
            </a:pPr>
            <a:r>
              <a:rPr kumimoji="0" lang="en-US" sz="950" b="0" i="0" u="none" strike="noStrike" kern="1200" cap="none" spc="0" normalizeH="0" baseline="0" noProof="0" dirty="0">
                <a:ln>
                  <a:noFill/>
                </a:ln>
                <a:solidFill>
                  <a:srgbClr val="000000"/>
                </a:solidFill>
                <a:effectLst/>
                <a:uLnTx/>
                <a:uFillTx/>
                <a:ea typeface="Arial"/>
                <a:cs typeface="Arial"/>
                <a:sym typeface="Arial"/>
              </a:rPr>
              <a:t>AI-driven route optimization</a:t>
            </a:r>
          </a:p>
          <a:p>
            <a:pPr marL="458787" marR="0" lvl="1" indent="-171450" algn="l" defTabSz="4572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tab pos="166688" algn="l"/>
              </a:tabLst>
              <a:defRPr/>
            </a:pPr>
            <a:r>
              <a:rPr kumimoji="0" lang="en-US" sz="950" b="0" i="0" u="none" strike="noStrike" kern="1200" cap="none" spc="0" normalizeH="0" baseline="0" noProof="0" dirty="0">
                <a:ln>
                  <a:noFill/>
                </a:ln>
                <a:solidFill>
                  <a:srgbClr val="000000"/>
                </a:solidFill>
                <a:effectLst/>
                <a:uLnTx/>
                <a:uFillTx/>
                <a:ea typeface="Arial"/>
                <a:cs typeface="Arial"/>
                <a:sym typeface="Arial"/>
              </a:rPr>
              <a:t>Automated Estimated Arrival Time recalculation and delay alerts</a:t>
            </a:r>
          </a:p>
          <a:p>
            <a:pPr marL="287337" marR="0" lvl="0" indent="0" algn="l" defTabSz="457200" rtl="0" eaLnBrk="1" fontAlgn="auto" latinLnBrk="0" hangingPunct="1">
              <a:lnSpc>
                <a:spcPct val="100000"/>
              </a:lnSpc>
              <a:spcBef>
                <a:spcPts val="0"/>
              </a:spcBef>
              <a:spcAft>
                <a:spcPts val="0"/>
              </a:spcAft>
              <a:buClr>
                <a:srgbClr val="000000"/>
              </a:buClr>
              <a:buSzPts val="1400"/>
              <a:buFontTx/>
              <a:buNone/>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Augmentation</a:t>
            </a:r>
          </a:p>
          <a:p>
            <a:pPr marL="460375" marR="0" lvl="0" indent="-173038" algn="l" defTabSz="457200" rtl="0" eaLnBrk="1" fontAlgn="auto" latinLnBrk="0" hangingPunct="1">
              <a:lnSpc>
                <a:spcPct val="100000"/>
              </a:lnSpc>
              <a:spcBef>
                <a:spcPts val="0"/>
              </a:spcBef>
              <a:spcAft>
                <a:spcPts val="0"/>
              </a:spcAft>
              <a:buClr>
                <a:srgbClr val="000000"/>
              </a:buClr>
              <a:buSzPct val="100000"/>
              <a:buFont typeface="Arial"/>
              <a:buChar char="•"/>
              <a:tabLst>
                <a:tab pos="166688" algn="l"/>
              </a:tabLst>
              <a:defRPr/>
            </a:pPr>
            <a:r>
              <a:rPr kumimoji="0" lang="en-US" sz="950" b="0" i="0" u="none" strike="noStrike" kern="1200" cap="none" spc="0" normalizeH="0" baseline="0" noProof="0" dirty="0">
                <a:ln>
                  <a:noFill/>
                </a:ln>
                <a:solidFill>
                  <a:srgbClr val="000000"/>
                </a:solidFill>
                <a:effectLst/>
                <a:uLnTx/>
                <a:uFillTx/>
                <a:ea typeface="Arial"/>
                <a:cs typeface="Arial"/>
                <a:sym typeface="Arial"/>
              </a:rPr>
              <a:t>Generative AI for customer communication templates </a:t>
            </a:r>
          </a:p>
          <a:p>
            <a:pPr marL="460375" marR="0" lvl="0" indent="-173038" algn="l" defTabSz="457200" rtl="0" eaLnBrk="1" fontAlgn="auto" latinLnBrk="0" hangingPunct="1">
              <a:lnSpc>
                <a:spcPct val="100000"/>
              </a:lnSpc>
              <a:spcBef>
                <a:spcPts val="0"/>
              </a:spcBef>
              <a:spcAft>
                <a:spcPts val="600"/>
              </a:spcAft>
              <a:buClr>
                <a:srgbClr val="000000"/>
              </a:buClr>
              <a:buSzPct val="100000"/>
              <a:buFont typeface="Arial"/>
              <a:buChar char="•"/>
              <a:tabLst>
                <a:tab pos="166688" algn="l"/>
              </a:tabLst>
              <a:defRPr/>
            </a:pPr>
            <a:r>
              <a:rPr kumimoji="0" lang="en-US" sz="950" b="0" i="0" u="none" strike="noStrike" kern="1200" cap="none" spc="0" normalizeH="0" baseline="0" noProof="0" dirty="0">
                <a:ln>
                  <a:noFill/>
                </a:ln>
                <a:solidFill>
                  <a:srgbClr val="000000"/>
                </a:solidFill>
                <a:effectLst/>
                <a:uLnTx/>
                <a:uFillTx/>
                <a:ea typeface="Arial"/>
                <a:cs typeface="Arial"/>
                <a:sym typeface="Arial"/>
              </a:rPr>
              <a:t>Advanced analytics sustainability trade-offs (speed vs. carbon)</a:t>
            </a:r>
          </a:p>
          <a:p>
            <a:pPr marL="287337" marR="0" lvl="0" indent="0" algn="l" defTabSz="457200" rtl="0" eaLnBrk="1" fontAlgn="auto" latinLnBrk="0" hangingPunct="1">
              <a:lnSpc>
                <a:spcPct val="100000"/>
              </a:lnSpc>
              <a:spcBef>
                <a:spcPts val="0"/>
              </a:spcBef>
              <a:spcAft>
                <a:spcPts val="0"/>
              </a:spcAft>
              <a:buClr>
                <a:srgbClr val="000000"/>
              </a:buClr>
              <a:buSzPts val="1400"/>
              <a:buFontTx/>
              <a:buNone/>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Integration Enhancements</a:t>
            </a:r>
          </a:p>
          <a:p>
            <a:pPr marL="460375" marR="0" lvl="1" indent="-173038" algn="l" defTabSz="457200" rtl="0" eaLnBrk="1" fontAlgn="auto" latinLnBrk="0" hangingPunct="1">
              <a:lnSpc>
                <a:spcPct val="100000"/>
              </a:lnSpc>
              <a:spcBef>
                <a:spcPts val="0"/>
              </a:spcBef>
              <a:spcAft>
                <a:spcPts val="600"/>
              </a:spcAft>
              <a:buClr>
                <a:srgbClr val="000000"/>
              </a:buClr>
              <a:buSzPct val="100000"/>
              <a:buFont typeface="Arial" panose="020B0604020202020204" pitchFamily="34" charset="0"/>
              <a:buChar char="•"/>
              <a:tabLst>
                <a:tab pos="166688" algn="l"/>
              </a:tabLst>
              <a:defRPr/>
            </a:pPr>
            <a:r>
              <a:rPr kumimoji="0" lang="en-US" sz="950" b="0" i="0" u="none" strike="noStrike" kern="1200" cap="none" spc="0" normalizeH="0" baseline="0" noProof="0" dirty="0">
                <a:ln>
                  <a:noFill/>
                </a:ln>
                <a:solidFill>
                  <a:srgbClr val="000000"/>
                </a:solidFill>
                <a:effectLst/>
                <a:uLnTx/>
                <a:uFillTx/>
                <a:ea typeface="Arial"/>
                <a:cs typeface="Arial"/>
                <a:sym typeface="Arial"/>
              </a:rPr>
              <a:t>Predictive dashboards: dispatch decisions.</a:t>
            </a:r>
          </a:p>
          <a:p>
            <a:pPr marL="287337" marR="0" lvl="1" indent="0" algn="l" defTabSz="457200" rtl="0" eaLnBrk="1" fontAlgn="auto" latinLnBrk="0" hangingPunct="1">
              <a:lnSpc>
                <a:spcPct val="100000"/>
              </a:lnSpc>
              <a:spcBef>
                <a:spcPts val="0"/>
              </a:spcBef>
              <a:spcAft>
                <a:spcPts val="0"/>
              </a:spcAft>
              <a:buClr>
                <a:srgbClr val="000000"/>
              </a:buClr>
              <a:buSzPts val="1400"/>
              <a:buFontTx/>
              <a:buNone/>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 Human Centric examples</a:t>
            </a:r>
          </a:p>
          <a:p>
            <a:pPr marL="458787" marR="0" lvl="1" indent="-171450" algn="l" defTabSz="4572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Start: </a:t>
            </a:r>
            <a:r>
              <a:rPr kumimoji="0" lang="en-US" sz="950" b="0" i="0" u="none" strike="noStrike" kern="1200" cap="none" spc="0" normalizeH="0" baseline="0" noProof="0" dirty="0">
                <a:ln>
                  <a:noFill/>
                </a:ln>
                <a:solidFill>
                  <a:srgbClr val="000000"/>
                </a:solidFill>
                <a:effectLst/>
                <a:uLnTx/>
                <a:uFillTx/>
                <a:ea typeface="Arial"/>
                <a:cs typeface="Arial"/>
                <a:sym typeface="Arial"/>
              </a:rPr>
              <a:t>Apply judgment for sustainability trade-offs (speed vs. carbon impact) </a:t>
            </a:r>
          </a:p>
          <a:p>
            <a:pPr marL="458787" marR="0" lvl="1" indent="-171450" algn="l" defTabSz="4572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Stop: </a:t>
            </a:r>
            <a:r>
              <a:rPr kumimoji="0" lang="en-US" sz="950" b="0" i="0" u="none" strike="noStrike" kern="1200" cap="none" spc="0" normalizeH="0" baseline="0" noProof="0" dirty="0">
                <a:ln>
                  <a:noFill/>
                </a:ln>
                <a:solidFill>
                  <a:srgbClr val="000000"/>
                </a:solidFill>
                <a:effectLst/>
                <a:uLnTx/>
                <a:uFillTx/>
                <a:ea typeface="Arial"/>
                <a:cs typeface="Arial"/>
                <a:sym typeface="Arial"/>
              </a:rPr>
              <a:t>Manual route planning</a:t>
            </a:r>
          </a:p>
          <a:p>
            <a:pPr marL="458787" marR="0" lvl="1" indent="-171450" algn="l" defTabSz="457200" rtl="0" eaLnBrk="1" fontAlgn="auto" latinLnBrk="0" hangingPunct="1">
              <a:lnSpc>
                <a:spcPct val="100000"/>
              </a:lnSpc>
              <a:spcBef>
                <a:spcPts val="0"/>
              </a:spcBef>
              <a:spcAft>
                <a:spcPts val="0"/>
              </a:spcAft>
              <a:buClr>
                <a:srgbClr val="000000"/>
              </a:buClr>
              <a:buSzPct val="100000"/>
              <a:buFont typeface="Arial" panose="020B0604020202020204" pitchFamily="34" charset="0"/>
              <a:buChar char="•"/>
              <a:tabLst>
                <a:tab pos="166688" algn="l"/>
              </a:tabLst>
              <a:defRPr/>
            </a:pPr>
            <a:r>
              <a:rPr kumimoji="0" lang="en-US" sz="950" b="1" i="0" u="none" strike="noStrike" kern="1200" cap="none" spc="0" normalizeH="0" baseline="0" noProof="0" dirty="0">
                <a:ln>
                  <a:noFill/>
                </a:ln>
                <a:solidFill>
                  <a:srgbClr val="000000"/>
                </a:solidFill>
                <a:effectLst/>
                <a:uLnTx/>
                <a:uFillTx/>
                <a:ea typeface="Arial"/>
                <a:cs typeface="Arial"/>
                <a:sym typeface="Arial"/>
              </a:rPr>
              <a:t>Continue: </a:t>
            </a:r>
            <a:r>
              <a:rPr kumimoji="0" lang="en-US" sz="950" b="0" i="0" u="none" strike="noStrike" kern="1200" cap="none" spc="0" normalizeH="0" baseline="0" noProof="0" dirty="0">
                <a:ln>
                  <a:noFill/>
                </a:ln>
                <a:solidFill>
                  <a:srgbClr val="000000"/>
                </a:solidFill>
                <a:effectLst/>
                <a:uLnTx/>
                <a:uFillTx/>
                <a:ea typeface="Arial"/>
                <a:cs typeface="Arial"/>
                <a:sym typeface="Arial"/>
              </a:rPr>
              <a:t>Validate AI proposals for high-risk shipments (fragile, hazardous).</a:t>
            </a:r>
          </a:p>
        </p:txBody>
      </p:sp>
      <p:sp>
        <p:nvSpPr>
          <p:cNvPr id="58" name="Google Shape;1511;p20">
            <a:extLst>
              <a:ext uri="{FF2B5EF4-FFF2-40B4-BE49-F238E27FC236}">
                <a16:creationId xmlns:a16="http://schemas.microsoft.com/office/drawing/2014/main" id="{01F12757-D113-1F24-2EA7-DFD7164C6608}"/>
              </a:ext>
            </a:extLst>
          </p:cNvPr>
          <p:cNvSpPr/>
          <p:nvPr/>
        </p:nvSpPr>
        <p:spPr>
          <a:xfrm rot="10800000">
            <a:off x="8625862" y="4376715"/>
            <a:ext cx="140245" cy="280490"/>
          </a:xfrm>
          <a:custGeom>
            <a:avLst/>
            <a:gdLst/>
            <a:ahLst/>
            <a:cxnLst/>
            <a:rect l="l" t="t" r="r" b="b"/>
            <a:pathLst>
              <a:path w="304038" h="608076" extrusionOk="0">
                <a:moveTo>
                  <a:pt x="304038" y="304038"/>
                </a:moveTo>
                <a:lnTo>
                  <a:pt x="0" y="0"/>
                </a:lnTo>
                <a:lnTo>
                  <a:pt x="0" y="608076"/>
                </a:lnTo>
                <a:close/>
              </a:path>
            </a:pathLst>
          </a:custGeom>
          <a:solidFill>
            <a:srgbClr val="5A798C"/>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59" name="Freeform 33">
            <a:extLst>
              <a:ext uri="{FF2B5EF4-FFF2-40B4-BE49-F238E27FC236}">
                <a16:creationId xmlns:a16="http://schemas.microsoft.com/office/drawing/2014/main" id="{8A445E8C-A3D5-C41B-0F0F-C02900F512C5}"/>
              </a:ext>
            </a:extLst>
          </p:cNvPr>
          <p:cNvSpPr/>
          <p:nvPr/>
        </p:nvSpPr>
        <p:spPr>
          <a:xfrm>
            <a:off x="8939508" y="3471479"/>
            <a:ext cx="109728" cy="109728"/>
          </a:xfrm>
          <a:custGeom>
            <a:avLst/>
            <a:gdLst/>
            <a:ahLst/>
            <a:cxnLst/>
            <a:rect l="l" t="t" r="r" b="b"/>
            <a:pathLst>
              <a:path w="448729" h="211671">
                <a:moveTo>
                  <a:pt x="0" y="211671"/>
                </a:moveTo>
                <a:lnTo>
                  <a:pt x="448729" y="211671"/>
                </a:lnTo>
                <a:lnTo>
                  <a:pt x="448729"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63" name="Freeform 75">
            <a:extLst>
              <a:ext uri="{FF2B5EF4-FFF2-40B4-BE49-F238E27FC236}">
                <a16:creationId xmlns:a16="http://schemas.microsoft.com/office/drawing/2014/main" id="{474E3249-AC60-3852-96DC-D25E6EED2EA7}"/>
              </a:ext>
            </a:extLst>
          </p:cNvPr>
          <p:cNvSpPr/>
          <p:nvPr/>
        </p:nvSpPr>
        <p:spPr>
          <a:xfrm>
            <a:off x="8953424" y="4073160"/>
            <a:ext cx="109728" cy="109728"/>
          </a:xfrm>
          <a:custGeom>
            <a:avLst/>
            <a:gdLst/>
            <a:ahLst/>
            <a:cxnLst/>
            <a:rect l="l" t="t" r="r" b="b"/>
            <a:pathLst>
              <a:path w="336550" h="158750">
                <a:moveTo>
                  <a:pt x="0" y="158750"/>
                </a:moveTo>
                <a:lnTo>
                  <a:pt x="336550" y="158750"/>
                </a:lnTo>
                <a:lnTo>
                  <a:pt x="336550" y="0"/>
                </a:lnTo>
                <a:lnTo>
                  <a:pt x="0" y="0"/>
                </a:lnTo>
                <a:close/>
              </a:path>
            </a:pathLst>
          </a:custGeom>
          <a:solidFill>
            <a:srgbClr val="0057A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65" name="Freeform 33">
            <a:extLst>
              <a:ext uri="{FF2B5EF4-FFF2-40B4-BE49-F238E27FC236}">
                <a16:creationId xmlns:a16="http://schemas.microsoft.com/office/drawing/2014/main" id="{EC28F419-BAF5-E822-F7E3-F8DB42809561}"/>
              </a:ext>
            </a:extLst>
          </p:cNvPr>
          <p:cNvSpPr/>
          <p:nvPr/>
        </p:nvSpPr>
        <p:spPr>
          <a:xfrm>
            <a:off x="8957688" y="4840693"/>
            <a:ext cx="109728" cy="109728"/>
          </a:xfrm>
          <a:custGeom>
            <a:avLst/>
            <a:gdLst/>
            <a:ahLst/>
            <a:cxnLst/>
            <a:rect l="l" t="t" r="r" b="b"/>
            <a:pathLst>
              <a:path w="448729" h="211671">
                <a:moveTo>
                  <a:pt x="0" y="211671"/>
                </a:moveTo>
                <a:lnTo>
                  <a:pt x="448729" y="211671"/>
                </a:lnTo>
                <a:lnTo>
                  <a:pt x="448729"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66" name="Google Shape;1509;p20">
            <a:extLst>
              <a:ext uri="{FF2B5EF4-FFF2-40B4-BE49-F238E27FC236}">
                <a16:creationId xmlns:a16="http://schemas.microsoft.com/office/drawing/2014/main" id="{E73930FF-F87B-C0B9-99C7-9D11419330CC}"/>
              </a:ext>
            </a:extLst>
          </p:cNvPr>
          <p:cNvSpPr txBox="1"/>
          <p:nvPr/>
        </p:nvSpPr>
        <p:spPr>
          <a:xfrm>
            <a:off x="8780108" y="3204641"/>
            <a:ext cx="2842684" cy="230832"/>
          </a:xfrm>
          <a:prstGeom prst="rect">
            <a:avLst/>
          </a:prstGeom>
          <a:noFill/>
          <a:ln>
            <a:noFill/>
          </a:ln>
        </p:spPr>
        <p:txBody>
          <a:bodyPr spcFirstLastPara="1" wrap="square" lIns="45720" tIns="45720" rIns="45720" bIns="45720" anchor="t" anchorCtr="0">
            <a:spAutoFit/>
          </a:bodyPr>
          <a:lstStyle/>
          <a:p>
            <a:pPr marL="0" marR="0" lvl="0" indent="0" algn="ctr" defTabSz="457200" rtl="0" eaLnBrk="1" fontAlgn="auto" latinLnBrk="0" hangingPunct="1">
              <a:lnSpc>
                <a:spcPct val="90000"/>
              </a:lnSpc>
              <a:spcBef>
                <a:spcPts val="0"/>
              </a:spcBef>
              <a:spcAft>
                <a:spcPts val="0"/>
              </a:spcAft>
              <a:buClr>
                <a:srgbClr val="FFFFFF"/>
              </a:buClr>
              <a:buSzPts val="1400"/>
              <a:buFont typeface="Arial"/>
              <a:buNone/>
              <a:tabLst/>
              <a:defRPr/>
            </a:pPr>
            <a:r>
              <a:rPr kumimoji="0" lang="en-US" sz="1000" b="1" i="0" u="none" strike="noStrike" kern="1200" cap="none" spc="0" normalizeH="0" baseline="0" noProof="0">
                <a:ln>
                  <a:noFill/>
                </a:ln>
                <a:solidFill>
                  <a:srgbClr val="000000"/>
                </a:solidFill>
                <a:effectLst/>
                <a:uLnTx/>
                <a:uFillTx/>
                <a:latin typeface="Gartner Sans" panose="020B0504030402040204" pitchFamily="34" charset="0"/>
                <a:ea typeface="Arial"/>
                <a:cs typeface="Arial"/>
                <a:sym typeface="Arial"/>
              </a:rPr>
              <a:t>Technology Improvement</a:t>
            </a:r>
            <a:endPar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Arial"/>
              <a:cs typeface="Arial"/>
              <a:sym typeface="Arial"/>
            </a:endParaRPr>
          </a:p>
        </p:txBody>
      </p:sp>
      <p:cxnSp>
        <p:nvCxnSpPr>
          <p:cNvPr id="67" name="Straight Arrow Connector 66">
            <a:extLst>
              <a:ext uri="{FF2B5EF4-FFF2-40B4-BE49-F238E27FC236}">
                <a16:creationId xmlns:a16="http://schemas.microsoft.com/office/drawing/2014/main" id="{7B0F29BF-2CAC-03A3-36B9-F8BE1B325467}"/>
              </a:ext>
            </a:extLst>
          </p:cNvPr>
          <p:cNvCxnSpPr>
            <a:cxnSpLocks/>
          </p:cNvCxnSpPr>
          <p:nvPr/>
        </p:nvCxnSpPr>
        <p:spPr>
          <a:xfrm>
            <a:off x="3299429" y="5958885"/>
            <a:ext cx="5462952" cy="474"/>
          </a:xfrm>
          <a:prstGeom prst="straightConnector1">
            <a:avLst/>
          </a:prstGeom>
          <a:noFill/>
          <a:ln w="25400" cap="flat" cmpd="sng">
            <a:solidFill>
              <a:schemeClr val="tx1">
                <a:lumMod val="50000"/>
                <a:lumOff val="50000"/>
              </a:schemeClr>
            </a:solidFill>
            <a:prstDash val="solid"/>
            <a:round/>
            <a:headEnd type="triangle" w="lg" len="med"/>
            <a:tailEnd type="triangle" w="lg" len="med"/>
          </a:ln>
        </p:spPr>
      </p:cxnSp>
      <p:sp>
        <p:nvSpPr>
          <p:cNvPr id="74" name="Freeform 65">
            <a:extLst>
              <a:ext uri="{FF2B5EF4-FFF2-40B4-BE49-F238E27FC236}">
                <a16:creationId xmlns:a16="http://schemas.microsoft.com/office/drawing/2014/main" id="{F29C3536-8E7B-B6EA-B084-36740844A846}"/>
              </a:ext>
            </a:extLst>
          </p:cNvPr>
          <p:cNvSpPr/>
          <p:nvPr/>
        </p:nvSpPr>
        <p:spPr>
          <a:xfrm>
            <a:off x="8949732" y="5234459"/>
            <a:ext cx="109728" cy="109728"/>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 name="TextBox 48">
            <a:extLst>
              <a:ext uri="{FF2B5EF4-FFF2-40B4-BE49-F238E27FC236}">
                <a16:creationId xmlns:a16="http://schemas.microsoft.com/office/drawing/2014/main" id="{D195883D-67AC-F2A5-2B54-B310C882CA53}"/>
              </a:ext>
            </a:extLst>
          </p:cNvPr>
          <p:cNvSpPr txBox="1"/>
          <p:nvPr/>
        </p:nvSpPr>
        <p:spPr>
          <a:xfrm>
            <a:off x="4736342" y="5168250"/>
            <a:ext cx="3472240" cy="592470"/>
          </a:xfrm>
          <a:prstGeom prst="rect">
            <a:avLst/>
          </a:prstGeom>
          <a:solidFill>
            <a:srgbClr val="E0F1FF"/>
          </a:solidFill>
        </p:spPr>
        <p:txBody>
          <a:bodyPr wrap="square" lIns="91440" tIns="45720" rIns="91440" bIns="45720" anchor="t">
            <a:spAutoFit/>
          </a:bodyPr>
          <a:lstStyle/>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Synchronize process and technology optimization.</a:t>
            </a:r>
          </a:p>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Start </a:t>
            </a: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with process redesign to ensure technology investments deliver maximum impact.</a:t>
            </a:r>
          </a:p>
        </p:txBody>
      </p:sp>
      <p:sp>
        <p:nvSpPr>
          <p:cNvPr id="99" name="TextBox 98">
            <a:extLst>
              <a:ext uri="{FF2B5EF4-FFF2-40B4-BE49-F238E27FC236}">
                <a16:creationId xmlns:a16="http://schemas.microsoft.com/office/drawing/2014/main" id="{7A830E12-289E-05F4-297C-B98BC44D4CD0}"/>
              </a:ext>
            </a:extLst>
          </p:cNvPr>
          <p:cNvSpPr txBox="1"/>
          <p:nvPr/>
        </p:nvSpPr>
        <p:spPr>
          <a:xfrm>
            <a:off x="3806074" y="4195634"/>
            <a:ext cx="977902" cy="439250"/>
          </a:xfrm>
          <a:prstGeom prst="rect">
            <a:avLst/>
          </a:prstGeom>
          <a:solidFill>
            <a:srgbClr val="1F96FF"/>
          </a:solidFill>
        </p:spPr>
        <p:txBody>
          <a:bodyPr lIns="0" tIns="0" rIns="0" bIns="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 </a:t>
            </a:r>
            <a:r>
              <a:rPr kumimoji="0" lang="en-US" sz="1000" b="1" i="0" u="none" strike="noStrike" kern="1200" cap="none" spc="0" normalizeH="0" baseline="0" noProof="0">
                <a:ln>
                  <a:noFill/>
                </a:ln>
                <a:solidFill>
                  <a:schemeClr val="bg1"/>
                </a:solidFill>
                <a:effectLst/>
                <a:uLnTx/>
                <a:uFillTx/>
                <a:latin typeface="Gartner Sans" panose="020B0504030402040204" pitchFamily="34" charset="0"/>
                <a:ea typeface="+mn-ea"/>
                <a:cs typeface="+mn-cs"/>
              </a:rPr>
              <a:t>Identify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Gartner Sans" panose="020B0504030402040204" pitchFamily="34" charset="0"/>
                <a:ea typeface="+mn-ea"/>
                <a:cs typeface="+mn-cs"/>
              </a:rPr>
              <a:t> delivery route </a:t>
            </a:r>
          </a:p>
        </p:txBody>
      </p:sp>
      <p:sp>
        <p:nvSpPr>
          <p:cNvPr id="110" name="TextBox 40">
            <a:extLst>
              <a:ext uri="{FF2B5EF4-FFF2-40B4-BE49-F238E27FC236}">
                <a16:creationId xmlns:a16="http://schemas.microsoft.com/office/drawing/2014/main" id="{A3067B9E-A4F7-EB93-78D8-4475FDB76BA2}"/>
              </a:ext>
            </a:extLst>
          </p:cNvPr>
          <p:cNvSpPr txBox="1"/>
          <p:nvPr/>
        </p:nvSpPr>
        <p:spPr>
          <a:xfrm>
            <a:off x="425982" y="6416156"/>
            <a:ext cx="3122341" cy="246221"/>
          </a:xfrm>
          <a:prstGeom prst="rect">
            <a:avLst/>
          </a:prstGeom>
          <a:noFill/>
        </p:spPr>
        <p:txBody>
          <a:bodyPr wrap="square" lIns="0" tIns="91440" rIns="0" bIns="0" rtlCol="0" anchor="b" anchorCtr="0">
            <a:spAutoFit/>
          </a:bodyPr>
          <a:lstStyle/>
          <a:p>
            <a:pPr marL="0" marR="0" lvl="0" indent="0" algn="l" defTabSz="457200" rtl="0" eaLnBrk="1" fontAlgn="auto" latinLnBrk="0" hangingPunct="1">
              <a:lnSpc>
                <a:spcPct val="10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Source: Gartner</a:t>
            </a:r>
          </a:p>
        </p:txBody>
      </p:sp>
      <p:sp>
        <p:nvSpPr>
          <p:cNvPr id="3" name="Rectangle 2">
            <a:extLst>
              <a:ext uri="{FF2B5EF4-FFF2-40B4-BE49-F238E27FC236}">
                <a16:creationId xmlns:a16="http://schemas.microsoft.com/office/drawing/2014/main" id="{66996E16-6342-7938-DA5B-05099BFD4987}"/>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Collaboration</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
        <p:nvSpPr>
          <p:cNvPr id="8" name="TextBox 7">
            <a:extLst>
              <a:ext uri="{FF2B5EF4-FFF2-40B4-BE49-F238E27FC236}">
                <a16:creationId xmlns:a16="http://schemas.microsoft.com/office/drawing/2014/main" id="{B87965C5-6679-1BCA-CCB8-0E9AE7AE82B7}"/>
              </a:ext>
            </a:extLst>
          </p:cNvPr>
          <p:cNvSpPr txBox="1"/>
          <p:nvPr/>
        </p:nvSpPr>
        <p:spPr>
          <a:xfrm>
            <a:off x="457365" y="731520"/>
            <a:ext cx="11229109" cy="369332"/>
          </a:xfrm>
          <a:prstGeom prst="rect">
            <a:avLst/>
          </a:prstGeom>
          <a:noFill/>
        </p:spPr>
        <p:txBody>
          <a:bodyPr wrap="square" lIns="0">
            <a:spAutoFit/>
          </a:bodyPr>
          <a:lstStyle/>
          <a:p>
            <a:r>
              <a:rPr lang="en-US"/>
              <a:t>How should processes be updated to reflect new task assignments and technology integration?</a:t>
            </a:r>
          </a:p>
        </p:txBody>
      </p:sp>
      <p:sp>
        <p:nvSpPr>
          <p:cNvPr id="46" name="Google Shape;1441;p19">
            <a:extLst>
              <a:ext uri="{FF2B5EF4-FFF2-40B4-BE49-F238E27FC236}">
                <a16:creationId xmlns:a16="http://schemas.microsoft.com/office/drawing/2014/main" id="{28CF0C2A-A3B1-5FF1-39A8-47F47275EE38}"/>
              </a:ext>
            </a:extLst>
          </p:cNvPr>
          <p:cNvSpPr/>
          <p:nvPr/>
        </p:nvSpPr>
        <p:spPr>
          <a:xfrm rot="10800000">
            <a:off x="647450" y="4803435"/>
            <a:ext cx="109728" cy="109728"/>
          </a:xfrm>
          <a:prstGeom prst="rect">
            <a:avLst/>
          </a:prstGeom>
          <a:noFill/>
          <a:ln w="28575" cap="flat" cmpd="sng">
            <a:solidFill>
              <a:srgbClr val="009AD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7" name="Google Shape;1443;p19">
            <a:extLst>
              <a:ext uri="{FF2B5EF4-FFF2-40B4-BE49-F238E27FC236}">
                <a16:creationId xmlns:a16="http://schemas.microsoft.com/office/drawing/2014/main" id="{76F8C9FA-ABED-7743-4AE2-A2AB8FBD3C9A}"/>
              </a:ext>
            </a:extLst>
          </p:cNvPr>
          <p:cNvSpPr/>
          <p:nvPr/>
        </p:nvSpPr>
        <p:spPr>
          <a:xfrm rot="10800000">
            <a:off x="643200" y="4112463"/>
            <a:ext cx="109728" cy="109728"/>
          </a:xfrm>
          <a:prstGeom prst="rect">
            <a:avLst/>
          </a:prstGeom>
          <a:noFill/>
          <a:ln w="28575" cap="flat" cmpd="sng">
            <a:solidFill>
              <a:srgbClr val="FF540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48" name="Google Shape;1445;p19">
            <a:extLst>
              <a:ext uri="{FF2B5EF4-FFF2-40B4-BE49-F238E27FC236}">
                <a16:creationId xmlns:a16="http://schemas.microsoft.com/office/drawing/2014/main" id="{35C8DD28-1488-74B3-9068-6431DE865847}"/>
              </a:ext>
            </a:extLst>
          </p:cNvPr>
          <p:cNvSpPr/>
          <p:nvPr/>
        </p:nvSpPr>
        <p:spPr>
          <a:xfrm rot="10800000">
            <a:off x="639284" y="5505092"/>
            <a:ext cx="109728" cy="109728"/>
          </a:xfrm>
          <a:prstGeom prst="rect">
            <a:avLst/>
          </a:prstGeom>
          <a:noFill/>
          <a:ln w="28575" cap="flat" cmpd="sng">
            <a:solidFill>
              <a:srgbClr val="FEC10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0" name="Google Shape;1447;p19">
            <a:extLst>
              <a:ext uri="{FF2B5EF4-FFF2-40B4-BE49-F238E27FC236}">
                <a16:creationId xmlns:a16="http://schemas.microsoft.com/office/drawing/2014/main" id="{D10E88EA-F1CD-6008-D5A1-C89A42D288DB}"/>
              </a:ext>
            </a:extLst>
          </p:cNvPr>
          <p:cNvSpPr/>
          <p:nvPr/>
        </p:nvSpPr>
        <p:spPr>
          <a:xfrm rot="10800000">
            <a:off x="643200" y="3572428"/>
            <a:ext cx="109728" cy="109728"/>
          </a:xfrm>
          <a:prstGeom prst="rect">
            <a:avLst/>
          </a:prstGeom>
          <a:noFill/>
          <a:ln w="28575" cap="flat" cmpd="sng">
            <a:solidFill>
              <a:srgbClr val="0028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Arial"/>
              <a:ea typeface="Arial"/>
              <a:cs typeface="Arial"/>
              <a:sym typeface="Arial"/>
            </a:endParaRPr>
          </a:p>
        </p:txBody>
      </p:sp>
      <p:sp>
        <p:nvSpPr>
          <p:cNvPr id="52" name="TextBox 51">
            <a:extLst>
              <a:ext uri="{FF2B5EF4-FFF2-40B4-BE49-F238E27FC236}">
                <a16:creationId xmlns:a16="http://schemas.microsoft.com/office/drawing/2014/main" id="{7E032EE2-D948-E45C-16AD-0B17FAAF1F6F}"/>
              </a:ext>
            </a:extLst>
          </p:cNvPr>
          <p:cNvSpPr txBox="1"/>
          <p:nvPr/>
        </p:nvSpPr>
        <p:spPr>
          <a:xfrm>
            <a:off x="3789208" y="3937538"/>
            <a:ext cx="814589" cy="230832"/>
          </a:xfrm>
          <a:prstGeom prst="rect">
            <a:avLst/>
          </a:prstGeom>
          <a:noFill/>
        </p:spPr>
        <p:txBody>
          <a:bodyPr wrap="square">
            <a:spAutoFit/>
          </a:bodyPr>
          <a:lstStyle/>
          <a:p>
            <a:r>
              <a:rPr lang="en-US" sz="900" b="1"/>
              <a:t>Example</a:t>
            </a:r>
            <a:endParaRPr lang="en-US" sz="900"/>
          </a:p>
        </p:txBody>
      </p:sp>
    </p:spTree>
    <p:extLst>
      <p:ext uri="{BB962C8B-B14F-4D97-AF65-F5344CB8AC3E}">
        <p14:creationId xmlns:p14="http://schemas.microsoft.com/office/powerpoint/2010/main" val="3997622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B1FF-B4C6-18F1-958D-A5A93C0E2478}"/>
            </a:ext>
          </a:extLst>
        </p:cNvPr>
        <p:cNvGrpSpPr/>
        <p:nvPr/>
      </p:nvGrpSpPr>
      <p:grpSpPr>
        <a:xfrm>
          <a:off x="0" y="0"/>
          <a:ext cx="0" cy="0"/>
          <a:chOff x="0" y="0"/>
          <a:chExt cx="0" cy="0"/>
        </a:xfrm>
      </p:grpSpPr>
      <p:graphicFrame>
        <p:nvGraphicFramePr>
          <p:cNvPr id="72" name="Table 71">
            <a:extLst>
              <a:ext uri="{FF2B5EF4-FFF2-40B4-BE49-F238E27FC236}">
                <a16:creationId xmlns:a16="http://schemas.microsoft.com/office/drawing/2014/main" id="{FF5CA47C-1157-A6FB-129A-EF2F74CEA63D}"/>
              </a:ext>
            </a:extLst>
          </p:cNvPr>
          <p:cNvGraphicFramePr>
            <a:graphicFrameLocks noGrp="1"/>
          </p:cNvGraphicFramePr>
          <p:nvPr>
            <p:extLst>
              <p:ext uri="{D42A27DB-BD31-4B8C-83A1-F6EECF244321}">
                <p14:modId xmlns:p14="http://schemas.microsoft.com/office/powerpoint/2010/main" val="1101289307"/>
              </p:ext>
            </p:extLst>
          </p:nvPr>
        </p:nvGraphicFramePr>
        <p:xfrm>
          <a:off x="452757" y="1097280"/>
          <a:ext cx="11274552" cy="2511552"/>
        </p:xfrm>
        <a:graphic>
          <a:graphicData uri="http://schemas.openxmlformats.org/drawingml/2006/table">
            <a:tbl>
              <a:tblPr firstRow="1" bandRow="1">
                <a:noFill/>
              </a:tblPr>
              <a:tblGrid>
                <a:gridCol w="11274552">
                  <a:extLst>
                    <a:ext uri="{9D8B030D-6E8A-4147-A177-3AD203B41FA5}">
                      <a16:colId xmlns:a16="http://schemas.microsoft.com/office/drawing/2014/main" val="3360203907"/>
                    </a:ext>
                  </a:extLst>
                </a:gridCol>
              </a:tblGrid>
              <a:tr h="0">
                <a:tc>
                  <a:txBody>
                    <a:bodyPr/>
                    <a:lstStyle/>
                    <a:p>
                      <a:pPr marL="0" marR="0" lvl="0" indent="0" algn="l" rtl="0">
                        <a:spcBef>
                          <a:spcPts val="0"/>
                        </a:spcBef>
                        <a:spcAft>
                          <a:spcPts val="0"/>
                        </a:spcAft>
                        <a:buNone/>
                      </a:pPr>
                      <a:r>
                        <a:rPr lang="en-US" sz="1050" b="1" dirty="0">
                          <a:solidFill>
                            <a:srgbClr val="FFFFFF"/>
                          </a:solidFill>
                        </a:rPr>
                        <a:t>Guidance</a:t>
                      </a:r>
                      <a:endParaRPr lang="en-US" sz="1050" dirty="0">
                        <a:solidFill>
                          <a:srgbClr val="FFFFFF"/>
                        </a:solidFill>
                      </a:endParaRP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905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256032709"/>
                  </a:ext>
                </a:extLst>
              </a:tr>
              <a:tr h="640604">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100" b="0" dirty="0"/>
                        <a:t>Engage key sponsors for each job family to review and update expectations based on potential impact while also engaging employees in co creation. Discuss how AI (including GenAI), automation, and other emerging technologies will change jobs. Redesign jobs to reflect redistributed work and new responsibilities. </a:t>
                      </a:r>
                    </a:p>
                    <a:p>
                      <a:pPr marL="0" marR="0" lvl="0" indent="0" algn="l" defTabSz="914400" rtl="0" eaLnBrk="1" fontAlgn="auto" latinLnBrk="0" hangingPunct="1">
                        <a:lnSpc>
                          <a:spcPct val="150000"/>
                        </a:lnSpc>
                        <a:spcBef>
                          <a:spcPts val="0"/>
                        </a:spcBef>
                        <a:spcAft>
                          <a:spcPts val="0"/>
                        </a:spcAft>
                        <a:buClrTx/>
                        <a:buSzTx/>
                        <a:buFont typeface="+mj-lt"/>
                        <a:buNone/>
                        <a:tabLst/>
                        <a:defRPr/>
                      </a:pPr>
                      <a:r>
                        <a:rPr lang="en-US" sz="1100" b="0" dirty="0"/>
                        <a:t>1. Assess impact on jobs and update job profiles</a:t>
                      </a:r>
                    </a:p>
                    <a:p>
                      <a:pPr marL="448056" lvl="1" indent="-171450">
                        <a:buFont typeface="Arial" panose="020B0604020202020204" pitchFamily="34" charset="0"/>
                        <a:buChar char="•"/>
                      </a:pPr>
                      <a:r>
                        <a:rPr lang="en-US" sz="1100" b="0" dirty="0"/>
                        <a:t>Reflect changes to tasks resulting from workflow/process redesign or AI integration. Add, adjust, remove tasks, or reflect new tasks where capacity created due to task removal..</a:t>
                      </a:r>
                    </a:p>
                    <a:p>
                      <a:pPr marL="276606"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a:t> Note: Leverage task mining to reveal how work truly happens at the desktop level, enabling accurate job impact analysis and reskilling plans.</a:t>
                      </a:r>
                      <a:endParaRPr lang="en-US" sz="1100" b="0" dirty="0"/>
                    </a:p>
                    <a:p>
                      <a:pPr marL="448056" lvl="1" indent="-171450">
                        <a:buFont typeface="Arial" panose="020B0604020202020204" pitchFamily="34" charset="0"/>
                        <a:buChar char="•"/>
                      </a:pPr>
                      <a:r>
                        <a:rPr lang="en-US" sz="1100" b="0" dirty="0"/>
                        <a:t>Assess and reflect impact on capabilities (knowledge, skills, and competency requirements):</a:t>
                      </a:r>
                    </a:p>
                    <a:p>
                      <a:pPr marL="722376" lvl="2" indent="-173736">
                        <a:buFont typeface="System Font Regular"/>
                        <a:buChar char="–"/>
                      </a:pPr>
                      <a:r>
                        <a:rPr lang="en-US" sz="1100" b="0" dirty="0"/>
                        <a:t>Add AI-related skills: prompting, verification, risk management, agent interaction design.</a:t>
                      </a:r>
                    </a:p>
                    <a:p>
                      <a:pPr marL="722376" lvl="2" indent="-173736">
                        <a:buFont typeface="System Font Regular"/>
                        <a:buChar char="–"/>
                      </a:pPr>
                      <a:r>
                        <a:rPr lang="en-US" sz="1100" b="0" dirty="0"/>
                        <a:t>Reinforce human strengths: empathy, contextual judgment, creativity.</a:t>
                      </a:r>
                    </a:p>
                    <a:p>
                      <a:pPr marL="722376" lvl="2" indent="-173736">
                        <a:buFont typeface="System Font Regular"/>
                        <a:buChar char="–"/>
                      </a:pPr>
                      <a:r>
                        <a:rPr lang="en-US" sz="1100" b="0" dirty="0"/>
                        <a:t>Consider what capabilities should be “protected” from skills atrophy and for future talent pipeline development.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startAt="2"/>
                        <a:tabLst/>
                        <a:defRPr/>
                      </a:pPr>
                      <a:r>
                        <a:rPr lang="en-US" sz="1100" b="0" dirty="0"/>
                        <a:t>Assess impact on jobs across teams: Highlight jobs most at risk.</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startAt="2"/>
                        <a:tabLst/>
                        <a:defRPr/>
                      </a:pPr>
                      <a:r>
                        <a:rPr lang="en-US" sz="1100" b="0" dirty="0"/>
                        <a:t>Plan for talent ripple effects and create redeployment and growth pathways, as part of job impact assessment.</a:t>
                      </a:r>
                    </a:p>
                  </a:txBody>
                  <a:tcPr marL="109728" marR="109728" marT="64008" marB="64008">
                    <a:lnL w="19050" cap="flat" cmpd="sng" algn="ctr">
                      <a:solidFill>
                        <a:srgbClr val="002856"/>
                      </a:solidFill>
                      <a:prstDash val="solid"/>
                      <a:round/>
                      <a:headEnd type="none" w="med" len="med"/>
                      <a:tailEnd type="none" w="med" len="med"/>
                    </a:lnL>
                    <a:lnR w="1905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905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1450980"/>
                  </a:ext>
                </a:extLst>
              </a:tr>
            </a:tbl>
          </a:graphicData>
        </a:graphic>
      </p:graphicFrame>
      <p:sp>
        <p:nvSpPr>
          <p:cNvPr id="73" name="TextBox 72">
            <a:extLst>
              <a:ext uri="{FF2B5EF4-FFF2-40B4-BE49-F238E27FC236}">
                <a16:creationId xmlns:a16="http://schemas.microsoft.com/office/drawing/2014/main" id="{9A1FEFD5-615C-6C06-DA46-AA4339714C16}"/>
              </a:ext>
            </a:extLst>
          </p:cNvPr>
          <p:cNvSpPr txBox="1"/>
          <p:nvPr/>
        </p:nvSpPr>
        <p:spPr>
          <a:xfrm>
            <a:off x="457200" y="3668082"/>
            <a:ext cx="4984938" cy="258532"/>
          </a:xfrm>
          <a:prstGeom prst="rect">
            <a:avLst/>
          </a:prstGeom>
          <a:noFill/>
        </p:spPr>
        <p:txBody>
          <a:bodyPr wrap="square" lIns="0" rIns="0" rtlCol="0">
            <a:spAutoFit/>
          </a:bodyPr>
          <a:lstStyle/>
          <a:p>
            <a:pPr marL="0" marR="0" lvl="0" indent="0" algn="l" defTabSz="457200"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ea typeface="+mn-ea"/>
                <a:cs typeface="Arial" panose="020B0604020202020204" pitchFamily="34" charset="0"/>
              </a:rPr>
              <a:t>Assess Impact on Jobs: E.g., </a:t>
            </a:r>
            <a:r>
              <a:rPr kumimoji="0" lang="en-US" sz="1200" b="1" i="0" u="none" strike="noStrike" kern="1200" cap="none" spc="0" normalizeH="0" baseline="0" noProof="0" dirty="0">
                <a:ln>
                  <a:noFill/>
                </a:ln>
                <a:solidFill>
                  <a:prstClr val="black"/>
                </a:solidFill>
                <a:effectLst/>
                <a:uLnTx/>
                <a:uFillTx/>
                <a:ea typeface="+mn-ea"/>
                <a:cs typeface="+mn-cs"/>
              </a:rPr>
              <a:t>Route Planner (Logistics)</a:t>
            </a:r>
            <a:endParaRPr kumimoji="0" lang="en-US" sz="1200" b="1"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sp>
        <p:nvSpPr>
          <p:cNvPr id="74" name="Rectangle 2">
            <a:extLst>
              <a:ext uri="{FF2B5EF4-FFF2-40B4-BE49-F238E27FC236}">
                <a16:creationId xmlns:a16="http://schemas.microsoft.com/office/drawing/2014/main" id="{4602A17F-88F2-15B9-27B7-061B8EE0636F}"/>
              </a:ext>
            </a:extLst>
          </p:cNvPr>
          <p:cNvSpPr>
            <a:spLocks noChangeArrowheads="1"/>
          </p:cNvSpPr>
          <p:nvPr/>
        </p:nvSpPr>
        <p:spPr bwMode="auto">
          <a:xfrm>
            <a:off x="0" y="-184666"/>
            <a:ext cx="1219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graphicFrame>
        <p:nvGraphicFramePr>
          <p:cNvPr id="94" name="Google Shape;159;p7">
            <a:extLst>
              <a:ext uri="{FF2B5EF4-FFF2-40B4-BE49-F238E27FC236}">
                <a16:creationId xmlns:a16="http://schemas.microsoft.com/office/drawing/2014/main" id="{814A6264-A23B-C0FE-BB7C-AC900AEE2A02}"/>
              </a:ext>
            </a:extLst>
          </p:cNvPr>
          <p:cNvGraphicFramePr/>
          <p:nvPr>
            <p:extLst>
              <p:ext uri="{D42A27DB-BD31-4B8C-83A1-F6EECF244321}">
                <p14:modId xmlns:p14="http://schemas.microsoft.com/office/powerpoint/2010/main" val="4270165218"/>
              </p:ext>
            </p:extLst>
          </p:nvPr>
        </p:nvGraphicFramePr>
        <p:xfrm>
          <a:off x="457200" y="3942665"/>
          <a:ext cx="6358607" cy="2112264"/>
        </p:xfrm>
        <a:graphic>
          <a:graphicData uri="http://schemas.openxmlformats.org/drawingml/2006/table">
            <a:tbl>
              <a:tblPr firstRow="1" bandRow="1">
                <a:noFill/>
              </a:tblPr>
              <a:tblGrid>
                <a:gridCol w="1188720">
                  <a:extLst>
                    <a:ext uri="{9D8B030D-6E8A-4147-A177-3AD203B41FA5}">
                      <a16:colId xmlns:a16="http://schemas.microsoft.com/office/drawing/2014/main" val="20001"/>
                    </a:ext>
                  </a:extLst>
                </a:gridCol>
                <a:gridCol w="1645920">
                  <a:extLst>
                    <a:ext uri="{9D8B030D-6E8A-4147-A177-3AD203B41FA5}">
                      <a16:colId xmlns:a16="http://schemas.microsoft.com/office/drawing/2014/main" val="1401547379"/>
                    </a:ext>
                  </a:extLst>
                </a:gridCol>
                <a:gridCol w="914400">
                  <a:extLst>
                    <a:ext uri="{9D8B030D-6E8A-4147-A177-3AD203B41FA5}">
                      <a16:colId xmlns:a16="http://schemas.microsoft.com/office/drawing/2014/main" val="20002"/>
                    </a:ext>
                  </a:extLst>
                </a:gridCol>
                <a:gridCol w="1828800">
                  <a:extLst>
                    <a:ext uri="{9D8B030D-6E8A-4147-A177-3AD203B41FA5}">
                      <a16:colId xmlns:a16="http://schemas.microsoft.com/office/drawing/2014/main" val="2954750524"/>
                    </a:ext>
                  </a:extLst>
                </a:gridCol>
                <a:gridCol w="780767">
                  <a:extLst>
                    <a:ext uri="{9D8B030D-6E8A-4147-A177-3AD203B41FA5}">
                      <a16:colId xmlns:a16="http://schemas.microsoft.com/office/drawing/2014/main" val="1026487214"/>
                    </a:ext>
                  </a:extLst>
                </a:gridCol>
              </a:tblGrid>
              <a:tr h="160547">
                <a:tc>
                  <a:txBody>
                    <a:bodyPr/>
                    <a:lstStyle/>
                    <a:p>
                      <a:pPr marL="0" marR="0" lvl="0" indent="0" algn="l" rtl="0">
                        <a:spcBef>
                          <a:spcPts val="0"/>
                        </a:spcBef>
                        <a:spcAft>
                          <a:spcPts val="0"/>
                        </a:spcAft>
                        <a:buNone/>
                      </a:pPr>
                      <a:r>
                        <a:rPr lang="en-US" sz="1050" b="1" dirty="0">
                          <a:solidFill>
                            <a:srgbClr val="FFFFFF"/>
                          </a:solidFill>
                        </a:rPr>
                        <a:t>Task</a:t>
                      </a:r>
                      <a:endParaRPr sz="1050" dirty="0">
                        <a:solidFill>
                          <a:srgbClr val="FFFFFF"/>
                        </a:solidFill>
                      </a:endParaRPr>
                    </a:p>
                  </a:txBody>
                  <a:tcPr marL="109728" marR="109728" marT="64008" marB="64008">
                    <a:lnL w="12700" cap="flat" cmpd="sng" algn="ctr">
                      <a:solidFill>
                        <a:srgbClr val="002856"/>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a:solidFill>
                            <a:srgbClr val="FFFFFF"/>
                          </a:solidFill>
                        </a:rPr>
                        <a:t>Impact on tasks</a:t>
                      </a: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a:solidFill>
                            <a:srgbClr val="FFFFFF"/>
                          </a:solidFill>
                        </a:rPr>
                        <a:t>Time change</a:t>
                      </a:r>
                      <a:endParaRPr lang="en-US" sz="1050">
                        <a:solidFill>
                          <a:srgbClr val="FFFFFF"/>
                        </a:solidFill>
                      </a:endParaRP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solidFill>
                            <a:srgbClr val="FFFFFF"/>
                          </a:solidFill>
                        </a:rPr>
                        <a:t>Impact on workforce capabilities</a:t>
                      </a:r>
                      <a:endParaRPr lang="en-US" sz="1050" dirty="0">
                        <a:solidFill>
                          <a:srgbClr val="FFFFFF"/>
                        </a:solidFill>
                      </a:endParaRP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a:solidFill>
                            <a:srgbClr val="FFFFFF"/>
                          </a:solidFill>
                        </a:rPr>
                        <a:t>Level of Impact</a:t>
                      </a:r>
                      <a:endParaRPr lang="en-US" sz="1050">
                        <a:solidFill>
                          <a:srgbClr val="FFFFFF"/>
                        </a:solidFill>
                      </a:endParaRPr>
                    </a:p>
                  </a:txBody>
                  <a:tcPr marL="109728" marR="109728" marT="64008" marB="64008">
                    <a:lnL w="3175" cap="flat" cmpd="sng" algn="ctr">
                      <a:solidFill>
                        <a:srgbClr val="979D9D"/>
                      </a:solidFill>
                      <a:prstDash val="solid"/>
                      <a:round/>
                      <a:headEnd type="none" w="med" len="med"/>
                      <a:tailEnd type="none" w="med" len="med"/>
                    </a:lnL>
                    <a:lnR w="12700" cap="flat" cmpd="sng" algn="ctr">
                      <a:solidFill>
                        <a:srgbClr val="002856"/>
                      </a:solidFill>
                      <a:prstDash val="solid"/>
                      <a:round/>
                      <a:headEnd type="none" w="med" len="med"/>
                      <a:tailEnd type="none" w="med" len="med"/>
                    </a:lnR>
                    <a:lnT w="12700" cap="flat" cmpd="sng" algn="ctr">
                      <a:solidFill>
                        <a:srgbClr val="002856"/>
                      </a:solidFill>
                      <a:prstDash val="solid"/>
                      <a:round/>
                      <a:headEnd type="none" w="med" len="med"/>
                      <a:tailEnd type="none" w="med" len="med"/>
                    </a:lnT>
                    <a:lnB w="12700" cap="flat" cmpd="sng" algn="ctr">
                      <a:solidFill>
                        <a:srgbClr val="002856"/>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296525">
                <a:tc>
                  <a:txBody>
                    <a:bodyPr/>
                    <a:lstStyle/>
                    <a:p>
                      <a:pPr marL="0" marR="0" lvl="0" indent="0" algn="l" rtl="0">
                        <a:spcBef>
                          <a:spcPts val="0"/>
                        </a:spcBef>
                        <a:spcAft>
                          <a:spcPts val="600"/>
                        </a:spcAft>
                        <a:buNone/>
                      </a:pPr>
                      <a:r>
                        <a:rPr lang="en-US" sz="1050" b="0">
                          <a:solidFill>
                            <a:schemeClr val="tx1"/>
                          </a:solidFill>
                        </a:rPr>
                        <a:t>Manual route planning</a:t>
                      </a:r>
                    </a:p>
                  </a:txBody>
                  <a:tcPr marL="109728" marR="109728" marT="64008" marB="64008">
                    <a:lnL w="12700" cmpd="sng">
                      <a:noFill/>
                      <a:prstDash val="soli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b="0">
                          <a:solidFill>
                            <a:schemeClr val="tx1"/>
                          </a:solidFill>
                        </a:rPr>
                        <a:t>Automated by AI; role shifts to exception handling</a:t>
                      </a: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1050" b="1"/>
                        <a:t>↓ 60–70%</a:t>
                      </a:r>
                      <a:endParaRPr lang="en-US" sz="1050"/>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1050"/>
                        <a:t>AI oversight, data interpretation, decision-making</a:t>
                      </a: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b="1"/>
                        <a:t>High</a:t>
                      </a:r>
                      <a:endParaRPr lang="en-US" sz="1050" b="0">
                        <a:solidFill>
                          <a:schemeClr val="tx1"/>
                        </a:solidFill>
                      </a:endParaRPr>
                    </a:p>
                  </a:txBody>
                  <a:tcPr marL="109728" marR="109728" marT="64008" marB="64008">
                    <a:lnL w="3175" cap="flat" cmpd="sng" algn="ctr">
                      <a:solidFill>
                        <a:srgbClr val="979D9D"/>
                      </a:solidFill>
                      <a:prstDash val="solid"/>
                      <a:round/>
                      <a:headEnd type="none" w="med" len="med"/>
                      <a:tailEnd type="none" w="med" len="med"/>
                    </a:lnL>
                    <a:lnR w="12700" cmpd="sng">
                      <a:noFill/>
                      <a:prstDash val="solid"/>
                    </a:lnR>
                    <a:lnT w="12700" cap="flat" cmpd="sng" algn="ctr">
                      <a:solidFill>
                        <a:srgbClr val="002856"/>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5299">
                <a:tc>
                  <a:txBody>
                    <a:bodyPr/>
                    <a:lstStyle/>
                    <a:p>
                      <a:pPr marL="0" marR="0" lvl="0" indent="0" algn="l" rtl="0">
                        <a:spcBef>
                          <a:spcPts val="0"/>
                        </a:spcBef>
                        <a:spcAft>
                          <a:spcPts val="600"/>
                        </a:spcAft>
                        <a:buNone/>
                      </a:pPr>
                      <a:r>
                        <a:rPr lang="en-US" sz="1050" b="0">
                          <a:solidFill>
                            <a:schemeClr val="tx1"/>
                          </a:solidFill>
                        </a:rPr>
                        <a:t>Carrier and vehicle assignment</a:t>
                      </a:r>
                      <a:endParaRPr sz="1050" b="0">
                        <a:solidFill>
                          <a:schemeClr val="tx1"/>
                        </a:solidFill>
                      </a:endParaRPr>
                    </a:p>
                  </a:txBody>
                  <a:tcPr marL="109728" marR="109728" marT="64008" marB="64008">
                    <a:lnL w="12700" cmpd="sng">
                      <a:noFill/>
                      <a:prstDash val="soli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50" b="0">
                          <a:solidFill>
                            <a:schemeClr val="tx1"/>
                          </a:solidFill>
                        </a:rPr>
                        <a:t>Automated with prescriptive AI</a:t>
                      </a:r>
                      <a:endParaRPr sz="1050" b="0">
                        <a:solidFill>
                          <a:schemeClr val="tx1"/>
                        </a:solidFill>
                      </a:endParaRP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b="1"/>
                        <a:t>↓ 50–60%</a:t>
                      </a:r>
                      <a:endParaRPr lang="en-US" sz="1050"/>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a:t>Understanding AI recommendations, operational judgment</a:t>
                      </a: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tc>
                  <a:txBody>
                    <a:bodyPr/>
                    <a:lstStyle/>
                    <a:p>
                      <a:pPr marL="0" marR="0" lvl="0" indent="0" algn="l" rtl="0">
                        <a:spcBef>
                          <a:spcPts val="0"/>
                        </a:spcBef>
                        <a:spcAft>
                          <a:spcPts val="600"/>
                        </a:spcAft>
                        <a:buNone/>
                      </a:pPr>
                      <a:r>
                        <a:rPr lang="en-US" sz="1050" b="1"/>
                        <a:t>High</a:t>
                      </a:r>
                      <a:endParaRPr sz="1050" b="0">
                        <a:solidFill>
                          <a:schemeClr val="tx1"/>
                        </a:solidFill>
                      </a:endParaRPr>
                    </a:p>
                  </a:txBody>
                  <a:tcPr marL="109728" marR="109728" marT="64008" marB="64008">
                    <a:lnL w="3175" cap="flat" cmpd="sng" algn="ctr">
                      <a:solidFill>
                        <a:srgbClr val="979D9D"/>
                      </a:solidFill>
                      <a:prstDash val="solid"/>
                      <a:round/>
                      <a:headEnd type="none" w="med" len="med"/>
                      <a:tailEnd type="none" w="med" len="me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0F1FF"/>
                    </a:solidFill>
                  </a:tcPr>
                </a:tc>
                <a:extLst>
                  <a:ext uri="{0D108BD9-81ED-4DB2-BD59-A6C34878D82A}">
                    <a16:rowId xmlns:a16="http://schemas.microsoft.com/office/drawing/2014/main" val="10002"/>
                  </a:ext>
                </a:extLst>
              </a:tr>
              <a:tr h="388551">
                <a:tc>
                  <a:txBody>
                    <a:bodyPr/>
                    <a:lstStyle/>
                    <a:p>
                      <a:pPr marL="0" marR="0" lvl="0" indent="0" algn="l" rtl="0">
                        <a:spcBef>
                          <a:spcPts val="0"/>
                        </a:spcBef>
                        <a:spcAft>
                          <a:spcPts val="600"/>
                        </a:spcAft>
                        <a:buNone/>
                      </a:pPr>
                      <a:r>
                        <a:rPr lang="en-US" sz="1050" b="0">
                          <a:solidFill>
                            <a:schemeClr val="tx1"/>
                          </a:solidFill>
                        </a:rPr>
                        <a:t>ETA monitoring and updates</a:t>
                      </a:r>
                      <a:endParaRPr sz="1050" b="0">
                        <a:solidFill>
                          <a:schemeClr val="tx1"/>
                        </a:solidFill>
                      </a:endParaRPr>
                    </a:p>
                  </a:txBody>
                  <a:tcPr marL="109728" marR="109728" marT="64008" marB="64008">
                    <a:lnL w="12700" cmpd="sng">
                      <a:noFill/>
                      <a:prstDash val="soli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600"/>
                        </a:spcAft>
                        <a:buNone/>
                      </a:pPr>
                      <a:r>
                        <a:rPr lang="en-US" sz="1050" b="0">
                          <a:solidFill>
                            <a:schemeClr val="tx1"/>
                          </a:solidFill>
                        </a:rPr>
                        <a:t>Automated alerts; proactive notifications</a:t>
                      </a:r>
                      <a:endParaRPr sz="1050" b="0">
                        <a:solidFill>
                          <a:schemeClr val="tx1"/>
                        </a:solidFill>
                      </a:endParaRP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b="1"/>
                        <a:t>↓ 30–40%</a:t>
                      </a:r>
                      <a:endParaRPr lang="en-US" sz="1050"/>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50"/>
                        <a:t>Customer communication, escalation handling</a:t>
                      </a:r>
                    </a:p>
                  </a:txBody>
                  <a:tcPr marL="109728" marR="109728" marT="64008" marB="64008">
                    <a:lnL w="3175" cap="flat" cmpd="sng" algn="ctr">
                      <a:solidFill>
                        <a:srgbClr val="979D9D"/>
                      </a:solidFill>
                      <a:prstDash val="solid"/>
                      <a:round/>
                      <a:headEnd type="none" w="med" len="med"/>
                      <a:tailEnd type="none" w="med" len="med"/>
                    </a:lnL>
                    <a:lnR w="3175" cap="flat" cmpd="sng" algn="ctr">
                      <a:solidFill>
                        <a:srgbClr val="979D9D"/>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spcBef>
                          <a:spcPts val="0"/>
                        </a:spcBef>
                        <a:spcAft>
                          <a:spcPts val="600"/>
                        </a:spcAft>
                        <a:buNone/>
                      </a:pPr>
                      <a:r>
                        <a:rPr lang="en-US" sz="1050" b="1"/>
                        <a:t>Medium</a:t>
                      </a:r>
                      <a:endParaRPr sz="1050" b="0">
                        <a:solidFill>
                          <a:schemeClr val="tx1"/>
                        </a:solidFill>
                      </a:endParaRPr>
                    </a:p>
                  </a:txBody>
                  <a:tcPr marL="109728" marR="109728" marT="64008" marB="64008">
                    <a:lnL w="3175" cap="flat" cmpd="sng" algn="ctr">
                      <a:solidFill>
                        <a:srgbClr val="979D9D"/>
                      </a:solidFill>
                      <a:prstDash val="solid"/>
                      <a:round/>
                      <a:headEnd type="none" w="med" len="med"/>
                      <a:tailEnd type="none" w="med" len="med"/>
                    </a:lnL>
                    <a:lnR w="12700" cmpd="sng">
                      <a:noFill/>
                      <a:prstDash val="soli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5" name="Group 4">
            <a:extLst>
              <a:ext uri="{FF2B5EF4-FFF2-40B4-BE49-F238E27FC236}">
                <a16:creationId xmlns:a16="http://schemas.microsoft.com/office/drawing/2014/main" id="{4632D81A-0A62-6694-8F5C-8CEC790EE468}"/>
              </a:ext>
            </a:extLst>
          </p:cNvPr>
          <p:cNvGrpSpPr/>
          <p:nvPr/>
        </p:nvGrpSpPr>
        <p:grpSpPr>
          <a:xfrm>
            <a:off x="7585162" y="3668082"/>
            <a:ext cx="4142147" cy="2297057"/>
            <a:chOff x="7293266" y="3538131"/>
            <a:chExt cx="4142147" cy="2297057"/>
          </a:xfrm>
        </p:grpSpPr>
        <p:sp>
          <p:nvSpPr>
            <p:cNvPr id="71" name="TextBox 2">
              <a:extLst>
                <a:ext uri="{FF2B5EF4-FFF2-40B4-BE49-F238E27FC236}">
                  <a16:creationId xmlns:a16="http://schemas.microsoft.com/office/drawing/2014/main" id="{E30AC2A6-2876-1E3E-F62D-A6C4B4F9CCBE}"/>
                </a:ext>
              </a:extLst>
            </p:cNvPr>
            <p:cNvSpPr txBox="1"/>
            <p:nvPr/>
          </p:nvSpPr>
          <p:spPr>
            <a:xfrm>
              <a:off x="7329974" y="3538131"/>
              <a:ext cx="3467552" cy="258532"/>
            </a:xfrm>
            <a:prstGeom prst="rect">
              <a:avLst/>
            </a:prstGeom>
            <a:noFill/>
          </p:spPr>
          <p:txBody>
            <a:bodyPr wrap="none" lIns="0" rIns="0" rtlCol="0">
              <a:spAutoFit/>
            </a:bodyPr>
            <a:lstStyle/>
            <a:p>
              <a:pPr marL="0" marR="0" lvl="0" indent="0" algn="l" defTabSz="457200" rtl="0" eaLnBrk="1" fontAlgn="auto" latinLnBrk="0" hangingPunct="1">
                <a:lnSpc>
                  <a:spcPct val="90000"/>
                </a:lnSpc>
                <a:spcBef>
                  <a:spcPts val="60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Gartner Sans" panose="020B0504030402040204" pitchFamily="34" charset="0"/>
                  <a:cs typeface="Arial" panose="020B0604020202020204" pitchFamily="34" charset="0"/>
                </a:rPr>
                <a:t>Assess Impact on Jobs across teams/Job Families</a:t>
              </a:r>
            </a:p>
          </p:txBody>
        </p:sp>
        <p:sp>
          <p:nvSpPr>
            <p:cNvPr id="76" name="Freeform 33">
              <a:extLst>
                <a:ext uri="{FF2B5EF4-FFF2-40B4-BE49-F238E27FC236}">
                  <a16:creationId xmlns:a16="http://schemas.microsoft.com/office/drawing/2014/main" id="{EDCDB94C-6D52-0DDC-DA52-C762CC81BD5C}"/>
                </a:ext>
              </a:extLst>
            </p:cNvPr>
            <p:cNvSpPr/>
            <p:nvPr/>
          </p:nvSpPr>
          <p:spPr>
            <a:xfrm>
              <a:off x="7343406" y="5377988"/>
              <a:ext cx="1188720" cy="457200"/>
            </a:xfrm>
            <a:custGeom>
              <a:avLst/>
              <a:gdLst/>
              <a:ahLst/>
              <a:cxnLst/>
              <a:rect l="l" t="t" r="r" b="b"/>
              <a:pathLst>
                <a:path w="448729" h="211671">
                  <a:moveTo>
                    <a:pt x="0" y="211671"/>
                  </a:moveTo>
                  <a:lnTo>
                    <a:pt x="448729" y="211671"/>
                  </a:lnTo>
                  <a:lnTo>
                    <a:pt x="448729" y="0"/>
                  </a:lnTo>
                  <a:lnTo>
                    <a:pt x="0" y="0"/>
                  </a:lnTo>
                  <a:close/>
                </a:path>
              </a:pathLst>
            </a:custGeom>
            <a:solidFill>
              <a:srgbClr val="002869"/>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prstClr val="white"/>
                  </a:solidFill>
                  <a:effectLst/>
                  <a:uLnTx/>
                  <a:uFillTx/>
                  <a:latin typeface="Gartner Sans" panose="020B0504030402040204" pitchFamily="34" charset="0"/>
                </a:rPr>
                <a:t>Escalation specialist</a:t>
              </a:r>
            </a:p>
          </p:txBody>
        </p:sp>
        <p:sp>
          <p:nvSpPr>
            <p:cNvPr id="77" name="Freeform 33">
              <a:extLst>
                <a:ext uri="{FF2B5EF4-FFF2-40B4-BE49-F238E27FC236}">
                  <a16:creationId xmlns:a16="http://schemas.microsoft.com/office/drawing/2014/main" id="{437D205C-4C7C-0E9F-471B-5927FCD87AA3}"/>
                </a:ext>
              </a:extLst>
            </p:cNvPr>
            <p:cNvSpPr/>
            <p:nvPr/>
          </p:nvSpPr>
          <p:spPr>
            <a:xfrm>
              <a:off x="8767356" y="5377988"/>
              <a:ext cx="1188720" cy="457200"/>
            </a:xfrm>
            <a:custGeom>
              <a:avLst/>
              <a:gdLst/>
              <a:ahLst/>
              <a:cxnLst/>
              <a:rect l="l" t="t" r="r" b="b"/>
              <a:pathLst>
                <a:path w="448729" h="211671">
                  <a:moveTo>
                    <a:pt x="0" y="211671"/>
                  </a:moveTo>
                  <a:lnTo>
                    <a:pt x="448729" y="211671"/>
                  </a:lnTo>
                  <a:lnTo>
                    <a:pt x="448729" y="0"/>
                  </a:lnTo>
                  <a:lnTo>
                    <a:pt x="0" y="0"/>
                  </a:lnTo>
                  <a:close/>
                </a:path>
              </a:pathLst>
            </a:custGeom>
            <a:solidFill>
              <a:srgbClr val="167ACB"/>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Data </a:t>
              </a:r>
              <a:br>
                <a:rPr kumimoji="0" lang="en-US" sz="1000" i="0" u="none" strike="noStrike" kern="1200" cap="none" spc="0" normalizeH="0" baseline="0" noProof="0">
                  <a:ln>
                    <a:noFill/>
                  </a:ln>
                  <a:solidFill>
                    <a:srgbClr val="FFFFFF"/>
                  </a:solidFill>
                  <a:effectLst/>
                  <a:uLnTx/>
                  <a:uFillTx/>
                  <a:latin typeface="Gartner Sans" panose="020B0504030402040204" pitchFamily="34" charset="0"/>
                </a:rPr>
              </a:b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Engineer</a:t>
              </a:r>
            </a:p>
          </p:txBody>
        </p:sp>
        <p:sp>
          <p:nvSpPr>
            <p:cNvPr id="78" name="TextBox 77">
              <a:extLst>
                <a:ext uri="{FF2B5EF4-FFF2-40B4-BE49-F238E27FC236}">
                  <a16:creationId xmlns:a16="http://schemas.microsoft.com/office/drawing/2014/main" id="{A87C82F8-2089-2B60-7234-E9240D8EFE19}"/>
                </a:ext>
              </a:extLst>
            </p:cNvPr>
            <p:cNvSpPr txBox="1"/>
            <p:nvPr/>
          </p:nvSpPr>
          <p:spPr>
            <a:xfrm>
              <a:off x="7293266" y="4516462"/>
              <a:ext cx="1289000" cy="246221"/>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Arial" panose="020B0604020202020204" pitchFamily="34" charset="0"/>
                </a:rPr>
                <a:t>Customer Service</a:t>
              </a: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79" name="TextBox 78">
              <a:extLst>
                <a:ext uri="{FF2B5EF4-FFF2-40B4-BE49-F238E27FC236}">
                  <a16:creationId xmlns:a16="http://schemas.microsoft.com/office/drawing/2014/main" id="{A7FFAB71-75DD-A150-856D-55F1CC918B4D}"/>
                </a:ext>
              </a:extLst>
            </p:cNvPr>
            <p:cNvSpPr txBox="1"/>
            <p:nvPr/>
          </p:nvSpPr>
          <p:spPr>
            <a:xfrm>
              <a:off x="8777561" y="4516462"/>
              <a:ext cx="1168310" cy="246221"/>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Arial" panose="020B0604020202020204" pitchFamily="34" charset="0"/>
                </a:rPr>
                <a:t>Technology</a:t>
              </a: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80" name="TextBox 79">
              <a:extLst>
                <a:ext uri="{FF2B5EF4-FFF2-40B4-BE49-F238E27FC236}">
                  <a16:creationId xmlns:a16="http://schemas.microsoft.com/office/drawing/2014/main" id="{3736B80C-6D92-847E-B50E-63DCC949DA0A}"/>
                </a:ext>
              </a:extLst>
            </p:cNvPr>
            <p:cNvSpPr txBox="1"/>
            <p:nvPr/>
          </p:nvSpPr>
          <p:spPr>
            <a:xfrm>
              <a:off x="10272854" y="4516462"/>
              <a:ext cx="1136398" cy="246221"/>
            </a:xfrm>
            <a:prstGeom prst="rect">
              <a:avLst/>
            </a:prstGeom>
            <a:noFill/>
          </p:spPr>
          <p:txBody>
            <a:bodyPr wrap="square" lIns="0" r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Arial" panose="020B0604020202020204" pitchFamily="34" charset="0"/>
                </a:rPr>
                <a:t>Supply Chain</a:t>
              </a: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81" name="Freeform 30">
              <a:extLst>
                <a:ext uri="{FF2B5EF4-FFF2-40B4-BE49-F238E27FC236}">
                  <a16:creationId xmlns:a16="http://schemas.microsoft.com/office/drawing/2014/main" id="{CDA03D7B-CF90-E026-5D46-04C3BEDF4BD6}"/>
                </a:ext>
              </a:extLst>
            </p:cNvPr>
            <p:cNvSpPr/>
            <p:nvPr/>
          </p:nvSpPr>
          <p:spPr>
            <a:xfrm>
              <a:off x="8767356" y="4809528"/>
              <a:ext cx="1188720" cy="457200"/>
            </a:xfrm>
            <a:custGeom>
              <a:avLst/>
              <a:gdLst/>
              <a:ahLst/>
              <a:cxnLst/>
              <a:rect l="l" t="t" r="r" b="b"/>
              <a:pathLst>
                <a:path w="336550" h="158750">
                  <a:moveTo>
                    <a:pt x="0" y="158750"/>
                  </a:moveTo>
                  <a:lnTo>
                    <a:pt x="336550" y="158750"/>
                  </a:lnTo>
                  <a:lnTo>
                    <a:pt x="336550" y="0"/>
                  </a:lnTo>
                  <a:lnTo>
                    <a:pt x="0" y="0"/>
                  </a:lnTo>
                  <a:close/>
                </a:path>
              </a:pathLst>
            </a:custGeom>
            <a:solidFill>
              <a:srgbClr val="167ACB"/>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AI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 Specialist</a:t>
              </a:r>
            </a:p>
          </p:txBody>
        </p:sp>
        <p:sp>
          <p:nvSpPr>
            <p:cNvPr id="82" name="Freeform 33">
              <a:extLst>
                <a:ext uri="{FF2B5EF4-FFF2-40B4-BE49-F238E27FC236}">
                  <a16:creationId xmlns:a16="http://schemas.microsoft.com/office/drawing/2014/main" id="{142683E0-6A79-571B-CDA5-F30047236E49}"/>
                </a:ext>
              </a:extLst>
            </p:cNvPr>
            <p:cNvSpPr/>
            <p:nvPr/>
          </p:nvSpPr>
          <p:spPr>
            <a:xfrm>
              <a:off x="7343406" y="4809528"/>
              <a:ext cx="1188720" cy="457200"/>
            </a:xfrm>
            <a:custGeom>
              <a:avLst/>
              <a:gdLst/>
              <a:ahLst/>
              <a:cxnLst/>
              <a:rect l="l" t="t" r="r" b="b"/>
              <a:pathLst>
                <a:path w="448729" h="211671">
                  <a:moveTo>
                    <a:pt x="0" y="211671"/>
                  </a:moveTo>
                  <a:lnTo>
                    <a:pt x="448729" y="211671"/>
                  </a:lnTo>
                  <a:lnTo>
                    <a:pt x="448729" y="0"/>
                  </a:lnTo>
                  <a:lnTo>
                    <a:pt x="0" y="0"/>
                  </a:lnTo>
                  <a:close/>
                </a:path>
              </a:pathLst>
            </a:custGeom>
            <a:solidFill>
              <a:srgbClr val="0057AF"/>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Customer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Service Rep </a:t>
              </a:r>
            </a:p>
          </p:txBody>
        </p:sp>
        <p:grpSp>
          <p:nvGrpSpPr>
            <p:cNvPr id="83" name="Group 82">
              <a:extLst>
                <a:ext uri="{FF2B5EF4-FFF2-40B4-BE49-F238E27FC236}">
                  <a16:creationId xmlns:a16="http://schemas.microsoft.com/office/drawing/2014/main" id="{AF25A709-4C4B-BFFA-2E4D-0BB66883C4FD}"/>
                </a:ext>
              </a:extLst>
            </p:cNvPr>
            <p:cNvGrpSpPr/>
            <p:nvPr/>
          </p:nvGrpSpPr>
          <p:grpSpPr>
            <a:xfrm>
              <a:off x="7343406" y="3966341"/>
              <a:ext cx="2331132" cy="153888"/>
              <a:chOff x="7257810" y="3658537"/>
              <a:chExt cx="2331132" cy="153888"/>
            </a:xfrm>
          </p:grpSpPr>
          <p:sp>
            <p:nvSpPr>
              <p:cNvPr id="84" name="Freeform 33">
                <a:extLst>
                  <a:ext uri="{FF2B5EF4-FFF2-40B4-BE49-F238E27FC236}">
                    <a16:creationId xmlns:a16="http://schemas.microsoft.com/office/drawing/2014/main" id="{3C2C3057-B83C-079A-6B6C-57BB571A191E}"/>
                  </a:ext>
                </a:extLst>
              </p:cNvPr>
              <p:cNvSpPr/>
              <p:nvPr/>
            </p:nvSpPr>
            <p:spPr>
              <a:xfrm>
                <a:off x="8587321" y="3680617"/>
                <a:ext cx="109728" cy="109728"/>
              </a:xfrm>
              <a:custGeom>
                <a:avLst/>
                <a:gdLst/>
                <a:ahLst/>
                <a:cxnLst/>
                <a:rect l="l" t="t" r="r" b="b"/>
                <a:pathLst>
                  <a:path w="448729" h="211671">
                    <a:moveTo>
                      <a:pt x="0" y="211671"/>
                    </a:moveTo>
                    <a:lnTo>
                      <a:pt x="448729" y="211671"/>
                    </a:lnTo>
                    <a:lnTo>
                      <a:pt x="448729"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85" name="Freeform 65">
                <a:extLst>
                  <a:ext uri="{FF2B5EF4-FFF2-40B4-BE49-F238E27FC236}">
                    <a16:creationId xmlns:a16="http://schemas.microsoft.com/office/drawing/2014/main" id="{148F1CFB-083A-4A35-795D-7AB0ABE56E3F}"/>
                  </a:ext>
                </a:extLst>
              </p:cNvPr>
              <p:cNvSpPr/>
              <p:nvPr/>
            </p:nvSpPr>
            <p:spPr>
              <a:xfrm>
                <a:off x="9127042" y="3680617"/>
                <a:ext cx="109728" cy="109728"/>
              </a:xfrm>
              <a:custGeom>
                <a:avLst/>
                <a:gdLst/>
                <a:ahLst/>
                <a:cxnLst/>
                <a:rect l="l" t="t" r="r" b="b"/>
                <a:pathLst>
                  <a:path w="336550" h="152400">
                    <a:moveTo>
                      <a:pt x="0" y="152400"/>
                    </a:moveTo>
                    <a:lnTo>
                      <a:pt x="336550" y="152400"/>
                    </a:lnTo>
                    <a:lnTo>
                      <a:pt x="336550" y="0"/>
                    </a:lnTo>
                    <a:lnTo>
                      <a:pt x="0" y="0"/>
                    </a:lnTo>
                    <a:close/>
                  </a:path>
                </a:pathLst>
              </a:custGeom>
              <a:solidFill>
                <a:srgbClr val="167ACB"/>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86" name="Freeform 33">
                <a:extLst>
                  <a:ext uri="{FF2B5EF4-FFF2-40B4-BE49-F238E27FC236}">
                    <a16:creationId xmlns:a16="http://schemas.microsoft.com/office/drawing/2014/main" id="{B26C93D7-989C-2603-6153-729A0E5BAA8C}"/>
                  </a:ext>
                </a:extLst>
              </p:cNvPr>
              <p:cNvSpPr/>
              <p:nvPr/>
            </p:nvSpPr>
            <p:spPr>
              <a:xfrm>
                <a:off x="7257810" y="3680617"/>
                <a:ext cx="109728" cy="109728"/>
              </a:xfrm>
              <a:custGeom>
                <a:avLst/>
                <a:gdLst/>
                <a:ahLst/>
                <a:cxnLst/>
                <a:rect l="l" t="t" r="r" b="b"/>
                <a:pathLst>
                  <a:path w="448729" h="211671">
                    <a:moveTo>
                      <a:pt x="0" y="211671"/>
                    </a:moveTo>
                    <a:lnTo>
                      <a:pt x="448729" y="211671"/>
                    </a:lnTo>
                    <a:lnTo>
                      <a:pt x="448729"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87" name="TextBox 86">
                <a:extLst>
                  <a:ext uri="{FF2B5EF4-FFF2-40B4-BE49-F238E27FC236}">
                    <a16:creationId xmlns:a16="http://schemas.microsoft.com/office/drawing/2014/main" id="{6BDC2513-E71C-A808-EFF8-6AED37577470}"/>
                  </a:ext>
                </a:extLst>
              </p:cNvPr>
              <p:cNvSpPr txBox="1"/>
              <p:nvPr/>
            </p:nvSpPr>
            <p:spPr>
              <a:xfrm>
                <a:off x="7364485" y="3658537"/>
                <a:ext cx="366447" cy="153888"/>
              </a:xfrm>
              <a:prstGeom prst="rect">
                <a:avLst/>
              </a:prstGeom>
            </p:spPr>
            <p:txBody>
              <a:bodyPr wrap="none" lIns="9144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High</a:t>
                </a:r>
              </a:p>
            </p:txBody>
          </p:sp>
          <p:sp>
            <p:nvSpPr>
              <p:cNvPr id="88" name="TextBox 87">
                <a:extLst>
                  <a:ext uri="{FF2B5EF4-FFF2-40B4-BE49-F238E27FC236}">
                    <a16:creationId xmlns:a16="http://schemas.microsoft.com/office/drawing/2014/main" id="{B3564651-3BBE-8188-6143-837C470E9271}"/>
                  </a:ext>
                </a:extLst>
              </p:cNvPr>
              <p:cNvSpPr txBox="1"/>
              <p:nvPr/>
            </p:nvSpPr>
            <p:spPr>
              <a:xfrm>
                <a:off x="7933060" y="3658537"/>
                <a:ext cx="555601" cy="153888"/>
              </a:xfrm>
              <a:prstGeom prst="rect">
                <a:avLst/>
              </a:prstGeom>
            </p:spPr>
            <p:txBody>
              <a:bodyPr wrap="none" lIns="9144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Medium</a:t>
                </a:r>
              </a:p>
            </p:txBody>
          </p:sp>
          <p:sp>
            <p:nvSpPr>
              <p:cNvPr id="89" name="TextBox 88">
                <a:extLst>
                  <a:ext uri="{FF2B5EF4-FFF2-40B4-BE49-F238E27FC236}">
                    <a16:creationId xmlns:a16="http://schemas.microsoft.com/office/drawing/2014/main" id="{0EF6804A-76DC-DD1D-6AA9-756E47142D86}"/>
                  </a:ext>
                </a:extLst>
              </p:cNvPr>
              <p:cNvSpPr txBox="1"/>
              <p:nvPr/>
            </p:nvSpPr>
            <p:spPr>
              <a:xfrm>
                <a:off x="8693996" y="3658537"/>
                <a:ext cx="337593" cy="153888"/>
              </a:xfrm>
              <a:prstGeom prst="rect">
                <a:avLst/>
              </a:prstGeom>
            </p:spPr>
            <p:txBody>
              <a:bodyPr wrap="none" lIns="9144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Low</a:t>
                </a:r>
              </a:p>
            </p:txBody>
          </p:sp>
          <p:sp>
            <p:nvSpPr>
              <p:cNvPr id="90" name="TextBox 89">
                <a:extLst>
                  <a:ext uri="{FF2B5EF4-FFF2-40B4-BE49-F238E27FC236}">
                    <a16:creationId xmlns:a16="http://schemas.microsoft.com/office/drawing/2014/main" id="{593997C1-00A1-1825-B718-6E915082D5B0}"/>
                  </a:ext>
                </a:extLst>
              </p:cNvPr>
              <p:cNvSpPr txBox="1"/>
              <p:nvPr/>
            </p:nvSpPr>
            <p:spPr>
              <a:xfrm>
                <a:off x="9233717" y="3658537"/>
                <a:ext cx="355225" cy="153888"/>
              </a:xfrm>
              <a:prstGeom prst="rect">
                <a:avLst/>
              </a:prstGeom>
            </p:spPr>
            <p:txBody>
              <a:bodyPr wrap="none" lIns="9144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New</a:t>
                </a:r>
              </a:p>
            </p:txBody>
          </p:sp>
          <p:sp>
            <p:nvSpPr>
              <p:cNvPr id="91" name="Freeform 33">
                <a:extLst>
                  <a:ext uri="{FF2B5EF4-FFF2-40B4-BE49-F238E27FC236}">
                    <a16:creationId xmlns:a16="http://schemas.microsoft.com/office/drawing/2014/main" id="{724F8A8F-A1DF-3B45-DAA0-894680104E15}"/>
                  </a:ext>
                </a:extLst>
              </p:cNvPr>
              <p:cNvSpPr/>
              <p:nvPr/>
            </p:nvSpPr>
            <p:spPr>
              <a:xfrm>
                <a:off x="7826385" y="3680617"/>
                <a:ext cx="109728" cy="109728"/>
              </a:xfrm>
              <a:custGeom>
                <a:avLst/>
                <a:gdLst/>
                <a:ahLst/>
                <a:cxnLst/>
                <a:rect l="l" t="t" r="r" b="b"/>
                <a:pathLst>
                  <a:path w="448729" h="211671">
                    <a:moveTo>
                      <a:pt x="0" y="211671"/>
                    </a:moveTo>
                    <a:lnTo>
                      <a:pt x="448729" y="211671"/>
                    </a:lnTo>
                    <a:lnTo>
                      <a:pt x="448729" y="0"/>
                    </a:lnTo>
                    <a:lnTo>
                      <a:pt x="0" y="0"/>
                    </a:lnTo>
                    <a:close/>
                  </a:path>
                </a:pathLst>
              </a:custGeom>
              <a:solidFill>
                <a:srgbClr val="0057A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grpSp>
        <p:sp>
          <p:nvSpPr>
            <p:cNvPr id="92" name="Freeform 33">
              <a:extLst>
                <a:ext uri="{FF2B5EF4-FFF2-40B4-BE49-F238E27FC236}">
                  <a16:creationId xmlns:a16="http://schemas.microsoft.com/office/drawing/2014/main" id="{28DC10DF-CF00-02BF-EAB2-FD0CEBAA329D}"/>
                </a:ext>
              </a:extLst>
            </p:cNvPr>
            <p:cNvSpPr/>
            <p:nvPr/>
          </p:nvSpPr>
          <p:spPr>
            <a:xfrm>
              <a:off x="10246693" y="4809528"/>
              <a:ext cx="1188720" cy="457200"/>
            </a:xfrm>
            <a:custGeom>
              <a:avLst/>
              <a:gdLst/>
              <a:ahLst/>
              <a:cxnLst/>
              <a:rect l="l" t="t" r="r" b="b"/>
              <a:pathLst>
                <a:path w="448729" h="211671">
                  <a:moveTo>
                    <a:pt x="0" y="211671"/>
                  </a:moveTo>
                  <a:lnTo>
                    <a:pt x="448729" y="211671"/>
                  </a:lnTo>
                  <a:lnTo>
                    <a:pt x="448729" y="0"/>
                  </a:lnTo>
                  <a:lnTo>
                    <a:pt x="0" y="0"/>
                  </a:lnTo>
                  <a:close/>
                </a:path>
              </a:pathLst>
            </a:custGeom>
            <a:solidFill>
              <a:srgbClr val="002869"/>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prstClr val="white"/>
                  </a:solidFill>
                  <a:effectLst/>
                  <a:uLnTx/>
                  <a:uFillTx/>
                  <a:latin typeface="Gartner Sans" panose="020B0504030402040204" pitchFamily="34" charset="0"/>
                </a:rPr>
                <a:t>Route </a:t>
              </a:r>
              <a:br>
                <a:rPr kumimoji="0" lang="en-US" sz="1000" i="0" u="none" strike="noStrike" kern="1200" cap="none" spc="0" normalizeH="0" baseline="0" noProof="0">
                  <a:ln>
                    <a:noFill/>
                  </a:ln>
                  <a:solidFill>
                    <a:prstClr val="white"/>
                  </a:solidFill>
                  <a:effectLst/>
                  <a:uLnTx/>
                  <a:uFillTx/>
                  <a:latin typeface="Gartner Sans" panose="020B0504030402040204" pitchFamily="34" charset="0"/>
                </a:rPr>
              </a:br>
              <a:r>
                <a:rPr kumimoji="0" lang="en-US" sz="1000" i="0" u="none" strike="noStrike" kern="1200" cap="none" spc="0" normalizeH="0" baseline="0" noProof="0">
                  <a:ln>
                    <a:noFill/>
                  </a:ln>
                  <a:solidFill>
                    <a:prstClr val="white"/>
                  </a:solidFill>
                  <a:effectLst/>
                  <a:uLnTx/>
                  <a:uFillTx/>
                  <a:latin typeface="Gartner Sans" panose="020B0504030402040204" pitchFamily="34" charset="0"/>
                </a:rPr>
                <a:t>Planner </a:t>
              </a:r>
            </a:p>
          </p:txBody>
        </p:sp>
        <p:sp>
          <p:nvSpPr>
            <p:cNvPr id="93" name="Freeform 33">
              <a:extLst>
                <a:ext uri="{FF2B5EF4-FFF2-40B4-BE49-F238E27FC236}">
                  <a16:creationId xmlns:a16="http://schemas.microsoft.com/office/drawing/2014/main" id="{3F0EBBAA-A3F3-0FE9-AD6F-24419C97E67C}"/>
                </a:ext>
              </a:extLst>
            </p:cNvPr>
            <p:cNvSpPr/>
            <p:nvPr/>
          </p:nvSpPr>
          <p:spPr>
            <a:xfrm>
              <a:off x="10246693" y="5377988"/>
              <a:ext cx="1188720" cy="457200"/>
            </a:xfrm>
            <a:custGeom>
              <a:avLst/>
              <a:gdLst/>
              <a:ahLst/>
              <a:cxnLst/>
              <a:rect l="l" t="t" r="r" b="b"/>
              <a:pathLst>
                <a:path w="448729" h="211671">
                  <a:moveTo>
                    <a:pt x="0" y="211671"/>
                  </a:moveTo>
                  <a:lnTo>
                    <a:pt x="448729" y="211671"/>
                  </a:lnTo>
                  <a:lnTo>
                    <a:pt x="448729" y="0"/>
                  </a:lnTo>
                  <a:lnTo>
                    <a:pt x="0" y="0"/>
                  </a:lnTo>
                  <a:close/>
                </a:path>
              </a:pathLst>
            </a:custGeom>
            <a:solidFill>
              <a:srgbClr val="0057AF"/>
            </a:solidFill>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Dispatch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Gartner Sans" panose="020B0504030402040204" pitchFamily="34" charset="0"/>
                </a:rPr>
                <a:t>Coordinator</a:t>
              </a:r>
            </a:p>
          </p:txBody>
        </p:sp>
        <p:pic>
          <p:nvPicPr>
            <p:cNvPr id="95" name="Graphic 94">
              <a:extLst>
                <a:ext uri="{FF2B5EF4-FFF2-40B4-BE49-F238E27FC236}">
                  <a16:creationId xmlns:a16="http://schemas.microsoft.com/office/drawing/2014/main" id="{6DB88169-2239-E2AC-1C44-028287EB6A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7154" y="4220396"/>
              <a:ext cx="381224" cy="296508"/>
            </a:xfrm>
            <a:prstGeom prst="rect">
              <a:avLst/>
            </a:prstGeom>
          </p:spPr>
        </p:pic>
        <p:pic>
          <p:nvPicPr>
            <p:cNvPr id="96" name="Graphic 95">
              <a:extLst>
                <a:ext uri="{FF2B5EF4-FFF2-40B4-BE49-F238E27FC236}">
                  <a16:creationId xmlns:a16="http://schemas.microsoft.com/office/drawing/2014/main" id="{984F5F2B-EE6C-275E-9167-111F2AF1EC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50441" y="4220396"/>
              <a:ext cx="381224" cy="296508"/>
            </a:xfrm>
            <a:prstGeom prst="rect">
              <a:avLst/>
            </a:prstGeom>
          </p:spPr>
        </p:pic>
        <p:pic>
          <p:nvPicPr>
            <p:cNvPr id="97" name="Graphic 96">
              <a:extLst>
                <a:ext uri="{FF2B5EF4-FFF2-40B4-BE49-F238E27FC236}">
                  <a16:creationId xmlns:a16="http://schemas.microsoft.com/office/drawing/2014/main" id="{35382DFD-8598-01DA-F798-5E0585A1A3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71104" y="4220396"/>
              <a:ext cx="381224" cy="296508"/>
            </a:xfrm>
            <a:prstGeom prst="rect">
              <a:avLst/>
            </a:prstGeom>
          </p:spPr>
        </p:pic>
      </p:grpSp>
      <p:sp>
        <p:nvSpPr>
          <p:cNvPr id="100" name="TextBox 99">
            <a:extLst>
              <a:ext uri="{FF2B5EF4-FFF2-40B4-BE49-F238E27FC236}">
                <a16:creationId xmlns:a16="http://schemas.microsoft.com/office/drawing/2014/main" id="{EED8175A-8FF1-93C3-9D56-3024CC492A02}"/>
              </a:ext>
            </a:extLst>
          </p:cNvPr>
          <p:cNvSpPr txBox="1"/>
          <p:nvPr/>
        </p:nvSpPr>
        <p:spPr>
          <a:xfrm>
            <a:off x="457200" y="6004530"/>
            <a:ext cx="9418320" cy="253916"/>
          </a:xfrm>
          <a:prstGeom prst="rect">
            <a:avLst/>
          </a:prstGeom>
          <a:noFill/>
        </p:spPr>
        <p:txBody>
          <a:bodyPr wrap="square" lIns="0">
            <a:spAutoFit/>
          </a:bodyPr>
          <a:lstStyle/>
          <a:p>
            <a:r>
              <a:rPr lang="en-US" sz="1050"/>
              <a:t>Ensure task updates reflect workflow and process changes, including automation or AI-driven adjustments</a:t>
            </a:r>
          </a:p>
        </p:txBody>
      </p:sp>
      <p:sp>
        <p:nvSpPr>
          <p:cNvPr id="2" name="Rectangle 1">
            <a:extLst>
              <a:ext uri="{FF2B5EF4-FFF2-40B4-BE49-F238E27FC236}">
                <a16:creationId xmlns:a16="http://schemas.microsoft.com/office/drawing/2014/main" id="{596039AA-163B-CFD3-C758-36ED718A0D5D}"/>
              </a:ext>
            </a:extLst>
          </p:cNvPr>
          <p:cNvSpPr/>
          <p:nvPr/>
        </p:nvSpPr>
        <p:spPr>
          <a:xfrm>
            <a:off x="8852027" y="1"/>
            <a:ext cx="3339974" cy="366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chemeClr val="bg1"/>
                </a:solidFill>
                <a:latin typeface="Gartner Sans" panose="020B0504030402040204" pitchFamily="34" charset="0"/>
              </a:rPr>
              <a:t>CHRO Role: HR function leadership</a:t>
            </a:r>
            <a:endParaRPr kumimoji="0" lang="en-US" sz="1200" b="1" i="0" u="none" strike="noStrike" kern="0" cap="none" spc="0" normalizeH="0" baseline="0" noProof="0">
              <a:ln>
                <a:noFill/>
              </a:ln>
              <a:solidFill>
                <a:schemeClr val="bg1"/>
              </a:solidFill>
              <a:effectLst/>
              <a:uLnTx/>
              <a:uFillTx/>
              <a:latin typeface="Gartner Sans" panose="020B0504030402040204" pitchFamily="34" charset="0"/>
              <a:ea typeface="+mn-ea"/>
              <a:cs typeface="+mn-cs"/>
            </a:endParaRPr>
          </a:p>
        </p:txBody>
      </p:sp>
      <p:sp>
        <p:nvSpPr>
          <p:cNvPr id="8" name="TextBox 7">
            <a:extLst>
              <a:ext uri="{FF2B5EF4-FFF2-40B4-BE49-F238E27FC236}">
                <a16:creationId xmlns:a16="http://schemas.microsoft.com/office/drawing/2014/main" id="{CB5EA946-0D0E-C9D2-D1B1-F47B7ACB5C83}"/>
              </a:ext>
            </a:extLst>
          </p:cNvPr>
          <p:cNvSpPr txBox="1"/>
          <p:nvPr/>
        </p:nvSpPr>
        <p:spPr>
          <a:xfrm>
            <a:off x="457198" y="731520"/>
            <a:ext cx="9707733" cy="369332"/>
          </a:xfrm>
          <a:prstGeom prst="rect">
            <a:avLst/>
          </a:prstGeom>
          <a:noFill/>
        </p:spPr>
        <p:txBody>
          <a:bodyPr wrap="square" lIns="0">
            <a:spAutoFit/>
          </a:bodyPr>
          <a:lstStyle/>
          <a:p>
            <a:r>
              <a:rPr lang="en-US"/>
              <a:t>How do job expectations and required capabilities change as a result of redesign?</a:t>
            </a:r>
          </a:p>
        </p:txBody>
      </p:sp>
      <p:sp>
        <p:nvSpPr>
          <p:cNvPr id="4" name="Title 3">
            <a:extLst>
              <a:ext uri="{FF2B5EF4-FFF2-40B4-BE49-F238E27FC236}">
                <a16:creationId xmlns:a16="http://schemas.microsoft.com/office/drawing/2014/main" id="{6EB741AB-2475-5F11-6F38-C5CCAC9C38A6}"/>
              </a:ext>
            </a:extLst>
          </p:cNvPr>
          <p:cNvSpPr>
            <a:spLocks noGrp="1"/>
          </p:cNvSpPr>
          <p:nvPr>
            <p:ph type="title"/>
          </p:nvPr>
        </p:nvSpPr>
        <p:spPr/>
        <p:txBody>
          <a:bodyPr/>
          <a:lstStyle/>
          <a:p>
            <a:r>
              <a:rPr lang="en-US">
                <a:solidFill>
                  <a:srgbClr val="002869"/>
                </a:solidFill>
              </a:rPr>
              <a:t>5. Redesign Jobs and Assess Impact</a:t>
            </a:r>
            <a:endParaRPr lang="en-US"/>
          </a:p>
        </p:txBody>
      </p:sp>
    </p:spTree>
    <p:extLst>
      <p:ext uri="{BB962C8B-B14F-4D97-AF65-F5344CB8AC3E}">
        <p14:creationId xmlns:p14="http://schemas.microsoft.com/office/powerpoint/2010/main" val="3020474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201F2-F17A-C4B3-6372-56ABBD90C4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93963E7-68AA-6037-EEF8-05F5ECBE3752}"/>
              </a:ext>
            </a:extLst>
          </p:cNvPr>
          <p:cNvSpPr txBox="1"/>
          <p:nvPr/>
        </p:nvSpPr>
        <p:spPr>
          <a:xfrm>
            <a:off x="6507914" y="1646318"/>
            <a:ext cx="5229606" cy="4322722"/>
          </a:xfrm>
          <a:prstGeom prst="rect">
            <a:avLst/>
          </a:prstGeom>
          <a:solidFill>
            <a:srgbClr val="E0F1FF"/>
          </a:solidFill>
        </p:spPr>
        <p:txBody>
          <a:bodyPr wrap="square" lIns="274320" bIns="91440">
            <a:spAutoFit/>
          </a:bodyPr>
          <a:lstStyle/>
          <a:p>
            <a:endParaRPr lang="en-US" sz="1100" b="1" dirty="0"/>
          </a:p>
          <a:p>
            <a:r>
              <a:rPr lang="en-US" sz="1100" b="1" dirty="0"/>
              <a:t>Why Dynamic Redesign? </a:t>
            </a:r>
          </a:p>
          <a:p>
            <a:r>
              <a:rPr lang="en-US" sz="1100" dirty="0"/>
              <a:t>Continuous optimization is not optional. Evolving business demands and technologies require an ongoing cycle of redesign considering: </a:t>
            </a:r>
          </a:p>
          <a:p>
            <a:pPr marL="171450" indent="-171450">
              <a:buFont typeface="Arial" panose="020B0604020202020204" pitchFamily="34" charset="0"/>
              <a:buChar char="•"/>
            </a:pPr>
            <a:r>
              <a:rPr lang="en-US" sz="1100" b="1" dirty="0"/>
              <a:t>AI velocity:</a:t>
            </a:r>
            <a:r>
              <a:rPr lang="en-US" sz="1100" dirty="0"/>
              <a:t> exponential rate of technology advancements </a:t>
            </a:r>
          </a:p>
          <a:p>
            <a:pPr marL="171450" indent="-171450">
              <a:buFont typeface="Arial" panose="020B0604020202020204" pitchFamily="34" charset="0"/>
              <a:buChar char="•"/>
            </a:pPr>
            <a:r>
              <a:rPr lang="en-US" sz="1100" b="1" dirty="0"/>
              <a:t>AI accelerates demand: </a:t>
            </a:r>
            <a:r>
              <a:rPr lang="en-US" sz="1100" dirty="0"/>
              <a:t>Faster, cheaper tasks can increase demand and complexity. </a:t>
            </a:r>
            <a:endParaRPr lang="en-US" sz="1100" b="1" dirty="0"/>
          </a:p>
          <a:p>
            <a:pPr>
              <a:spcBef>
                <a:spcPts val="600"/>
              </a:spcBef>
            </a:pPr>
            <a:r>
              <a:rPr lang="en-US" sz="1100" b="1" dirty="0"/>
              <a:t>What that requires? </a:t>
            </a:r>
          </a:p>
          <a:p>
            <a:pPr marL="171450" indent="-171450">
              <a:buFont typeface="Arial" panose="020B0604020202020204" pitchFamily="34" charset="0"/>
              <a:buChar char="•"/>
            </a:pPr>
            <a:r>
              <a:rPr lang="en-US" sz="1100" dirty="0"/>
              <a:t>Build a cycle for ongoing adjustments backed by HR-led organizational change and workforce reskilling. </a:t>
            </a:r>
          </a:p>
          <a:p>
            <a:pPr marL="171450" indent="-171450">
              <a:spcAft>
                <a:spcPts val="300"/>
              </a:spcAft>
              <a:buFont typeface="Arial" panose="020B0604020202020204" pitchFamily="34" charset="0"/>
              <a:buChar char="•"/>
            </a:pPr>
            <a:r>
              <a:rPr lang="en-US" sz="1100" dirty="0"/>
              <a:t>Enable dynamic redesign cycles that sense change; recalibrate processes, and align workforce capabilities with technology advancements. </a:t>
            </a:r>
          </a:p>
          <a:p>
            <a:pPr>
              <a:spcBef>
                <a:spcPts val="600"/>
              </a:spcBef>
            </a:pPr>
            <a:r>
              <a:rPr lang="en-US" sz="1100" b="1" dirty="0"/>
              <a:t>Build capabilities: </a:t>
            </a:r>
            <a:r>
              <a:rPr lang="en-US" sz="1100" dirty="0"/>
              <a:t>Combine process excellence with technology readiness to enable smarter workflows, automation, and human-centric redesign. </a:t>
            </a:r>
          </a:p>
          <a:p>
            <a:pPr marL="171450" indent="-171450">
              <a:buFont typeface="Arial" panose="020B0604020202020204" pitchFamily="34" charset="0"/>
              <a:buChar char="•"/>
            </a:pPr>
            <a:r>
              <a:rPr lang="en-US" sz="1100" dirty="0"/>
              <a:t>Develop workforce skills and culture of continuous process optimization. </a:t>
            </a:r>
          </a:p>
          <a:p>
            <a:pPr marL="171450" indent="-171450">
              <a:buFont typeface="Arial" panose="020B0604020202020204" pitchFamily="34" charset="0"/>
              <a:buChar char="•"/>
            </a:pPr>
            <a:r>
              <a:rPr lang="en-US" sz="1100" dirty="0"/>
              <a:t>Leverage process intelligence and task mining tools to show where work can be optimized considering efficiency and effectiveness. </a:t>
            </a:r>
          </a:p>
          <a:p>
            <a:pPr marL="171450" indent="-171450">
              <a:spcAft>
                <a:spcPts val="300"/>
              </a:spcAft>
              <a:buFont typeface="Arial" panose="020B0604020202020204" pitchFamily="34" charset="0"/>
              <a:buChar char="•"/>
            </a:pPr>
            <a:r>
              <a:rPr lang="en-US" sz="1100" dirty="0"/>
              <a:t>Invest in task intelligence and process excellence capabilities to drive </a:t>
            </a:r>
            <a:r>
              <a:rPr lang="en-US" sz="1100" dirty="0" err="1"/>
              <a:t>enterprisewide</a:t>
            </a:r>
            <a:r>
              <a:rPr lang="en-US" sz="1100" dirty="0"/>
              <a:t> adaptability.</a:t>
            </a:r>
          </a:p>
          <a:p>
            <a:pPr>
              <a:lnSpc>
                <a:spcPct val="90000"/>
              </a:lnSpc>
              <a:spcBef>
                <a:spcPts val="600"/>
              </a:spcBef>
            </a:pPr>
            <a:r>
              <a:rPr lang="en-US" sz="1100" b="1" dirty="0"/>
              <a:t>Embed regular talent alignment reviews:</a:t>
            </a:r>
          </a:p>
          <a:p>
            <a:pPr marL="171450" indent="-171450">
              <a:buFont typeface="Arial" panose="020B0604020202020204" pitchFamily="34" charset="0"/>
              <a:buChar char="•"/>
            </a:pPr>
            <a:r>
              <a:rPr lang="en-US" sz="1100" dirty="0"/>
              <a:t>Gauge task and capability shifts. </a:t>
            </a:r>
          </a:p>
          <a:p>
            <a:pPr marL="171450" indent="-171450">
              <a:buFont typeface="Arial" panose="020B0604020202020204" pitchFamily="34" charset="0"/>
              <a:buChar char="•"/>
            </a:pPr>
            <a:r>
              <a:rPr lang="en-US" sz="1100" dirty="0"/>
              <a:t>Frequency based on AI adoption speed: annually (low impact team), semi-annually (medium impact teams), quarterly (high impact teams).</a:t>
            </a:r>
          </a:p>
        </p:txBody>
      </p:sp>
      <p:sp>
        <p:nvSpPr>
          <p:cNvPr id="50" name="Title 1">
            <a:extLst>
              <a:ext uri="{FF2B5EF4-FFF2-40B4-BE49-F238E27FC236}">
                <a16:creationId xmlns:a16="http://schemas.microsoft.com/office/drawing/2014/main" id="{2B870961-FA2C-606E-9AD6-0EE5FC1341A6}"/>
              </a:ext>
            </a:extLst>
          </p:cNvPr>
          <p:cNvSpPr>
            <a:spLocks noGrp="1"/>
          </p:cNvSpPr>
          <p:nvPr>
            <p:ph type="title"/>
          </p:nvPr>
        </p:nvSpPr>
        <p:spPr>
          <a:xfrm>
            <a:off x="457200" y="361950"/>
            <a:ext cx="11274425" cy="450850"/>
          </a:xfrm>
        </p:spPr>
        <p:txBody>
          <a:bodyPr/>
          <a:lstStyle/>
          <a:p>
            <a:r>
              <a:rPr lang="en-US" dirty="0"/>
              <a:t>Dynamic Redesign: </a:t>
            </a:r>
            <a:br>
              <a:rPr lang="en-US" dirty="0"/>
            </a:br>
            <a:r>
              <a:rPr lang="en-US" dirty="0"/>
              <a:t>Continuous Adaptation — People, Process, Technology</a:t>
            </a:r>
          </a:p>
        </p:txBody>
      </p:sp>
      <p:sp>
        <p:nvSpPr>
          <p:cNvPr id="9" name="TextBox 8">
            <a:extLst>
              <a:ext uri="{FF2B5EF4-FFF2-40B4-BE49-F238E27FC236}">
                <a16:creationId xmlns:a16="http://schemas.microsoft.com/office/drawing/2014/main" id="{C6CF5839-DC26-5C75-8958-FC366DDD128A}"/>
              </a:ext>
            </a:extLst>
          </p:cNvPr>
          <p:cNvSpPr txBox="1"/>
          <p:nvPr/>
        </p:nvSpPr>
        <p:spPr>
          <a:xfrm>
            <a:off x="6634045" y="1371600"/>
            <a:ext cx="4977345" cy="261610"/>
          </a:xfrm>
          <a:prstGeom prst="rect">
            <a:avLst/>
          </a:prstGeom>
          <a:noFill/>
        </p:spPr>
        <p:txBody>
          <a:bodyPr wrap="square">
            <a:spAutoFit/>
          </a:bodyPr>
          <a:lstStyle/>
          <a:p>
            <a:pPr algn="ctr"/>
            <a:r>
              <a:rPr lang="en-US" sz="1100" b="1">
                <a:solidFill>
                  <a:srgbClr val="1F96FF"/>
                </a:solidFill>
                <a:cs typeface="Arial" panose="020B0604020202020204" pitchFamily="34" charset="0"/>
              </a:rPr>
              <a:t>Recalibrate → Reset → Repeat</a:t>
            </a:r>
            <a:endParaRPr lang="en-US" sz="1100">
              <a:solidFill>
                <a:srgbClr val="1F96FF"/>
              </a:solidFill>
              <a:cs typeface="Arial" panose="020B0604020202020204" pitchFamily="34" charset="0"/>
            </a:endParaRPr>
          </a:p>
        </p:txBody>
      </p:sp>
      <p:grpSp>
        <p:nvGrpSpPr>
          <p:cNvPr id="8" name="Group 7">
            <a:extLst>
              <a:ext uri="{FF2B5EF4-FFF2-40B4-BE49-F238E27FC236}">
                <a16:creationId xmlns:a16="http://schemas.microsoft.com/office/drawing/2014/main" id="{0FFF2B12-5771-DD9B-97AD-AB806FBC3B4F}"/>
              </a:ext>
            </a:extLst>
          </p:cNvPr>
          <p:cNvGrpSpPr/>
          <p:nvPr/>
        </p:nvGrpSpPr>
        <p:grpSpPr>
          <a:xfrm>
            <a:off x="5624322" y="2548056"/>
            <a:ext cx="1004674" cy="983943"/>
            <a:chOff x="5890326" y="2357556"/>
            <a:chExt cx="1004674" cy="983943"/>
          </a:xfrm>
        </p:grpSpPr>
        <p:sp>
          <p:nvSpPr>
            <p:cNvPr id="33" name="Oval 32">
              <a:extLst>
                <a:ext uri="{FF2B5EF4-FFF2-40B4-BE49-F238E27FC236}">
                  <a16:creationId xmlns:a16="http://schemas.microsoft.com/office/drawing/2014/main" id="{94873894-CBE8-72F4-5F53-DA630EBBAD54}"/>
                </a:ext>
              </a:extLst>
            </p:cNvPr>
            <p:cNvSpPr/>
            <p:nvPr/>
          </p:nvSpPr>
          <p:spPr>
            <a:xfrm>
              <a:off x="5890326" y="2357556"/>
              <a:ext cx="1004674" cy="983943"/>
            </a:xfrm>
            <a:prstGeom prst="ellipse">
              <a:avLst/>
            </a:prstGeom>
            <a:solidFill>
              <a:schemeClr val="bg1"/>
            </a:solidFill>
            <a:ln w="25400" cap="flat" cmpd="sng">
              <a:solidFill>
                <a:srgbClr val="1F96FF"/>
              </a:solidFill>
              <a:prstDash val="solid"/>
              <a:round/>
              <a:headEnd type="none" w="lg" len="med"/>
              <a:tailEnd type="none" w="lg" len="med"/>
            </a:ln>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ea typeface="+mn-ea"/>
                <a:cs typeface="+mn-cs"/>
              </a:endParaRPr>
            </a:p>
          </p:txBody>
        </p:sp>
        <p:pic>
          <p:nvPicPr>
            <p:cNvPr id="12" name="Picture 14">
              <a:extLst>
                <a:ext uri="{FF2B5EF4-FFF2-40B4-BE49-F238E27FC236}">
                  <a16:creationId xmlns:a16="http://schemas.microsoft.com/office/drawing/2014/main" id="{0F791237-CDE6-51B5-F594-C8C253688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678" y="2562542"/>
              <a:ext cx="573970" cy="573970"/>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Text Box 13" descr="PresentationLoad.com">
            <a:extLst>
              <a:ext uri="{FF2B5EF4-FFF2-40B4-BE49-F238E27FC236}">
                <a16:creationId xmlns:a16="http://schemas.microsoft.com/office/drawing/2014/main" id="{D679ADC4-F472-C3A9-A4BC-067C1CCEB3B0}"/>
              </a:ext>
            </a:extLst>
          </p:cNvPr>
          <p:cNvSpPr txBox="1">
            <a:spLocks noChangeArrowheads="1"/>
          </p:cNvSpPr>
          <p:nvPr/>
        </p:nvSpPr>
        <p:spPr bwMode="gray">
          <a:xfrm>
            <a:off x="3851341" y="1675588"/>
            <a:ext cx="1397648" cy="600164"/>
          </a:xfrm>
          <a:prstGeom prst="rect">
            <a:avLst/>
          </a:prstGeom>
          <a:noFill/>
          <a:ln w="9525" algn="ctr">
            <a:noFill/>
            <a:miter lim="800000"/>
            <a:headEnd/>
            <a:tailEnd/>
          </a:ln>
        </p:spPr>
        <p:txBody>
          <a:bodyPr wrap="square" lIns="45720" tIns="45720" rIns="45720" bIns="45720" anchor="t">
            <a:spAutoFit/>
          </a:bodyPr>
          <a:lstStyle/>
          <a:p>
            <a:pPr marL="0" marR="0" lvl="0" indent="0" defTabSz="801688"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mn-cs"/>
              </a:rPr>
              <a:t>Align on design goals and key value streams</a:t>
            </a:r>
          </a:p>
        </p:txBody>
      </p:sp>
      <p:sp>
        <p:nvSpPr>
          <p:cNvPr id="36" name="Text Box 13" descr="PresentationLoad.com">
            <a:extLst>
              <a:ext uri="{FF2B5EF4-FFF2-40B4-BE49-F238E27FC236}">
                <a16:creationId xmlns:a16="http://schemas.microsoft.com/office/drawing/2014/main" id="{28860403-2BB3-A5C0-7380-0B7D1449CE9A}"/>
              </a:ext>
            </a:extLst>
          </p:cNvPr>
          <p:cNvSpPr txBox="1">
            <a:spLocks noChangeArrowheads="1"/>
          </p:cNvSpPr>
          <p:nvPr/>
        </p:nvSpPr>
        <p:spPr bwMode="gray">
          <a:xfrm>
            <a:off x="4184556" y="3221611"/>
            <a:ext cx="1394952" cy="363176"/>
          </a:xfrm>
          <a:prstGeom prst="rect">
            <a:avLst/>
          </a:prstGeom>
          <a:noFill/>
          <a:ln w="9525" algn="ctr">
            <a:noFill/>
            <a:miter lim="800000"/>
            <a:headEnd/>
            <a:tailEnd/>
          </a:ln>
        </p:spPr>
        <p:txBody>
          <a:bodyPr wrap="square" lIns="45720" tIns="45720" rIns="45720" bIns="45720" anchor="t">
            <a:spAutoFit/>
          </a:bodyPr>
          <a:lstStyle/>
          <a:p>
            <a:pPr marL="0" marR="0" lvl="0" indent="0" defTabSz="801688" rtl="0" eaLnBrk="1" fontAlgn="auto" latinLnBrk="0" hangingPunct="1">
              <a:lnSpc>
                <a:spcPct val="8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mn-cs"/>
              </a:rPr>
              <a:t>Assess process performance </a:t>
            </a:r>
          </a:p>
        </p:txBody>
      </p:sp>
      <p:sp>
        <p:nvSpPr>
          <p:cNvPr id="37" name="Text Box 13" descr="PresentationLoad.com">
            <a:extLst>
              <a:ext uri="{FF2B5EF4-FFF2-40B4-BE49-F238E27FC236}">
                <a16:creationId xmlns:a16="http://schemas.microsoft.com/office/drawing/2014/main" id="{BF3587A4-74F3-5354-0FB1-A36AA1E8783A}"/>
              </a:ext>
            </a:extLst>
          </p:cNvPr>
          <p:cNvSpPr txBox="1">
            <a:spLocks noChangeArrowheads="1"/>
          </p:cNvSpPr>
          <p:nvPr/>
        </p:nvSpPr>
        <p:spPr bwMode="gray">
          <a:xfrm>
            <a:off x="1950697" y="4220219"/>
            <a:ext cx="1881177" cy="430887"/>
          </a:xfrm>
          <a:prstGeom prst="rect">
            <a:avLst/>
          </a:prstGeom>
          <a:noFill/>
          <a:ln w="9525" algn="ctr">
            <a:noFill/>
            <a:miter lim="800000"/>
            <a:headEnd/>
            <a:tailEnd/>
          </a:ln>
        </p:spPr>
        <p:txBody>
          <a:bodyPr wrap="square" lIns="45720" tIns="45720" rIns="45720" bIns="4572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rPr>
              <a:t>Define people</a:t>
            </a:r>
            <a:r>
              <a:rPr lang="en-US" sz="1100" b="1">
                <a:solidFill>
                  <a:prstClr val="black"/>
                </a:solidFill>
              </a:rPr>
              <a:t> + </a:t>
            </a:r>
            <a:r>
              <a:rPr kumimoji="0" lang="en-US" sz="1100" b="1" i="0" u="none" strike="noStrike" kern="1200" cap="none" spc="0" normalizeH="0" baseline="0" noProof="0">
                <a:ln>
                  <a:noFill/>
                </a:ln>
                <a:solidFill>
                  <a:prstClr val="black"/>
                </a:solidFill>
                <a:effectLst/>
                <a:uLnTx/>
                <a:uFillTx/>
              </a:rPr>
              <a:t>technology contribution </a:t>
            </a:r>
          </a:p>
        </p:txBody>
      </p:sp>
      <p:sp>
        <p:nvSpPr>
          <p:cNvPr id="38" name="Text Box 13" descr="PresentationLoad.com">
            <a:extLst>
              <a:ext uri="{FF2B5EF4-FFF2-40B4-BE49-F238E27FC236}">
                <a16:creationId xmlns:a16="http://schemas.microsoft.com/office/drawing/2014/main" id="{16EFEEF0-D176-D167-3493-23CA78B093F5}"/>
              </a:ext>
            </a:extLst>
          </p:cNvPr>
          <p:cNvSpPr txBox="1">
            <a:spLocks noChangeArrowheads="1"/>
          </p:cNvSpPr>
          <p:nvPr/>
        </p:nvSpPr>
        <p:spPr bwMode="gray">
          <a:xfrm>
            <a:off x="585027" y="3187756"/>
            <a:ext cx="1038075" cy="430887"/>
          </a:xfrm>
          <a:prstGeom prst="rect">
            <a:avLst/>
          </a:prstGeom>
          <a:noFill/>
          <a:ln w="9525" algn="ctr">
            <a:noFill/>
            <a:miter lim="800000"/>
            <a:headEnd/>
            <a:tailEnd/>
          </a:ln>
        </p:spPr>
        <p:txBody>
          <a:bodyPr wrap="square" lIns="45720" tIns="45720" rIns="45720" bIns="4572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mn-cs"/>
              </a:rPr>
              <a:t>Redesign processes</a:t>
            </a:r>
          </a:p>
        </p:txBody>
      </p:sp>
      <p:grpSp>
        <p:nvGrpSpPr>
          <p:cNvPr id="40" name="Group 39">
            <a:extLst>
              <a:ext uri="{FF2B5EF4-FFF2-40B4-BE49-F238E27FC236}">
                <a16:creationId xmlns:a16="http://schemas.microsoft.com/office/drawing/2014/main" id="{9E0D1404-53EC-0DEA-0AE5-FA4CF41B7F17}"/>
              </a:ext>
            </a:extLst>
          </p:cNvPr>
          <p:cNvGrpSpPr/>
          <p:nvPr/>
        </p:nvGrpSpPr>
        <p:grpSpPr>
          <a:xfrm>
            <a:off x="1550170" y="1635795"/>
            <a:ext cx="2591938" cy="2570860"/>
            <a:chOff x="4475156" y="1368945"/>
            <a:chExt cx="3696626" cy="3805434"/>
          </a:xfrm>
        </p:grpSpPr>
        <p:sp>
          <p:nvSpPr>
            <p:cNvPr id="41" name="Freeform 24">
              <a:extLst>
                <a:ext uri="{FF2B5EF4-FFF2-40B4-BE49-F238E27FC236}">
                  <a16:creationId xmlns:a16="http://schemas.microsoft.com/office/drawing/2014/main" id="{5991218F-431C-BE3C-20DE-EC6A7CDB5A42}"/>
                </a:ext>
              </a:extLst>
            </p:cNvPr>
            <p:cNvSpPr/>
            <p:nvPr/>
          </p:nvSpPr>
          <p:spPr>
            <a:xfrm>
              <a:off x="4724159" y="1368945"/>
              <a:ext cx="1815114" cy="1478861"/>
            </a:xfrm>
            <a:custGeom>
              <a:avLst/>
              <a:gdLst/>
              <a:ahLst/>
              <a:cxnLst/>
              <a:rect l="l" t="t" r="r" b="b"/>
              <a:pathLst>
                <a:path w="459639" h="371297">
                  <a:moveTo>
                    <a:pt x="358178" y="48133"/>
                  </a:moveTo>
                  <a:cubicBezTo>
                    <a:pt x="191389" y="67755"/>
                    <a:pt x="53467" y="180721"/>
                    <a:pt x="0" y="334607"/>
                  </a:cubicBezTo>
                  <a:lnTo>
                    <a:pt x="70244" y="296367"/>
                  </a:lnTo>
                  <a:lnTo>
                    <a:pt x="111036" y="371297"/>
                  </a:lnTo>
                  <a:cubicBezTo>
                    <a:pt x="149086" y="263817"/>
                    <a:pt x="243065" y="184620"/>
                    <a:pt x="358178" y="165938"/>
                  </a:cubicBezTo>
                  <a:lnTo>
                    <a:pt x="358178" y="202921"/>
                  </a:lnTo>
                  <a:lnTo>
                    <a:pt x="459639" y="101461"/>
                  </a:lnTo>
                  <a:lnTo>
                    <a:pt x="358178"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2" name="Freeform 25">
              <a:extLst>
                <a:ext uri="{FF2B5EF4-FFF2-40B4-BE49-F238E27FC236}">
                  <a16:creationId xmlns:a16="http://schemas.microsoft.com/office/drawing/2014/main" id="{7009AF94-9CBD-D47A-E42D-CC3616ABAFC9}"/>
                </a:ext>
              </a:extLst>
            </p:cNvPr>
            <p:cNvSpPr/>
            <p:nvPr/>
          </p:nvSpPr>
          <p:spPr>
            <a:xfrm>
              <a:off x="4475156" y="2668233"/>
              <a:ext cx="1082893" cy="1978474"/>
            </a:xfrm>
            <a:custGeom>
              <a:avLst/>
              <a:gdLst/>
              <a:ahLst/>
              <a:cxnLst/>
              <a:rect l="l" t="t" r="r" b="b"/>
              <a:pathLst>
                <a:path w="274219" h="496735">
                  <a:moveTo>
                    <a:pt x="0" y="68605"/>
                  </a:moveTo>
                  <a:lnTo>
                    <a:pt x="45974" y="82169"/>
                  </a:lnTo>
                  <a:cubicBezTo>
                    <a:pt x="41757" y="106083"/>
                    <a:pt x="38760" y="130416"/>
                    <a:pt x="38760" y="155549"/>
                  </a:cubicBezTo>
                  <a:cubicBezTo>
                    <a:pt x="38760" y="294272"/>
                    <a:pt x="104203" y="417449"/>
                    <a:pt x="205625" y="496735"/>
                  </a:cubicBezTo>
                  <a:lnTo>
                    <a:pt x="191719" y="415899"/>
                  </a:lnTo>
                  <a:lnTo>
                    <a:pt x="274218" y="401713"/>
                  </a:lnTo>
                  <a:cubicBezTo>
                    <a:pt x="201955" y="343573"/>
                    <a:pt x="154787" y="255511"/>
                    <a:pt x="154787" y="155549"/>
                  </a:cubicBezTo>
                  <a:cubicBezTo>
                    <a:pt x="154787" y="141808"/>
                    <a:pt x="156006" y="128397"/>
                    <a:pt x="157759" y="115138"/>
                  </a:cubicBezTo>
                  <a:lnTo>
                    <a:pt x="194614" y="126009"/>
                  </a:lnTo>
                  <a:lnTo>
                    <a:pt x="126009"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3" name="Freeform 26">
              <a:extLst>
                <a:ext uri="{FF2B5EF4-FFF2-40B4-BE49-F238E27FC236}">
                  <a16:creationId xmlns:a16="http://schemas.microsoft.com/office/drawing/2014/main" id="{C41C80A3-C37D-C637-7E52-3D36C024FA0F}"/>
                </a:ext>
              </a:extLst>
            </p:cNvPr>
            <p:cNvSpPr/>
            <p:nvPr/>
          </p:nvSpPr>
          <p:spPr>
            <a:xfrm>
              <a:off x="5315367" y="4291317"/>
              <a:ext cx="1963814" cy="726127"/>
            </a:xfrm>
            <a:custGeom>
              <a:avLst/>
              <a:gdLst/>
              <a:ahLst/>
              <a:cxnLst/>
              <a:rect l="l" t="t" r="r" b="b"/>
              <a:pathLst>
                <a:path w="497294" h="182309">
                  <a:moveTo>
                    <a:pt x="118948" y="31775"/>
                  </a:moveTo>
                  <a:lnTo>
                    <a:pt x="141402" y="0"/>
                  </a:lnTo>
                  <a:lnTo>
                    <a:pt x="0" y="24320"/>
                  </a:lnTo>
                  <a:lnTo>
                    <a:pt x="24321" y="165722"/>
                  </a:lnTo>
                  <a:lnTo>
                    <a:pt x="51245" y="127610"/>
                  </a:lnTo>
                  <a:cubicBezTo>
                    <a:pt x="113107" y="161785"/>
                    <a:pt x="183528" y="182308"/>
                    <a:pt x="259195" y="182308"/>
                  </a:cubicBezTo>
                  <a:cubicBezTo>
                    <a:pt x="347193" y="182308"/>
                    <a:pt x="428943" y="155905"/>
                    <a:pt x="497294" y="110833"/>
                  </a:cubicBezTo>
                  <a:lnTo>
                    <a:pt x="413093" y="96990"/>
                  </a:lnTo>
                  <a:lnTo>
                    <a:pt x="426124" y="17755"/>
                  </a:lnTo>
                  <a:cubicBezTo>
                    <a:pt x="377533" y="48019"/>
                    <a:pt x="320650" y="66281"/>
                    <a:pt x="259195" y="66281"/>
                  </a:cubicBezTo>
                  <a:cubicBezTo>
                    <a:pt x="208483" y="66281"/>
                    <a:pt x="161316" y="53150"/>
                    <a:pt x="118948" y="31775"/>
                  </a:cubicBezTo>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 name="Freeform 27">
              <a:extLst>
                <a:ext uri="{FF2B5EF4-FFF2-40B4-BE49-F238E27FC236}">
                  <a16:creationId xmlns:a16="http://schemas.microsoft.com/office/drawing/2014/main" id="{C767EB07-258C-BF21-FFF9-1E9B086D9ED8}"/>
                </a:ext>
              </a:extLst>
            </p:cNvPr>
            <p:cNvSpPr/>
            <p:nvPr/>
          </p:nvSpPr>
          <p:spPr>
            <a:xfrm>
              <a:off x="7046681" y="2807833"/>
              <a:ext cx="1020298" cy="1884538"/>
            </a:xfrm>
            <a:custGeom>
              <a:avLst/>
              <a:gdLst/>
              <a:ahLst/>
              <a:cxnLst/>
              <a:rect l="l" t="t" r="r" b="b"/>
              <a:pathLst>
                <a:path w="258369" h="473151">
                  <a:moveTo>
                    <a:pt x="203720" y="74968"/>
                  </a:moveTo>
                  <a:lnTo>
                    <a:pt x="131216" y="38011"/>
                  </a:lnTo>
                  <a:cubicBezTo>
                    <a:pt x="137757" y="63411"/>
                    <a:pt x="142341" y="89573"/>
                    <a:pt x="142341" y="117018"/>
                  </a:cubicBezTo>
                  <a:cubicBezTo>
                    <a:pt x="142341" y="205270"/>
                    <a:pt x="105295" y="283997"/>
                    <a:pt x="46965" y="341325"/>
                  </a:cubicBezTo>
                  <a:lnTo>
                    <a:pt x="23266" y="308292"/>
                  </a:lnTo>
                  <a:lnTo>
                    <a:pt x="0" y="449872"/>
                  </a:lnTo>
                  <a:lnTo>
                    <a:pt x="141579" y="473151"/>
                  </a:lnTo>
                  <a:lnTo>
                    <a:pt x="115748" y="437159"/>
                  </a:lnTo>
                  <a:cubicBezTo>
                    <a:pt x="203022" y="357937"/>
                    <a:pt x="258369" y="244183"/>
                    <a:pt x="258369" y="117018"/>
                  </a:cubicBezTo>
                  <a:cubicBezTo>
                    <a:pt x="258369" y="76403"/>
                    <a:pt x="252374" y="37262"/>
                    <a:pt x="241935" y="0"/>
                  </a:cubicBez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6" name="Freeform 28">
              <a:extLst>
                <a:ext uri="{FF2B5EF4-FFF2-40B4-BE49-F238E27FC236}">
                  <a16:creationId xmlns:a16="http://schemas.microsoft.com/office/drawing/2014/main" id="{3CD7B040-B26A-E1F7-6782-A614C1C6D8A9}"/>
                </a:ext>
              </a:extLst>
            </p:cNvPr>
            <p:cNvSpPr/>
            <p:nvPr/>
          </p:nvSpPr>
          <p:spPr>
            <a:xfrm>
              <a:off x="6405280" y="1547606"/>
              <a:ext cx="1654426" cy="1456453"/>
            </a:xfrm>
            <a:custGeom>
              <a:avLst/>
              <a:gdLst/>
              <a:ahLst/>
              <a:cxnLst/>
              <a:rect l="l" t="t" r="r" b="b"/>
              <a:pathLst>
                <a:path w="418948" h="365671">
                  <a:moveTo>
                    <a:pt x="2641" y="0"/>
                  </a:moveTo>
                  <a:lnTo>
                    <a:pt x="59690" y="57048"/>
                  </a:lnTo>
                  <a:lnTo>
                    <a:pt x="0" y="116751"/>
                  </a:lnTo>
                  <a:cubicBezTo>
                    <a:pt x="115722" y="122910"/>
                    <a:pt x="214427" y="190538"/>
                    <a:pt x="264592" y="287972"/>
                  </a:cubicBezTo>
                  <a:lnTo>
                    <a:pt x="225958" y="300520"/>
                  </a:lnTo>
                  <a:lnTo>
                    <a:pt x="353796" y="365671"/>
                  </a:lnTo>
                  <a:lnTo>
                    <a:pt x="418947" y="237833"/>
                  </a:lnTo>
                  <a:lnTo>
                    <a:pt x="375539" y="251943"/>
                  </a:lnTo>
                  <a:cubicBezTo>
                    <a:pt x="309575" y="108712"/>
                    <a:pt x="168884" y="7391"/>
                    <a:pt x="2641" y="0"/>
                  </a:cubicBezTo>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1" name="TextBox 16">
              <a:extLst>
                <a:ext uri="{FF2B5EF4-FFF2-40B4-BE49-F238E27FC236}">
                  <a16:creationId xmlns:a16="http://schemas.microsoft.com/office/drawing/2014/main" id="{757D9253-62BD-5F83-14ED-EBF442F66E61}"/>
                </a:ext>
              </a:extLst>
            </p:cNvPr>
            <p:cNvSpPr txBox="1"/>
            <p:nvPr/>
          </p:nvSpPr>
          <p:spPr>
            <a:xfrm flipH="1">
              <a:off x="7228377" y="1758918"/>
              <a:ext cx="387669" cy="387669"/>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ea typeface="+mn-ea"/>
                  <a:cs typeface="+mn-cs"/>
                </a:rPr>
                <a:t>1</a:t>
              </a:r>
            </a:p>
          </p:txBody>
        </p:sp>
        <p:sp>
          <p:nvSpPr>
            <p:cNvPr id="52" name="TextBox 16">
              <a:extLst>
                <a:ext uri="{FF2B5EF4-FFF2-40B4-BE49-F238E27FC236}">
                  <a16:creationId xmlns:a16="http://schemas.microsoft.com/office/drawing/2014/main" id="{42F1F93C-159B-D2A6-F140-1FB63985F224}"/>
                </a:ext>
              </a:extLst>
            </p:cNvPr>
            <p:cNvSpPr txBox="1"/>
            <p:nvPr/>
          </p:nvSpPr>
          <p:spPr>
            <a:xfrm flipH="1">
              <a:off x="7784113" y="3827422"/>
              <a:ext cx="387669"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ea typeface="+mn-ea"/>
                  <a:cs typeface="+mn-cs"/>
                </a:rPr>
                <a:t>2</a:t>
              </a:r>
            </a:p>
          </p:txBody>
        </p:sp>
        <p:sp>
          <p:nvSpPr>
            <p:cNvPr id="53" name="TextBox 16">
              <a:extLst>
                <a:ext uri="{FF2B5EF4-FFF2-40B4-BE49-F238E27FC236}">
                  <a16:creationId xmlns:a16="http://schemas.microsoft.com/office/drawing/2014/main" id="{8DA8BFD7-2107-048E-868C-C9159F9344F5}"/>
                </a:ext>
              </a:extLst>
            </p:cNvPr>
            <p:cNvSpPr txBox="1"/>
            <p:nvPr/>
          </p:nvSpPr>
          <p:spPr>
            <a:xfrm flipH="1">
              <a:off x="6168988" y="4786709"/>
              <a:ext cx="387669" cy="387670"/>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ea typeface="+mn-ea"/>
                  <a:cs typeface="+mn-cs"/>
                </a:rPr>
                <a:t>3</a:t>
              </a:r>
            </a:p>
          </p:txBody>
        </p:sp>
        <p:sp>
          <p:nvSpPr>
            <p:cNvPr id="54" name="TextBox 16">
              <a:extLst>
                <a:ext uri="{FF2B5EF4-FFF2-40B4-BE49-F238E27FC236}">
                  <a16:creationId xmlns:a16="http://schemas.microsoft.com/office/drawing/2014/main" id="{642EA9CA-D652-C47A-80B8-2A2120F5B355}"/>
                </a:ext>
              </a:extLst>
            </p:cNvPr>
            <p:cNvSpPr txBox="1"/>
            <p:nvPr/>
          </p:nvSpPr>
          <p:spPr>
            <a:xfrm flipH="1">
              <a:off x="4628932" y="3806135"/>
              <a:ext cx="387670"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ea typeface="+mn-ea"/>
                  <a:cs typeface="+mn-cs"/>
                </a:rPr>
                <a:t>4</a:t>
              </a:r>
            </a:p>
          </p:txBody>
        </p:sp>
        <p:sp>
          <p:nvSpPr>
            <p:cNvPr id="55" name="TextBox 54">
              <a:extLst>
                <a:ext uri="{FF2B5EF4-FFF2-40B4-BE49-F238E27FC236}">
                  <a16:creationId xmlns:a16="http://schemas.microsoft.com/office/drawing/2014/main" id="{8222B18B-4EC2-50B2-8AF2-F3BB692D698D}"/>
                </a:ext>
              </a:extLst>
            </p:cNvPr>
            <p:cNvSpPr txBox="1"/>
            <p:nvPr/>
          </p:nvSpPr>
          <p:spPr>
            <a:xfrm>
              <a:off x="5494979" y="2886502"/>
              <a:ext cx="1654427" cy="88837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F96FF"/>
                  </a:solidFill>
                  <a:effectLst/>
                  <a:uLnTx/>
                  <a:uFillTx/>
                </a:rPr>
                <a:t>Recalibrate Reset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a:solidFill>
                    <a:srgbClr val="1F96FF"/>
                  </a:solidFill>
                </a:rPr>
                <a:t>Repeat</a:t>
              </a:r>
              <a:endParaRPr kumimoji="0" lang="en-US" sz="1100" b="1" i="0" u="none" strike="noStrike" kern="1200" cap="none" spc="0" normalizeH="0" baseline="0" noProof="0">
                <a:ln>
                  <a:noFill/>
                </a:ln>
                <a:solidFill>
                  <a:srgbClr val="1F96FF"/>
                </a:solidFill>
                <a:effectLst/>
                <a:uLnTx/>
                <a:uFillTx/>
              </a:endParaRPr>
            </a:p>
          </p:txBody>
        </p:sp>
        <p:sp>
          <p:nvSpPr>
            <p:cNvPr id="56" name="TextBox 16">
              <a:extLst>
                <a:ext uri="{FF2B5EF4-FFF2-40B4-BE49-F238E27FC236}">
                  <a16:creationId xmlns:a16="http://schemas.microsoft.com/office/drawing/2014/main" id="{9A5FDF6C-0717-7E4C-0CBA-A576D8CF0683}"/>
                </a:ext>
              </a:extLst>
            </p:cNvPr>
            <p:cNvSpPr txBox="1"/>
            <p:nvPr/>
          </p:nvSpPr>
          <p:spPr>
            <a:xfrm flipH="1">
              <a:off x="5016602" y="1728922"/>
              <a:ext cx="387669" cy="387671"/>
            </a:xfrm>
            <a:prstGeom prst="ellipse">
              <a:avLst/>
            </a:prstGeom>
            <a:solidFill>
              <a:srgbClr val="1F96FF"/>
            </a:solidFill>
            <a:ln>
              <a:noFill/>
            </a:ln>
          </p:spPr>
          <p:txBody>
            <a:bodyPr wrap="none" lIns="0" tIns="0" rIns="0" bIns="0" rtlCol="0" anchor="ctr" anchorCtr="1">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ea typeface="+mn-ea"/>
                  <a:cs typeface="+mn-cs"/>
                </a:rPr>
                <a:t>5</a:t>
              </a:r>
            </a:p>
          </p:txBody>
        </p:sp>
      </p:grpSp>
      <p:grpSp>
        <p:nvGrpSpPr>
          <p:cNvPr id="57" name="Group 56">
            <a:extLst>
              <a:ext uri="{FF2B5EF4-FFF2-40B4-BE49-F238E27FC236}">
                <a16:creationId xmlns:a16="http://schemas.microsoft.com/office/drawing/2014/main" id="{68F253D0-65E5-575C-A33C-23EAB6C6D6AB}"/>
              </a:ext>
            </a:extLst>
          </p:cNvPr>
          <p:cNvGrpSpPr/>
          <p:nvPr/>
        </p:nvGrpSpPr>
        <p:grpSpPr>
          <a:xfrm>
            <a:off x="2208507" y="2296442"/>
            <a:ext cx="1284879" cy="1283606"/>
            <a:chOff x="671030" y="2285098"/>
            <a:chExt cx="1485417" cy="1483944"/>
          </a:xfrm>
        </p:grpSpPr>
        <p:sp>
          <p:nvSpPr>
            <p:cNvPr id="58" name="Freeform 7">
              <a:extLst>
                <a:ext uri="{FF2B5EF4-FFF2-40B4-BE49-F238E27FC236}">
                  <a16:creationId xmlns:a16="http://schemas.microsoft.com/office/drawing/2014/main" id="{FC80F2B1-2875-026C-FB5C-50F6C393D26A}"/>
                </a:ext>
              </a:extLst>
            </p:cNvPr>
            <p:cNvSpPr/>
            <p:nvPr/>
          </p:nvSpPr>
          <p:spPr>
            <a:xfrm>
              <a:off x="671030" y="2285098"/>
              <a:ext cx="742709" cy="1476629"/>
            </a:xfrm>
            <a:custGeom>
              <a:avLst/>
              <a:gdLst/>
              <a:ahLst/>
              <a:cxnLst/>
              <a:rect l="l" t="t" r="r" b="b"/>
              <a:pathLst>
                <a:path w="742709" h="1476629">
                  <a:moveTo>
                    <a:pt x="742709" y="0"/>
                  </a:moveTo>
                  <a:lnTo>
                    <a:pt x="719366" y="0"/>
                  </a:lnTo>
                  <a:lnTo>
                    <a:pt x="672783" y="2933"/>
                  </a:lnTo>
                  <a:lnTo>
                    <a:pt x="626466" y="8775"/>
                  </a:lnTo>
                  <a:lnTo>
                    <a:pt x="580619" y="17526"/>
                  </a:lnTo>
                  <a:lnTo>
                    <a:pt x="535394" y="29134"/>
                  </a:lnTo>
                  <a:lnTo>
                    <a:pt x="491008" y="43561"/>
                  </a:lnTo>
                  <a:lnTo>
                    <a:pt x="447599" y="60744"/>
                  </a:lnTo>
                  <a:lnTo>
                    <a:pt x="405359" y="80619"/>
                  </a:lnTo>
                  <a:lnTo>
                    <a:pt x="364452" y="103111"/>
                  </a:lnTo>
                  <a:lnTo>
                    <a:pt x="325044" y="128130"/>
                  </a:lnTo>
                  <a:lnTo>
                    <a:pt x="287274" y="155562"/>
                  </a:lnTo>
                  <a:lnTo>
                    <a:pt x="251308" y="185318"/>
                  </a:lnTo>
                  <a:lnTo>
                    <a:pt x="217285" y="217271"/>
                  </a:lnTo>
                  <a:lnTo>
                    <a:pt x="185319" y="251307"/>
                  </a:lnTo>
                  <a:lnTo>
                    <a:pt x="155563" y="287274"/>
                  </a:lnTo>
                  <a:lnTo>
                    <a:pt x="128131" y="325031"/>
                  </a:lnTo>
                  <a:lnTo>
                    <a:pt x="103112" y="364451"/>
                  </a:lnTo>
                  <a:lnTo>
                    <a:pt x="80633" y="405358"/>
                  </a:lnTo>
                  <a:lnTo>
                    <a:pt x="60757" y="447598"/>
                  </a:lnTo>
                  <a:lnTo>
                    <a:pt x="43561" y="490995"/>
                  </a:lnTo>
                  <a:lnTo>
                    <a:pt x="29147" y="535394"/>
                  </a:lnTo>
                  <a:lnTo>
                    <a:pt x="17539" y="580606"/>
                  </a:lnTo>
                  <a:lnTo>
                    <a:pt x="8789" y="626465"/>
                  </a:lnTo>
                  <a:lnTo>
                    <a:pt x="2934" y="672769"/>
                  </a:lnTo>
                  <a:lnTo>
                    <a:pt x="0" y="719366"/>
                  </a:lnTo>
                  <a:lnTo>
                    <a:pt x="0" y="766051"/>
                  </a:lnTo>
                  <a:lnTo>
                    <a:pt x="2934" y="812635"/>
                  </a:lnTo>
                  <a:lnTo>
                    <a:pt x="8789" y="858952"/>
                  </a:lnTo>
                  <a:lnTo>
                    <a:pt x="17539" y="904799"/>
                  </a:lnTo>
                  <a:lnTo>
                    <a:pt x="29147" y="950011"/>
                  </a:lnTo>
                  <a:lnTo>
                    <a:pt x="43561" y="994410"/>
                  </a:lnTo>
                  <a:lnTo>
                    <a:pt x="60757" y="1037818"/>
                  </a:lnTo>
                  <a:lnTo>
                    <a:pt x="80633" y="1080046"/>
                  </a:lnTo>
                  <a:lnTo>
                    <a:pt x="103112" y="1120953"/>
                  </a:lnTo>
                  <a:lnTo>
                    <a:pt x="128131" y="1160373"/>
                  </a:lnTo>
                  <a:lnTo>
                    <a:pt x="155563" y="1198143"/>
                  </a:lnTo>
                  <a:lnTo>
                    <a:pt x="185319" y="1234110"/>
                  </a:lnTo>
                  <a:lnTo>
                    <a:pt x="217285" y="1268133"/>
                  </a:lnTo>
                  <a:lnTo>
                    <a:pt x="251308" y="1300086"/>
                  </a:lnTo>
                  <a:lnTo>
                    <a:pt x="287274" y="1329842"/>
                  </a:lnTo>
                  <a:lnTo>
                    <a:pt x="325044" y="1357287"/>
                  </a:lnTo>
                  <a:lnTo>
                    <a:pt x="364452" y="1382293"/>
                  </a:lnTo>
                  <a:lnTo>
                    <a:pt x="405359" y="1404785"/>
                  </a:lnTo>
                  <a:lnTo>
                    <a:pt x="447599" y="1424660"/>
                  </a:lnTo>
                  <a:lnTo>
                    <a:pt x="491008" y="1441843"/>
                  </a:lnTo>
                  <a:lnTo>
                    <a:pt x="535394" y="1456270"/>
                  </a:lnTo>
                  <a:lnTo>
                    <a:pt x="580619" y="1467878"/>
                  </a:lnTo>
                  <a:lnTo>
                    <a:pt x="626466" y="1476629"/>
                  </a:lnTo>
                </a:path>
              </a:pathLst>
            </a:custGeom>
            <a:noFill/>
            <a:ln w="38100" cap="sq">
              <a:gradFill>
                <a:gsLst>
                  <a:gs pos="100000">
                    <a:srgbClr val="002856"/>
                  </a:gs>
                  <a:gs pos="0">
                    <a:srgbClr val="009AD7"/>
                  </a:gs>
                </a:gsLst>
                <a:lin ang="5400000" scaled="1"/>
              </a:gradFill>
              <a:headEnd type="triangle" w="lg" len="med"/>
            </a:ln>
          </p:spPr>
          <p:txBody>
            <a:bodyPr/>
            <a:lstStyle/>
            <a:p>
              <a:endParaRPr lang="en-US"/>
            </a:p>
          </p:txBody>
        </p:sp>
        <p:sp>
          <p:nvSpPr>
            <p:cNvPr id="59" name="Freeform 9">
              <a:extLst>
                <a:ext uri="{FF2B5EF4-FFF2-40B4-BE49-F238E27FC236}">
                  <a16:creationId xmlns:a16="http://schemas.microsoft.com/office/drawing/2014/main" id="{43C54829-683B-44D5-5DD0-B3E19707D240}"/>
                </a:ext>
              </a:extLst>
            </p:cNvPr>
            <p:cNvSpPr/>
            <p:nvPr/>
          </p:nvSpPr>
          <p:spPr>
            <a:xfrm>
              <a:off x="1460373" y="2302624"/>
              <a:ext cx="696074" cy="1466418"/>
            </a:xfrm>
            <a:custGeom>
              <a:avLst/>
              <a:gdLst/>
              <a:ahLst/>
              <a:cxnLst/>
              <a:rect l="l" t="t" r="r" b="b"/>
              <a:pathLst>
                <a:path w="696074" h="1466418">
                  <a:moveTo>
                    <a:pt x="0" y="1466418"/>
                  </a:moveTo>
                  <a:lnTo>
                    <a:pt x="23292" y="1464958"/>
                  </a:lnTo>
                  <a:lnTo>
                    <a:pt x="69609" y="1459103"/>
                  </a:lnTo>
                  <a:lnTo>
                    <a:pt x="115456" y="1450352"/>
                  </a:lnTo>
                  <a:lnTo>
                    <a:pt x="160681" y="1438745"/>
                  </a:lnTo>
                  <a:lnTo>
                    <a:pt x="205067" y="1424317"/>
                  </a:lnTo>
                  <a:lnTo>
                    <a:pt x="248476" y="1407134"/>
                  </a:lnTo>
                  <a:lnTo>
                    <a:pt x="290716" y="1387259"/>
                  </a:lnTo>
                  <a:lnTo>
                    <a:pt x="331623" y="1364767"/>
                  </a:lnTo>
                  <a:lnTo>
                    <a:pt x="371031" y="1339761"/>
                  </a:lnTo>
                  <a:lnTo>
                    <a:pt x="408801" y="1312316"/>
                  </a:lnTo>
                  <a:lnTo>
                    <a:pt x="444767" y="1282560"/>
                  </a:lnTo>
                  <a:lnTo>
                    <a:pt x="478791" y="1250607"/>
                  </a:lnTo>
                  <a:lnTo>
                    <a:pt x="510756" y="1216584"/>
                  </a:lnTo>
                  <a:lnTo>
                    <a:pt x="540512" y="1180617"/>
                  </a:lnTo>
                  <a:lnTo>
                    <a:pt x="567944" y="1142847"/>
                  </a:lnTo>
                  <a:lnTo>
                    <a:pt x="592963" y="1103427"/>
                  </a:lnTo>
                  <a:lnTo>
                    <a:pt x="615442" y="1062533"/>
                  </a:lnTo>
                  <a:lnTo>
                    <a:pt x="635318" y="1020292"/>
                  </a:lnTo>
                  <a:lnTo>
                    <a:pt x="652501" y="976884"/>
                  </a:lnTo>
                  <a:lnTo>
                    <a:pt x="666928" y="932485"/>
                  </a:lnTo>
                  <a:lnTo>
                    <a:pt x="678536" y="887273"/>
                  </a:lnTo>
                  <a:lnTo>
                    <a:pt x="687286" y="841426"/>
                  </a:lnTo>
                  <a:lnTo>
                    <a:pt x="693141" y="795109"/>
                  </a:lnTo>
                  <a:lnTo>
                    <a:pt x="696075" y="748525"/>
                  </a:lnTo>
                  <a:lnTo>
                    <a:pt x="696075" y="701840"/>
                  </a:lnTo>
                  <a:lnTo>
                    <a:pt x="693141" y="655243"/>
                  </a:lnTo>
                  <a:lnTo>
                    <a:pt x="687286" y="608939"/>
                  </a:lnTo>
                  <a:lnTo>
                    <a:pt x="678536" y="563080"/>
                  </a:lnTo>
                  <a:lnTo>
                    <a:pt x="666928" y="517868"/>
                  </a:lnTo>
                  <a:lnTo>
                    <a:pt x="652501" y="473469"/>
                  </a:lnTo>
                  <a:lnTo>
                    <a:pt x="635318" y="430073"/>
                  </a:lnTo>
                  <a:lnTo>
                    <a:pt x="615442" y="387832"/>
                  </a:lnTo>
                  <a:lnTo>
                    <a:pt x="592963" y="346926"/>
                  </a:lnTo>
                  <a:lnTo>
                    <a:pt x="567944" y="307505"/>
                  </a:lnTo>
                  <a:lnTo>
                    <a:pt x="540512" y="269748"/>
                  </a:lnTo>
                  <a:lnTo>
                    <a:pt x="510756" y="233782"/>
                  </a:lnTo>
                  <a:lnTo>
                    <a:pt x="478791" y="199745"/>
                  </a:lnTo>
                  <a:lnTo>
                    <a:pt x="444767" y="167792"/>
                  </a:lnTo>
                  <a:lnTo>
                    <a:pt x="408801" y="138036"/>
                  </a:lnTo>
                  <a:lnTo>
                    <a:pt x="371031" y="110604"/>
                  </a:lnTo>
                  <a:lnTo>
                    <a:pt x="331623" y="85585"/>
                  </a:lnTo>
                  <a:lnTo>
                    <a:pt x="290716" y="63094"/>
                  </a:lnTo>
                  <a:lnTo>
                    <a:pt x="248476" y="43218"/>
                  </a:lnTo>
                  <a:lnTo>
                    <a:pt x="205067" y="26035"/>
                  </a:lnTo>
                  <a:lnTo>
                    <a:pt x="160681" y="11608"/>
                  </a:lnTo>
                  <a:lnTo>
                    <a:pt x="115456" y="0"/>
                  </a:lnTo>
                </a:path>
              </a:pathLst>
            </a:custGeom>
            <a:noFill/>
            <a:ln w="38100" cap="sq">
              <a:gradFill>
                <a:gsLst>
                  <a:gs pos="0">
                    <a:srgbClr val="002856"/>
                  </a:gs>
                  <a:gs pos="100000">
                    <a:srgbClr val="009AD7"/>
                  </a:gs>
                </a:gsLst>
                <a:lin ang="5400000" scaled="1"/>
              </a:gradFill>
              <a:headEnd type="triangle" w="lg" len="med"/>
            </a:ln>
          </p:spPr>
          <p:txBody>
            <a:bodyPr/>
            <a:lstStyle/>
            <a:p>
              <a:endParaRPr lang="en-US"/>
            </a:p>
          </p:txBody>
        </p:sp>
      </p:grpSp>
      <p:cxnSp>
        <p:nvCxnSpPr>
          <p:cNvPr id="3" name="Straight Arrow Connector 2">
            <a:extLst>
              <a:ext uri="{FF2B5EF4-FFF2-40B4-BE49-F238E27FC236}">
                <a16:creationId xmlns:a16="http://schemas.microsoft.com/office/drawing/2014/main" id="{B96C933E-29D3-F541-2BE7-253FA27C7CB0}"/>
              </a:ext>
            </a:extLst>
          </p:cNvPr>
          <p:cNvCxnSpPr>
            <a:cxnSpLocks/>
            <a:endCxn id="33" idx="2"/>
          </p:cNvCxnSpPr>
          <p:nvPr/>
        </p:nvCxnSpPr>
        <p:spPr>
          <a:xfrm>
            <a:off x="3493386" y="3040027"/>
            <a:ext cx="2130936" cy="1"/>
          </a:xfrm>
          <a:prstGeom prst="straightConnector1">
            <a:avLst/>
          </a:prstGeom>
          <a:noFill/>
          <a:ln w="25400" cap="flat" cmpd="sng">
            <a:solidFill>
              <a:srgbClr val="1F96FF"/>
            </a:solidFill>
            <a:prstDash val="solid"/>
            <a:round/>
            <a:headEnd type="none" w="lg" len="med"/>
            <a:tailEnd type="triangle" w="lg" len="med"/>
          </a:ln>
        </p:spPr>
      </p:cxnSp>
      <p:sp>
        <p:nvSpPr>
          <p:cNvPr id="11" name="Text Box 13" descr="PresentationLoad.com">
            <a:extLst>
              <a:ext uri="{FF2B5EF4-FFF2-40B4-BE49-F238E27FC236}">
                <a16:creationId xmlns:a16="http://schemas.microsoft.com/office/drawing/2014/main" id="{974F7975-EEEE-5C8D-E186-320CAA7FA5C3}"/>
              </a:ext>
            </a:extLst>
          </p:cNvPr>
          <p:cNvSpPr txBox="1">
            <a:spLocks noChangeArrowheads="1"/>
          </p:cNvSpPr>
          <p:nvPr/>
        </p:nvSpPr>
        <p:spPr bwMode="gray">
          <a:xfrm>
            <a:off x="449209" y="1675588"/>
            <a:ext cx="1370706" cy="600164"/>
          </a:xfrm>
          <a:prstGeom prst="rect">
            <a:avLst/>
          </a:prstGeom>
          <a:noFill/>
          <a:ln w="9525" algn="ctr">
            <a:noFill/>
            <a:miter lim="800000"/>
            <a:headEnd/>
            <a:tailEnd/>
          </a:ln>
        </p:spPr>
        <p:txBody>
          <a:bodyPr wrap="square" lIns="45720" tIns="45720" rIns="45720" bIns="4572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mn-cs"/>
              </a:rPr>
              <a:t>Redesign jobs, capabilities and assess impact </a:t>
            </a: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 name="TextBox 3">
            <a:extLst>
              <a:ext uri="{FF2B5EF4-FFF2-40B4-BE49-F238E27FC236}">
                <a16:creationId xmlns:a16="http://schemas.microsoft.com/office/drawing/2014/main" id="{4661DFB9-55E9-1B3C-76A6-A1DFF90D5E81}"/>
              </a:ext>
            </a:extLst>
          </p:cNvPr>
          <p:cNvSpPr txBox="1"/>
          <p:nvPr/>
        </p:nvSpPr>
        <p:spPr>
          <a:xfrm>
            <a:off x="468185" y="4797238"/>
            <a:ext cx="2163969" cy="845616"/>
          </a:xfrm>
          <a:prstGeom prst="rect">
            <a:avLst/>
          </a:prstGeom>
          <a:noFill/>
        </p:spPr>
        <p:txBody>
          <a:bodyPr wrap="square">
            <a:spAutoFit/>
          </a:bodyPr>
          <a:lstStyle/>
          <a:p>
            <a:pPr marL="0" lvl="1" indent="0" defTabSz="666750">
              <a:spcBef>
                <a:spcPct val="0"/>
              </a:spcBef>
              <a:spcAft>
                <a:spcPct val="15000"/>
              </a:spcAft>
              <a:buFont typeface="Arial" panose="020B0604020202020204" pitchFamily="34" charset="0"/>
              <a:buNone/>
              <a:defRPr/>
            </a:pPr>
            <a:r>
              <a:rPr lang="en-US" sz="1100" b="1">
                <a:solidFill>
                  <a:prstClr val="black"/>
                </a:solidFill>
                <a:cs typeface="Arial" panose="020B0604020202020204" pitchFamily="34" charset="0"/>
              </a:rPr>
              <a:t>Every recalibration includes:</a:t>
            </a:r>
          </a:p>
          <a:p>
            <a:pPr marL="171450" lvl="1" indent="-171450" defTabSz="666750">
              <a:spcBef>
                <a:spcPct val="0"/>
              </a:spcBef>
              <a:spcAft>
                <a:spcPct val="15000"/>
              </a:spcAft>
              <a:buFont typeface="Arial" panose="020B0604020202020204" pitchFamily="34" charset="0"/>
              <a:buChar char="•"/>
              <a:defRPr/>
            </a:pPr>
            <a:r>
              <a:rPr lang="en-US" sz="1100" b="0">
                <a:solidFill>
                  <a:prstClr val="black"/>
                </a:solidFill>
                <a:cs typeface="Arial" panose="020B0604020202020204" pitchFamily="34" charset="0"/>
              </a:rPr>
              <a:t>Process optimization</a:t>
            </a:r>
          </a:p>
          <a:p>
            <a:pPr marL="171450" lvl="1" indent="-171450" defTabSz="666750">
              <a:spcBef>
                <a:spcPct val="0"/>
              </a:spcBef>
              <a:spcAft>
                <a:spcPct val="15000"/>
              </a:spcAft>
              <a:buFont typeface="Arial" panose="020B0604020202020204" pitchFamily="34" charset="0"/>
              <a:buChar char="•"/>
              <a:defRPr/>
            </a:pPr>
            <a:r>
              <a:rPr lang="en-US" sz="1100" b="0">
                <a:solidFill>
                  <a:prstClr val="black"/>
                </a:solidFill>
                <a:cs typeface="Arial" panose="020B0604020202020204" pitchFamily="34" charset="0"/>
              </a:rPr>
              <a:t>Tech upgrades</a:t>
            </a:r>
          </a:p>
          <a:p>
            <a:pPr marL="171450" lvl="1" indent="-171450" defTabSz="666750">
              <a:spcBef>
                <a:spcPct val="0"/>
              </a:spcBef>
              <a:spcAft>
                <a:spcPct val="15000"/>
              </a:spcAft>
              <a:buFont typeface="Arial" panose="020B0604020202020204" pitchFamily="34" charset="0"/>
              <a:buChar char="•"/>
              <a:defRPr/>
            </a:pPr>
            <a:r>
              <a:rPr lang="en-US" sz="1100" b="0">
                <a:solidFill>
                  <a:prstClr val="black"/>
                </a:solidFill>
                <a:cs typeface="Arial" panose="020B0604020202020204" pitchFamily="34" charset="0"/>
              </a:rPr>
              <a:t>Workforce capability shifts</a:t>
            </a:r>
          </a:p>
        </p:txBody>
      </p:sp>
      <p:sp>
        <p:nvSpPr>
          <p:cNvPr id="10" name="TextBox 9">
            <a:extLst>
              <a:ext uri="{FF2B5EF4-FFF2-40B4-BE49-F238E27FC236}">
                <a16:creationId xmlns:a16="http://schemas.microsoft.com/office/drawing/2014/main" id="{28593B37-3C7A-B64F-9E36-EACEB446FD02}"/>
              </a:ext>
            </a:extLst>
          </p:cNvPr>
          <p:cNvSpPr txBox="1"/>
          <p:nvPr/>
        </p:nvSpPr>
        <p:spPr>
          <a:xfrm>
            <a:off x="2632154" y="4763382"/>
            <a:ext cx="3609100" cy="1378839"/>
          </a:xfrm>
          <a:prstGeom prst="rect">
            <a:avLst/>
          </a:prstGeom>
          <a:noFill/>
        </p:spPr>
        <p:txBody>
          <a:bodyPr wrap="square">
            <a:spAutoFit/>
          </a:bodyPr>
          <a:lstStyle/>
          <a:p>
            <a:pPr marL="0" lvl="1" defTabSz="666750">
              <a:spcBef>
                <a:spcPct val="0"/>
              </a:spcBef>
              <a:spcAft>
                <a:spcPct val="15000"/>
              </a:spcAft>
              <a:defRPr/>
            </a:pPr>
            <a:r>
              <a:rPr lang="en-US" sz="1100" b="1" dirty="0">
                <a:solidFill>
                  <a:prstClr val="black"/>
                </a:solidFill>
                <a:cs typeface="Arial" panose="020B0604020202020204" pitchFamily="34" charset="0"/>
              </a:rPr>
              <a:t>What changes dynamically</a:t>
            </a:r>
          </a:p>
          <a:p>
            <a:pPr marL="171450" lvl="1" indent="-171450" defTabSz="666750">
              <a:spcBef>
                <a:spcPct val="0"/>
              </a:spcBef>
              <a:spcAft>
                <a:spcPct val="15000"/>
              </a:spcAft>
              <a:buFont typeface="Arial" panose="020B0604020202020204" pitchFamily="34" charset="0"/>
              <a:buChar char="•"/>
              <a:defRPr/>
            </a:pPr>
            <a:r>
              <a:rPr lang="en-US" sz="1100" b="1" dirty="0">
                <a:solidFill>
                  <a:prstClr val="black"/>
                </a:solidFill>
                <a:cs typeface="Arial" panose="020B0604020202020204" pitchFamily="34" charset="0"/>
              </a:rPr>
              <a:t>Processes: </a:t>
            </a:r>
            <a:r>
              <a:rPr lang="en-US" sz="1100" b="0" dirty="0">
                <a:solidFill>
                  <a:prstClr val="black"/>
                </a:solidFill>
                <a:cs typeface="Arial" panose="020B0604020202020204" pitchFamily="34" charset="0"/>
              </a:rPr>
              <a:t>Adjust workflows as technology evolves</a:t>
            </a:r>
          </a:p>
          <a:p>
            <a:pPr marL="171450" lvl="1" indent="-171450" defTabSz="666750">
              <a:spcBef>
                <a:spcPct val="0"/>
              </a:spcBef>
              <a:spcAft>
                <a:spcPct val="15000"/>
              </a:spcAft>
              <a:buFont typeface="Arial" panose="020B0604020202020204" pitchFamily="34" charset="0"/>
              <a:buChar char="•"/>
              <a:defRPr/>
            </a:pPr>
            <a:r>
              <a:rPr lang="en-US" sz="1100" b="1" dirty="0">
                <a:solidFill>
                  <a:prstClr val="black"/>
                </a:solidFill>
                <a:cs typeface="Arial" panose="020B0604020202020204" pitchFamily="34" charset="0"/>
              </a:rPr>
              <a:t>Jobs: </a:t>
            </a:r>
            <a:r>
              <a:rPr lang="en-US" sz="1100" b="0" dirty="0">
                <a:solidFill>
                  <a:prstClr val="black"/>
                </a:solidFill>
                <a:cs typeface="Arial" panose="020B0604020202020204" pitchFamily="34" charset="0"/>
              </a:rPr>
              <a:t>Update tasks/</a:t>
            </a:r>
            <a:r>
              <a:rPr lang="en-US" sz="1100" dirty="0">
                <a:solidFill>
                  <a:prstClr val="black"/>
                </a:solidFill>
                <a:cs typeface="Arial" panose="020B0604020202020204" pitchFamily="34" charset="0"/>
              </a:rPr>
              <a:t>capabilities </a:t>
            </a:r>
            <a:r>
              <a:rPr lang="en-US" sz="1100" b="0" dirty="0">
                <a:solidFill>
                  <a:prstClr val="black"/>
                </a:solidFill>
                <a:cs typeface="Arial" panose="020B0604020202020204" pitchFamily="34" charset="0"/>
              </a:rPr>
              <a:t>as automation scales.</a:t>
            </a:r>
          </a:p>
          <a:p>
            <a:pPr marL="171450" lvl="1" indent="-171450" defTabSz="666750">
              <a:spcBef>
                <a:spcPct val="0"/>
              </a:spcBef>
              <a:spcAft>
                <a:spcPct val="15000"/>
              </a:spcAft>
              <a:buFont typeface="Arial" panose="020B0604020202020204" pitchFamily="34" charset="0"/>
              <a:buChar char="•"/>
              <a:defRPr/>
            </a:pPr>
            <a:r>
              <a:rPr lang="en-US" sz="1100" b="1" dirty="0">
                <a:solidFill>
                  <a:prstClr val="black"/>
                </a:solidFill>
                <a:cs typeface="Arial" panose="020B0604020202020204" pitchFamily="34" charset="0"/>
              </a:rPr>
              <a:t>Capabilities: </a:t>
            </a:r>
            <a:r>
              <a:rPr lang="en-US" sz="1100" b="0" dirty="0">
                <a:solidFill>
                  <a:prstClr val="black"/>
                </a:solidFill>
                <a:cs typeface="Arial" panose="020B0604020202020204" pitchFamily="34" charset="0"/>
              </a:rPr>
              <a:t>Reskill for judgment, adaptability, and AI oversight,</a:t>
            </a:r>
          </a:p>
          <a:p>
            <a:pPr marL="171450" lvl="1" indent="-171450" defTabSz="666750">
              <a:spcBef>
                <a:spcPct val="0"/>
              </a:spcBef>
              <a:spcAft>
                <a:spcPct val="15000"/>
              </a:spcAft>
              <a:buFont typeface="Arial" panose="020B0604020202020204" pitchFamily="34" charset="0"/>
              <a:buChar char="•"/>
              <a:defRPr/>
            </a:pPr>
            <a:r>
              <a:rPr lang="en-US" sz="1100" b="1" dirty="0">
                <a:solidFill>
                  <a:prstClr val="black"/>
                </a:solidFill>
                <a:cs typeface="Arial" panose="020B0604020202020204" pitchFamily="34" charset="0"/>
              </a:rPr>
              <a:t>People: </a:t>
            </a:r>
            <a:r>
              <a:rPr lang="en-US" sz="1100" b="0" dirty="0">
                <a:solidFill>
                  <a:prstClr val="black"/>
                </a:solidFill>
                <a:cs typeface="Arial" panose="020B0604020202020204" pitchFamily="34" charset="0"/>
              </a:rPr>
              <a:t>Assess and address talent implications, </a:t>
            </a:r>
          </a:p>
        </p:txBody>
      </p:sp>
      <p:sp>
        <p:nvSpPr>
          <p:cNvPr id="13" name="Rectangle 12">
            <a:extLst>
              <a:ext uri="{FF2B5EF4-FFF2-40B4-BE49-F238E27FC236}">
                <a16:creationId xmlns:a16="http://schemas.microsoft.com/office/drawing/2014/main" id="{8EBC4912-2610-D587-59C6-DA27DD98687F}"/>
              </a:ext>
            </a:extLst>
          </p:cNvPr>
          <p:cNvSpPr/>
          <p:nvPr/>
        </p:nvSpPr>
        <p:spPr>
          <a:xfrm>
            <a:off x="457200" y="4763382"/>
            <a:ext cx="5776913" cy="1404591"/>
          </a:xfrm>
          <a:prstGeom prst="rect">
            <a:avLst/>
          </a:prstGeom>
          <a:noFill/>
          <a:ln w="25400">
            <a:solidFill>
              <a:srgbClr val="0057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75639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67CA6848-B0D4-5AEB-DAE9-703CEE9910E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ED58865-7754-111A-B479-E8492AACA969}"/>
              </a:ext>
            </a:extLst>
          </p:cNvPr>
          <p:cNvSpPr txBox="1"/>
          <p:nvPr/>
        </p:nvSpPr>
        <p:spPr>
          <a:xfrm>
            <a:off x="9601727" y="3069632"/>
            <a:ext cx="1160022" cy="1327787"/>
          </a:xfrm>
          <a:prstGeom prst="rect">
            <a:avLst/>
          </a:prstGeom>
          <a:solidFill>
            <a:srgbClr val="FFFFFF"/>
          </a:solidFill>
        </p:spPr>
        <p:txBody>
          <a:bodyPr wrap="square"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effectLst/>
                <a:uLnTx/>
                <a:uFillTx/>
                <a:ea typeface="+mn-ea"/>
                <a:cs typeface="+mn-cs"/>
              </a:rPr>
              <a:t>Recalibrate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effectLst/>
                <a:uLnTx/>
                <a:uFillTx/>
                <a:ea typeface="+mn-ea"/>
                <a:cs typeface="+mn-cs"/>
              </a:rPr>
              <a:t>Reset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a:t>Repeat</a:t>
            </a:r>
            <a:endParaRPr kumimoji="0" lang="en-US" sz="1200" i="0" u="none" strike="noStrike" kern="1200" cap="none" spc="0" normalizeH="0" baseline="0" noProof="0">
              <a:ln>
                <a:noFill/>
              </a:ln>
              <a:effectLst/>
              <a:uLnTx/>
              <a:uFillTx/>
              <a:ea typeface="+mn-ea"/>
              <a:cs typeface="+mn-cs"/>
            </a:endParaRPr>
          </a:p>
        </p:txBody>
      </p:sp>
      <p:sp>
        <p:nvSpPr>
          <p:cNvPr id="390" name="Google Shape;390;p12">
            <a:extLst>
              <a:ext uri="{FF2B5EF4-FFF2-40B4-BE49-F238E27FC236}">
                <a16:creationId xmlns:a16="http://schemas.microsoft.com/office/drawing/2014/main" id="{876C0004-8A35-702A-C936-E90965B377B3}"/>
              </a:ext>
            </a:extLst>
          </p:cNvPr>
          <p:cNvSpPr txBox="1">
            <a:spLocks noGrp="1"/>
          </p:cNvSpPr>
          <p:nvPr>
            <p:ph type="title"/>
          </p:nvPr>
        </p:nvSpPr>
        <p:spPr>
          <a:xfrm>
            <a:off x="457200" y="361950"/>
            <a:ext cx="11274552" cy="451231"/>
          </a:xfrm>
          <a:noFill/>
          <a:ln>
            <a:noFill/>
          </a:ln>
        </p:spPr>
        <p:txBody>
          <a:bodyPr spcFirstLastPara="1" wrap="square" lIns="0" tIns="0" rIns="0" bIns="0" anchor="t" anchorCtr="0">
            <a:noAutofit/>
          </a:bodyPr>
          <a:lstStyle/>
          <a:p>
            <a:pPr lvl="0"/>
            <a:r>
              <a:rPr lang="en-US"/>
              <a:t>Summary: Dynamic Value Stream and Process Optimization</a:t>
            </a:r>
          </a:p>
        </p:txBody>
      </p:sp>
      <p:grpSp>
        <p:nvGrpSpPr>
          <p:cNvPr id="399" name="Group 398">
            <a:extLst>
              <a:ext uri="{FF2B5EF4-FFF2-40B4-BE49-F238E27FC236}">
                <a16:creationId xmlns:a16="http://schemas.microsoft.com/office/drawing/2014/main" id="{4F8497D1-C709-FBDC-042C-75041EE89FFC}"/>
              </a:ext>
            </a:extLst>
          </p:cNvPr>
          <p:cNvGrpSpPr/>
          <p:nvPr/>
        </p:nvGrpSpPr>
        <p:grpSpPr>
          <a:xfrm>
            <a:off x="4323233" y="816573"/>
            <a:ext cx="4077574" cy="153888"/>
            <a:chOff x="3970479" y="985015"/>
            <a:chExt cx="4077574" cy="153888"/>
          </a:xfrm>
        </p:grpSpPr>
        <p:sp>
          <p:nvSpPr>
            <p:cNvPr id="459" name="Freeform 23">
              <a:extLst>
                <a:ext uri="{FF2B5EF4-FFF2-40B4-BE49-F238E27FC236}">
                  <a16:creationId xmlns:a16="http://schemas.microsoft.com/office/drawing/2014/main" id="{68F38FB2-63B4-12FB-18A8-1BBB70DCF0A3}"/>
                </a:ext>
              </a:extLst>
            </p:cNvPr>
            <p:cNvSpPr/>
            <p:nvPr/>
          </p:nvSpPr>
          <p:spPr>
            <a:xfrm>
              <a:off x="5528485" y="1023747"/>
              <a:ext cx="76424" cy="76424"/>
            </a:xfrm>
            <a:custGeom>
              <a:avLst/>
              <a:gdLst/>
              <a:ahLst/>
              <a:cxnLst/>
              <a:rect l="l" t="t" r="r" b="b"/>
              <a:pathLst>
                <a:path w="116205" h="116205">
                  <a:moveTo>
                    <a:pt x="0" y="116204"/>
                  </a:moveTo>
                  <a:lnTo>
                    <a:pt x="116205" y="116204"/>
                  </a:lnTo>
                  <a:lnTo>
                    <a:pt x="116205"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460" name="TextBox 459">
              <a:extLst>
                <a:ext uri="{FF2B5EF4-FFF2-40B4-BE49-F238E27FC236}">
                  <a16:creationId xmlns:a16="http://schemas.microsoft.com/office/drawing/2014/main" id="{E7BCA60E-4D0A-6C56-C7A3-C4FF11358211}"/>
                </a:ext>
              </a:extLst>
            </p:cNvPr>
            <p:cNvSpPr txBox="1"/>
            <p:nvPr/>
          </p:nvSpPr>
          <p:spPr>
            <a:xfrm>
              <a:off x="5600197" y="985015"/>
              <a:ext cx="864980" cy="153888"/>
            </a:xfrm>
            <a:prstGeom prst="rect">
              <a:avLst/>
            </a:prstGeom>
            <a:ln>
              <a:noFill/>
            </a:ln>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Value Stream</a:t>
              </a:r>
            </a:p>
          </p:txBody>
        </p:sp>
        <p:sp>
          <p:nvSpPr>
            <p:cNvPr id="461" name="Freeform 25">
              <a:extLst>
                <a:ext uri="{FF2B5EF4-FFF2-40B4-BE49-F238E27FC236}">
                  <a16:creationId xmlns:a16="http://schemas.microsoft.com/office/drawing/2014/main" id="{FC64E0A5-1553-EC44-D212-11B9C730444A}"/>
                </a:ext>
              </a:extLst>
            </p:cNvPr>
            <p:cNvSpPr/>
            <p:nvPr/>
          </p:nvSpPr>
          <p:spPr>
            <a:xfrm>
              <a:off x="3970479" y="1023747"/>
              <a:ext cx="76424" cy="76424"/>
            </a:xfrm>
            <a:custGeom>
              <a:avLst/>
              <a:gdLst/>
              <a:ahLst/>
              <a:cxnLst/>
              <a:rect l="l" t="t" r="r" b="b"/>
              <a:pathLst>
                <a:path w="116205" h="116205">
                  <a:moveTo>
                    <a:pt x="0" y="116204"/>
                  </a:moveTo>
                  <a:lnTo>
                    <a:pt x="116205" y="116204"/>
                  </a:lnTo>
                  <a:lnTo>
                    <a:pt x="116205"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462" name="TextBox 461">
              <a:extLst>
                <a:ext uri="{FF2B5EF4-FFF2-40B4-BE49-F238E27FC236}">
                  <a16:creationId xmlns:a16="http://schemas.microsoft.com/office/drawing/2014/main" id="{FE85618F-354F-1032-73CD-DBA8AD2D3D46}"/>
                </a:ext>
              </a:extLst>
            </p:cNvPr>
            <p:cNvSpPr txBox="1"/>
            <p:nvPr/>
          </p:nvSpPr>
          <p:spPr>
            <a:xfrm>
              <a:off x="4040440" y="985015"/>
              <a:ext cx="1305807" cy="153888"/>
            </a:xfrm>
            <a:prstGeom prst="rect">
              <a:avLst/>
            </a:prstGeom>
            <a:ln>
              <a:noFill/>
            </a:ln>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Business Capabilities</a:t>
              </a:r>
            </a:p>
          </p:txBody>
        </p:sp>
        <p:sp>
          <p:nvSpPr>
            <p:cNvPr id="463" name="Freeform 27">
              <a:extLst>
                <a:ext uri="{FF2B5EF4-FFF2-40B4-BE49-F238E27FC236}">
                  <a16:creationId xmlns:a16="http://schemas.microsoft.com/office/drawing/2014/main" id="{471C6E70-9855-55E2-FF86-9205D0CDD7AE}"/>
                </a:ext>
              </a:extLst>
            </p:cNvPr>
            <p:cNvSpPr/>
            <p:nvPr/>
          </p:nvSpPr>
          <p:spPr>
            <a:xfrm>
              <a:off x="6627252" y="1023747"/>
              <a:ext cx="76424" cy="76424"/>
            </a:xfrm>
            <a:custGeom>
              <a:avLst/>
              <a:gdLst/>
              <a:ahLst/>
              <a:cxnLst/>
              <a:rect l="l" t="t" r="r" b="b"/>
              <a:pathLst>
                <a:path w="116205" h="116205">
                  <a:moveTo>
                    <a:pt x="0" y="116204"/>
                  </a:moveTo>
                  <a:lnTo>
                    <a:pt x="116205" y="116204"/>
                  </a:lnTo>
                  <a:lnTo>
                    <a:pt x="116205"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464" name="TextBox 463">
              <a:extLst>
                <a:ext uri="{FF2B5EF4-FFF2-40B4-BE49-F238E27FC236}">
                  <a16:creationId xmlns:a16="http://schemas.microsoft.com/office/drawing/2014/main" id="{4FD56B25-10BB-67A7-468C-0702CAE7A30F}"/>
                </a:ext>
              </a:extLst>
            </p:cNvPr>
            <p:cNvSpPr txBox="1"/>
            <p:nvPr/>
          </p:nvSpPr>
          <p:spPr>
            <a:xfrm>
              <a:off x="6697362" y="985015"/>
              <a:ext cx="1350691" cy="153888"/>
            </a:xfrm>
            <a:prstGeom prst="rect">
              <a:avLst/>
            </a:prstGeom>
            <a:ln>
              <a:noFill/>
            </a:ln>
          </p:spPr>
          <p:txBody>
            <a:bodyPr wrap="none" lIns="9144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ea typeface="+mn-ea"/>
                  <a:cs typeface="+mn-cs"/>
                </a:rPr>
                <a:t>Processes/Workflows</a:t>
              </a:r>
            </a:p>
          </p:txBody>
        </p:sp>
      </p:grpSp>
      <p:cxnSp>
        <p:nvCxnSpPr>
          <p:cNvPr id="3" name="Google Shape;462;p8">
            <a:extLst>
              <a:ext uri="{FF2B5EF4-FFF2-40B4-BE49-F238E27FC236}">
                <a16:creationId xmlns:a16="http://schemas.microsoft.com/office/drawing/2014/main" id="{3FBF8FF8-EFC9-00F5-7239-4FB44F7F27AB}"/>
              </a:ext>
            </a:extLst>
          </p:cNvPr>
          <p:cNvCxnSpPr>
            <a:cxnSpLocks/>
          </p:cNvCxnSpPr>
          <p:nvPr/>
        </p:nvCxnSpPr>
        <p:spPr>
          <a:xfrm flipV="1">
            <a:off x="6448153" y="3165127"/>
            <a:ext cx="0" cy="555705"/>
          </a:xfrm>
          <a:prstGeom prst="straightConnector1">
            <a:avLst/>
          </a:prstGeom>
          <a:noFill/>
          <a:ln w="25400" cap="flat" cmpd="sng">
            <a:solidFill>
              <a:srgbClr val="0057AF"/>
            </a:solidFill>
            <a:prstDash val="solid"/>
            <a:round/>
            <a:headEnd type="none" w="sm" len="sm"/>
            <a:tailEnd type="none" w="sm" len="sm"/>
          </a:ln>
        </p:spPr>
      </p:cxnSp>
      <p:sp>
        <p:nvSpPr>
          <p:cNvPr id="4" name="Google Shape;467;p8">
            <a:extLst>
              <a:ext uri="{FF2B5EF4-FFF2-40B4-BE49-F238E27FC236}">
                <a16:creationId xmlns:a16="http://schemas.microsoft.com/office/drawing/2014/main" id="{69665ECF-B560-9422-7609-5B1F19A357BC}"/>
              </a:ext>
            </a:extLst>
          </p:cNvPr>
          <p:cNvSpPr txBox="1"/>
          <p:nvPr/>
        </p:nvSpPr>
        <p:spPr>
          <a:xfrm>
            <a:off x="4262316" y="3247507"/>
            <a:ext cx="4760991" cy="313932"/>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137160" tIns="64008" rIns="45720" bIns="64008" anchor="ctr" anchorCtr="0">
            <a:spAutoFit/>
          </a:bodyPr>
          <a:lstStyle/>
          <a:p>
            <a:pPr lvl="0" algn="ctr">
              <a:buClr>
                <a:srgbClr val="000000"/>
              </a:buClr>
              <a:buSzPts val="1400"/>
              <a:defRPr/>
            </a:pPr>
            <a:r>
              <a:rPr lang="en-US" sz="1200">
                <a:solidFill>
                  <a:srgbClr val="000000"/>
                </a:solidFill>
                <a:ea typeface="Arial"/>
                <a:cs typeface="Arial"/>
                <a:sym typeface="Arial"/>
              </a:rPr>
              <a:t>Map and assess process performance within key value streams</a:t>
            </a:r>
          </a:p>
        </p:txBody>
      </p:sp>
      <p:sp>
        <p:nvSpPr>
          <p:cNvPr id="7" name="Freeform 2">
            <a:extLst>
              <a:ext uri="{FF2B5EF4-FFF2-40B4-BE49-F238E27FC236}">
                <a16:creationId xmlns:a16="http://schemas.microsoft.com/office/drawing/2014/main" id="{03D85B1C-C05F-4E14-71B0-9B4B8F639881}"/>
              </a:ext>
            </a:extLst>
          </p:cNvPr>
          <p:cNvSpPr/>
          <p:nvPr/>
        </p:nvSpPr>
        <p:spPr>
          <a:xfrm>
            <a:off x="4074417" y="2474463"/>
            <a:ext cx="1365543" cy="319998"/>
          </a:xfrm>
          <a:custGeom>
            <a:avLst/>
            <a:gdLst/>
            <a:ahLst/>
            <a:cxnLst/>
            <a:rect l="l" t="t" r="r" b="b"/>
            <a:pathLst>
              <a:path w="7416800" h="787400">
                <a:moveTo>
                  <a:pt x="0" y="787400"/>
                </a:moveTo>
                <a:lnTo>
                  <a:pt x="7416800" y="787400"/>
                </a:lnTo>
                <a:lnTo>
                  <a:pt x="7416800" y="0"/>
                </a:lnTo>
                <a:lnTo>
                  <a:pt x="0" y="0"/>
                </a:lnTo>
                <a:close/>
              </a:path>
            </a:pathLst>
          </a:custGeom>
          <a:solidFill>
            <a:srgbClr val="E0F1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8" name="Freeform 3">
            <a:extLst>
              <a:ext uri="{FF2B5EF4-FFF2-40B4-BE49-F238E27FC236}">
                <a16:creationId xmlns:a16="http://schemas.microsoft.com/office/drawing/2014/main" id="{3FD7F67D-3992-8EA2-8CAE-A1676B854A0D}"/>
              </a:ext>
            </a:extLst>
          </p:cNvPr>
          <p:cNvSpPr/>
          <p:nvPr/>
        </p:nvSpPr>
        <p:spPr>
          <a:xfrm>
            <a:off x="4074417" y="2858049"/>
            <a:ext cx="1387801" cy="292608"/>
          </a:xfrm>
          <a:custGeom>
            <a:avLst/>
            <a:gdLst/>
            <a:ahLst/>
            <a:cxnLst/>
            <a:rect l="l" t="t" r="r" b="b"/>
            <a:pathLst>
              <a:path w="7416800" h="787400">
                <a:moveTo>
                  <a:pt x="0" y="787400"/>
                </a:moveTo>
                <a:lnTo>
                  <a:pt x="7416800" y="787400"/>
                </a:lnTo>
                <a:lnTo>
                  <a:pt x="7416800" y="0"/>
                </a:lnTo>
                <a:lnTo>
                  <a:pt x="0" y="0"/>
                </a:lnTo>
                <a:close/>
              </a:path>
            </a:pathLst>
          </a:custGeom>
          <a:solidFill>
            <a:srgbClr val="E0F1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9" name="Freeform 1">
            <a:extLst>
              <a:ext uri="{FF2B5EF4-FFF2-40B4-BE49-F238E27FC236}">
                <a16:creationId xmlns:a16="http://schemas.microsoft.com/office/drawing/2014/main" id="{4F694D70-C6ED-2795-2EDB-97C725064193}"/>
              </a:ext>
            </a:extLst>
          </p:cNvPr>
          <p:cNvSpPr/>
          <p:nvPr/>
        </p:nvSpPr>
        <p:spPr>
          <a:xfrm>
            <a:off x="5375763" y="2188426"/>
            <a:ext cx="2128099" cy="177541"/>
          </a:xfrm>
          <a:custGeom>
            <a:avLst/>
            <a:gdLst/>
            <a:ahLst/>
            <a:cxnLst/>
            <a:rect l="l" t="t" r="r" b="b"/>
            <a:pathLst>
              <a:path w="4222750" h="292100">
                <a:moveTo>
                  <a:pt x="1638300" y="0"/>
                </a:moveTo>
                <a:lnTo>
                  <a:pt x="0" y="292100"/>
                </a:lnTo>
                <a:lnTo>
                  <a:pt x="4222750" y="29210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10" name="Freeform 2">
            <a:extLst>
              <a:ext uri="{FF2B5EF4-FFF2-40B4-BE49-F238E27FC236}">
                <a16:creationId xmlns:a16="http://schemas.microsoft.com/office/drawing/2014/main" id="{C4BB468C-AA71-907D-D10A-402E216AC63A}"/>
              </a:ext>
            </a:extLst>
          </p:cNvPr>
          <p:cNvSpPr/>
          <p:nvPr/>
        </p:nvSpPr>
        <p:spPr>
          <a:xfrm>
            <a:off x="4999487" y="1445030"/>
            <a:ext cx="731174" cy="778801"/>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1" name="TextBox 10">
            <a:extLst>
              <a:ext uri="{FF2B5EF4-FFF2-40B4-BE49-F238E27FC236}">
                <a16:creationId xmlns:a16="http://schemas.microsoft.com/office/drawing/2014/main" id="{5919E0D7-0B37-9A79-B4F2-9A1B7A0221F3}"/>
              </a:ext>
            </a:extLst>
          </p:cNvPr>
          <p:cNvSpPr txBox="1"/>
          <p:nvPr/>
        </p:nvSpPr>
        <p:spPr>
          <a:xfrm>
            <a:off x="4999486" y="1473860"/>
            <a:ext cx="731174"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Engage Customer</a:t>
            </a:r>
          </a:p>
        </p:txBody>
      </p:sp>
      <p:sp>
        <p:nvSpPr>
          <p:cNvPr id="12" name="Freeform 4">
            <a:extLst>
              <a:ext uri="{FF2B5EF4-FFF2-40B4-BE49-F238E27FC236}">
                <a16:creationId xmlns:a16="http://schemas.microsoft.com/office/drawing/2014/main" id="{A5221268-BBD7-E5F3-3200-6AE56681D80F}"/>
              </a:ext>
            </a:extLst>
          </p:cNvPr>
          <p:cNvSpPr/>
          <p:nvPr/>
        </p:nvSpPr>
        <p:spPr>
          <a:xfrm>
            <a:off x="5895204" y="1445030"/>
            <a:ext cx="727939" cy="778801"/>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3" name="TextBox 12">
            <a:extLst>
              <a:ext uri="{FF2B5EF4-FFF2-40B4-BE49-F238E27FC236}">
                <a16:creationId xmlns:a16="http://schemas.microsoft.com/office/drawing/2014/main" id="{5A45D184-5BAD-EF56-A87C-A625280882AF}"/>
              </a:ext>
            </a:extLst>
          </p:cNvPr>
          <p:cNvSpPr txBox="1"/>
          <p:nvPr/>
        </p:nvSpPr>
        <p:spPr>
          <a:xfrm>
            <a:off x="5886862" y="1473860"/>
            <a:ext cx="727939"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Manage Delivery</a:t>
            </a:r>
          </a:p>
        </p:txBody>
      </p:sp>
      <p:sp>
        <p:nvSpPr>
          <p:cNvPr id="15" name="Freeform 6">
            <a:extLst>
              <a:ext uri="{FF2B5EF4-FFF2-40B4-BE49-F238E27FC236}">
                <a16:creationId xmlns:a16="http://schemas.microsoft.com/office/drawing/2014/main" id="{2A98275C-2212-13DE-5FB6-8F530A02C349}"/>
              </a:ext>
            </a:extLst>
          </p:cNvPr>
          <p:cNvSpPr/>
          <p:nvPr/>
        </p:nvSpPr>
        <p:spPr>
          <a:xfrm>
            <a:off x="6787687" y="1445453"/>
            <a:ext cx="727939" cy="776097"/>
          </a:xfrm>
          <a:custGeom>
            <a:avLst/>
            <a:gdLst/>
            <a:ahLst/>
            <a:cxnLst/>
            <a:rect l="l" t="t" r="r" b="b"/>
            <a:pathLst>
              <a:path w="1270000" h="1346200">
                <a:moveTo>
                  <a:pt x="0" y="1346200"/>
                </a:moveTo>
                <a:lnTo>
                  <a:pt x="1270000" y="1346200"/>
                </a:lnTo>
                <a:lnTo>
                  <a:pt x="1270000" y="0"/>
                </a:lnTo>
                <a:lnTo>
                  <a:pt x="0" y="0"/>
                </a:lnTo>
                <a:close/>
              </a:path>
            </a:pathLst>
          </a:custGeom>
          <a:solidFill>
            <a:srgbClr val="1F96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ea typeface="+mn-ea"/>
              <a:cs typeface="+mn-cs"/>
            </a:endParaRPr>
          </a:p>
        </p:txBody>
      </p:sp>
      <p:sp>
        <p:nvSpPr>
          <p:cNvPr id="17" name="TextBox 16">
            <a:extLst>
              <a:ext uri="{FF2B5EF4-FFF2-40B4-BE49-F238E27FC236}">
                <a16:creationId xmlns:a16="http://schemas.microsoft.com/office/drawing/2014/main" id="{1D7718FF-D41A-F734-BA6F-C902BCED0C18}"/>
              </a:ext>
            </a:extLst>
          </p:cNvPr>
          <p:cNvSpPr txBox="1"/>
          <p:nvPr/>
        </p:nvSpPr>
        <p:spPr>
          <a:xfrm>
            <a:off x="6783747" y="1473860"/>
            <a:ext cx="727938"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ea typeface="+mn-ea"/>
                <a:cs typeface="+mn-cs"/>
              </a:rPr>
              <a:t>Invoice Customer</a:t>
            </a:r>
          </a:p>
        </p:txBody>
      </p:sp>
      <p:sp>
        <p:nvSpPr>
          <p:cNvPr id="19" name="Freeform 14">
            <a:extLst>
              <a:ext uri="{FF2B5EF4-FFF2-40B4-BE49-F238E27FC236}">
                <a16:creationId xmlns:a16="http://schemas.microsoft.com/office/drawing/2014/main" id="{92C2DFE0-9DD1-9FAA-2564-D8A14549D3AC}"/>
              </a:ext>
            </a:extLst>
          </p:cNvPr>
          <p:cNvSpPr/>
          <p:nvPr/>
        </p:nvSpPr>
        <p:spPr>
          <a:xfrm>
            <a:off x="4416155" y="1857666"/>
            <a:ext cx="969079" cy="366165"/>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21" name="TextBox 20">
            <a:extLst>
              <a:ext uri="{FF2B5EF4-FFF2-40B4-BE49-F238E27FC236}">
                <a16:creationId xmlns:a16="http://schemas.microsoft.com/office/drawing/2014/main" id="{9FC2074C-6582-6469-14CB-417FF095A21B}"/>
              </a:ext>
            </a:extLst>
          </p:cNvPr>
          <p:cNvSpPr txBox="1"/>
          <p:nvPr/>
        </p:nvSpPr>
        <p:spPr>
          <a:xfrm>
            <a:off x="4554243" y="1865001"/>
            <a:ext cx="692905"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EFF"/>
                </a:solidFill>
                <a:effectLst/>
                <a:uLnTx/>
                <a:uFillTx/>
                <a:ea typeface="+mn-ea"/>
                <a:cs typeface="+mn-cs"/>
              </a:rPr>
              <a:t>Arrange Collection</a:t>
            </a:r>
          </a:p>
        </p:txBody>
      </p:sp>
      <p:sp>
        <p:nvSpPr>
          <p:cNvPr id="22" name="Freeform 16">
            <a:extLst>
              <a:ext uri="{FF2B5EF4-FFF2-40B4-BE49-F238E27FC236}">
                <a16:creationId xmlns:a16="http://schemas.microsoft.com/office/drawing/2014/main" id="{653E99BF-9B90-278D-F19D-3C0C4D7DCFD3}"/>
              </a:ext>
            </a:extLst>
          </p:cNvPr>
          <p:cNvSpPr/>
          <p:nvPr/>
        </p:nvSpPr>
        <p:spPr>
          <a:xfrm>
            <a:off x="5299655" y="1857666"/>
            <a:ext cx="969079" cy="366165"/>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23" name="TextBox 22">
            <a:extLst>
              <a:ext uri="{FF2B5EF4-FFF2-40B4-BE49-F238E27FC236}">
                <a16:creationId xmlns:a16="http://schemas.microsoft.com/office/drawing/2014/main" id="{15EDCCF4-9E85-4B71-63E2-996566E68F71}"/>
              </a:ext>
            </a:extLst>
          </p:cNvPr>
          <p:cNvSpPr txBox="1"/>
          <p:nvPr/>
        </p:nvSpPr>
        <p:spPr>
          <a:xfrm>
            <a:off x="5442038" y="1865001"/>
            <a:ext cx="684312"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EFF"/>
                </a:solidFill>
                <a:effectLst/>
                <a:uLnTx/>
                <a:uFillTx/>
                <a:ea typeface="+mn-ea"/>
                <a:cs typeface="+mn-cs"/>
              </a:rPr>
              <a:t>Transport Shipment</a:t>
            </a:r>
          </a:p>
        </p:txBody>
      </p:sp>
      <p:sp>
        <p:nvSpPr>
          <p:cNvPr id="24" name="Freeform 18">
            <a:extLst>
              <a:ext uri="{FF2B5EF4-FFF2-40B4-BE49-F238E27FC236}">
                <a16:creationId xmlns:a16="http://schemas.microsoft.com/office/drawing/2014/main" id="{BB5D5BD0-2DDD-CA20-1B11-19646B7841CA}"/>
              </a:ext>
            </a:extLst>
          </p:cNvPr>
          <p:cNvSpPr/>
          <p:nvPr/>
        </p:nvSpPr>
        <p:spPr>
          <a:xfrm>
            <a:off x="6183155" y="1857666"/>
            <a:ext cx="966179" cy="366165"/>
          </a:xfrm>
          <a:custGeom>
            <a:avLst/>
            <a:gdLst/>
            <a:ahLst/>
            <a:cxnLst/>
            <a:rect l="l" t="t" r="r" b="b"/>
            <a:pathLst>
              <a:path w="1841500" h="596900">
                <a:moveTo>
                  <a:pt x="1555928" y="64"/>
                </a:moveTo>
                <a:lnTo>
                  <a:pt x="1841500"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25" name="TextBox 24">
            <a:extLst>
              <a:ext uri="{FF2B5EF4-FFF2-40B4-BE49-F238E27FC236}">
                <a16:creationId xmlns:a16="http://schemas.microsoft.com/office/drawing/2014/main" id="{151C48EC-0350-CBD7-3D0E-034F92EA876D}"/>
              </a:ext>
            </a:extLst>
          </p:cNvPr>
          <p:cNvSpPr txBox="1"/>
          <p:nvPr/>
        </p:nvSpPr>
        <p:spPr>
          <a:xfrm>
            <a:off x="6339075" y="1865001"/>
            <a:ext cx="654340"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EFF"/>
                </a:solidFill>
                <a:effectLst/>
                <a:uLnTx/>
                <a:uFillTx/>
                <a:ea typeface="+mn-ea"/>
                <a:cs typeface="+mn-cs"/>
              </a:rPr>
              <a:t>Deliver Shipment</a:t>
            </a:r>
          </a:p>
        </p:txBody>
      </p:sp>
      <p:sp>
        <p:nvSpPr>
          <p:cNvPr id="26" name="Freeform 20">
            <a:extLst>
              <a:ext uri="{FF2B5EF4-FFF2-40B4-BE49-F238E27FC236}">
                <a16:creationId xmlns:a16="http://schemas.microsoft.com/office/drawing/2014/main" id="{74A5B02E-3E65-68CB-2173-8B62E0035E46}"/>
              </a:ext>
            </a:extLst>
          </p:cNvPr>
          <p:cNvSpPr/>
          <p:nvPr/>
        </p:nvSpPr>
        <p:spPr>
          <a:xfrm>
            <a:off x="7063755" y="1856740"/>
            <a:ext cx="969079" cy="367091"/>
          </a:xfrm>
          <a:custGeom>
            <a:avLst/>
            <a:gdLst/>
            <a:ahLst/>
            <a:cxnLst/>
            <a:rect l="l" t="t" r="r" b="b"/>
            <a:pathLst>
              <a:path w="1841500" h="596900">
                <a:moveTo>
                  <a:pt x="1555928" y="64"/>
                </a:moveTo>
                <a:lnTo>
                  <a:pt x="1841501" y="298476"/>
                </a:lnTo>
                <a:lnTo>
                  <a:pt x="1555928" y="596900"/>
                </a:lnTo>
                <a:lnTo>
                  <a:pt x="0" y="596900"/>
                </a:lnTo>
                <a:lnTo>
                  <a:pt x="285509" y="298463"/>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27" name="TextBox 26">
            <a:extLst>
              <a:ext uri="{FF2B5EF4-FFF2-40B4-BE49-F238E27FC236}">
                <a16:creationId xmlns:a16="http://schemas.microsoft.com/office/drawing/2014/main" id="{C8AC5C7E-5775-6C1B-71C9-64DD78B6E984}"/>
              </a:ext>
            </a:extLst>
          </p:cNvPr>
          <p:cNvSpPr txBox="1"/>
          <p:nvPr/>
        </p:nvSpPr>
        <p:spPr>
          <a:xfrm>
            <a:off x="7207605" y="1865001"/>
            <a:ext cx="681379" cy="307777"/>
          </a:xfrm>
          <a:prstGeom prst="rect">
            <a:avLst/>
          </a:prstGeom>
        </p:spPr>
        <p:txBody>
          <a:bodyPr wrap="squar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EFF"/>
                </a:solidFill>
                <a:effectLst/>
                <a:uLnTx/>
                <a:uFillTx/>
                <a:ea typeface="+mn-ea"/>
                <a:cs typeface="+mn-cs"/>
              </a:rPr>
              <a:t>Bill </a:t>
            </a:r>
            <a:br>
              <a:rPr kumimoji="0" lang="en-US" sz="1000" i="0" u="none" strike="noStrike" kern="1200" cap="none" spc="0" normalizeH="0" baseline="0" noProof="0">
                <a:ln>
                  <a:noFill/>
                </a:ln>
                <a:solidFill>
                  <a:srgbClr val="FFFEFF"/>
                </a:solidFill>
                <a:effectLst/>
                <a:uLnTx/>
                <a:uFillTx/>
                <a:ea typeface="+mn-ea"/>
                <a:cs typeface="+mn-cs"/>
              </a:rPr>
            </a:br>
            <a:r>
              <a:rPr kumimoji="0" lang="en-US" sz="1000" i="0" u="none" strike="noStrike" kern="1200" cap="none" spc="0" normalizeH="0" baseline="0" noProof="0">
                <a:ln>
                  <a:noFill/>
                </a:ln>
                <a:solidFill>
                  <a:srgbClr val="FFFEFF"/>
                </a:solidFill>
                <a:effectLst/>
                <a:uLnTx/>
                <a:uFillTx/>
                <a:ea typeface="+mn-ea"/>
                <a:cs typeface="+mn-cs"/>
              </a:rPr>
              <a:t>Customer</a:t>
            </a:r>
          </a:p>
        </p:txBody>
      </p:sp>
      <p:sp>
        <p:nvSpPr>
          <p:cNvPr id="28" name="Freeform 23">
            <a:extLst>
              <a:ext uri="{FF2B5EF4-FFF2-40B4-BE49-F238E27FC236}">
                <a16:creationId xmlns:a16="http://schemas.microsoft.com/office/drawing/2014/main" id="{BCB19887-8440-C3E0-68F5-B109B93E1883}"/>
              </a:ext>
            </a:extLst>
          </p:cNvPr>
          <p:cNvSpPr/>
          <p:nvPr/>
        </p:nvSpPr>
        <p:spPr>
          <a:xfrm>
            <a:off x="5386453" y="2349136"/>
            <a:ext cx="2128099" cy="822528"/>
          </a:xfrm>
          <a:custGeom>
            <a:avLst/>
            <a:gdLst/>
            <a:ahLst/>
            <a:cxnLst/>
            <a:rect l="l" t="t" r="r" b="b"/>
            <a:pathLst>
              <a:path w="4222750" h="1739900">
                <a:moveTo>
                  <a:pt x="0" y="1739900"/>
                </a:moveTo>
                <a:lnTo>
                  <a:pt x="4222750" y="1739900"/>
                </a:lnTo>
                <a:lnTo>
                  <a:pt x="42227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29" name="Freeform 24">
            <a:extLst>
              <a:ext uri="{FF2B5EF4-FFF2-40B4-BE49-F238E27FC236}">
                <a16:creationId xmlns:a16="http://schemas.microsoft.com/office/drawing/2014/main" id="{0A4A1BF9-6A95-3280-3187-BCD8A3333EB4}"/>
              </a:ext>
            </a:extLst>
          </p:cNvPr>
          <p:cNvSpPr/>
          <p:nvPr/>
        </p:nvSpPr>
        <p:spPr>
          <a:xfrm>
            <a:off x="5453656" y="2440982"/>
            <a:ext cx="1993692" cy="705091"/>
          </a:xfrm>
          <a:custGeom>
            <a:avLst/>
            <a:gdLst/>
            <a:ahLst/>
            <a:cxnLst/>
            <a:rect l="l" t="t" r="r" b="b"/>
            <a:pathLst>
              <a:path w="3956050" h="1473200">
                <a:moveTo>
                  <a:pt x="0" y="0"/>
                </a:moveTo>
                <a:lnTo>
                  <a:pt x="3956050" y="0"/>
                </a:lnTo>
                <a:lnTo>
                  <a:pt x="3956050" y="1473200"/>
                </a:lnTo>
                <a:lnTo>
                  <a:pt x="0" y="1473200"/>
                </a:lnTo>
                <a:close/>
                <a:moveTo>
                  <a:pt x="3956050" y="508000"/>
                </a:moveTo>
                <a:lnTo>
                  <a:pt x="0" y="508000"/>
                </a:lnTo>
                <a:moveTo>
                  <a:pt x="3956050" y="1003300"/>
                </a:moveTo>
                <a:lnTo>
                  <a:pt x="0" y="1003300"/>
                </a:lnTo>
              </a:path>
            </a:pathLst>
          </a:custGeom>
          <a:solidFill>
            <a:srgbClr val="FFF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0" name="Freeform 29">
            <a:extLst>
              <a:ext uri="{FF2B5EF4-FFF2-40B4-BE49-F238E27FC236}">
                <a16:creationId xmlns:a16="http://schemas.microsoft.com/office/drawing/2014/main" id="{67F8E4B9-801C-9CD6-4B60-29F519D02F2A}"/>
              </a:ext>
            </a:extLst>
          </p:cNvPr>
          <p:cNvSpPr/>
          <p:nvPr/>
        </p:nvSpPr>
        <p:spPr>
          <a:xfrm>
            <a:off x="5690467" y="2631847"/>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1" name="Freeform 30">
            <a:extLst>
              <a:ext uri="{FF2B5EF4-FFF2-40B4-BE49-F238E27FC236}">
                <a16:creationId xmlns:a16="http://schemas.microsoft.com/office/drawing/2014/main" id="{8A101D4F-59BD-2F80-A52D-EEF3EB528F64}"/>
              </a:ext>
            </a:extLst>
          </p:cNvPr>
          <p:cNvSpPr/>
          <p:nvPr/>
        </p:nvSpPr>
        <p:spPr>
          <a:xfrm>
            <a:off x="6116086" y="2631847"/>
            <a:ext cx="165585" cy="95530"/>
          </a:xfrm>
          <a:custGeom>
            <a:avLst/>
            <a:gdLst/>
            <a:ahLst/>
            <a:cxnLst/>
            <a:rect l="l" t="t" r="r" b="b"/>
            <a:pathLst>
              <a:path w="330200" h="158750">
                <a:moveTo>
                  <a:pt x="0" y="158750"/>
                </a:moveTo>
                <a:lnTo>
                  <a:pt x="330200" y="158750"/>
                </a:lnTo>
                <a:lnTo>
                  <a:pt x="33020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2" name="Freeform 31">
            <a:extLst>
              <a:ext uri="{FF2B5EF4-FFF2-40B4-BE49-F238E27FC236}">
                <a16:creationId xmlns:a16="http://schemas.microsoft.com/office/drawing/2014/main" id="{82EDBA8B-B778-2226-123B-E5D5C30B103A}"/>
              </a:ext>
            </a:extLst>
          </p:cNvPr>
          <p:cNvSpPr/>
          <p:nvPr/>
        </p:nvSpPr>
        <p:spPr>
          <a:xfrm>
            <a:off x="6352897" y="2478230"/>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3" name="Freeform 30">
            <a:extLst>
              <a:ext uri="{FF2B5EF4-FFF2-40B4-BE49-F238E27FC236}">
                <a16:creationId xmlns:a16="http://schemas.microsoft.com/office/drawing/2014/main" id="{45D36D88-EA61-1F72-EE08-E065BE437962}"/>
              </a:ext>
            </a:extLst>
          </p:cNvPr>
          <p:cNvSpPr/>
          <p:nvPr/>
        </p:nvSpPr>
        <p:spPr>
          <a:xfrm>
            <a:off x="6746516" y="2839030"/>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4" name="Freeform 31">
            <a:extLst>
              <a:ext uri="{FF2B5EF4-FFF2-40B4-BE49-F238E27FC236}">
                <a16:creationId xmlns:a16="http://schemas.microsoft.com/office/drawing/2014/main" id="{2A446CC3-D123-9B6E-1E50-7B9B5D40DC67}"/>
              </a:ext>
            </a:extLst>
          </p:cNvPr>
          <p:cNvSpPr/>
          <p:nvPr/>
        </p:nvSpPr>
        <p:spPr>
          <a:xfrm>
            <a:off x="7088931" y="2981147"/>
            <a:ext cx="165585" cy="9553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35" name="Freeform 33">
            <a:extLst>
              <a:ext uri="{FF2B5EF4-FFF2-40B4-BE49-F238E27FC236}">
                <a16:creationId xmlns:a16="http://schemas.microsoft.com/office/drawing/2014/main" id="{9E4715D0-BBA8-4FC8-B008-208BB8B31C63}"/>
              </a:ext>
            </a:extLst>
          </p:cNvPr>
          <p:cNvSpPr/>
          <p:nvPr/>
        </p:nvSpPr>
        <p:spPr>
          <a:xfrm>
            <a:off x="6589706" y="2478230"/>
            <a:ext cx="165585" cy="95530"/>
          </a:xfrm>
          <a:custGeom>
            <a:avLst/>
            <a:gdLst/>
            <a:ahLst/>
            <a:cxnLst/>
            <a:rect l="l" t="t" r="r" b="b"/>
            <a:pathLst>
              <a:path w="336550" h="158750">
                <a:moveTo>
                  <a:pt x="80912" y="0"/>
                </a:moveTo>
                <a:cubicBezTo>
                  <a:pt x="36220" y="0"/>
                  <a:pt x="0" y="35535"/>
                  <a:pt x="0" y="79375"/>
                </a:cubicBezTo>
                <a:cubicBezTo>
                  <a:pt x="0" y="123216"/>
                  <a:pt x="36220" y="158750"/>
                  <a:pt x="80912" y="158750"/>
                </a:cubicBezTo>
                <a:lnTo>
                  <a:pt x="255638" y="158750"/>
                </a:lnTo>
                <a:cubicBezTo>
                  <a:pt x="300330" y="158750"/>
                  <a:pt x="336550" y="123216"/>
                  <a:pt x="336550" y="79375"/>
                </a:cubicBezTo>
                <a:cubicBezTo>
                  <a:pt x="336550" y="35535"/>
                  <a:pt x="300330" y="0"/>
                  <a:pt x="255638" y="0"/>
                </a:cubicBez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cxnSp>
        <p:nvCxnSpPr>
          <p:cNvPr id="36" name="Connector 34">
            <a:extLst>
              <a:ext uri="{FF2B5EF4-FFF2-40B4-BE49-F238E27FC236}">
                <a16:creationId xmlns:a16="http://schemas.microsoft.com/office/drawing/2014/main" id="{B6F3D712-7F77-3E90-2B86-9651BE9D54EE}"/>
              </a:ext>
            </a:extLst>
          </p:cNvPr>
          <p:cNvCxnSpPr>
            <a:cxnSpLocks/>
          </p:cNvCxnSpPr>
          <p:nvPr/>
        </p:nvCxnSpPr>
        <p:spPr>
          <a:xfrm>
            <a:off x="5584862" y="2679612"/>
            <a:ext cx="75306" cy="0"/>
          </a:xfrm>
          <a:prstGeom prst="line">
            <a:avLst/>
          </a:prstGeom>
          <a:noFill/>
          <a:ln w="12700" cap="sq">
            <a:solidFill>
              <a:srgbClr val="5A798C"/>
            </a:solidFill>
          </a:ln>
        </p:spPr>
      </p:cxnSp>
      <p:cxnSp>
        <p:nvCxnSpPr>
          <p:cNvPr id="37" name="Connector 36">
            <a:extLst>
              <a:ext uri="{FF2B5EF4-FFF2-40B4-BE49-F238E27FC236}">
                <a16:creationId xmlns:a16="http://schemas.microsoft.com/office/drawing/2014/main" id="{945170FC-7988-92DA-76AA-1F96E656554F}"/>
              </a:ext>
            </a:extLst>
          </p:cNvPr>
          <p:cNvCxnSpPr>
            <a:cxnSpLocks/>
          </p:cNvCxnSpPr>
          <p:nvPr/>
        </p:nvCxnSpPr>
        <p:spPr>
          <a:xfrm>
            <a:off x="5860074" y="2679612"/>
            <a:ext cx="52905" cy="0"/>
          </a:xfrm>
          <a:prstGeom prst="line">
            <a:avLst/>
          </a:prstGeom>
          <a:noFill/>
          <a:ln w="12700" cap="sq">
            <a:solidFill>
              <a:srgbClr val="5A798C"/>
            </a:solidFill>
          </a:ln>
        </p:spPr>
      </p:cxnSp>
      <p:cxnSp>
        <p:nvCxnSpPr>
          <p:cNvPr id="38" name="Connector 38">
            <a:extLst>
              <a:ext uri="{FF2B5EF4-FFF2-40B4-BE49-F238E27FC236}">
                <a16:creationId xmlns:a16="http://schemas.microsoft.com/office/drawing/2014/main" id="{F7994E5D-839E-5E62-D7AF-79E04D4A3973}"/>
              </a:ext>
            </a:extLst>
          </p:cNvPr>
          <p:cNvCxnSpPr>
            <a:cxnSpLocks/>
          </p:cNvCxnSpPr>
          <p:nvPr/>
        </p:nvCxnSpPr>
        <p:spPr>
          <a:xfrm>
            <a:off x="6026482" y="2679612"/>
            <a:ext cx="59305" cy="0"/>
          </a:xfrm>
          <a:prstGeom prst="line">
            <a:avLst/>
          </a:prstGeom>
          <a:noFill/>
          <a:ln w="12700" cap="sq">
            <a:solidFill>
              <a:srgbClr val="5A798C"/>
            </a:solidFill>
          </a:ln>
        </p:spPr>
      </p:cxnSp>
      <p:cxnSp>
        <p:nvCxnSpPr>
          <p:cNvPr id="39" name="Connector 40">
            <a:extLst>
              <a:ext uri="{FF2B5EF4-FFF2-40B4-BE49-F238E27FC236}">
                <a16:creationId xmlns:a16="http://schemas.microsoft.com/office/drawing/2014/main" id="{8BEDCDE3-23A0-FF9D-9E39-2D1120E72054}"/>
              </a:ext>
            </a:extLst>
          </p:cNvPr>
          <p:cNvCxnSpPr>
            <a:cxnSpLocks/>
          </p:cNvCxnSpPr>
          <p:nvPr/>
        </p:nvCxnSpPr>
        <p:spPr>
          <a:xfrm>
            <a:off x="6285694" y="2525995"/>
            <a:ext cx="36904" cy="0"/>
          </a:xfrm>
          <a:prstGeom prst="line">
            <a:avLst/>
          </a:prstGeom>
          <a:noFill/>
          <a:ln w="12700" cap="sq">
            <a:solidFill>
              <a:srgbClr val="5A798C"/>
            </a:solidFill>
          </a:ln>
        </p:spPr>
      </p:cxnSp>
      <p:cxnSp>
        <p:nvCxnSpPr>
          <p:cNvPr id="40" name="Connector 42">
            <a:extLst>
              <a:ext uri="{FF2B5EF4-FFF2-40B4-BE49-F238E27FC236}">
                <a16:creationId xmlns:a16="http://schemas.microsoft.com/office/drawing/2014/main" id="{CCF76E84-0B2F-C46A-D1DF-8CFF26B0B172}"/>
              </a:ext>
            </a:extLst>
          </p:cNvPr>
          <p:cNvCxnSpPr>
            <a:cxnSpLocks/>
          </p:cNvCxnSpPr>
          <p:nvPr/>
        </p:nvCxnSpPr>
        <p:spPr>
          <a:xfrm>
            <a:off x="6426500" y="2886794"/>
            <a:ext cx="46504" cy="0"/>
          </a:xfrm>
          <a:prstGeom prst="line">
            <a:avLst/>
          </a:prstGeom>
          <a:noFill/>
          <a:ln w="12700" cap="sq">
            <a:solidFill>
              <a:srgbClr val="5A798C"/>
            </a:solidFill>
          </a:ln>
        </p:spPr>
      </p:cxnSp>
      <p:cxnSp>
        <p:nvCxnSpPr>
          <p:cNvPr id="41" name="Connector 46">
            <a:extLst>
              <a:ext uri="{FF2B5EF4-FFF2-40B4-BE49-F238E27FC236}">
                <a16:creationId xmlns:a16="http://schemas.microsoft.com/office/drawing/2014/main" id="{2758C67E-AE44-F3BF-E4FB-315E528595D8}"/>
              </a:ext>
            </a:extLst>
          </p:cNvPr>
          <p:cNvCxnSpPr>
            <a:cxnSpLocks/>
          </p:cNvCxnSpPr>
          <p:nvPr/>
        </p:nvCxnSpPr>
        <p:spPr>
          <a:xfrm>
            <a:off x="6781717" y="3028912"/>
            <a:ext cx="40104" cy="0"/>
          </a:xfrm>
          <a:prstGeom prst="line">
            <a:avLst/>
          </a:prstGeom>
          <a:noFill/>
          <a:ln w="12700" cap="sq">
            <a:solidFill>
              <a:srgbClr val="5A798C"/>
            </a:solidFill>
            <a:headEnd w="med" len="med"/>
          </a:ln>
        </p:spPr>
      </p:cxnSp>
      <p:cxnSp>
        <p:nvCxnSpPr>
          <p:cNvPr id="42" name="Connector 48">
            <a:extLst>
              <a:ext uri="{FF2B5EF4-FFF2-40B4-BE49-F238E27FC236}">
                <a16:creationId xmlns:a16="http://schemas.microsoft.com/office/drawing/2014/main" id="{67C717D1-A0C9-5347-3430-434D81412253}"/>
              </a:ext>
            </a:extLst>
          </p:cNvPr>
          <p:cNvCxnSpPr>
            <a:cxnSpLocks/>
          </p:cNvCxnSpPr>
          <p:nvPr/>
        </p:nvCxnSpPr>
        <p:spPr>
          <a:xfrm>
            <a:off x="6669712" y="2886794"/>
            <a:ext cx="46504" cy="0"/>
          </a:xfrm>
          <a:prstGeom prst="line">
            <a:avLst/>
          </a:prstGeom>
          <a:noFill/>
          <a:ln w="12700" cap="sq">
            <a:solidFill>
              <a:srgbClr val="5A798C"/>
            </a:solidFill>
          </a:ln>
        </p:spPr>
      </p:cxnSp>
      <p:cxnSp>
        <p:nvCxnSpPr>
          <p:cNvPr id="43" name="Connector 50">
            <a:extLst>
              <a:ext uri="{FF2B5EF4-FFF2-40B4-BE49-F238E27FC236}">
                <a16:creationId xmlns:a16="http://schemas.microsoft.com/office/drawing/2014/main" id="{043295EC-0BDD-EBCD-F83B-5771F6843501}"/>
              </a:ext>
            </a:extLst>
          </p:cNvPr>
          <p:cNvCxnSpPr>
            <a:cxnSpLocks/>
          </p:cNvCxnSpPr>
          <p:nvPr/>
        </p:nvCxnSpPr>
        <p:spPr>
          <a:xfrm>
            <a:off x="7018528" y="3028912"/>
            <a:ext cx="40104" cy="0"/>
          </a:xfrm>
          <a:prstGeom prst="line">
            <a:avLst/>
          </a:prstGeom>
          <a:noFill/>
          <a:ln w="12700" cap="sq">
            <a:solidFill>
              <a:srgbClr val="5A798C"/>
            </a:solidFill>
            <a:headEnd w="med" len="med"/>
          </a:ln>
        </p:spPr>
      </p:cxnSp>
      <p:cxnSp>
        <p:nvCxnSpPr>
          <p:cNvPr id="44" name="Connector 54">
            <a:extLst>
              <a:ext uri="{FF2B5EF4-FFF2-40B4-BE49-F238E27FC236}">
                <a16:creationId xmlns:a16="http://schemas.microsoft.com/office/drawing/2014/main" id="{236C71D8-F977-CC15-590B-017CE05CEB37}"/>
              </a:ext>
            </a:extLst>
          </p:cNvPr>
          <p:cNvCxnSpPr>
            <a:cxnSpLocks/>
          </p:cNvCxnSpPr>
          <p:nvPr/>
        </p:nvCxnSpPr>
        <p:spPr>
          <a:xfrm>
            <a:off x="7258539" y="3028912"/>
            <a:ext cx="46504" cy="0"/>
          </a:xfrm>
          <a:prstGeom prst="line">
            <a:avLst/>
          </a:prstGeom>
          <a:noFill/>
          <a:ln w="12700" cap="sq">
            <a:solidFill>
              <a:srgbClr val="5A798C"/>
            </a:solidFill>
            <a:headEnd w="med" len="med"/>
          </a:ln>
        </p:spPr>
      </p:cxnSp>
      <p:cxnSp>
        <p:nvCxnSpPr>
          <p:cNvPr id="45" name="Connector 58">
            <a:extLst>
              <a:ext uri="{FF2B5EF4-FFF2-40B4-BE49-F238E27FC236}">
                <a16:creationId xmlns:a16="http://schemas.microsoft.com/office/drawing/2014/main" id="{339667CE-23BA-D827-062E-10AB1C620566}"/>
              </a:ext>
            </a:extLst>
          </p:cNvPr>
          <p:cNvCxnSpPr>
            <a:cxnSpLocks/>
          </p:cNvCxnSpPr>
          <p:nvPr/>
        </p:nvCxnSpPr>
        <p:spPr>
          <a:xfrm>
            <a:off x="6522505" y="2525995"/>
            <a:ext cx="36904" cy="0"/>
          </a:xfrm>
          <a:prstGeom prst="line">
            <a:avLst/>
          </a:prstGeom>
          <a:noFill/>
          <a:ln w="12700" cap="sq">
            <a:solidFill>
              <a:srgbClr val="5A798C"/>
            </a:solidFill>
          </a:ln>
        </p:spPr>
      </p:cxnSp>
      <p:sp>
        <p:nvSpPr>
          <p:cNvPr id="46" name="Freeform 60">
            <a:extLst>
              <a:ext uri="{FF2B5EF4-FFF2-40B4-BE49-F238E27FC236}">
                <a16:creationId xmlns:a16="http://schemas.microsoft.com/office/drawing/2014/main" id="{09D67580-2416-354D-EB03-22FD56E8B217}"/>
              </a:ext>
            </a:extLst>
          </p:cNvPr>
          <p:cNvSpPr/>
          <p:nvPr/>
        </p:nvSpPr>
        <p:spPr>
          <a:xfrm>
            <a:off x="5994481" y="2526267"/>
            <a:ext cx="91306" cy="107153"/>
          </a:xfrm>
          <a:custGeom>
            <a:avLst/>
            <a:gdLst/>
            <a:ahLst/>
            <a:cxnLst/>
            <a:rect l="l" t="t" r="r" b="b"/>
            <a:pathLst>
              <a:path w="181178" h="155575">
                <a:moveTo>
                  <a:pt x="0" y="155575"/>
                </a:moveTo>
                <a:lnTo>
                  <a:pt x="0" y="0"/>
                </a:lnTo>
                <a:lnTo>
                  <a:pt x="181178" y="0"/>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7" name="Freeform 62">
            <a:extLst>
              <a:ext uri="{FF2B5EF4-FFF2-40B4-BE49-F238E27FC236}">
                <a16:creationId xmlns:a16="http://schemas.microsoft.com/office/drawing/2014/main" id="{2A445802-3F13-AE74-F2E6-19A09BFACA1A}"/>
              </a:ext>
            </a:extLst>
          </p:cNvPr>
          <p:cNvSpPr/>
          <p:nvPr/>
        </p:nvSpPr>
        <p:spPr>
          <a:xfrm>
            <a:off x="5943278" y="2615926"/>
            <a:ext cx="102405" cy="127373"/>
          </a:xfrm>
          <a:custGeom>
            <a:avLst/>
            <a:gdLst/>
            <a:ahLst/>
            <a:cxnLst/>
            <a:rect l="l" t="t" r="r" b="b"/>
            <a:pathLst>
              <a:path w="203200" h="215900">
                <a:moveTo>
                  <a:pt x="101600" y="0"/>
                </a:moveTo>
                <a:lnTo>
                  <a:pt x="0" y="107950"/>
                </a:lnTo>
                <a:lnTo>
                  <a:pt x="101600" y="215900"/>
                </a:lnTo>
                <a:lnTo>
                  <a:pt x="203200" y="10795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8" name="Freeform 63">
            <a:extLst>
              <a:ext uri="{FF2B5EF4-FFF2-40B4-BE49-F238E27FC236}">
                <a16:creationId xmlns:a16="http://schemas.microsoft.com/office/drawing/2014/main" id="{CC586DA1-4C3F-DE97-CA98-C56A7ABBEEA9}"/>
              </a:ext>
            </a:extLst>
          </p:cNvPr>
          <p:cNvSpPr/>
          <p:nvPr/>
        </p:nvSpPr>
        <p:spPr>
          <a:xfrm>
            <a:off x="6116086" y="2478230"/>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9" name="Freeform 64">
            <a:extLst>
              <a:ext uri="{FF2B5EF4-FFF2-40B4-BE49-F238E27FC236}">
                <a16:creationId xmlns:a16="http://schemas.microsoft.com/office/drawing/2014/main" id="{9F695BCD-44B8-FD92-B42B-3A6556DC0A62}"/>
              </a:ext>
            </a:extLst>
          </p:cNvPr>
          <p:cNvSpPr/>
          <p:nvPr/>
        </p:nvSpPr>
        <p:spPr>
          <a:xfrm>
            <a:off x="6260093" y="2839030"/>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0" name="Freeform 65">
            <a:extLst>
              <a:ext uri="{FF2B5EF4-FFF2-40B4-BE49-F238E27FC236}">
                <a16:creationId xmlns:a16="http://schemas.microsoft.com/office/drawing/2014/main" id="{EE04254F-8108-3BB7-443E-E3270705B3F3}"/>
              </a:ext>
            </a:extLst>
          </p:cNvPr>
          <p:cNvSpPr/>
          <p:nvPr/>
        </p:nvSpPr>
        <p:spPr>
          <a:xfrm>
            <a:off x="6618510" y="2981147"/>
            <a:ext cx="165585" cy="9553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1" name="Freeform 66">
            <a:extLst>
              <a:ext uri="{FF2B5EF4-FFF2-40B4-BE49-F238E27FC236}">
                <a16:creationId xmlns:a16="http://schemas.microsoft.com/office/drawing/2014/main" id="{952C2380-6C3B-A025-4201-856442CD9E67}"/>
              </a:ext>
            </a:extLst>
          </p:cNvPr>
          <p:cNvSpPr/>
          <p:nvPr/>
        </p:nvSpPr>
        <p:spPr>
          <a:xfrm>
            <a:off x="7335343" y="2981147"/>
            <a:ext cx="95530" cy="95530"/>
          </a:xfrm>
          <a:custGeom>
            <a:avLst/>
            <a:gdLst/>
            <a:ahLst/>
            <a:cxnLst/>
            <a:rect l="l" t="t" r="r" b="b"/>
            <a:pathLst>
              <a:path w="158750" h="152400">
                <a:moveTo>
                  <a:pt x="79375" y="152400"/>
                </a:moveTo>
                <a:cubicBezTo>
                  <a:pt x="123216" y="152400"/>
                  <a:pt x="158750" y="118276"/>
                  <a:pt x="158750" y="76200"/>
                </a:cubicBezTo>
                <a:cubicBezTo>
                  <a:pt x="158750" y="34112"/>
                  <a:pt x="123216" y="0"/>
                  <a:pt x="79375" y="0"/>
                </a:cubicBezTo>
                <a:cubicBezTo>
                  <a:pt x="35534" y="0"/>
                  <a:pt x="0" y="34112"/>
                  <a:pt x="0" y="76200"/>
                </a:cubicBezTo>
                <a:cubicBezTo>
                  <a:pt x="0" y="118276"/>
                  <a:pt x="35534" y="152400"/>
                  <a:pt x="79375" y="152400"/>
                </a:cubicBezTo>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2" name="Freeform 68">
            <a:extLst>
              <a:ext uri="{FF2B5EF4-FFF2-40B4-BE49-F238E27FC236}">
                <a16:creationId xmlns:a16="http://schemas.microsoft.com/office/drawing/2014/main" id="{D02514AD-8AB0-12D0-122B-24AB32BDFF78}"/>
              </a:ext>
            </a:extLst>
          </p:cNvPr>
          <p:cNvSpPr/>
          <p:nvPr/>
        </p:nvSpPr>
        <p:spPr>
          <a:xfrm>
            <a:off x="6199290" y="2727282"/>
            <a:ext cx="23538" cy="159462"/>
          </a:xfrm>
          <a:custGeom>
            <a:avLst/>
            <a:gdLst/>
            <a:ahLst/>
            <a:cxnLst/>
            <a:rect l="l" t="t" r="r" b="b"/>
            <a:pathLst>
              <a:path w="60528" h="815975">
                <a:moveTo>
                  <a:pt x="0" y="0"/>
                </a:moveTo>
                <a:lnTo>
                  <a:pt x="0" y="815975"/>
                </a:lnTo>
                <a:lnTo>
                  <a:pt x="60528" y="815975"/>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3" name="Freeform 70">
            <a:extLst>
              <a:ext uri="{FF2B5EF4-FFF2-40B4-BE49-F238E27FC236}">
                <a16:creationId xmlns:a16="http://schemas.microsoft.com/office/drawing/2014/main" id="{E1389925-FC20-2664-D1FF-FD634E0A49DB}"/>
              </a:ext>
            </a:extLst>
          </p:cNvPr>
          <p:cNvSpPr/>
          <p:nvPr/>
        </p:nvSpPr>
        <p:spPr>
          <a:xfrm>
            <a:off x="6548106" y="2943947"/>
            <a:ext cx="40104" cy="87472"/>
          </a:xfrm>
          <a:custGeom>
            <a:avLst/>
            <a:gdLst/>
            <a:ahLst/>
            <a:cxnLst/>
            <a:rect l="l" t="t" r="r" b="b"/>
            <a:pathLst>
              <a:path w="79578" h="127000">
                <a:moveTo>
                  <a:pt x="0" y="0"/>
                </a:moveTo>
                <a:lnTo>
                  <a:pt x="0" y="127000"/>
                </a:lnTo>
                <a:lnTo>
                  <a:pt x="79578" y="127000"/>
                </a:lnTo>
              </a:path>
            </a:pathLst>
          </a:custGeom>
          <a:noFill/>
          <a:ln w="12700" cap="sq">
            <a:solidFill>
              <a:srgbClr val="5A798C"/>
            </a:solidFill>
            <a:headEnd w="med" len="me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4" name="Freeform 72">
            <a:extLst>
              <a:ext uri="{FF2B5EF4-FFF2-40B4-BE49-F238E27FC236}">
                <a16:creationId xmlns:a16="http://schemas.microsoft.com/office/drawing/2014/main" id="{B3A5B6C5-B5B4-2C8D-6C39-95F396C05362}"/>
              </a:ext>
            </a:extLst>
          </p:cNvPr>
          <p:cNvSpPr/>
          <p:nvPr/>
        </p:nvSpPr>
        <p:spPr>
          <a:xfrm>
            <a:off x="6916123" y="2889277"/>
            <a:ext cx="64003" cy="48250"/>
          </a:xfrm>
          <a:custGeom>
            <a:avLst/>
            <a:gdLst/>
            <a:ahLst/>
            <a:cxnLst/>
            <a:rect l="l" t="t" r="r" b="b"/>
            <a:pathLst>
              <a:path w="127000" h="70053">
                <a:moveTo>
                  <a:pt x="0" y="0"/>
                </a:moveTo>
                <a:lnTo>
                  <a:pt x="127000" y="0"/>
                </a:lnTo>
                <a:lnTo>
                  <a:pt x="127000" y="70054"/>
                </a:lnTo>
              </a:path>
            </a:pathLst>
          </a:custGeom>
          <a:noFill/>
          <a:ln w="127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5" name="Freeform 35">
            <a:extLst>
              <a:ext uri="{FF2B5EF4-FFF2-40B4-BE49-F238E27FC236}">
                <a16:creationId xmlns:a16="http://schemas.microsoft.com/office/drawing/2014/main" id="{56C7BA9F-A3A1-9250-36D1-105E327DF8BB}"/>
              </a:ext>
            </a:extLst>
          </p:cNvPr>
          <p:cNvSpPr/>
          <p:nvPr/>
        </p:nvSpPr>
        <p:spPr>
          <a:xfrm>
            <a:off x="5657185" y="2645454"/>
            <a:ext cx="31843" cy="68316"/>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6" name="Freeform 37">
            <a:extLst>
              <a:ext uri="{FF2B5EF4-FFF2-40B4-BE49-F238E27FC236}">
                <a16:creationId xmlns:a16="http://schemas.microsoft.com/office/drawing/2014/main" id="{E7C9C07A-D0CE-39EA-12DA-D3B7DFB0168B}"/>
              </a:ext>
            </a:extLst>
          </p:cNvPr>
          <p:cNvSpPr/>
          <p:nvPr/>
        </p:nvSpPr>
        <p:spPr>
          <a:xfrm>
            <a:off x="5909997" y="2645459"/>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7" name="Freeform 39">
            <a:extLst>
              <a:ext uri="{FF2B5EF4-FFF2-40B4-BE49-F238E27FC236}">
                <a16:creationId xmlns:a16="http://schemas.microsoft.com/office/drawing/2014/main" id="{9F7E5639-ED45-6754-26B8-325B8285BA82}"/>
              </a:ext>
            </a:extLst>
          </p:cNvPr>
          <p:cNvSpPr/>
          <p:nvPr/>
        </p:nvSpPr>
        <p:spPr>
          <a:xfrm>
            <a:off x="6082805" y="2645459"/>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8" name="Freeform 41">
            <a:extLst>
              <a:ext uri="{FF2B5EF4-FFF2-40B4-BE49-F238E27FC236}">
                <a16:creationId xmlns:a16="http://schemas.microsoft.com/office/drawing/2014/main" id="{125E25CF-1CB0-42A3-F4FB-6087603395A3}"/>
              </a:ext>
            </a:extLst>
          </p:cNvPr>
          <p:cNvSpPr/>
          <p:nvPr/>
        </p:nvSpPr>
        <p:spPr>
          <a:xfrm>
            <a:off x="6319616" y="2491842"/>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59" name="Freeform 43">
            <a:extLst>
              <a:ext uri="{FF2B5EF4-FFF2-40B4-BE49-F238E27FC236}">
                <a16:creationId xmlns:a16="http://schemas.microsoft.com/office/drawing/2014/main" id="{A3BA0AEF-5319-3422-47B2-3911D03668DF}"/>
              </a:ext>
            </a:extLst>
          </p:cNvPr>
          <p:cNvSpPr/>
          <p:nvPr/>
        </p:nvSpPr>
        <p:spPr>
          <a:xfrm>
            <a:off x="6470023" y="2852641"/>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60" name="Freeform 45">
            <a:extLst>
              <a:ext uri="{FF2B5EF4-FFF2-40B4-BE49-F238E27FC236}">
                <a16:creationId xmlns:a16="http://schemas.microsoft.com/office/drawing/2014/main" id="{9486BB24-5CF7-C94D-AA0A-AF8C0131DA5C}"/>
              </a:ext>
            </a:extLst>
          </p:cNvPr>
          <p:cNvSpPr/>
          <p:nvPr/>
        </p:nvSpPr>
        <p:spPr>
          <a:xfrm>
            <a:off x="6226812" y="2852641"/>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61" name="Freeform 47">
            <a:extLst>
              <a:ext uri="{FF2B5EF4-FFF2-40B4-BE49-F238E27FC236}">
                <a16:creationId xmlns:a16="http://schemas.microsoft.com/office/drawing/2014/main" id="{01F09F3C-644E-0AC1-C576-A7673FCD1821}"/>
              </a:ext>
            </a:extLst>
          </p:cNvPr>
          <p:cNvSpPr/>
          <p:nvPr/>
        </p:nvSpPr>
        <p:spPr>
          <a:xfrm>
            <a:off x="6818839" y="2994758"/>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62" name="Freeform 49">
            <a:extLst>
              <a:ext uri="{FF2B5EF4-FFF2-40B4-BE49-F238E27FC236}">
                <a16:creationId xmlns:a16="http://schemas.microsoft.com/office/drawing/2014/main" id="{E23FF4CA-5B66-6460-B60E-80BAD5390C9A}"/>
              </a:ext>
            </a:extLst>
          </p:cNvPr>
          <p:cNvSpPr/>
          <p:nvPr/>
        </p:nvSpPr>
        <p:spPr>
          <a:xfrm>
            <a:off x="6713234" y="2852641"/>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63" name="Freeform 51">
            <a:extLst>
              <a:ext uri="{FF2B5EF4-FFF2-40B4-BE49-F238E27FC236}">
                <a16:creationId xmlns:a16="http://schemas.microsoft.com/office/drawing/2014/main" id="{18AB4B52-EB30-2531-A4E2-7477AFCF560C}"/>
              </a:ext>
            </a:extLst>
          </p:cNvPr>
          <p:cNvSpPr/>
          <p:nvPr/>
        </p:nvSpPr>
        <p:spPr>
          <a:xfrm>
            <a:off x="7055650" y="2994758"/>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48" name="Freeform 55">
            <a:extLst>
              <a:ext uri="{FF2B5EF4-FFF2-40B4-BE49-F238E27FC236}">
                <a16:creationId xmlns:a16="http://schemas.microsoft.com/office/drawing/2014/main" id="{83100AFF-2E09-6FC5-1E00-6C916D6858F4}"/>
              </a:ext>
            </a:extLst>
          </p:cNvPr>
          <p:cNvSpPr/>
          <p:nvPr/>
        </p:nvSpPr>
        <p:spPr>
          <a:xfrm>
            <a:off x="7302061" y="2994758"/>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49" name="Freeform 59">
            <a:extLst>
              <a:ext uri="{FF2B5EF4-FFF2-40B4-BE49-F238E27FC236}">
                <a16:creationId xmlns:a16="http://schemas.microsoft.com/office/drawing/2014/main" id="{C807F690-730B-DEB1-6C69-7ADF47433BE7}"/>
              </a:ext>
            </a:extLst>
          </p:cNvPr>
          <p:cNvSpPr/>
          <p:nvPr/>
        </p:nvSpPr>
        <p:spPr>
          <a:xfrm>
            <a:off x="6556427" y="2491842"/>
            <a:ext cx="31843" cy="68307"/>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0" name="Freeform 61">
            <a:extLst>
              <a:ext uri="{FF2B5EF4-FFF2-40B4-BE49-F238E27FC236}">
                <a16:creationId xmlns:a16="http://schemas.microsoft.com/office/drawing/2014/main" id="{C918D98D-E85D-C016-EB9E-507AE8ED852F}"/>
              </a:ext>
            </a:extLst>
          </p:cNvPr>
          <p:cNvSpPr/>
          <p:nvPr/>
        </p:nvSpPr>
        <p:spPr>
          <a:xfrm>
            <a:off x="6082805" y="2491837"/>
            <a:ext cx="31843" cy="68316"/>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1" name="Freeform 71">
            <a:extLst>
              <a:ext uri="{FF2B5EF4-FFF2-40B4-BE49-F238E27FC236}">
                <a16:creationId xmlns:a16="http://schemas.microsoft.com/office/drawing/2014/main" id="{862887CE-76BD-E163-A5FD-3A1A9006FCDC}"/>
              </a:ext>
            </a:extLst>
          </p:cNvPr>
          <p:cNvSpPr/>
          <p:nvPr/>
        </p:nvSpPr>
        <p:spPr>
          <a:xfrm>
            <a:off x="6585228" y="2994754"/>
            <a:ext cx="31843" cy="68316"/>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2" name="Freeform 73">
            <a:extLst>
              <a:ext uri="{FF2B5EF4-FFF2-40B4-BE49-F238E27FC236}">
                <a16:creationId xmlns:a16="http://schemas.microsoft.com/office/drawing/2014/main" id="{2FB574B7-33FE-8706-40B4-CB76BC04F9D5}"/>
              </a:ext>
            </a:extLst>
          </p:cNvPr>
          <p:cNvSpPr/>
          <p:nvPr/>
        </p:nvSpPr>
        <p:spPr>
          <a:xfrm>
            <a:off x="6946286" y="2933450"/>
            <a:ext cx="70055" cy="31843"/>
          </a:xfrm>
          <a:custGeom>
            <a:avLst/>
            <a:gdLst/>
            <a:ahLst/>
            <a:cxnLst/>
            <a:rect l="l" t="t" r="r" b="b"/>
            <a:pathLst>
              <a:path w="99187" h="53340">
                <a:moveTo>
                  <a:pt x="49594" y="53340"/>
                </a:moveTo>
                <a:lnTo>
                  <a:pt x="99187"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4" name="Freeform 74">
            <a:extLst>
              <a:ext uri="{FF2B5EF4-FFF2-40B4-BE49-F238E27FC236}">
                <a16:creationId xmlns:a16="http://schemas.microsoft.com/office/drawing/2014/main" id="{2B0B89D1-82C3-99C6-44D7-94B108871D0E}"/>
              </a:ext>
            </a:extLst>
          </p:cNvPr>
          <p:cNvSpPr/>
          <p:nvPr/>
        </p:nvSpPr>
        <p:spPr>
          <a:xfrm>
            <a:off x="6852121" y="2981147"/>
            <a:ext cx="165585" cy="95530"/>
          </a:xfrm>
          <a:custGeom>
            <a:avLst/>
            <a:gdLst/>
            <a:ahLst/>
            <a:cxnLst/>
            <a:rect l="l" t="t" r="r" b="b"/>
            <a:pathLst>
              <a:path w="336550" h="152400">
                <a:moveTo>
                  <a:pt x="0" y="152400"/>
                </a:moveTo>
                <a:lnTo>
                  <a:pt x="336550" y="15240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5" name="Freeform 75">
            <a:extLst>
              <a:ext uri="{FF2B5EF4-FFF2-40B4-BE49-F238E27FC236}">
                <a16:creationId xmlns:a16="http://schemas.microsoft.com/office/drawing/2014/main" id="{C7F9EBAC-D544-061D-F310-579AA765404C}"/>
              </a:ext>
            </a:extLst>
          </p:cNvPr>
          <p:cNvSpPr/>
          <p:nvPr/>
        </p:nvSpPr>
        <p:spPr>
          <a:xfrm>
            <a:off x="6503304" y="2839030"/>
            <a:ext cx="165585" cy="95530"/>
          </a:xfrm>
          <a:custGeom>
            <a:avLst/>
            <a:gdLst/>
            <a:ahLst/>
            <a:cxnLst/>
            <a:rect l="l" t="t" r="r" b="b"/>
            <a:pathLst>
              <a:path w="336550" h="158750">
                <a:moveTo>
                  <a:pt x="0" y="158750"/>
                </a:moveTo>
                <a:lnTo>
                  <a:pt x="336550" y="158750"/>
                </a:lnTo>
                <a:lnTo>
                  <a:pt x="336550"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sp>
        <p:nvSpPr>
          <p:cNvPr id="458" name="Freeform 76">
            <a:extLst>
              <a:ext uri="{FF2B5EF4-FFF2-40B4-BE49-F238E27FC236}">
                <a16:creationId xmlns:a16="http://schemas.microsoft.com/office/drawing/2014/main" id="{94EB3047-8B1A-3BB2-E5FA-B9ADA0AB80DB}"/>
              </a:ext>
            </a:extLst>
          </p:cNvPr>
          <p:cNvSpPr/>
          <p:nvPr/>
        </p:nvSpPr>
        <p:spPr>
          <a:xfrm>
            <a:off x="5520859" y="2631847"/>
            <a:ext cx="95530" cy="95530"/>
          </a:xfrm>
          <a:custGeom>
            <a:avLst/>
            <a:gdLst/>
            <a:ahLst/>
            <a:cxnLst/>
            <a:rect l="l" t="t" r="r" b="b"/>
            <a:pathLst>
              <a:path w="184150" h="158750">
                <a:moveTo>
                  <a:pt x="92075" y="158750"/>
                </a:moveTo>
                <a:lnTo>
                  <a:pt x="0" y="0"/>
                </a:lnTo>
                <a:lnTo>
                  <a:pt x="18415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cxnSp>
        <p:nvCxnSpPr>
          <p:cNvPr id="466" name="Straight Connector 465">
            <a:extLst>
              <a:ext uri="{FF2B5EF4-FFF2-40B4-BE49-F238E27FC236}">
                <a16:creationId xmlns:a16="http://schemas.microsoft.com/office/drawing/2014/main" id="{ADE7F4DA-9F9D-9697-988B-F7621A686909}"/>
              </a:ext>
            </a:extLst>
          </p:cNvPr>
          <p:cNvCxnSpPr>
            <a:cxnSpLocks/>
          </p:cNvCxnSpPr>
          <p:nvPr/>
        </p:nvCxnSpPr>
        <p:spPr>
          <a:xfrm>
            <a:off x="5386453" y="2794003"/>
            <a:ext cx="2128098" cy="0"/>
          </a:xfrm>
          <a:prstGeom prst="line">
            <a:avLst/>
          </a:prstGeom>
          <a:noFill/>
          <a:ln w="12700" cap="flat" cmpd="sng">
            <a:solidFill>
              <a:srgbClr val="5A798C"/>
            </a:solidFill>
            <a:prstDash val="solid"/>
            <a:round/>
            <a:headEnd type="none" w="lg" len="med"/>
            <a:tailEnd type="none" w="lg" len="med"/>
          </a:ln>
        </p:spPr>
      </p:cxnSp>
      <p:sp>
        <p:nvSpPr>
          <p:cNvPr id="467" name="TextBox 466">
            <a:extLst>
              <a:ext uri="{FF2B5EF4-FFF2-40B4-BE49-F238E27FC236}">
                <a16:creationId xmlns:a16="http://schemas.microsoft.com/office/drawing/2014/main" id="{3BA266FA-D824-E05C-29AD-0259EB1E8B58}"/>
              </a:ext>
            </a:extLst>
          </p:cNvPr>
          <p:cNvSpPr txBox="1"/>
          <p:nvPr/>
        </p:nvSpPr>
        <p:spPr>
          <a:xfrm>
            <a:off x="4100968" y="2509790"/>
            <a:ext cx="1227107" cy="243715"/>
          </a:xfrm>
          <a:prstGeom prst="rect">
            <a:avLst/>
          </a:prstGeom>
          <a:solidFill>
            <a:srgbClr val="1F96FF"/>
          </a:solidFill>
        </p:spPr>
        <p:txBody>
          <a:bodyPr wrap="square" lIns="0" tIns="0" rIns="0" bIns="0" anchor="ctr">
            <a:noAutofit/>
          </a:bodyPr>
          <a:lstStyle/>
          <a:p>
            <a:pPr marL="0" marR="0" lvl="0" indent="0" algn="ctr" defTabSz="457200" rtl="0" eaLnBrk="1" fontAlgn="auto" latinLnBrk="0" hangingPunct="1">
              <a:lnSpc>
                <a:spcPct val="100000"/>
              </a:lnSpc>
              <a:spcBef>
                <a:spcPts val="0"/>
              </a:spcBef>
              <a:buClrTx/>
              <a:buSzTx/>
              <a:buFontTx/>
              <a:buNone/>
              <a:tabLst/>
              <a:defRPr/>
            </a:pPr>
            <a:r>
              <a:rPr kumimoji="0" lang="en-US" sz="900" b="1" i="0" u="none" strike="noStrike" kern="1200" cap="none" spc="0" normalizeH="0" baseline="0" noProof="0">
                <a:ln>
                  <a:noFill/>
                </a:ln>
                <a:solidFill>
                  <a:schemeClr val="bg1"/>
                </a:solidFill>
                <a:effectLst/>
                <a:uLnTx/>
                <a:uFillTx/>
                <a:ea typeface="+mn-ea"/>
                <a:cs typeface="+mn-cs"/>
              </a:rPr>
              <a:t>Transport</a:t>
            </a:r>
            <a:r>
              <a:rPr lang="en-US" sz="900" b="1">
                <a:solidFill>
                  <a:schemeClr val="bg1"/>
                </a:solidFill>
              </a:rPr>
              <a:t> </a:t>
            </a:r>
            <a:r>
              <a:rPr kumimoji="0" lang="en-US" sz="900" b="1" i="0" u="none" strike="noStrike" kern="1200" cap="none" spc="0" normalizeH="0" baseline="0" noProof="0">
                <a:ln>
                  <a:noFill/>
                </a:ln>
                <a:solidFill>
                  <a:schemeClr val="bg1"/>
                </a:solidFill>
                <a:effectLst/>
                <a:uLnTx/>
                <a:uFillTx/>
                <a:ea typeface="+mn-ea"/>
                <a:cs typeface="+mn-cs"/>
              </a:rPr>
              <a:t>shipment</a:t>
            </a:r>
          </a:p>
        </p:txBody>
      </p:sp>
      <p:sp>
        <p:nvSpPr>
          <p:cNvPr id="468" name="TextBox 467">
            <a:extLst>
              <a:ext uri="{FF2B5EF4-FFF2-40B4-BE49-F238E27FC236}">
                <a16:creationId xmlns:a16="http://schemas.microsoft.com/office/drawing/2014/main" id="{16509C3E-B25B-F305-7478-84B4FE7F5AC7}"/>
              </a:ext>
            </a:extLst>
          </p:cNvPr>
          <p:cNvSpPr txBox="1"/>
          <p:nvPr/>
        </p:nvSpPr>
        <p:spPr>
          <a:xfrm>
            <a:off x="4102155" y="2883658"/>
            <a:ext cx="1230403" cy="241421"/>
          </a:xfrm>
          <a:prstGeom prst="rect">
            <a:avLst/>
          </a:prstGeom>
          <a:solidFill>
            <a:srgbClr val="1F96FF"/>
          </a:solidFill>
        </p:spPr>
        <p:txBody>
          <a:bodyPr wrap="square" lIns="0" tIns="0" rIns="0" bIns="0" anchor="ctr">
            <a:noAutofit/>
          </a:bodyPr>
          <a:lstStyle/>
          <a:p>
            <a:pPr marL="0" marR="0" lvl="0" indent="0" algn="ctr" defTabSz="457200" rtl="0" eaLnBrk="1" fontAlgn="auto" latinLnBrk="0" hangingPunct="1">
              <a:lnSpc>
                <a:spcPct val="100000"/>
              </a:lnSpc>
              <a:spcBef>
                <a:spcPts val="0"/>
              </a:spcBef>
              <a:buClrTx/>
              <a:buSzTx/>
              <a:buFontTx/>
              <a:buNone/>
              <a:tabLst/>
              <a:defRPr/>
            </a:pPr>
            <a:r>
              <a:rPr kumimoji="0" lang="en-US" sz="900" b="1" i="0" u="none" strike="noStrike" kern="1200" cap="none" spc="0" normalizeH="0" baseline="0" noProof="0">
                <a:ln>
                  <a:noFill/>
                </a:ln>
                <a:solidFill>
                  <a:schemeClr val="bg1"/>
                </a:solidFill>
                <a:effectLst/>
                <a:uLnTx/>
                <a:uFillTx/>
                <a:ea typeface="+mn-ea"/>
                <a:cs typeface="+mn-cs"/>
              </a:rPr>
              <a:t>Identify delivery route </a:t>
            </a:r>
          </a:p>
        </p:txBody>
      </p:sp>
      <p:grpSp>
        <p:nvGrpSpPr>
          <p:cNvPr id="513" name="Group 512">
            <a:extLst>
              <a:ext uri="{FF2B5EF4-FFF2-40B4-BE49-F238E27FC236}">
                <a16:creationId xmlns:a16="http://schemas.microsoft.com/office/drawing/2014/main" id="{ADBA1DD2-C3CB-00ED-1300-C586F6056F36}"/>
              </a:ext>
            </a:extLst>
          </p:cNvPr>
          <p:cNvGrpSpPr/>
          <p:nvPr/>
        </p:nvGrpSpPr>
        <p:grpSpPr>
          <a:xfrm>
            <a:off x="8084197" y="1807010"/>
            <a:ext cx="628377" cy="428287"/>
            <a:chOff x="3942646" y="1516558"/>
            <a:chExt cx="628377" cy="428287"/>
          </a:xfrm>
        </p:grpSpPr>
        <p:sp>
          <p:nvSpPr>
            <p:cNvPr id="6" name="TextBox 5">
              <a:extLst>
                <a:ext uri="{FF2B5EF4-FFF2-40B4-BE49-F238E27FC236}">
                  <a16:creationId xmlns:a16="http://schemas.microsoft.com/office/drawing/2014/main" id="{C3E65134-EF17-DDAC-0750-00AD7EB17449}"/>
                </a:ext>
              </a:extLst>
            </p:cNvPr>
            <p:cNvSpPr txBox="1"/>
            <p:nvPr/>
          </p:nvSpPr>
          <p:spPr>
            <a:xfrm>
              <a:off x="3942646" y="1775568"/>
              <a:ext cx="628377" cy="169277"/>
            </a:xfrm>
            <a:prstGeom prst="rect">
              <a:avLst/>
            </a:prstGeom>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ea typeface="+mn-ea"/>
                  <a:cs typeface="+mn-cs"/>
                </a:rPr>
                <a:t>Customer</a:t>
              </a:r>
            </a:p>
          </p:txBody>
        </p:sp>
        <p:pic>
          <p:nvPicPr>
            <p:cNvPr id="469" name="Graphic 468">
              <a:extLst>
                <a:ext uri="{FF2B5EF4-FFF2-40B4-BE49-F238E27FC236}">
                  <a16:creationId xmlns:a16="http://schemas.microsoft.com/office/drawing/2014/main" id="{1829DDC1-2D4B-A5DE-F049-9B2325BE9F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01864" y="1516558"/>
              <a:ext cx="309941" cy="241066"/>
            </a:xfrm>
            <a:prstGeom prst="rect">
              <a:avLst/>
            </a:prstGeom>
          </p:spPr>
        </p:pic>
      </p:grpSp>
      <p:grpSp>
        <p:nvGrpSpPr>
          <p:cNvPr id="514" name="Group 513">
            <a:extLst>
              <a:ext uri="{FF2B5EF4-FFF2-40B4-BE49-F238E27FC236}">
                <a16:creationId xmlns:a16="http://schemas.microsoft.com/office/drawing/2014/main" id="{E1EA5BB1-8E4D-C3EC-94B6-1D4A1BFE39BE}"/>
              </a:ext>
            </a:extLst>
          </p:cNvPr>
          <p:cNvGrpSpPr/>
          <p:nvPr/>
        </p:nvGrpSpPr>
        <p:grpSpPr>
          <a:xfrm>
            <a:off x="3736588" y="1700992"/>
            <a:ext cx="628377" cy="617559"/>
            <a:chOff x="56062" y="1466574"/>
            <a:chExt cx="628377" cy="617559"/>
          </a:xfrm>
        </p:grpSpPr>
        <p:sp>
          <p:nvSpPr>
            <p:cNvPr id="465" name="TextBox 464">
              <a:extLst>
                <a:ext uri="{FF2B5EF4-FFF2-40B4-BE49-F238E27FC236}">
                  <a16:creationId xmlns:a16="http://schemas.microsoft.com/office/drawing/2014/main" id="{2F51FA1B-1F03-A8A3-1E4B-0BB3D65A27E3}"/>
                </a:ext>
              </a:extLst>
            </p:cNvPr>
            <p:cNvSpPr txBox="1"/>
            <p:nvPr/>
          </p:nvSpPr>
          <p:spPr>
            <a:xfrm>
              <a:off x="56062" y="1745579"/>
              <a:ext cx="628377" cy="338554"/>
            </a:xfrm>
            <a:prstGeom prst="rect">
              <a:avLst/>
            </a:prstGeom>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ea typeface="+mn-ea"/>
                  <a:cs typeface="+mn-cs"/>
                </a:rPr>
                <a:t>Customer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ea typeface="+mn-ea"/>
                  <a:cs typeface="+mn-cs"/>
                </a:rPr>
                <a:t>Request</a:t>
              </a:r>
            </a:p>
          </p:txBody>
        </p:sp>
        <p:pic>
          <p:nvPicPr>
            <p:cNvPr id="472" name="Graphic 471">
              <a:extLst>
                <a:ext uri="{FF2B5EF4-FFF2-40B4-BE49-F238E27FC236}">
                  <a16:creationId xmlns:a16="http://schemas.microsoft.com/office/drawing/2014/main" id="{FA614651-1901-F38B-F391-6B782D7229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0647" y="1466574"/>
              <a:ext cx="339207" cy="263829"/>
            </a:xfrm>
            <a:prstGeom prst="rect">
              <a:avLst/>
            </a:prstGeom>
          </p:spPr>
        </p:pic>
      </p:grpSp>
      <p:sp>
        <p:nvSpPr>
          <p:cNvPr id="392" name="Google Shape;467;p8">
            <a:extLst>
              <a:ext uri="{FF2B5EF4-FFF2-40B4-BE49-F238E27FC236}">
                <a16:creationId xmlns:a16="http://schemas.microsoft.com/office/drawing/2014/main" id="{741D14F3-7792-58DD-078E-11A21A747C06}"/>
              </a:ext>
            </a:extLst>
          </p:cNvPr>
          <p:cNvSpPr txBox="1"/>
          <p:nvPr/>
        </p:nvSpPr>
        <p:spPr>
          <a:xfrm>
            <a:off x="4262316" y="5082827"/>
            <a:ext cx="4761012" cy="313932"/>
          </a:xfrm>
          <a:prstGeom prst="rect">
            <a:avLst/>
          </a:prstGeom>
          <a:solidFill>
            <a:schemeClr val="bg1"/>
          </a:solidFill>
          <a:ln w="25400" cap="flat" cmpd="sng">
            <a:solidFill>
              <a:srgbClr val="0057AF"/>
            </a:solidFill>
            <a:prstDash val="solid"/>
            <a:round/>
            <a:headEnd type="none" w="sm" len="sm"/>
            <a:tailEnd type="none" w="sm" len="sm"/>
          </a:ln>
        </p:spPr>
        <p:txBody>
          <a:bodyPr spcFirstLastPara="1" wrap="square" lIns="137160" tIns="64008" rIns="91440" bIns="64008" anchor="ctr" anchorCtr="0">
            <a:spAutoFit/>
          </a:bodyPr>
          <a:lstStyle/>
          <a:p>
            <a:pPr lvl="0" algn="ctr">
              <a:defRPr/>
            </a:pPr>
            <a:r>
              <a:rPr lang="en-US" sz="1150">
                <a:solidFill>
                  <a:prstClr val="black"/>
                </a:solidFill>
              </a:rPr>
              <a:t>Prioritize efforts based on return + change effort and feasibility </a:t>
            </a:r>
          </a:p>
        </p:txBody>
      </p:sp>
      <p:cxnSp>
        <p:nvCxnSpPr>
          <p:cNvPr id="393" name="Straight Arrow Connector 392">
            <a:extLst>
              <a:ext uri="{FF2B5EF4-FFF2-40B4-BE49-F238E27FC236}">
                <a16:creationId xmlns:a16="http://schemas.microsoft.com/office/drawing/2014/main" id="{FA9D41EC-D972-C9C8-C95D-F6EA9DF3CA7B}"/>
              </a:ext>
            </a:extLst>
          </p:cNvPr>
          <p:cNvCxnSpPr>
            <a:cxnSpLocks/>
          </p:cNvCxnSpPr>
          <p:nvPr/>
        </p:nvCxnSpPr>
        <p:spPr>
          <a:xfrm>
            <a:off x="3939303" y="3342131"/>
            <a:ext cx="0" cy="1737360"/>
          </a:xfrm>
          <a:prstGeom prst="straightConnector1">
            <a:avLst/>
          </a:prstGeom>
          <a:noFill/>
          <a:ln w="25400" cap="flat" cmpd="sng">
            <a:solidFill>
              <a:srgbClr val="1F96FF"/>
            </a:solidFill>
            <a:prstDash val="solid"/>
            <a:round/>
            <a:headEnd type="triangle" w="lg" len="med"/>
            <a:tailEnd type="triangle" w="lg" len="med"/>
          </a:ln>
        </p:spPr>
      </p:cxnSp>
      <p:sp>
        <p:nvSpPr>
          <p:cNvPr id="394" name="Google Shape;467;p8">
            <a:extLst>
              <a:ext uri="{FF2B5EF4-FFF2-40B4-BE49-F238E27FC236}">
                <a16:creationId xmlns:a16="http://schemas.microsoft.com/office/drawing/2014/main" id="{1A646271-6249-5FA7-AD74-FF0127173C59}"/>
              </a:ext>
            </a:extLst>
          </p:cNvPr>
          <p:cNvSpPr txBox="1"/>
          <p:nvPr/>
        </p:nvSpPr>
        <p:spPr>
          <a:xfrm>
            <a:off x="4262316" y="5457549"/>
            <a:ext cx="4761016" cy="369332"/>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457200" tIns="91440" rIns="45720" bIns="91440" anchor="ctr" anchorCtr="0">
            <a:spAutoFit/>
          </a:bodyPr>
          <a:lstStyle/>
          <a:p>
            <a:pPr lvl="0">
              <a:defRPr/>
            </a:pPr>
            <a:r>
              <a:rPr lang="en-US" sz="1150" dirty="0">
                <a:solidFill>
                  <a:prstClr val="black"/>
                </a:solidFill>
              </a:rPr>
              <a:t>Redesign future processes: identify new </a:t>
            </a:r>
            <a:r>
              <a:rPr lang="en-US" sz="1150" dirty="0" err="1">
                <a:solidFill>
                  <a:prstClr val="black"/>
                </a:solidFill>
              </a:rPr>
              <a:t>taskseliminate</a:t>
            </a:r>
            <a:r>
              <a:rPr lang="en-US" sz="1150" dirty="0">
                <a:solidFill>
                  <a:prstClr val="black"/>
                </a:solidFill>
              </a:rPr>
              <a:t> tasks</a:t>
            </a:r>
          </a:p>
        </p:txBody>
      </p:sp>
      <p:sp>
        <p:nvSpPr>
          <p:cNvPr id="395" name="Google Shape;467;p8">
            <a:extLst>
              <a:ext uri="{FF2B5EF4-FFF2-40B4-BE49-F238E27FC236}">
                <a16:creationId xmlns:a16="http://schemas.microsoft.com/office/drawing/2014/main" id="{911F6D2C-C473-6A37-B1C0-B9E94F0622CC}"/>
              </a:ext>
            </a:extLst>
          </p:cNvPr>
          <p:cNvSpPr txBox="1"/>
          <p:nvPr/>
        </p:nvSpPr>
        <p:spPr>
          <a:xfrm>
            <a:off x="4262316" y="5887671"/>
            <a:ext cx="4761016" cy="646331"/>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457200" tIns="45720" rIns="45720" bIns="45720" anchor="ctr" anchorCtr="0">
            <a:spAutoFit/>
          </a:bodyPr>
          <a:lstStyle/>
          <a:p>
            <a:pPr marL="171450" lvl="0" indent="-171450">
              <a:buFont typeface="Arial" panose="020B0604020202020204" pitchFamily="34" charset="0"/>
              <a:buChar char="•"/>
              <a:defRPr/>
            </a:pPr>
            <a:r>
              <a:rPr lang="en-US" sz="1150" dirty="0">
                <a:solidFill>
                  <a:srgbClr val="000000"/>
                </a:solidFill>
              </a:rPr>
              <a:t>Redesign jobs and assess impact</a:t>
            </a:r>
          </a:p>
          <a:p>
            <a:pPr marL="171450" lvl="0" indent="-171450">
              <a:buFont typeface="Arial" panose="020B0604020202020204" pitchFamily="34" charset="0"/>
              <a:buChar char="•"/>
              <a:defRPr/>
            </a:pPr>
            <a:r>
              <a:rPr lang="en-US" sz="1150" dirty="0">
                <a:solidFill>
                  <a:srgbClr val="000000"/>
                </a:solidFill>
              </a:rPr>
              <a:t>Update job expectations and capabilities</a:t>
            </a:r>
          </a:p>
          <a:p>
            <a:pPr marL="171450" lvl="0" indent="-171450">
              <a:buFont typeface="Arial" panose="020B0604020202020204" pitchFamily="34" charset="0"/>
              <a:buChar char="•"/>
              <a:defRPr/>
            </a:pPr>
            <a:r>
              <a:rPr lang="en-US" sz="1150" dirty="0">
                <a:solidFill>
                  <a:srgbClr val="000000"/>
                </a:solidFill>
              </a:rPr>
              <a:t>Assess/address talent implications</a:t>
            </a:r>
          </a:p>
        </p:txBody>
      </p:sp>
      <p:sp>
        <p:nvSpPr>
          <p:cNvPr id="396" name="Google Shape;467;p8">
            <a:extLst>
              <a:ext uri="{FF2B5EF4-FFF2-40B4-BE49-F238E27FC236}">
                <a16:creationId xmlns:a16="http://schemas.microsoft.com/office/drawing/2014/main" id="{047102AE-3A49-1A31-3B15-36DCDF15F6AD}"/>
              </a:ext>
            </a:extLst>
          </p:cNvPr>
          <p:cNvSpPr txBox="1"/>
          <p:nvPr/>
        </p:nvSpPr>
        <p:spPr>
          <a:xfrm>
            <a:off x="4262316" y="4560372"/>
            <a:ext cx="4761004" cy="461665"/>
          </a:xfrm>
          <a:prstGeom prst="rect">
            <a:avLst/>
          </a:prstGeom>
          <a:solidFill>
            <a:schemeClr val="bg1"/>
          </a:solidFill>
          <a:ln w="25400" cap="flat" cmpd="sng">
            <a:solidFill>
              <a:srgbClr val="0057AF"/>
            </a:solidFill>
            <a:prstDash val="solid"/>
            <a:round/>
            <a:headEnd type="none" w="sm" len="sm"/>
            <a:tailEnd type="none" w="sm" len="sm"/>
          </a:ln>
        </p:spPr>
        <p:txBody>
          <a:bodyPr spcFirstLastPara="1" wrap="square" lIns="137160" tIns="45720" rIns="91440" bIns="45720" anchor="ctr"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400"/>
              <a:buFontTx/>
              <a:buNone/>
              <a:tabLst/>
              <a:defRPr/>
            </a:pPr>
            <a:r>
              <a:rPr kumimoji="0" lang="en-US" sz="1150" b="0" i="0" u="none" strike="noStrike" kern="1200" cap="none" spc="0" normalizeH="0" baseline="0" noProof="0">
                <a:ln>
                  <a:noFill/>
                </a:ln>
                <a:solidFill>
                  <a:prstClr val="black"/>
                </a:solidFill>
                <a:effectLst/>
                <a:uLnTx/>
                <a:uFillTx/>
                <a:ea typeface="+mn-ea"/>
                <a:cs typeface="+mn-cs"/>
              </a:rPr>
              <a:t>Define opportunities for automation, augmentation, + People-centric tasks</a:t>
            </a:r>
          </a:p>
        </p:txBody>
      </p:sp>
      <p:pic>
        <p:nvPicPr>
          <p:cNvPr id="397" name="Graphic 396">
            <a:extLst>
              <a:ext uri="{FF2B5EF4-FFF2-40B4-BE49-F238E27FC236}">
                <a16:creationId xmlns:a16="http://schemas.microsoft.com/office/drawing/2014/main" id="{B8F46B1F-3064-97ED-E053-677BF784AB9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45432" y="5522182"/>
            <a:ext cx="336356" cy="261610"/>
          </a:xfrm>
          <a:prstGeom prst="rect">
            <a:avLst/>
          </a:prstGeom>
        </p:spPr>
      </p:pic>
      <p:sp>
        <p:nvSpPr>
          <p:cNvPr id="427" name="Google Shape;467;p8">
            <a:extLst>
              <a:ext uri="{FF2B5EF4-FFF2-40B4-BE49-F238E27FC236}">
                <a16:creationId xmlns:a16="http://schemas.microsoft.com/office/drawing/2014/main" id="{32DC8397-EAC2-14FF-604A-0A10AFEE68B3}"/>
              </a:ext>
            </a:extLst>
          </p:cNvPr>
          <p:cNvSpPr txBox="1"/>
          <p:nvPr/>
        </p:nvSpPr>
        <p:spPr>
          <a:xfrm>
            <a:off x="4262316" y="1042215"/>
            <a:ext cx="4760991" cy="313932"/>
          </a:xfrm>
          <a:prstGeom prst="rect">
            <a:avLst/>
          </a:prstGeom>
          <a:solidFill>
            <a:schemeClr val="lt1"/>
          </a:solidFill>
          <a:ln w="25400" cap="flat" cmpd="sng">
            <a:solidFill>
              <a:srgbClr val="0057AF"/>
            </a:solidFill>
            <a:prstDash val="solid"/>
            <a:round/>
            <a:headEnd type="none" w="sm" len="sm"/>
            <a:tailEnd type="none" w="sm" len="sm"/>
          </a:ln>
        </p:spPr>
        <p:txBody>
          <a:bodyPr spcFirstLastPara="1" wrap="square" lIns="137160" tIns="64008" rIns="45720" bIns="64008" anchor="ctr" anchorCtr="0">
            <a:spAutoFit/>
          </a:bodyPr>
          <a:lstStyle/>
          <a:p>
            <a:pPr lvl="0" algn="ctr">
              <a:buClr>
                <a:srgbClr val="000000"/>
              </a:buClr>
              <a:buSzPts val="1400"/>
              <a:defRPr/>
            </a:pPr>
            <a:r>
              <a:rPr lang="en-US" sz="1150">
                <a:solidFill>
                  <a:srgbClr val="000000"/>
                </a:solidFill>
              </a:rPr>
              <a:t>Align on Design Goals and Key Value Streams</a:t>
            </a:r>
            <a:endParaRPr lang="en-US" sz="1150">
              <a:solidFill>
                <a:srgbClr val="000000"/>
              </a:solidFill>
              <a:ea typeface="Arial"/>
              <a:cs typeface="Arial"/>
              <a:sym typeface="Arial"/>
            </a:endParaRPr>
          </a:p>
        </p:txBody>
      </p:sp>
      <p:sp>
        <p:nvSpPr>
          <p:cNvPr id="428" name="Google Shape;392;p12">
            <a:extLst>
              <a:ext uri="{FF2B5EF4-FFF2-40B4-BE49-F238E27FC236}">
                <a16:creationId xmlns:a16="http://schemas.microsoft.com/office/drawing/2014/main" id="{7F83F29D-A6AA-9F94-9F9A-D116D2283731}"/>
              </a:ext>
            </a:extLst>
          </p:cNvPr>
          <p:cNvSpPr/>
          <p:nvPr/>
        </p:nvSpPr>
        <p:spPr>
          <a:xfrm flipH="1">
            <a:off x="4070922" y="1067266"/>
            <a:ext cx="263829" cy="263829"/>
          </a:xfrm>
          <a:prstGeom prst="ellipse">
            <a:avLst/>
          </a:prstGeom>
          <a:solidFill>
            <a:srgbClr val="1F96FF"/>
          </a:solidFill>
          <a:ln>
            <a:noFill/>
          </a:ln>
        </p:spPr>
        <p:txBody>
          <a:bodyPr spcFirstLastPara="1" wrap="square" lIns="0" tIns="0" rIns="0" bIns="0" anchor="ctr" anchorCtr="1">
            <a:noAutofit/>
          </a:bodyPr>
          <a:lstStyle/>
          <a:p>
            <a:pPr marL="0" marR="0" lvl="0" indent="0" algn="ctr"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100" b="1" i="0" u="none" strike="noStrike" kern="1200" cap="none" spc="0" normalizeH="0" baseline="0" noProof="0">
                <a:ln>
                  <a:noFill/>
                </a:ln>
                <a:solidFill>
                  <a:schemeClr val="bg1"/>
                </a:solidFill>
                <a:effectLst/>
                <a:uLnTx/>
                <a:uFillTx/>
                <a:ea typeface="Arial"/>
                <a:cs typeface="Arial"/>
                <a:sym typeface="Arial"/>
              </a:rPr>
              <a:t>1</a:t>
            </a:r>
            <a:endParaRPr kumimoji="0" lang="en-US" sz="1100" b="0" i="0" u="none" strike="noStrike" kern="1200" cap="none" spc="0" normalizeH="0" baseline="0" noProof="0">
              <a:ln>
                <a:noFill/>
              </a:ln>
              <a:solidFill>
                <a:schemeClr val="bg1"/>
              </a:solidFill>
              <a:effectLst/>
              <a:uLnTx/>
              <a:uFillTx/>
              <a:ea typeface="Arial"/>
              <a:cs typeface="Arial"/>
              <a:sym typeface="Arial"/>
            </a:endParaRPr>
          </a:p>
        </p:txBody>
      </p:sp>
      <p:sp>
        <p:nvSpPr>
          <p:cNvPr id="429" name="Google Shape;392;p12">
            <a:extLst>
              <a:ext uri="{FF2B5EF4-FFF2-40B4-BE49-F238E27FC236}">
                <a16:creationId xmlns:a16="http://schemas.microsoft.com/office/drawing/2014/main" id="{E7034F9B-0F13-3312-085C-AC2DDFFE9259}"/>
              </a:ext>
            </a:extLst>
          </p:cNvPr>
          <p:cNvSpPr/>
          <p:nvPr/>
        </p:nvSpPr>
        <p:spPr>
          <a:xfrm flipH="1">
            <a:off x="4070922" y="3272558"/>
            <a:ext cx="263829" cy="263829"/>
          </a:xfrm>
          <a:prstGeom prst="ellipse">
            <a:avLst/>
          </a:prstGeom>
          <a:solidFill>
            <a:srgbClr val="1F96FF"/>
          </a:solidFill>
          <a:ln>
            <a:noFill/>
          </a:ln>
        </p:spPr>
        <p:txBody>
          <a:bodyPr spcFirstLastPara="1" wrap="square" lIns="0" tIns="0" rIns="0" bIns="0" anchor="ctr" anchorCtr="1">
            <a:noAutofit/>
          </a:bodyPr>
          <a:lstStyle/>
          <a:p>
            <a:pPr marL="0" marR="0" lvl="0" indent="0" algn="ctr"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100" b="1" i="0" u="none" strike="noStrike" kern="1200" cap="none" spc="0" normalizeH="0" baseline="0" noProof="0">
                <a:ln>
                  <a:noFill/>
                </a:ln>
                <a:solidFill>
                  <a:schemeClr val="bg1"/>
                </a:solidFill>
                <a:effectLst/>
                <a:uLnTx/>
                <a:uFillTx/>
                <a:ea typeface="Arial"/>
                <a:cs typeface="Arial"/>
                <a:sym typeface="Arial"/>
              </a:rPr>
              <a:t>2</a:t>
            </a:r>
            <a:endParaRPr kumimoji="0" lang="en-US" sz="1100" b="0" i="0" u="none" strike="noStrike" kern="1200" cap="none" spc="0" normalizeH="0" baseline="0" noProof="0">
              <a:ln>
                <a:noFill/>
              </a:ln>
              <a:solidFill>
                <a:schemeClr val="bg1"/>
              </a:solidFill>
              <a:effectLst/>
              <a:uLnTx/>
              <a:uFillTx/>
              <a:ea typeface="Arial"/>
              <a:cs typeface="Arial"/>
              <a:sym typeface="Arial"/>
            </a:endParaRPr>
          </a:p>
        </p:txBody>
      </p:sp>
      <p:sp>
        <p:nvSpPr>
          <p:cNvPr id="430" name="Google Shape;392;p12">
            <a:extLst>
              <a:ext uri="{FF2B5EF4-FFF2-40B4-BE49-F238E27FC236}">
                <a16:creationId xmlns:a16="http://schemas.microsoft.com/office/drawing/2014/main" id="{77BF5676-0F42-2403-77A4-1A1B31690A0D}"/>
              </a:ext>
            </a:extLst>
          </p:cNvPr>
          <p:cNvSpPr/>
          <p:nvPr/>
        </p:nvSpPr>
        <p:spPr>
          <a:xfrm flipH="1">
            <a:off x="4070922" y="4941072"/>
            <a:ext cx="263829" cy="263829"/>
          </a:xfrm>
          <a:prstGeom prst="ellipse">
            <a:avLst/>
          </a:prstGeom>
          <a:solidFill>
            <a:srgbClr val="1F96FF"/>
          </a:solidFill>
          <a:ln>
            <a:noFill/>
          </a:ln>
        </p:spPr>
        <p:txBody>
          <a:bodyPr spcFirstLastPara="1" wrap="square" lIns="0" tIns="0" rIns="0" bIns="0" anchor="ctr" anchorCtr="1">
            <a:noAutofit/>
          </a:bodyPr>
          <a:lstStyle/>
          <a:p>
            <a:pPr marL="0" marR="0" lvl="0" indent="0" algn="ctr"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100" b="1" i="0" u="none" strike="noStrike" kern="1200" cap="none" spc="0" normalizeH="0" baseline="0" noProof="0">
                <a:ln>
                  <a:noFill/>
                </a:ln>
                <a:solidFill>
                  <a:schemeClr val="bg1"/>
                </a:solidFill>
                <a:effectLst/>
                <a:uLnTx/>
                <a:uFillTx/>
                <a:ea typeface="Arial"/>
                <a:cs typeface="Arial"/>
                <a:sym typeface="Arial"/>
              </a:rPr>
              <a:t>3</a:t>
            </a:r>
            <a:endParaRPr kumimoji="0" lang="en-US" sz="1100" b="0" i="0" u="none" strike="noStrike" kern="1200" cap="none" spc="0" normalizeH="0" baseline="0" noProof="0">
              <a:ln>
                <a:noFill/>
              </a:ln>
              <a:solidFill>
                <a:schemeClr val="bg1"/>
              </a:solidFill>
              <a:effectLst/>
              <a:uLnTx/>
              <a:uFillTx/>
              <a:ea typeface="Arial"/>
              <a:cs typeface="Arial"/>
              <a:sym typeface="Arial"/>
            </a:endParaRPr>
          </a:p>
        </p:txBody>
      </p:sp>
      <p:sp>
        <p:nvSpPr>
          <p:cNvPr id="431" name="Google Shape;392;p12">
            <a:extLst>
              <a:ext uri="{FF2B5EF4-FFF2-40B4-BE49-F238E27FC236}">
                <a16:creationId xmlns:a16="http://schemas.microsoft.com/office/drawing/2014/main" id="{6CE74A58-3171-A8BE-1055-45F5C2330463}"/>
              </a:ext>
            </a:extLst>
          </p:cNvPr>
          <p:cNvSpPr/>
          <p:nvPr/>
        </p:nvSpPr>
        <p:spPr>
          <a:xfrm flipH="1">
            <a:off x="4070922" y="5517994"/>
            <a:ext cx="263829" cy="263829"/>
          </a:xfrm>
          <a:prstGeom prst="ellipse">
            <a:avLst/>
          </a:prstGeom>
          <a:solidFill>
            <a:srgbClr val="1F96FF"/>
          </a:solidFill>
          <a:ln>
            <a:noFill/>
          </a:ln>
        </p:spPr>
        <p:txBody>
          <a:bodyPr spcFirstLastPara="1" wrap="square" lIns="0" tIns="0" rIns="0" bIns="0" anchor="ctr" anchorCtr="1">
            <a:noAutofit/>
          </a:bodyPr>
          <a:lstStyle/>
          <a:p>
            <a:pPr marL="0" marR="0" lvl="0" indent="0" algn="ctr"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100" b="1" i="0" u="none" strike="noStrike" kern="1200" cap="none" spc="0" normalizeH="0" baseline="0" noProof="0">
                <a:ln>
                  <a:noFill/>
                </a:ln>
                <a:solidFill>
                  <a:schemeClr val="bg1"/>
                </a:solidFill>
                <a:effectLst/>
                <a:uLnTx/>
                <a:uFillTx/>
                <a:ea typeface="Arial"/>
                <a:cs typeface="Arial"/>
                <a:sym typeface="Arial"/>
              </a:rPr>
              <a:t>4</a:t>
            </a:r>
            <a:endParaRPr kumimoji="0" lang="en-US" sz="1100" b="0" i="0" u="none" strike="noStrike" kern="1200" cap="none" spc="0" normalizeH="0" baseline="0" noProof="0">
              <a:ln>
                <a:noFill/>
              </a:ln>
              <a:solidFill>
                <a:schemeClr val="bg1"/>
              </a:solidFill>
              <a:effectLst/>
              <a:uLnTx/>
              <a:uFillTx/>
              <a:ea typeface="Arial"/>
              <a:cs typeface="Arial"/>
              <a:sym typeface="Arial"/>
            </a:endParaRPr>
          </a:p>
        </p:txBody>
      </p:sp>
      <p:sp>
        <p:nvSpPr>
          <p:cNvPr id="432" name="Google Shape;392;p12">
            <a:extLst>
              <a:ext uri="{FF2B5EF4-FFF2-40B4-BE49-F238E27FC236}">
                <a16:creationId xmlns:a16="http://schemas.microsoft.com/office/drawing/2014/main" id="{A7495B3B-C11B-09D4-53AE-C0C93A9BA917}"/>
              </a:ext>
            </a:extLst>
          </p:cNvPr>
          <p:cNvSpPr/>
          <p:nvPr/>
        </p:nvSpPr>
        <p:spPr>
          <a:xfrm flipH="1">
            <a:off x="4070922" y="6078922"/>
            <a:ext cx="263829" cy="263829"/>
          </a:xfrm>
          <a:prstGeom prst="ellipse">
            <a:avLst/>
          </a:prstGeom>
          <a:solidFill>
            <a:srgbClr val="1F96FF"/>
          </a:solidFill>
          <a:ln>
            <a:noFill/>
          </a:ln>
        </p:spPr>
        <p:txBody>
          <a:bodyPr spcFirstLastPara="1" wrap="square" lIns="0" tIns="0" rIns="0" bIns="0" anchor="ctr" anchorCtr="1">
            <a:noAutofit/>
          </a:bodyPr>
          <a:lstStyle/>
          <a:p>
            <a:pPr marL="0" marR="0" lvl="0" indent="0" algn="ctr" defTabSz="457200" rtl="0" eaLnBrk="1" fontAlgn="auto" latinLnBrk="0" hangingPunct="1">
              <a:lnSpc>
                <a:spcPct val="100000"/>
              </a:lnSpc>
              <a:spcBef>
                <a:spcPts val="0"/>
              </a:spcBef>
              <a:spcAft>
                <a:spcPts val="0"/>
              </a:spcAft>
              <a:buClr>
                <a:srgbClr val="000000"/>
              </a:buClr>
              <a:buSzPts val="1600"/>
              <a:buFont typeface="Arial"/>
              <a:buNone/>
              <a:tabLst/>
              <a:defRPr/>
            </a:pPr>
            <a:r>
              <a:rPr kumimoji="0" lang="en-US" sz="1100" b="1" i="0" u="none" strike="noStrike" kern="1200" cap="none" spc="0" normalizeH="0" baseline="0" noProof="0">
                <a:ln>
                  <a:noFill/>
                </a:ln>
                <a:solidFill>
                  <a:schemeClr val="bg1"/>
                </a:solidFill>
                <a:effectLst/>
                <a:uLnTx/>
                <a:uFillTx/>
                <a:ea typeface="Arial"/>
                <a:cs typeface="Arial"/>
                <a:sym typeface="Arial"/>
              </a:rPr>
              <a:t>5</a:t>
            </a:r>
            <a:endParaRPr kumimoji="0" lang="en-US" sz="1100" b="0" i="0" u="none" strike="noStrike" kern="1200" cap="none" spc="0" normalizeH="0" baseline="0" noProof="0">
              <a:ln>
                <a:noFill/>
              </a:ln>
              <a:solidFill>
                <a:schemeClr val="bg1"/>
              </a:solidFill>
              <a:effectLst/>
              <a:uLnTx/>
              <a:uFillTx/>
              <a:ea typeface="Arial"/>
              <a:cs typeface="Arial"/>
              <a:sym typeface="Arial"/>
            </a:endParaRPr>
          </a:p>
        </p:txBody>
      </p:sp>
      <p:pic>
        <p:nvPicPr>
          <p:cNvPr id="523" name="Graphic 522">
            <a:extLst>
              <a:ext uri="{FF2B5EF4-FFF2-40B4-BE49-F238E27FC236}">
                <a16:creationId xmlns:a16="http://schemas.microsoft.com/office/drawing/2014/main" id="{C377EC38-B3F1-A7C8-F9AE-8FD02958B6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56266" y="6080810"/>
            <a:ext cx="334353" cy="260053"/>
          </a:xfrm>
          <a:prstGeom prst="rect">
            <a:avLst/>
          </a:prstGeom>
        </p:spPr>
      </p:pic>
      <p:grpSp>
        <p:nvGrpSpPr>
          <p:cNvPr id="487" name="Group 486">
            <a:extLst>
              <a:ext uri="{FF2B5EF4-FFF2-40B4-BE49-F238E27FC236}">
                <a16:creationId xmlns:a16="http://schemas.microsoft.com/office/drawing/2014/main" id="{3DF12CFF-B12E-21C5-A60C-9058C3EA99D2}"/>
              </a:ext>
            </a:extLst>
          </p:cNvPr>
          <p:cNvGrpSpPr/>
          <p:nvPr/>
        </p:nvGrpSpPr>
        <p:grpSpPr>
          <a:xfrm>
            <a:off x="9666191" y="3239803"/>
            <a:ext cx="1031095" cy="987444"/>
            <a:chOff x="671030" y="2285098"/>
            <a:chExt cx="1485417" cy="1483944"/>
          </a:xfrm>
          <a:noFill/>
        </p:grpSpPr>
        <p:sp>
          <p:nvSpPr>
            <p:cNvPr id="488" name="Freeform 7">
              <a:extLst>
                <a:ext uri="{FF2B5EF4-FFF2-40B4-BE49-F238E27FC236}">
                  <a16:creationId xmlns:a16="http://schemas.microsoft.com/office/drawing/2014/main" id="{F608F5AA-9291-FB1E-963F-4C880D2B1550}"/>
                </a:ext>
              </a:extLst>
            </p:cNvPr>
            <p:cNvSpPr/>
            <p:nvPr/>
          </p:nvSpPr>
          <p:spPr>
            <a:xfrm>
              <a:off x="671030" y="2285098"/>
              <a:ext cx="742709" cy="1476629"/>
            </a:xfrm>
            <a:custGeom>
              <a:avLst/>
              <a:gdLst/>
              <a:ahLst/>
              <a:cxnLst/>
              <a:rect l="l" t="t" r="r" b="b"/>
              <a:pathLst>
                <a:path w="742709" h="1476629">
                  <a:moveTo>
                    <a:pt x="742709" y="0"/>
                  </a:moveTo>
                  <a:lnTo>
                    <a:pt x="719366" y="0"/>
                  </a:lnTo>
                  <a:lnTo>
                    <a:pt x="672783" y="2933"/>
                  </a:lnTo>
                  <a:lnTo>
                    <a:pt x="626466" y="8775"/>
                  </a:lnTo>
                  <a:lnTo>
                    <a:pt x="580619" y="17526"/>
                  </a:lnTo>
                  <a:lnTo>
                    <a:pt x="535394" y="29134"/>
                  </a:lnTo>
                  <a:lnTo>
                    <a:pt x="491008" y="43561"/>
                  </a:lnTo>
                  <a:lnTo>
                    <a:pt x="447599" y="60744"/>
                  </a:lnTo>
                  <a:lnTo>
                    <a:pt x="405359" y="80619"/>
                  </a:lnTo>
                  <a:lnTo>
                    <a:pt x="364452" y="103111"/>
                  </a:lnTo>
                  <a:lnTo>
                    <a:pt x="325044" y="128130"/>
                  </a:lnTo>
                  <a:lnTo>
                    <a:pt x="287274" y="155562"/>
                  </a:lnTo>
                  <a:lnTo>
                    <a:pt x="251308" y="185318"/>
                  </a:lnTo>
                  <a:lnTo>
                    <a:pt x="217285" y="217271"/>
                  </a:lnTo>
                  <a:lnTo>
                    <a:pt x="185319" y="251307"/>
                  </a:lnTo>
                  <a:lnTo>
                    <a:pt x="155563" y="287274"/>
                  </a:lnTo>
                  <a:lnTo>
                    <a:pt x="128131" y="325031"/>
                  </a:lnTo>
                  <a:lnTo>
                    <a:pt x="103112" y="364451"/>
                  </a:lnTo>
                  <a:lnTo>
                    <a:pt x="80633" y="405358"/>
                  </a:lnTo>
                  <a:lnTo>
                    <a:pt x="60757" y="447598"/>
                  </a:lnTo>
                  <a:lnTo>
                    <a:pt x="43561" y="490995"/>
                  </a:lnTo>
                  <a:lnTo>
                    <a:pt x="29147" y="535394"/>
                  </a:lnTo>
                  <a:lnTo>
                    <a:pt x="17539" y="580606"/>
                  </a:lnTo>
                  <a:lnTo>
                    <a:pt x="8789" y="626465"/>
                  </a:lnTo>
                  <a:lnTo>
                    <a:pt x="2934" y="672769"/>
                  </a:lnTo>
                  <a:lnTo>
                    <a:pt x="0" y="719366"/>
                  </a:lnTo>
                  <a:lnTo>
                    <a:pt x="0" y="766051"/>
                  </a:lnTo>
                  <a:lnTo>
                    <a:pt x="2934" y="812635"/>
                  </a:lnTo>
                  <a:lnTo>
                    <a:pt x="8789" y="858952"/>
                  </a:lnTo>
                  <a:lnTo>
                    <a:pt x="17539" y="904799"/>
                  </a:lnTo>
                  <a:lnTo>
                    <a:pt x="29147" y="950011"/>
                  </a:lnTo>
                  <a:lnTo>
                    <a:pt x="43561" y="994410"/>
                  </a:lnTo>
                  <a:lnTo>
                    <a:pt x="60757" y="1037818"/>
                  </a:lnTo>
                  <a:lnTo>
                    <a:pt x="80633" y="1080046"/>
                  </a:lnTo>
                  <a:lnTo>
                    <a:pt x="103112" y="1120953"/>
                  </a:lnTo>
                  <a:lnTo>
                    <a:pt x="128131" y="1160373"/>
                  </a:lnTo>
                  <a:lnTo>
                    <a:pt x="155563" y="1198143"/>
                  </a:lnTo>
                  <a:lnTo>
                    <a:pt x="185319" y="1234110"/>
                  </a:lnTo>
                  <a:lnTo>
                    <a:pt x="217285" y="1268133"/>
                  </a:lnTo>
                  <a:lnTo>
                    <a:pt x="251308" y="1300086"/>
                  </a:lnTo>
                  <a:lnTo>
                    <a:pt x="287274" y="1329842"/>
                  </a:lnTo>
                  <a:lnTo>
                    <a:pt x="325044" y="1357287"/>
                  </a:lnTo>
                  <a:lnTo>
                    <a:pt x="364452" y="1382293"/>
                  </a:lnTo>
                  <a:lnTo>
                    <a:pt x="405359" y="1404785"/>
                  </a:lnTo>
                  <a:lnTo>
                    <a:pt x="447599" y="1424660"/>
                  </a:lnTo>
                  <a:lnTo>
                    <a:pt x="491008" y="1441843"/>
                  </a:lnTo>
                  <a:lnTo>
                    <a:pt x="535394" y="1456270"/>
                  </a:lnTo>
                  <a:lnTo>
                    <a:pt x="580619" y="1467878"/>
                  </a:lnTo>
                  <a:lnTo>
                    <a:pt x="626466" y="1476629"/>
                  </a:lnTo>
                </a:path>
              </a:pathLst>
            </a:custGeom>
            <a:grpFill/>
            <a:ln w="38100" cap="sq">
              <a:gradFill>
                <a:gsLst>
                  <a:gs pos="100000">
                    <a:srgbClr val="002856"/>
                  </a:gs>
                  <a:gs pos="0">
                    <a:srgbClr val="009AD7"/>
                  </a:gs>
                </a:gsLst>
                <a:lin ang="5400000" scaled="1"/>
              </a:gradFill>
              <a:headEnd type="triangle" w="lg" len="med"/>
            </a:ln>
          </p:spPr>
          <p:txBody>
            <a:bodyPr/>
            <a:lstStyle/>
            <a:p>
              <a:endParaRPr lang="en-US"/>
            </a:p>
          </p:txBody>
        </p:sp>
        <p:sp>
          <p:nvSpPr>
            <p:cNvPr id="489" name="Freeform 9">
              <a:extLst>
                <a:ext uri="{FF2B5EF4-FFF2-40B4-BE49-F238E27FC236}">
                  <a16:creationId xmlns:a16="http://schemas.microsoft.com/office/drawing/2014/main" id="{64C954D7-5DAA-0185-E229-C4A7930B80A8}"/>
                </a:ext>
              </a:extLst>
            </p:cNvPr>
            <p:cNvSpPr/>
            <p:nvPr/>
          </p:nvSpPr>
          <p:spPr>
            <a:xfrm>
              <a:off x="1460373" y="2302624"/>
              <a:ext cx="696074" cy="1466418"/>
            </a:xfrm>
            <a:custGeom>
              <a:avLst/>
              <a:gdLst/>
              <a:ahLst/>
              <a:cxnLst/>
              <a:rect l="l" t="t" r="r" b="b"/>
              <a:pathLst>
                <a:path w="696074" h="1466418">
                  <a:moveTo>
                    <a:pt x="0" y="1466418"/>
                  </a:moveTo>
                  <a:lnTo>
                    <a:pt x="23292" y="1464958"/>
                  </a:lnTo>
                  <a:lnTo>
                    <a:pt x="69609" y="1459103"/>
                  </a:lnTo>
                  <a:lnTo>
                    <a:pt x="115456" y="1450352"/>
                  </a:lnTo>
                  <a:lnTo>
                    <a:pt x="160681" y="1438745"/>
                  </a:lnTo>
                  <a:lnTo>
                    <a:pt x="205067" y="1424317"/>
                  </a:lnTo>
                  <a:lnTo>
                    <a:pt x="248476" y="1407134"/>
                  </a:lnTo>
                  <a:lnTo>
                    <a:pt x="290716" y="1387259"/>
                  </a:lnTo>
                  <a:lnTo>
                    <a:pt x="331623" y="1364767"/>
                  </a:lnTo>
                  <a:lnTo>
                    <a:pt x="371031" y="1339761"/>
                  </a:lnTo>
                  <a:lnTo>
                    <a:pt x="408801" y="1312316"/>
                  </a:lnTo>
                  <a:lnTo>
                    <a:pt x="444767" y="1282560"/>
                  </a:lnTo>
                  <a:lnTo>
                    <a:pt x="478791" y="1250607"/>
                  </a:lnTo>
                  <a:lnTo>
                    <a:pt x="510756" y="1216584"/>
                  </a:lnTo>
                  <a:lnTo>
                    <a:pt x="540512" y="1180617"/>
                  </a:lnTo>
                  <a:lnTo>
                    <a:pt x="567944" y="1142847"/>
                  </a:lnTo>
                  <a:lnTo>
                    <a:pt x="592963" y="1103427"/>
                  </a:lnTo>
                  <a:lnTo>
                    <a:pt x="615442" y="1062533"/>
                  </a:lnTo>
                  <a:lnTo>
                    <a:pt x="635318" y="1020292"/>
                  </a:lnTo>
                  <a:lnTo>
                    <a:pt x="652501" y="976884"/>
                  </a:lnTo>
                  <a:lnTo>
                    <a:pt x="666928" y="932485"/>
                  </a:lnTo>
                  <a:lnTo>
                    <a:pt x="678536" y="887273"/>
                  </a:lnTo>
                  <a:lnTo>
                    <a:pt x="687286" y="841426"/>
                  </a:lnTo>
                  <a:lnTo>
                    <a:pt x="693141" y="795109"/>
                  </a:lnTo>
                  <a:lnTo>
                    <a:pt x="696075" y="748525"/>
                  </a:lnTo>
                  <a:lnTo>
                    <a:pt x="696075" y="701840"/>
                  </a:lnTo>
                  <a:lnTo>
                    <a:pt x="693141" y="655243"/>
                  </a:lnTo>
                  <a:lnTo>
                    <a:pt x="687286" y="608939"/>
                  </a:lnTo>
                  <a:lnTo>
                    <a:pt x="678536" y="563080"/>
                  </a:lnTo>
                  <a:lnTo>
                    <a:pt x="666928" y="517868"/>
                  </a:lnTo>
                  <a:lnTo>
                    <a:pt x="652501" y="473469"/>
                  </a:lnTo>
                  <a:lnTo>
                    <a:pt x="635318" y="430073"/>
                  </a:lnTo>
                  <a:lnTo>
                    <a:pt x="615442" y="387832"/>
                  </a:lnTo>
                  <a:lnTo>
                    <a:pt x="592963" y="346926"/>
                  </a:lnTo>
                  <a:lnTo>
                    <a:pt x="567944" y="307505"/>
                  </a:lnTo>
                  <a:lnTo>
                    <a:pt x="540512" y="269748"/>
                  </a:lnTo>
                  <a:lnTo>
                    <a:pt x="510756" y="233782"/>
                  </a:lnTo>
                  <a:lnTo>
                    <a:pt x="478791" y="199745"/>
                  </a:lnTo>
                  <a:lnTo>
                    <a:pt x="444767" y="167792"/>
                  </a:lnTo>
                  <a:lnTo>
                    <a:pt x="408801" y="138036"/>
                  </a:lnTo>
                  <a:lnTo>
                    <a:pt x="371031" y="110604"/>
                  </a:lnTo>
                  <a:lnTo>
                    <a:pt x="331623" y="85585"/>
                  </a:lnTo>
                  <a:lnTo>
                    <a:pt x="290716" y="63094"/>
                  </a:lnTo>
                  <a:lnTo>
                    <a:pt x="248476" y="43218"/>
                  </a:lnTo>
                  <a:lnTo>
                    <a:pt x="205067" y="26035"/>
                  </a:lnTo>
                  <a:lnTo>
                    <a:pt x="160681" y="11608"/>
                  </a:lnTo>
                  <a:lnTo>
                    <a:pt x="115456" y="0"/>
                  </a:lnTo>
                </a:path>
              </a:pathLst>
            </a:custGeom>
            <a:grpFill/>
            <a:ln w="38100" cap="sq">
              <a:gradFill>
                <a:gsLst>
                  <a:gs pos="0">
                    <a:srgbClr val="002856"/>
                  </a:gs>
                  <a:gs pos="100000">
                    <a:srgbClr val="009AD7"/>
                  </a:gs>
                </a:gsLst>
                <a:lin ang="5400000" scaled="1"/>
              </a:gradFill>
              <a:headEnd type="triangle" w="lg" len="med"/>
            </a:ln>
          </p:spPr>
          <p:txBody>
            <a:bodyPr/>
            <a:lstStyle/>
            <a:p>
              <a:endParaRPr lang="en-US"/>
            </a:p>
          </p:txBody>
        </p:sp>
      </p:grpSp>
      <p:cxnSp>
        <p:nvCxnSpPr>
          <p:cNvPr id="527" name="Straight Connector 526">
            <a:extLst>
              <a:ext uri="{FF2B5EF4-FFF2-40B4-BE49-F238E27FC236}">
                <a16:creationId xmlns:a16="http://schemas.microsoft.com/office/drawing/2014/main" id="{E0965A27-108F-CCE4-56F2-268E89BF4D51}"/>
              </a:ext>
            </a:extLst>
          </p:cNvPr>
          <p:cNvCxnSpPr>
            <a:cxnSpLocks/>
          </p:cNvCxnSpPr>
          <p:nvPr/>
        </p:nvCxnSpPr>
        <p:spPr>
          <a:xfrm>
            <a:off x="3436948" y="4144046"/>
            <a:ext cx="553543" cy="0"/>
          </a:xfrm>
          <a:prstGeom prst="line">
            <a:avLst/>
          </a:prstGeom>
          <a:noFill/>
          <a:ln w="25400" cap="flat" cmpd="sng">
            <a:solidFill>
              <a:srgbClr val="1F96FF"/>
            </a:solidFill>
            <a:prstDash val="solid"/>
            <a:round/>
            <a:headEnd type="none" w="lg" len="med"/>
            <a:tailEnd type="none" w="lg" len="med"/>
          </a:ln>
        </p:spPr>
      </p:cxnSp>
      <p:sp>
        <p:nvSpPr>
          <p:cNvPr id="391" name="TextBox 390">
            <a:extLst>
              <a:ext uri="{FF2B5EF4-FFF2-40B4-BE49-F238E27FC236}">
                <a16:creationId xmlns:a16="http://schemas.microsoft.com/office/drawing/2014/main" id="{C41DD6E6-9AB1-05E7-1E39-48125E7CB2F9}"/>
              </a:ext>
            </a:extLst>
          </p:cNvPr>
          <p:cNvSpPr txBox="1"/>
          <p:nvPr/>
        </p:nvSpPr>
        <p:spPr>
          <a:xfrm>
            <a:off x="940653" y="3733525"/>
            <a:ext cx="2606040" cy="869469"/>
          </a:xfrm>
          <a:prstGeom prst="rect">
            <a:avLst/>
          </a:prstGeom>
          <a:solidFill>
            <a:schemeClr val="bg1"/>
          </a:solidFill>
          <a:ln w="25400">
            <a:solidFill>
              <a:srgbClr val="1F96FF"/>
            </a:solidFill>
          </a:ln>
        </p:spPr>
        <p:txBody>
          <a:bodyPr wrap="square" lIns="91440" tIns="45720" rIns="91440" bIns="45720" anchor="t">
            <a:spAutoFit/>
          </a:bodyPr>
          <a:lstStyle/>
          <a:p>
            <a:pPr marL="0" marR="0" lvl="0" indent="0" defTabSz="4572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1F96FF"/>
                </a:solidFill>
                <a:effectLst/>
                <a:uLnTx/>
                <a:uFillTx/>
                <a:ea typeface="+mn-ea"/>
                <a:cs typeface="+mn-cs"/>
              </a:rPr>
              <a:t>Synchronize</a:t>
            </a:r>
            <a:r>
              <a:rPr kumimoji="0" lang="en-US" sz="1200" i="0" u="none" strike="noStrike" kern="1200" cap="none" spc="0" normalizeH="0" baseline="0" noProof="0">
                <a:ln>
                  <a:noFill/>
                </a:ln>
                <a:solidFill>
                  <a:srgbClr val="0057AF"/>
                </a:solidFill>
                <a:effectLst/>
                <a:uLnTx/>
                <a:uFillTx/>
                <a:ea typeface="+mn-ea"/>
                <a:cs typeface="+mn-cs"/>
              </a:rPr>
              <a:t> </a:t>
            </a:r>
            <a:r>
              <a:rPr kumimoji="0" lang="en-US" sz="1200" i="0" u="none" strike="noStrike" kern="1200" cap="none" spc="0" normalizeH="0" baseline="0" noProof="0">
                <a:ln>
                  <a:noFill/>
                </a:ln>
                <a:solidFill>
                  <a:srgbClr val="000000"/>
                </a:solidFill>
                <a:effectLst/>
                <a:uLnTx/>
                <a:uFillTx/>
                <a:ea typeface="+mn-ea"/>
                <a:cs typeface="+mn-cs"/>
              </a:rPr>
              <a:t>process </a:t>
            </a:r>
            <a:r>
              <a:rPr lang="en-US" sz="1200">
                <a:solidFill>
                  <a:srgbClr val="000000"/>
                </a:solidFill>
              </a:rPr>
              <a:t>optimization and </a:t>
            </a:r>
            <a:r>
              <a:rPr kumimoji="0" lang="en-US" sz="1200" i="0" u="none" strike="noStrike" kern="1200" cap="none" spc="0" normalizeH="0" baseline="0" noProof="0">
                <a:ln>
                  <a:noFill/>
                </a:ln>
                <a:solidFill>
                  <a:srgbClr val="000000"/>
                </a:solidFill>
                <a:effectLst/>
                <a:uLnTx/>
                <a:uFillTx/>
                <a:ea typeface="+mn-ea"/>
                <a:cs typeface="+mn-cs"/>
              </a:rPr>
              <a:t>technology redesign and workforce capability shifts</a:t>
            </a:r>
          </a:p>
          <a:p>
            <a:pPr marL="0" marR="0" lvl="0" indent="0" defTabSz="4572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1F96FF"/>
                </a:solidFill>
                <a:effectLst/>
                <a:uLnTx/>
                <a:uFillTx/>
                <a:ea typeface="+mn-ea"/>
                <a:cs typeface="+mn-cs"/>
              </a:rPr>
              <a:t>Start</a:t>
            </a:r>
            <a:r>
              <a:rPr kumimoji="0" lang="en-US" sz="1200" i="0" u="none" strike="noStrike" kern="1200" cap="none" spc="0" normalizeH="0" baseline="0" noProof="0">
                <a:ln>
                  <a:noFill/>
                </a:ln>
                <a:solidFill>
                  <a:srgbClr val="0057AF"/>
                </a:solidFill>
                <a:effectLst/>
                <a:uLnTx/>
                <a:uFillTx/>
                <a:ea typeface="+mn-ea"/>
                <a:cs typeface="+mn-cs"/>
              </a:rPr>
              <a:t> </a:t>
            </a:r>
            <a:r>
              <a:rPr kumimoji="0" lang="en-US" sz="1200" i="0" u="none" strike="noStrike" kern="1200" cap="none" spc="0" normalizeH="0" baseline="0" noProof="0">
                <a:ln>
                  <a:noFill/>
                </a:ln>
                <a:solidFill>
                  <a:srgbClr val="000000"/>
                </a:solidFill>
                <a:effectLst/>
                <a:uLnTx/>
                <a:uFillTx/>
                <a:ea typeface="+mn-ea"/>
                <a:cs typeface="+mn-cs"/>
              </a:rPr>
              <a:t>with process optimization</a:t>
            </a:r>
          </a:p>
        </p:txBody>
      </p:sp>
      <p:sp>
        <p:nvSpPr>
          <p:cNvPr id="532" name="TextBox 531">
            <a:extLst>
              <a:ext uri="{FF2B5EF4-FFF2-40B4-BE49-F238E27FC236}">
                <a16:creationId xmlns:a16="http://schemas.microsoft.com/office/drawing/2014/main" id="{1F80FEB4-CD2A-287C-8150-B947C0779663}"/>
              </a:ext>
            </a:extLst>
          </p:cNvPr>
          <p:cNvSpPr txBox="1"/>
          <p:nvPr/>
        </p:nvSpPr>
        <p:spPr>
          <a:xfrm>
            <a:off x="4069252" y="3944287"/>
            <a:ext cx="1230403" cy="241421"/>
          </a:xfrm>
          <a:prstGeom prst="rect">
            <a:avLst/>
          </a:prstGeom>
          <a:solidFill>
            <a:srgbClr val="1F96FF"/>
          </a:solidFill>
        </p:spPr>
        <p:txBody>
          <a:bodyPr wrap="square" lIns="0" tIns="0" rIns="0" bIns="0" anchor="ctr">
            <a:noAutofit/>
          </a:bodyPr>
          <a:lstStyle/>
          <a:p>
            <a:pPr marL="0" marR="0" lvl="0" indent="0" algn="ctr" defTabSz="457200" rtl="0" eaLnBrk="1" fontAlgn="auto" latinLnBrk="0" hangingPunct="1">
              <a:lnSpc>
                <a:spcPct val="100000"/>
              </a:lnSpc>
              <a:spcBef>
                <a:spcPts val="0"/>
              </a:spcBef>
              <a:buClrTx/>
              <a:buSzTx/>
              <a:buFontTx/>
              <a:buNone/>
              <a:tabLst/>
              <a:defRPr/>
            </a:pPr>
            <a:r>
              <a:rPr kumimoji="0" lang="en-US" sz="900" b="1" i="0" u="none" strike="noStrike" kern="1200" cap="none" spc="0" normalizeH="0" baseline="0" noProof="0">
                <a:ln>
                  <a:noFill/>
                </a:ln>
                <a:solidFill>
                  <a:schemeClr val="bg1"/>
                </a:solidFill>
                <a:effectLst/>
                <a:uLnTx/>
                <a:uFillTx/>
                <a:ea typeface="+mn-ea"/>
                <a:cs typeface="+mn-cs"/>
              </a:rPr>
              <a:t>Identify delivery route </a:t>
            </a:r>
          </a:p>
        </p:txBody>
      </p:sp>
      <p:grpSp>
        <p:nvGrpSpPr>
          <p:cNvPr id="18" name="Group 17">
            <a:extLst>
              <a:ext uri="{FF2B5EF4-FFF2-40B4-BE49-F238E27FC236}">
                <a16:creationId xmlns:a16="http://schemas.microsoft.com/office/drawing/2014/main" id="{52E361F0-7BF7-C7AE-9C80-E00AA0702C8C}"/>
              </a:ext>
            </a:extLst>
          </p:cNvPr>
          <p:cNvGrpSpPr/>
          <p:nvPr/>
        </p:nvGrpSpPr>
        <p:grpSpPr>
          <a:xfrm rot="10800000">
            <a:off x="9179252" y="1049908"/>
            <a:ext cx="257687" cy="5461009"/>
            <a:chOff x="11474450" y="1382388"/>
            <a:chExt cx="257687" cy="553968"/>
          </a:xfrm>
        </p:grpSpPr>
        <p:cxnSp>
          <p:nvCxnSpPr>
            <p:cNvPr id="2" name="Straight Connector 1">
              <a:extLst>
                <a:ext uri="{FF2B5EF4-FFF2-40B4-BE49-F238E27FC236}">
                  <a16:creationId xmlns:a16="http://schemas.microsoft.com/office/drawing/2014/main" id="{5A654C01-47B3-B18A-10AB-03B8D1ED30E4}"/>
                </a:ext>
              </a:extLst>
            </p:cNvPr>
            <p:cNvCxnSpPr/>
            <p:nvPr/>
          </p:nvCxnSpPr>
          <p:spPr>
            <a:xfrm>
              <a:off x="11732137" y="1382388"/>
              <a:ext cx="0" cy="553968"/>
            </a:xfrm>
            <a:prstGeom prst="line">
              <a:avLst/>
            </a:prstGeom>
            <a:noFill/>
            <a:ln w="25400" cap="flat" cmpd="sng">
              <a:solidFill>
                <a:srgbClr val="1F96FF"/>
              </a:solidFill>
              <a:prstDash val="solid"/>
              <a:round/>
              <a:headEnd type="none" w="lg" len="med"/>
              <a:tailEnd type="none" w="lg" len="med"/>
            </a:ln>
          </p:spPr>
        </p:cxnSp>
        <p:cxnSp>
          <p:nvCxnSpPr>
            <p:cNvPr id="5" name="Straight Connector 4">
              <a:extLst>
                <a:ext uri="{FF2B5EF4-FFF2-40B4-BE49-F238E27FC236}">
                  <a16:creationId xmlns:a16="http://schemas.microsoft.com/office/drawing/2014/main" id="{F8486BF8-0CB6-2DFD-651A-11738E30666B}"/>
                </a:ext>
              </a:extLst>
            </p:cNvPr>
            <p:cNvCxnSpPr/>
            <p:nvPr/>
          </p:nvCxnSpPr>
          <p:spPr>
            <a:xfrm flipH="1">
              <a:off x="11474450" y="1656871"/>
              <a:ext cx="257302" cy="0"/>
            </a:xfrm>
            <a:prstGeom prst="line">
              <a:avLst/>
            </a:prstGeom>
            <a:noFill/>
            <a:ln w="25400" cap="flat" cmpd="sng">
              <a:solidFill>
                <a:srgbClr val="1F96FF"/>
              </a:solidFill>
              <a:prstDash val="solid"/>
              <a:round/>
              <a:headEnd type="none" w="lg" len="med"/>
              <a:tailEnd type="none" w="lg" len="med"/>
            </a:ln>
          </p:spPr>
        </p:cxnSp>
      </p:grpSp>
      <p:sp>
        <p:nvSpPr>
          <p:cNvPr id="20" name="TextBox 3">
            <a:extLst>
              <a:ext uri="{FF2B5EF4-FFF2-40B4-BE49-F238E27FC236}">
                <a16:creationId xmlns:a16="http://schemas.microsoft.com/office/drawing/2014/main" id="{E0560D6D-6CBF-355E-3353-58D80E508244}"/>
              </a:ext>
            </a:extLst>
          </p:cNvPr>
          <p:cNvSpPr txBox="1"/>
          <p:nvPr/>
        </p:nvSpPr>
        <p:spPr>
          <a:xfrm>
            <a:off x="9373775" y="857549"/>
            <a:ext cx="2448769" cy="815608"/>
          </a:xfrm>
          <a:prstGeom prst="rect">
            <a:avLst/>
          </a:prstGeom>
          <a:solidFill>
            <a:srgbClr val="E0F1FF"/>
          </a:solidFill>
        </p:spPr>
        <p:txBody>
          <a:bodyPr wrap="square" lIns="91440" tIns="91440" rIns="91440" bIns="91440" anchor="t"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77">
              <a:spcBef>
                <a:spcPts val="600"/>
              </a:spcBef>
              <a:buClr>
                <a:srgbClr val="000000"/>
              </a:buClr>
            </a:pPr>
            <a:r>
              <a:rPr lang="en-US" sz="1200" b="1" dirty="0">
                <a:solidFill>
                  <a:srgbClr val="000000"/>
                </a:solidFill>
              </a:rPr>
              <a:t>Example cascade </a:t>
            </a:r>
          </a:p>
          <a:p>
            <a:pPr defTabSz="914377">
              <a:spcBef>
                <a:spcPts val="600"/>
              </a:spcBef>
              <a:buClr>
                <a:srgbClr val="000000"/>
              </a:buClr>
            </a:pPr>
            <a:r>
              <a:rPr lang="en-US" sz="1200" b="1" dirty="0">
                <a:solidFill>
                  <a:srgbClr val="000000"/>
                </a:solidFill>
              </a:rPr>
              <a:t>From: </a:t>
            </a:r>
            <a:r>
              <a:rPr lang="en-US" sz="1200" dirty="0">
                <a:solidFill>
                  <a:srgbClr val="000000"/>
                </a:solidFill>
              </a:rPr>
              <a:t>Aligning on design goals and key value streams </a:t>
            </a:r>
          </a:p>
        </p:txBody>
      </p:sp>
      <p:sp>
        <p:nvSpPr>
          <p:cNvPr id="456" name="TextBox 452">
            <a:extLst>
              <a:ext uri="{FF2B5EF4-FFF2-40B4-BE49-F238E27FC236}">
                <a16:creationId xmlns:a16="http://schemas.microsoft.com/office/drawing/2014/main" id="{2CDE5C5F-8214-D35E-12AF-890751B226D0}"/>
              </a:ext>
            </a:extLst>
          </p:cNvPr>
          <p:cNvSpPr txBox="1"/>
          <p:nvPr/>
        </p:nvSpPr>
        <p:spPr>
          <a:xfrm>
            <a:off x="940653" y="882600"/>
            <a:ext cx="2150644" cy="369332"/>
          </a:xfrm>
          <a:prstGeom prst="rect">
            <a:avLst/>
          </a:prstGeom>
          <a:solidFill>
            <a:srgbClr val="E0F1FF"/>
          </a:solidFill>
        </p:spPr>
        <p:txBody>
          <a:bodyPr wrap="square" tIns="0" rIns="0" bIns="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77">
              <a:spcBef>
                <a:spcPts val="600"/>
              </a:spcBef>
              <a:buClr>
                <a:srgbClr val="000000"/>
              </a:buClr>
            </a:pPr>
            <a:r>
              <a:rPr lang="en-US" sz="1200" u="sng" dirty="0">
                <a:solidFill>
                  <a:srgbClr val="000000"/>
                </a:solidFill>
              </a:rPr>
              <a:t>Example Value Stream E-Commerce organization</a:t>
            </a:r>
          </a:p>
        </p:txBody>
      </p:sp>
      <p:sp>
        <p:nvSpPr>
          <p:cNvPr id="457" name="TextBox 3">
            <a:extLst>
              <a:ext uri="{FF2B5EF4-FFF2-40B4-BE49-F238E27FC236}">
                <a16:creationId xmlns:a16="http://schemas.microsoft.com/office/drawing/2014/main" id="{F933206A-CEEE-4FF7-DCF4-89ADA1C64D1B}"/>
              </a:ext>
            </a:extLst>
          </p:cNvPr>
          <p:cNvSpPr txBox="1"/>
          <p:nvPr/>
        </p:nvSpPr>
        <p:spPr>
          <a:xfrm>
            <a:off x="9348347" y="5540744"/>
            <a:ext cx="2608538" cy="553998"/>
          </a:xfrm>
          <a:prstGeom prst="rect">
            <a:avLst/>
          </a:prstGeom>
          <a:solidFill>
            <a:srgbClr val="E0F1FF"/>
          </a:solidFill>
        </p:spPr>
        <p:txBody>
          <a:bodyPr wrap="square" lIns="91440" tIns="91440" rIns="91440" bIns="91440" anchor="t"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77">
              <a:spcBef>
                <a:spcPts val="600"/>
              </a:spcBef>
              <a:buClr>
                <a:srgbClr val="000000"/>
              </a:buClr>
            </a:pPr>
            <a:r>
              <a:rPr lang="en-US" sz="1200" b="1">
                <a:solidFill>
                  <a:srgbClr val="000000"/>
                </a:solidFill>
              </a:rPr>
              <a:t>To: </a:t>
            </a:r>
            <a:r>
              <a:rPr lang="en-US" sz="1200">
                <a:solidFill>
                  <a:srgbClr val="000000"/>
                </a:solidFill>
              </a:rPr>
              <a:t>Redesigning processes, jobs and addressing talent implications </a:t>
            </a:r>
          </a:p>
        </p:txBody>
      </p:sp>
      <p:grpSp>
        <p:nvGrpSpPr>
          <p:cNvPr id="504" name="Group 503">
            <a:extLst>
              <a:ext uri="{FF2B5EF4-FFF2-40B4-BE49-F238E27FC236}">
                <a16:creationId xmlns:a16="http://schemas.microsoft.com/office/drawing/2014/main" id="{BD91FF82-E0D2-7D8E-8A48-B26E54E7CDB1}"/>
              </a:ext>
            </a:extLst>
          </p:cNvPr>
          <p:cNvGrpSpPr/>
          <p:nvPr/>
        </p:nvGrpSpPr>
        <p:grpSpPr>
          <a:xfrm>
            <a:off x="5292689" y="3598854"/>
            <a:ext cx="2286000" cy="890050"/>
            <a:chOff x="1638" y="5077157"/>
            <a:chExt cx="2286000" cy="890050"/>
          </a:xfrm>
        </p:grpSpPr>
        <p:sp>
          <p:nvSpPr>
            <p:cNvPr id="503" name="Freeform 23">
              <a:extLst>
                <a:ext uri="{FF2B5EF4-FFF2-40B4-BE49-F238E27FC236}">
                  <a16:creationId xmlns:a16="http://schemas.microsoft.com/office/drawing/2014/main" id="{93130BEE-A740-135A-00A4-DCE2D5441767}"/>
                </a:ext>
              </a:extLst>
            </p:cNvPr>
            <p:cNvSpPr/>
            <p:nvPr/>
          </p:nvSpPr>
          <p:spPr>
            <a:xfrm>
              <a:off x="1638" y="5077157"/>
              <a:ext cx="2286000" cy="890050"/>
            </a:xfrm>
            <a:custGeom>
              <a:avLst/>
              <a:gdLst/>
              <a:ahLst/>
              <a:cxnLst/>
              <a:rect l="l" t="t" r="r" b="b"/>
              <a:pathLst>
                <a:path w="4222750" h="1739900">
                  <a:moveTo>
                    <a:pt x="0" y="1739900"/>
                  </a:moveTo>
                  <a:lnTo>
                    <a:pt x="4222750" y="1739900"/>
                  </a:lnTo>
                  <a:lnTo>
                    <a:pt x="42227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ea typeface="+mn-ea"/>
                <a:cs typeface="+mn-cs"/>
              </a:endParaRPr>
            </a:p>
          </p:txBody>
        </p:sp>
        <p:grpSp>
          <p:nvGrpSpPr>
            <p:cNvPr id="453" name="Group 452">
              <a:extLst>
                <a:ext uri="{FF2B5EF4-FFF2-40B4-BE49-F238E27FC236}">
                  <a16:creationId xmlns:a16="http://schemas.microsoft.com/office/drawing/2014/main" id="{613AE350-CA2B-6DA6-FB1A-688BB937BF07}"/>
                </a:ext>
              </a:extLst>
            </p:cNvPr>
            <p:cNvGrpSpPr>
              <a:grpSpLocks noChangeAspect="1"/>
            </p:cNvGrpSpPr>
            <p:nvPr/>
          </p:nvGrpSpPr>
          <p:grpSpPr>
            <a:xfrm>
              <a:off x="84543" y="5156422"/>
              <a:ext cx="2120190" cy="731520"/>
              <a:chOff x="4890941" y="3853325"/>
              <a:chExt cx="3257348" cy="1123869"/>
            </a:xfrm>
          </p:grpSpPr>
          <p:sp>
            <p:nvSpPr>
              <p:cNvPr id="470" name="Freeform 24">
                <a:extLst>
                  <a:ext uri="{FF2B5EF4-FFF2-40B4-BE49-F238E27FC236}">
                    <a16:creationId xmlns:a16="http://schemas.microsoft.com/office/drawing/2014/main" id="{BFDAF7E1-776F-68C1-C0B0-2B47F43C8D23}"/>
                  </a:ext>
                </a:extLst>
              </p:cNvPr>
              <p:cNvSpPr/>
              <p:nvPr/>
            </p:nvSpPr>
            <p:spPr>
              <a:xfrm>
                <a:off x="4890941" y="3853325"/>
                <a:ext cx="3257348" cy="1123869"/>
              </a:xfrm>
              <a:custGeom>
                <a:avLst/>
                <a:gdLst/>
                <a:ahLst/>
                <a:cxnLst/>
                <a:rect l="l" t="t" r="r" b="b"/>
                <a:pathLst>
                  <a:path w="3956050" h="1473200">
                    <a:moveTo>
                      <a:pt x="0" y="0"/>
                    </a:moveTo>
                    <a:lnTo>
                      <a:pt x="3956050" y="0"/>
                    </a:lnTo>
                    <a:lnTo>
                      <a:pt x="3956050" y="1473200"/>
                    </a:lnTo>
                    <a:lnTo>
                      <a:pt x="0" y="1473200"/>
                    </a:lnTo>
                    <a:close/>
                    <a:moveTo>
                      <a:pt x="3956050" y="508000"/>
                    </a:moveTo>
                    <a:lnTo>
                      <a:pt x="0" y="508000"/>
                    </a:lnTo>
                    <a:moveTo>
                      <a:pt x="3956050" y="1003300"/>
                    </a:moveTo>
                    <a:lnTo>
                      <a:pt x="0" y="1003300"/>
                    </a:lnTo>
                  </a:path>
                </a:pathLst>
              </a:custGeom>
              <a:solidFill>
                <a:srgbClr val="FFF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cxnSp>
            <p:nvCxnSpPr>
              <p:cNvPr id="471" name="Connector 42">
                <a:extLst>
                  <a:ext uri="{FF2B5EF4-FFF2-40B4-BE49-F238E27FC236}">
                    <a16:creationId xmlns:a16="http://schemas.microsoft.com/office/drawing/2014/main" id="{26BEC2C2-ED2B-F3E4-FFEE-8D96A1205B6C}"/>
                  </a:ext>
                </a:extLst>
              </p:cNvPr>
              <p:cNvCxnSpPr>
                <a:cxnSpLocks/>
              </p:cNvCxnSpPr>
              <p:nvPr/>
            </p:nvCxnSpPr>
            <p:spPr>
              <a:xfrm>
                <a:off x="5541204" y="4295059"/>
                <a:ext cx="113443" cy="0"/>
              </a:xfrm>
              <a:prstGeom prst="line">
                <a:avLst/>
              </a:prstGeom>
              <a:noFill/>
              <a:ln w="25400" cap="sq">
                <a:solidFill>
                  <a:srgbClr val="5A798C"/>
                </a:solidFill>
              </a:ln>
            </p:spPr>
          </p:cxnSp>
          <p:sp>
            <p:nvSpPr>
              <p:cNvPr id="473" name="Freeform 43">
                <a:extLst>
                  <a:ext uri="{FF2B5EF4-FFF2-40B4-BE49-F238E27FC236}">
                    <a16:creationId xmlns:a16="http://schemas.microsoft.com/office/drawing/2014/main" id="{7252BAF0-B220-5485-16F3-C39099631BA7}"/>
                  </a:ext>
                </a:extLst>
              </p:cNvPr>
              <p:cNvSpPr/>
              <p:nvPr/>
            </p:nvSpPr>
            <p:spPr>
              <a:xfrm>
                <a:off x="5647373" y="4221907"/>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cxnSp>
            <p:nvCxnSpPr>
              <p:cNvPr id="474" name="Connector 44">
                <a:extLst>
                  <a:ext uri="{FF2B5EF4-FFF2-40B4-BE49-F238E27FC236}">
                    <a16:creationId xmlns:a16="http://schemas.microsoft.com/office/drawing/2014/main" id="{259F2E38-05EF-530F-6A2C-D69A934E45D5}"/>
                  </a:ext>
                </a:extLst>
              </p:cNvPr>
              <p:cNvCxnSpPr>
                <a:cxnSpLocks/>
              </p:cNvCxnSpPr>
              <p:nvPr/>
            </p:nvCxnSpPr>
            <p:spPr>
              <a:xfrm>
                <a:off x="4967894" y="4295059"/>
                <a:ext cx="74411" cy="0"/>
              </a:xfrm>
              <a:prstGeom prst="line">
                <a:avLst/>
              </a:prstGeom>
              <a:noFill/>
              <a:ln w="25400" cap="sq">
                <a:solidFill>
                  <a:srgbClr val="5A798C"/>
                </a:solidFill>
              </a:ln>
            </p:spPr>
          </p:cxnSp>
          <p:sp>
            <p:nvSpPr>
              <p:cNvPr id="475" name="Freeform 45">
                <a:extLst>
                  <a:ext uri="{FF2B5EF4-FFF2-40B4-BE49-F238E27FC236}">
                    <a16:creationId xmlns:a16="http://schemas.microsoft.com/office/drawing/2014/main" id="{59DB66AC-E518-8710-F0B4-E0C1E4CBFD26}"/>
                  </a:ext>
                </a:extLst>
              </p:cNvPr>
              <p:cNvSpPr/>
              <p:nvPr/>
            </p:nvSpPr>
            <p:spPr>
              <a:xfrm>
                <a:off x="5035029" y="4221907"/>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76" name="Freeform 47">
                <a:extLst>
                  <a:ext uri="{FF2B5EF4-FFF2-40B4-BE49-F238E27FC236}">
                    <a16:creationId xmlns:a16="http://schemas.microsoft.com/office/drawing/2014/main" id="{DDDFCE9C-8BA0-F7C5-9428-6FEBBF907763}"/>
                  </a:ext>
                </a:extLst>
              </p:cNvPr>
              <p:cNvSpPr/>
              <p:nvPr/>
            </p:nvSpPr>
            <p:spPr>
              <a:xfrm>
                <a:off x="6498281" y="4628944"/>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cxnSp>
            <p:nvCxnSpPr>
              <p:cNvPr id="477" name="Connector 48">
                <a:extLst>
                  <a:ext uri="{FF2B5EF4-FFF2-40B4-BE49-F238E27FC236}">
                    <a16:creationId xmlns:a16="http://schemas.microsoft.com/office/drawing/2014/main" id="{AA50788F-EE3A-573E-2AE7-32BE912B21EA}"/>
                  </a:ext>
                </a:extLst>
              </p:cNvPr>
              <p:cNvCxnSpPr>
                <a:cxnSpLocks/>
              </p:cNvCxnSpPr>
              <p:nvPr/>
            </p:nvCxnSpPr>
            <p:spPr>
              <a:xfrm>
                <a:off x="6134498" y="4295059"/>
                <a:ext cx="113443" cy="0"/>
              </a:xfrm>
              <a:prstGeom prst="line">
                <a:avLst/>
              </a:prstGeom>
              <a:noFill/>
              <a:ln w="25400" cap="sq">
                <a:solidFill>
                  <a:srgbClr val="5A798C"/>
                </a:solidFill>
              </a:ln>
            </p:spPr>
          </p:cxnSp>
          <p:sp>
            <p:nvSpPr>
              <p:cNvPr id="478" name="Freeform 49">
                <a:extLst>
                  <a:ext uri="{FF2B5EF4-FFF2-40B4-BE49-F238E27FC236}">
                    <a16:creationId xmlns:a16="http://schemas.microsoft.com/office/drawing/2014/main" id="{65807720-1675-A495-A417-D8A1A91CA227}"/>
                  </a:ext>
                </a:extLst>
              </p:cNvPr>
              <p:cNvSpPr/>
              <p:nvPr/>
            </p:nvSpPr>
            <p:spPr>
              <a:xfrm>
                <a:off x="6240666" y="4221907"/>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79" name="Freeform 51">
                <a:extLst>
                  <a:ext uri="{FF2B5EF4-FFF2-40B4-BE49-F238E27FC236}">
                    <a16:creationId xmlns:a16="http://schemas.microsoft.com/office/drawing/2014/main" id="{394059DC-5904-E056-4BD8-1E7F6DB9C0E4}"/>
                  </a:ext>
                </a:extLst>
              </p:cNvPr>
              <p:cNvSpPr/>
              <p:nvPr/>
            </p:nvSpPr>
            <p:spPr>
              <a:xfrm>
                <a:off x="7075961" y="4628944"/>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cxnSp>
            <p:nvCxnSpPr>
              <p:cNvPr id="480" name="Connector 54">
                <a:extLst>
                  <a:ext uri="{FF2B5EF4-FFF2-40B4-BE49-F238E27FC236}">
                    <a16:creationId xmlns:a16="http://schemas.microsoft.com/office/drawing/2014/main" id="{1CF67794-2C86-F3B6-03E2-9E0353D0A18D}"/>
                  </a:ext>
                </a:extLst>
              </p:cNvPr>
              <p:cNvCxnSpPr>
                <a:cxnSpLocks/>
              </p:cNvCxnSpPr>
              <p:nvPr/>
            </p:nvCxnSpPr>
            <p:spPr>
              <a:xfrm>
                <a:off x="7570893" y="4702096"/>
                <a:ext cx="113443" cy="0"/>
              </a:xfrm>
              <a:prstGeom prst="line">
                <a:avLst/>
              </a:prstGeom>
              <a:noFill/>
              <a:ln w="25400" cap="sq">
                <a:solidFill>
                  <a:srgbClr val="5A798C"/>
                </a:solidFill>
              </a:ln>
            </p:spPr>
          </p:cxnSp>
          <p:sp>
            <p:nvSpPr>
              <p:cNvPr id="481" name="Freeform 55">
                <a:extLst>
                  <a:ext uri="{FF2B5EF4-FFF2-40B4-BE49-F238E27FC236}">
                    <a16:creationId xmlns:a16="http://schemas.microsoft.com/office/drawing/2014/main" id="{E639F054-A361-2C7F-6788-F2BBE74BB64C}"/>
                  </a:ext>
                </a:extLst>
              </p:cNvPr>
              <p:cNvSpPr/>
              <p:nvPr/>
            </p:nvSpPr>
            <p:spPr>
              <a:xfrm>
                <a:off x="7677062" y="4628944"/>
                <a:ext cx="82296" cy="146304"/>
              </a:xfrm>
              <a:custGeom>
                <a:avLst/>
                <a:gdLst/>
                <a:ahLst/>
                <a:cxnLst/>
                <a:rect l="l" t="t" r="r" b="b"/>
                <a:pathLst>
                  <a:path w="53340" h="99174">
                    <a:moveTo>
                      <a:pt x="53340" y="49593"/>
                    </a:moveTo>
                    <a:lnTo>
                      <a:pt x="0" y="0"/>
                    </a:lnTo>
                    <a:lnTo>
                      <a:pt x="0" y="99174"/>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82" name="Freeform 66">
                <a:extLst>
                  <a:ext uri="{FF2B5EF4-FFF2-40B4-BE49-F238E27FC236}">
                    <a16:creationId xmlns:a16="http://schemas.microsoft.com/office/drawing/2014/main" id="{FC7B76DE-86D4-7B25-71D3-4B6CC867B9F1}"/>
                  </a:ext>
                </a:extLst>
              </p:cNvPr>
              <p:cNvSpPr/>
              <p:nvPr/>
            </p:nvSpPr>
            <p:spPr>
              <a:xfrm>
                <a:off x="7758250" y="4555793"/>
                <a:ext cx="292608" cy="292607"/>
              </a:xfrm>
              <a:custGeom>
                <a:avLst/>
                <a:gdLst/>
                <a:ahLst/>
                <a:cxnLst/>
                <a:rect l="l" t="t" r="r" b="b"/>
                <a:pathLst>
                  <a:path w="158750" h="152400">
                    <a:moveTo>
                      <a:pt x="79375" y="152400"/>
                    </a:moveTo>
                    <a:cubicBezTo>
                      <a:pt x="123216" y="152400"/>
                      <a:pt x="158750" y="118276"/>
                      <a:pt x="158750" y="76200"/>
                    </a:cubicBezTo>
                    <a:cubicBezTo>
                      <a:pt x="158750" y="34112"/>
                      <a:pt x="123216" y="0"/>
                      <a:pt x="79375" y="0"/>
                    </a:cubicBezTo>
                    <a:cubicBezTo>
                      <a:pt x="35534" y="0"/>
                      <a:pt x="0" y="34112"/>
                      <a:pt x="0" y="76200"/>
                    </a:cubicBezTo>
                    <a:cubicBezTo>
                      <a:pt x="0" y="118276"/>
                      <a:pt x="35534" y="152400"/>
                      <a:pt x="79375" y="152400"/>
                    </a:cubicBezTo>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83" name="Freeform 70">
                <a:extLst>
                  <a:ext uri="{FF2B5EF4-FFF2-40B4-BE49-F238E27FC236}">
                    <a16:creationId xmlns:a16="http://schemas.microsoft.com/office/drawing/2014/main" id="{5F18AE7C-4716-5DF8-25E5-BADEED43634D}"/>
                  </a:ext>
                </a:extLst>
              </p:cNvPr>
              <p:cNvSpPr/>
              <p:nvPr/>
            </p:nvSpPr>
            <p:spPr>
              <a:xfrm>
                <a:off x="5837851" y="4455645"/>
                <a:ext cx="97831" cy="246713"/>
              </a:xfrm>
              <a:custGeom>
                <a:avLst/>
                <a:gdLst/>
                <a:ahLst/>
                <a:cxnLst/>
                <a:rect l="l" t="t" r="r" b="b"/>
                <a:pathLst>
                  <a:path w="79578" h="127000">
                    <a:moveTo>
                      <a:pt x="0" y="0"/>
                    </a:moveTo>
                    <a:lnTo>
                      <a:pt x="0" y="127000"/>
                    </a:lnTo>
                    <a:lnTo>
                      <a:pt x="79578" y="127000"/>
                    </a:lnTo>
                  </a:path>
                </a:pathLst>
              </a:custGeom>
              <a:noFill/>
              <a:ln w="254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84" name="Freeform 71">
                <a:extLst>
                  <a:ext uri="{FF2B5EF4-FFF2-40B4-BE49-F238E27FC236}">
                    <a16:creationId xmlns:a16="http://schemas.microsoft.com/office/drawing/2014/main" id="{F2B1D35D-DEF8-E042-3DC4-A0FAC9BEFA27}"/>
                  </a:ext>
                </a:extLst>
              </p:cNvPr>
              <p:cNvSpPr/>
              <p:nvPr/>
            </p:nvSpPr>
            <p:spPr>
              <a:xfrm>
                <a:off x="5928406" y="4628944"/>
                <a:ext cx="82296" cy="146304"/>
              </a:xfrm>
              <a:custGeom>
                <a:avLst/>
                <a:gdLst/>
                <a:ahLst/>
                <a:cxnLst/>
                <a:rect l="l" t="t" r="r" b="b"/>
                <a:pathLst>
                  <a:path w="53340" h="99187">
                    <a:moveTo>
                      <a:pt x="53340" y="49593"/>
                    </a:moveTo>
                    <a:lnTo>
                      <a:pt x="0" y="0"/>
                    </a:lnTo>
                    <a:lnTo>
                      <a:pt x="0" y="99187"/>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85" name="Freeform 72">
                <a:extLst>
                  <a:ext uri="{FF2B5EF4-FFF2-40B4-BE49-F238E27FC236}">
                    <a16:creationId xmlns:a16="http://schemas.microsoft.com/office/drawing/2014/main" id="{AEACC64D-B506-499B-39D5-FAAA4015E201}"/>
                  </a:ext>
                </a:extLst>
              </p:cNvPr>
              <p:cNvSpPr/>
              <p:nvPr/>
            </p:nvSpPr>
            <p:spPr>
              <a:xfrm>
                <a:off x="6735598" y="4295100"/>
                <a:ext cx="156130" cy="136087"/>
              </a:xfrm>
              <a:custGeom>
                <a:avLst/>
                <a:gdLst/>
                <a:ahLst/>
                <a:cxnLst/>
                <a:rect l="l" t="t" r="r" b="b"/>
                <a:pathLst>
                  <a:path w="127000" h="70053">
                    <a:moveTo>
                      <a:pt x="0" y="0"/>
                    </a:moveTo>
                    <a:lnTo>
                      <a:pt x="127000" y="0"/>
                    </a:lnTo>
                    <a:lnTo>
                      <a:pt x="127000" y="70054"/>
                    </a:lnTo>
                  </a:path>
                </a:pathLst>
              </a:custGeom>
              <a:noFill/>
              <a:ln w="25400" cap="sq">
                <a:solidFill>
                  <a:srgbClr val="5A798C"/>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86" name="Freeform 73">
                <a:extLst>
                  <a:ext uri="{FF2B5EF4-FFF2-40B4-BE49-F238E27FC236}">
                    <a16:creationId xmlns:a16="http://schemas.microsoft.com/office/drawing/2014/main" id="{174F204B-51C4-1810-2F4E-CE604DBE27CD}"/>
                  </a:ext>
                </a:extLst>
              </p:cNvPr>
              <p:cNvSpPr/>
              <p:nvPr/>
            </p:nvSpPr>
            <p:spPr>
              <a:xfrm>
                <a:off x="6818057" y="4419690"/>
                <a:ext cx="146304" cy="82296"/>
              </a:xfrm>
              <a:custGeom>
                <a:avLst/>
                <a:gdLst/>
                <a:ahLst/>
                <a:cxnLst/>
                <a:rect l="l" t="t" r="r" b="b"/>
                <a:pathLst>
                  <a:path w="99187" h="53340">
                    <a:moveTo>
                      <a:pt x="49594" y="53340"/>
                    </a:moveTo>
                    <a:lnTo>
                      <a:pt x="99187"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0" name="Freeform 75">
                <a:extLst>
                  <a:ext uri="{FF2B5EF4-FFF2-40B4-BE49-F238E27FC236}">
                    <a16:creationId xmlns:a16="http://schemas.microsoft.com/office/drawing/2014/main" id="{7E909522-0557-4678-7C6B-720675A9E4E3}"/>
                  </a:ext>
                </a:extLst>
              </p:cNvPr>
              <p:cNvSpPr/>
              <p:nvPr/>
            </p:nvSpPr>
            <p:spPr>
              <a:xfrm>
                <a:off x="5728560" y="4140864"/>
                <a:ext cx="413744" cy="308390"/>
              </a:xfrm>
              <a:custGeom>
                <a:avLst/>
                <a:gdLst/>
                <a:ahLst/>
                <a:cxnLst/>
                <a:rect l="l" t="t" r="r" b="b"/>
                <a:pathLst>
                  <a:path w="336550" h="158750">
                    <a:moveTo>
                      <a:pt x="0" y="158750"/>
                    </a:moveTo>
                    <a:lnTo>
                      <a:pt x="336550" y="158750"/>
                    </a:lnTo>
                    <a:lnTo>
                      <a:pt x="336550" y="0"/>
                    </a:lnTo>
                    <a:lnTo>
                      <a:pt x="0" y="0"/>
                    </a:lnTo>
                    <a:close/>
                  </a:path>
                </a:pathLst>
              </a:custGeom>
              <a:solidFill>
                <a:srgbClr val="0057A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1" name="Google Shape;1443;p19">
                <a:extLst>
                  <a:ext uri="{FF2B5EF4-FFF2-40B4-BE49-F238E27FC236}">
                    <a16:creationId xmlns:a16="http://schemas.microsoft.com/office/drawing/2014/main" id="{18B185B0-FC98-3148-9FBD-8EE2016D1DF2}"/>
                  </a:ext>
                </a:extLst>
              </p:cNvPr>
              <p:cNvSpPr/>
              <p:nvPr/>
            </p:nvSpPr>
            <p:spPr>
              <a:xfrm rot="10800000">
                <a:off x="5577081" y="4066561"/>
                <a:ext cx="99903" cy="106573"/>
              </a:xfrm>
              <a:prstGeom prst="rect">
                <a:avLst/>
              </a:prstGeom>
              <a:noFill/>
              <a:ln w="28575" cap="flat" cmpd="sng">
                <a:solidFill>
                  <a:srgbClr val="4C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Gartner Sans" panose="020B0504030402040204" pitchFamily="34" charset="0"/>
                  <a:ea typeface="Arial"/>
                  <a:cs typeface="Arial"/>
                  <a:sym typeface="Arial"/>
                </a:endParaRPr>
              </a:p>
            </p:txBody>
          </p:sp>
          <p:sp>
            <p:nvSpPr>
              <p:cNvPr id="492" name="Google Shape;1443;p19">
                <a:extLst>
                  <a:ext uri="{FF2B5EF4-FFF2-40B4-BE49-F238E27FC236}">
                    <a16:creationId xmlns:a16="http://schemas.microsoft.com/office/drawing/2014/main" id="{F98B5AD4-015D-743A-F4BD-7BD8DB06451B}"/>
                  </a:ext>
                </a:extLst>
              </p:cNvPr>
              <p:cNvSpPr/>
              <p:nvPr/>
            </p:nvSpPr>
            <p:spPr>
              <a:xfrm rot="10800000">
                <a:off x="6205552" y="4080220"/>
                <a:ext cx="99903" cy="106573"/>
              </a:xfrm>
              <a:prstGeom prst="rect">
                <a:avLst/>
              </a:prstGeom>
              <a:noFill/>
              <a:ln w="28575" cap="flat" cmpd="sng">
                <a:solidFill>
                  <a:srgbClr val="4C8CD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Gartner Sans" panose="020B0504030402040204" pitchFamily="34" charset="0"/>
                  <a:ea typeface="Arial"/>
                  <a:cs typeface="Arial"/>
                  <a:sym typeface="Arial"/>
                </a:endParaRPr>
              </a:p>
            </p:txBody>
          </p:sp>
          <p:cxnSp>
            <p:nvCxnSpPr>
              <p:cNvPr id="493" name="Connector 54">
                <a:extLst>
                  <a:ext uri="{FF2B5EF4-FFF2-40B4-BE49-F238E27FC236}">
                    <a16:creationId xmlns:a16="http://schemas.microsoft.com/office/drawing/2014/main" id="{52A78CAA-0A3A-C7AE-4A35-20045603D440}"/>
                  </a:ext>
                </a:extLst>
              </p:cNvPr>
              <p:cNvCxnSpPr>
                <a:cxnSpLocks/>
              </p:cNvCxnSpPr>
              <p:nvPr/>
            </p:nvCxnSpPr>
            <p:spPr>
              <a:xfrm>
                <a:off x="6962519" y="4702096"/>
                <a:ext cx="113443" cy="0"/>
              </a:xfrm>
              <a:prstGeom prst="line">
                <a:avLst/>
              </a:prstGeom>
              <a:noFill/>
              <a:ln w="25400" cap="sq">
                <a:solidFill>
                  <a:srgbClr val="5A798C"/>
                </a:solidFill>
              </a:ln>
            </p:spPr>
          </p:cxnSp>
          <p:cxnSp>
            <p:nvCxnSpPr>
              <p:cNvPr id="494" name="Connector 54">
                <a:extLst>
                  <a:ext uri="{FF2B5EF4-FFF2-40B4-BE49-F238E27FC236}">
                    <a16:creationId xmlns:a16="http://schemas.microsoft.com/office/drawing/2014/main" id="{9E47B344-59FF-AD6F-1595-BECE3091067A}"/>
                  </a:ext>
                </a:extLst>
              </p:cNvPr>
              <p:cNvCxnSpPr>
                <a:cxnSpLocks/>
              </p:cNvCxnSpPr>
              <p:nvPr/>
            </p:nvCxnSpPr>
            <p:spPr>
              <a:xfrm>
                <a:off x="6402015" y="4702096"/>
                <a:ext cx="113443" cy="0"/>
              </a:xfrm>
              <a:prstGeom prst="line">
                <a:avLst/>
              </a:prstGeom>
              <a:noFill/>
              <a:ln w="25400" cap="sq">
                <a:solidFill>
                  <a:srgbClr val="5A798C"/>
                </a:solidFill>
              </a:ln>
            </p:spPr>
          </p:cxnSp>
          <p:sp>
            <p:nvSpPr>
              <p:cNvPr id="495" name="Freeform 33">
                <a:extLst>
                  <a:ext uri="{FF2B5EF4-FFF2-40B4-BE49-F238E27FC236}">
                    <a16:creationId xmlns:a16="http://schemas.microsoft.com/office/drawing/2014/main" id="{8E4D6820-7A7D-0085-82B5-3CA6AE8C35B6}"/>
                  </a:ext>
                </a:extLst>
              </p:cNvPr>
              <p:cNvSpPr/>
              <p:nvPr/>
            </p:nvSpPr>
            <p:spPr>
              <a:xfrm>
                <a:off x="5118638" y="4140824"/>
                <a:ext cx="446704" cy="308471"/>
              </a:xfrm>
              <a:custGeom>
                <a:avLst/>
                <a:gdLst/>
                <a:ahLst/>
                <a:cxnLst/>
                <a:rect l="l" t="t" r="r" b="b"/>
                <a:pathLst>
                  <a:path w="448729" h="211671">
                    <a:moveTo>
                      <a:pt x="0" y="211671"/>
                    </a:moveTo>
                    <a:lnTo>
                      <a:pt x="448729" y="211671"/>
                    </a:lnTo>
                    <a:lnTo>
                      <a:pt x="448729" y="0"/>
                    </a:lnTo>
                    <a:lnTo>
                      <a:pt x="0" y="0"/>
                    </a:lnTo>
                    <a:close/>
                  </a:path>
                </a:pathLst>
              </a:custGeom>
              <a:solidFill>
                <a:srgbClr val="5A798C"/>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6" name="Freeform 31">
                <a:extLst>
                  <a:ext uri="{FF2B5EF4-FFF2-40B4-BE49-F238E27FC236}">
                    <a16:creationId xmlns:a16="http://schemas.microsoft.com/office/drawing/2014/main" id="{C8722DB2-E6DE-198B-8A7A-28855CD38DF1}"/>
                  </a:ext>
                </a:extLst>
              </p:cNvPr>
              <p:cNvSpPr/>
              <p:nvPr/>
            </p:nvSpPr>
            <p:spPr>
              <a:xfrm>
                <a:off x="7157150" y="4554069"/>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7" name="Freeform 65">
                <a:extLst>
                  <a:ext uri="{FF2B5EF4-FFF2-40B4-BE49-F238E27FC236}">
                    <a16:creationId xmlns:a16="http://schemas.microsoft.com/office/drawing/2014/main" id="{882CCCC8-5A7C-A7A6-FCCD-3473E7F6E0C0}"/>
                  </a:ext>
                </a:extLst>
              </p:cNvPr>
              <p:cNvSpPr/>
              <p:nvPr/>
            </p:nvSpPr>
            <p:spPr>
              <a:xfrm>
                <a:off x="6009594" y="4554069"/>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8" name="Freeform 74">
                <a:extLst>
                  <a:ext uri="{FF2B5EF4-FFF2-40B4-BE49-F238E27FC236}">
                    <a16:creationId xmlns:a16="http://schemas.microsoft.com/office/drawing/2014/main" id="{0F9CDFDC-9215-F5D1-4A65-B2E8FFD2A9F1}"/>
                  </a:ext>
                </a:extLst>
              </p:cNvPr>
              <p:cNvSpPr/>
              <p:nvPr/>
            </p:nvSpPr>
            <p:spPr>
              <a:xfrm>
                <a:off x="6579468" y="4554069"/>
                <a:ext cx="413744" cy="296055"/>
              </a:xfrm>
              <a:custGeom>
                <a:avLst/>
                <a:gdLst/>
                <a:ahLst/>
                <a:cxnLst/>
                <a:rect l="l" t="t" r="r" b="b"/>
                <a:pathLst>
                  <a:path w="336550" h="152400">
                    <a:moveTo>
                      <a:pt x="0" y="152400"/>
                    </a:moveTo>
                    <a:lnTo>
                      <a:pt x="336550" y="152400"/>
                    </a:lnTo>
                    <a:lnTo>
                      <a:pt x="336550" y="0"/>
                    </a:lnTo>
                    <a:lnTo>
                      <a:pt x="0" y="0"/>
                    </a:lnTo>
                    <a:close/>
                  </a:path>
                </a:pathLst>
              </a:custGeom>
              <a:solidFill>
                <a:srgbClr val="B8DEFF"/>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499" name="Google Shape;1447;p19">
                <a:extLst>
                  <a:ext uri="{FF2B5EF4-FFF2-40B4-BE49-F238E27FC236}">
                    <a16:creationId xmlns:a16="http://schemas.microsoft.com/office/drawing/2014/main" id="{DD74250B-9A32-0CC8-C2A8-0649CD024FFA}"/>
                  </a:ext>
                </a:extLst>
              </p:cNvPr>
              <p:cNvSpPr/>
              <p:nvPr/>
            </p:nvSpPr>
            <p:spPr>
              <a:xfrm rot="10800000">
                <a:off x="5238614" y="4205986"/>
                <a:ext cx="99903" cy="106573"/>
              </a:xfrm>
              <a:prstGeom prst="rect">
                <a:avLst/>
              </a:prstGeom>
              <a:noFill/>
              <a:ln w="28575" cap="flat" cmpd="sng">
                <a:solidFill>
                  <a:srgbClr val="00286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Gartner Sans" panose="020B0504030402040204" pitchFamily="34" charset="0"/>
                  <a:ea typeface="Arial"/>
                  <a:cs typeface="Arial"/>
                  <a:sym typeface="Arial"/>
                </a:endParaRPr>
              </a:p>
            </p:txBody>
          </p:sp>
          <p:sp>
            <p:nvSpPr>
              <p:cNvPr id="500" name="Google Shape;1445;p19">
                <a:extLst>
                  <a:ext uri="{FF2B5EF4-FFF2-40B4-BE49-F238E27FC236}">
                    <a16:creationId xmlns:a16="http://schemas.microsoft.com/office/drawing/2014/main" id="{620310ED-F909-FF51-0784-C3C20AB3B5E9}"/>
                  </a:ext>
                </a:extLst>
              </p:cNvPr>
              <p:cNvSpPr/>
              <p:nvPr/>
            </p:nvSpPr>
            <p:spPr>
              <a:xfrm rot="10800000">
                <a:off x="7220639" y="4636575"/>
                <a:ext cx="99903" cy="106573"/>
              </a:xfrm>
              <a:prstGeom prst="rect">
                <a:avLst/>
              </a:prstGeom>
              <a:noFill/>
              <a:ln w="28575" cap="flat" cmpd="sng">
                <a:solidFill>
                  <a:srgbClr val="5A79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Gartner Sans" panose="020B0504030402040204" pitchFamily="34" charset="0"/>
                  <a:ea typeface="Arial"/>
                  <a:cs typeface="Arial"/>
                  <a:sym typeface="Arial"/>
                </a:endParaRPr>
              </a:p>
            </p:txBody>
          </p:sp>
          <p:sp>
            <p:nvSpPr>
              <p:cNvPr id="501" name="Freeform 30">
                <a:extLst>
                  <a:ext uri="{FF2B5EF4-FFF2-40B4-BE49-F238E27FC236}">
                    <a16:creationId xmlns:a16="http://schemas.microsoft.com/office/drawing/2014/main" id="{EAF7A55D-DF1F-66D1-CE16-C63E6479BE08}"/>
                  </a:ext>
                </a:extLst>
              </p:cNvPr>
              <p:cNvSpPr/>
              <p:nvPr/>
            </p:nvSpPr>
            <p:spPr>
              <a:xfrm>
                <a:off x="6321854" y="4140864"/>
                <a:ext cx="413744" cy="308390"/>
              </a:xfrm>
              <a:custGeom>
                <a:avLst/>
                <a:gdLst/>
                <a:ahLst/>
                <a:cxnLst/>
                <a:rect l="l" t="t" r="r" b="b"/>
                <a:pathLst>
                  <a:path w="336550" h="158750">
                    <a:moveTo>
                      <a:pt x="0" y="158750"/>
                    </a:moveTo>
                    <a:lnTo>
                      <a:pt x="336550" y="158750"/>
                    </a:lnTo>
                    <a:lnTo>
                      <a:pt x="336550" y="0"/>
                    </a:lnTo>
                    <a:lnTo>
                      <a:pt x="0" y="0"/>
                    </a:lnTo>
                    <a:close/>
                  </a:path>
                </a:pathLst>
              </a:custGeom>
              <a:solidFill>
                <a:srgbClr val="002869"/>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502" name="Google Shape;1441;p19">
                <a:extLst>
                  <a:ext uri="{FF2B5EF4-FFF2-40B4-BE49-F238E27FC236}">
                    <a16:creationId xmlns:a16="http://schemas.microsoft.com/office/drawing/2014/main" id="{55948199-4042-0B38-AE85-4841A93250BA}"/>
                  </a:ext>
                </a:extLst>
              </p:cNvPr>
              <p:cNvSpPr/>
              <p:nvPr/>
            </p:nvSpPr>
            <p:spPr>
              <a:xfrm rot="10800000">
                <a:off x="6408786" y="4207477"/>
                <a:ext cx="99903" cy="106573"/>
              </a:xfrm>
              <a:prstGeom prst="rect">
                <a:avLst/>
              </a:prstGeom>
              <a:noFill/>
              <a:ln w="28575" cap="flat" cmpd="sng">
                <a:solidFill>
                  <a:srgbClr val="1F96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400"/>
                  <a:buFont typeface="Arial"/>
                  <a:buNone/>
                  <a:tabLst/>
                  <a:defRPr/>
                </a:pPr>
                <a:endParaRPr kumimoji="0" sz="1100" b="0" i="0" u="none" strike="noStrike" kern="1200" cap="none" spc="0" normalizeH="0" baseline="0" noProof="0">
                  <a:ln>
                    <a:noFill/>
                  </a:ln>
                  <a:solidFill>
                    <a:srgbClr val="FFFFFF"/>
                  </a:solidFill>
                  <a:effectLst/>
                  <a:uLnTx/>
                  <a:uFillTx/>
                  <a:latin typeface="Gartner Sans" panose="020B0504030402040204" pitchFamily="34" charset="0"/>
                  <a:ea typeface="Arial"/>
                  <a:cs typeface="Arial"/>
                  <a:sym typeface="Arial"/>
                </a:endParaRPr>
              </a:p>
            </p:txBody>
          </p:sp>
        </p:grpSp>
      </p:grpSp>
    </p:spTree>
    <p:extLst>
      <p:ext uri="{BB962C8B-B14F-4D97-AF65-F5344CB8AC3E}">
        <p14:creationId xmlns:p14="http://schemas.microsoft.com/office/powerpoint/2010/main" val="5877521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5BB47-CF35-444E-6673-21C69DB128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6AEC7B-6D28-0026-662E-B8DF939CD0AB}"/>
              </a:ext>
            </a:extLst>
          </p:cNvPr>
          <p:cNvSpPr>
            <a:spLocks noGrp="1"/>
          </p:cNvSpPr>
          <p:nvPr>
            <p:ph type="title"/>
          </p:nvPr>
        </p:nvSpPr>
        <p:spPr>
          <a:xfrm>
            <a:off x="1365814" y="1928934"/>
            <a:ext cx="5408210" cy="1354217"/>
          </a:xfrm>
        </p:spPr>
        <p:txBody>
          <a:bodyPr/>
          <a:lstStyle/>
          <a:p>
            <a:r>
              <a:rPr lang="en-US"/>
              <a:t>Resourcing &amp; Readiness </a:t>
            </a:r>
          </a:p>
        </p:txBody>
      </p:sp>
    </p:spTree>
    <p:extLst>
      <p:ext uri="{BB962C8B-B14F-4D97-AF65-F5344CB8AC3E}">
        <p14:creationId xmlns:p14="http://schemas.microsoft.com/office/powerpoint/2010/main" val="1641841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ED60B-36AC-B895-0D03-A5AF36AC7405}"/>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52E453F-DDA9-1B9C-3F85-302AD48F98AF}"/>
              </a:ext>
            </a:extLst>
          </p:cNvPr>
          <p:cNvGraphicFramePr>
            <a:graphicFrameLocks noGrp="1"/>
          </p:cNvGraphicFramePr>
          <p:nvPr>
            <p:ph sz="half" idx="4294967295"/>
            <p:extLst>
              <p:ext uri="{D42A27DB-BD31-4B8C-83A1-F6EECF244321}">
                <p14:modId xmlns:p14="http://schemas.microsoft.com/office/powerpoint/2010/main" val="417730958"/>
              </p:ext>
            </p:extLst>
          </p:nvPr>
        </p:nvGraphicFramePr>
        <p:xfrm>
          <a:off x="446314" y="757862"/>
          <a:ext cx="11040844" cy="2499360"/>
        </p:xfrm>
        <a:graphic>
          <a:graphicData uri="http://schemas.openxmlformats.org/drawingml/2006/table">
            <a:tbl>
              <a:tblPr firstRow="1" bandRow="1">
                <a:tableStyleId>{74C1A8A3-306A-4EB7-A6B1-4F7E0EB9C5D6}</a:tableStyleId>
              </a:tblPr>
              <a:tblGrid>
                <a:gridCol w="2760211">
                  <a:extLst>
                    <a:ext uri="{9D8B030D-6E8A-4147-A177-3AD203B41FA5}">
                      <a16:colId xmlns:a16="http://schemas.microsoft.com/office/drawing/2014/main" val="3349388189"/>
                    </a:ext>
                  </a:extLst>
                </a:gridCol>
                <a:gridCol w="2760211">
                  <a:extLst>
                    <a:ext uri="{9D8B030D-6E8A-4147-A177-3AD203B41FA5}">
                      <a16:colId xmlns:a16="http://schemas.microsoft.com/office/drawing/2014/main" val="1465400052"/>
                    </a:ext>
                  </a:extLst>
                </a:gridCol>
                <a:gridCol w="2851443">
                  <a:extLst>
                    <a:ext uri="{9D8B030D-6E8A-4147-A177-3AD203B41FA5}">
                      <a16:colId xmlns:a16="http://schemas.microsoft.com/office/drawing/2014/main" val="2076911653"/>
                    </a:ext>
                  </a:extLst>
                </a:gridCol>
                <a:gridCol w="2668979">
                  <a:extLst>
                    <a:ext uri="{9D8B030D-6E8A-4147-A177-3AD203B41FA5}">
                      <a16:colId xmlns:a16="http://schemas.microsoft.com/office/drawing/2014/main" val="4166290136"/>
                    </a:ext>
                  </a:extLst>
                </a:gridCol>
              </a:tblGrid>
              <a:tr h="2497939">
                <a:tc>
                  <a:txBody>
                    <a:bodyPr/>
                    <a:lstStyle/>
                    <a:p>
                      <a:pPr marL="464820" lvl="2" indent="0" algn="l">
                        <a:buNone/>
                      </a:pPr>
                      <a:r>
                        <a:rPr lang="en-US" sz="1300" b="1" i="0" dirty="0">
                          <a:solidFill>
                            <a:schemeClr val="tx1"/>
                          </a:solidFill>
                          <a:effectLst/>
                          <a:latin typeface="+mn-lt"/>
                        </a:rPr>
                        <a:t>Exec Co </a:t>
                      </a:r>
                    </a:p>
                    <a:p>
                      <a:pPr marL="464820" lvl="2" indent="0" algn="l">
                        <a:buNone/>
                      </a:pPr>
                      <a:r>
                        <a:rPr lang="en-US" sz="1300" b="1" i="0" dirty="0">
                          <a:solidFill>
                            <a:schemeClr val="tx1"/>
                          </a:solidFill>
                          <a:effectLst/>
                          <a:latin typeface="+mn-lt"/>
                        </a:rPr>
                        <a:t>AI Enterprise Council</a:t>
                      </a:r>
                    </a:p>
                    <a:p>
                      <a:pPr marL="0" lvl="2" indent="0" algn="l">
                        <a:buNone/>
                      </a:pPr>
                      <a:endParaRPr lang="en-US" sz="1300" b="1" i="0" dirty="0">
                        <a:solidFill>
                          <a:schemeClr val="tx1"/>
                        </a:solidFill>
                        <a:effectLst/>
                        <a:latin typeface="+mn-lt"/>
                      </a:endParaRPr>
                    </a:p>
                    <a:p>
                      <a:pPr lvl="0" algn="l">
                        <a:lnSpc>
                          <a:spcPct val="100000"/>
                        </a:lnSpc>
                        <a:spcBef>
                          <a:spcPts val="0"/>
                        </a:spcBef>
                        <a:spcAft>
                          <a:spcPts val="0"/>
                        </a:spcAft>
                        <a:buNone/>
                      </a:pPr>
                      <a:r>
                        <a:rPr lang="en-US" sz="1300" b="0" i="0" u="none" strike="noStrike" noProof="0" dirty="0">
                          <a:solidFill>
                            <a:schemeClr val="tx1"/>
                          </a:solidFill>
                          <a:effectLst/>
                          <a:latin typeface="+mn-lt"/>
                          <a:cs typeface="Segoe UI"/>
                        </a:rPr>
                        <a:t>Sets direction for AI‑enabled redesign, chooses priority value‑streams, and ensures alignment with business strategy and agreed ethics and principles. Provides enterprise‑level sponsorship so efforts are coordinated, not siloed.</a:t>
                      </a:r>
                      <a:endParaRPr lang="en-US" sz="1300" dirty="0">
                        <a:latin typeface="+mn-lt"/>
                      </a:endParaRP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464820" lvl="0" indent="0" algn="l"/>
                      <a:r>
                        <a:rPr lang="en-US" sz="1300" dirty="0">
                          <a:solidFill>
                            <a:schemeClr val="tx1"/>
                          </a:solidFill>
                          <a:latin typeface="+mn-lt"/>
                        </a:rPr>
                        <a:t>Cross-Functional </a:t>
                      </a:r>
                      <a:br>
                        <a:rPr lang="en-US" sz="1300" dirty="0">
                          <a:solidFill>
                            <a:srgbClr val="000000"/>
                          </a:solidFill>
                          <a:latin typeface="+mn-lt"/>
                        </a:rPr>
                      </a:br>
                      <a:r>
                        <a:rPr lang="en-US" sz="1300" dirty="0">
                          <a:solidFill>
                            <a:schemeClr val="tx1"/>
                          </a:solidFill>
                          <a:latin typeface="+mn-lt"/>
                        </a:rPr>
                        <a:t>Dynamic Teams</a:t>
                      </a:r>
                    </a:p>
                    <a:p>
                      <a:pPr marL="0" lvl="0" indent="0" algn="l"/>
                      <a:endParaRPr lang="en-US" sz="1300" dirty="0">
                        <a:solidFill>
                          <a:schemeClr val="tx1"/>
                        </a:solidFill>
                        <a:latin typeface="+mn-lt"/>
                      </a:endParaRPr>
                    </a:p>
                    <a:p>
                      <a:pPr marL="0" lvl="0" indent="0" algn="l"/>
                      <a:r>
                        <a:rPr lang="en-US" sz="1300" b="0" i="0" u="none" strike="noStrike" noProof="0" dirty="0">
                          <a:solidFill>
                            <a:schemeClr val="tx1"/>
                          </a:solidFill>
                          <a:effectLst/>
                          <a:latin typeface="+mn-lt"/>
                          <a:cs typeface="Segoe UI"/>
                        </a:rPr>
                        <a:t>Integrated teams (business, tech, data, process, change) that design, test, and implement redesigned workflows. The teams identify AI opportunities, run pilots, refine processes, and drive continuous improvement.</a:t>
                      </a:r>
                    </a:p>
                    <a:p>
                      <a:pPr marL="0" lvl="0" indent="0" algn="l">
                        <a:buNone/>
                      </a:pPr>
                      <a:endParaRPr lang="en-US" sz="1300" b="0" i="0" dirty="0">
                        <a:solidFill>
                          <a:schemeClr val="tx1"/>
                        </a:solidFill>
                        <a:effectLst/>
                        <a:latin typeface="+mn-lt"/>
                      </a:endParaRP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64820" lvl="2" indent="0" algn="l"/>
                      <a:r>
                        <a:rPr lang="en-US" sz="1300" b="1" i="0">
                          <a:solidFill>
                            <a:schemeClr val="tx1"/>
                          </a:solidFill>
                          <a:effectLst/>
                          <a:latin typeface="+mn-lt"/>
                        </a:rPr>
                        <a:t>Team Organization &amp; </a:t>
                      </a:r>
                    </a:p>
                    <a:p>
                      <a:pPr marL="464820" lvl="2" indent="0" algn="l"/>
                      <a:r>
                        <a:rPr lang="en-US" sz="1300" b="1" i="0">
                          <a:solidFill>
                            <a:schemeClr val="tx1"/>
                          </a:solidFill>
                          <a:effectLst/>
                          <a:latin typeface="+mn-lt"/>
                        </a:rPr>
                        <a:t>People Reviews</a:t>
                      </a:r>
                    </a:p>
                    <a:p>
                      <a:pPr marL="0" lvl="2" indent="0" algn="l"/>
                      <a:endParaRPr lang="en-US" sz="1300" b="1" i="0">
                        <a:solidFill>
                          <a:schemeClr val="tx1"/>
                        </a:solidFill>
                        <a:effectLst/>
                        <a:latin typeface="+mn-lt"/>
                      </a:endParaRPr>
                    </a:p>
                    <a:p>
                      <a:pPr marL="0" lvl="1" indent="0" algn="l">
                        <a:lnSpc>
                          <a:spcPct val="100000"/>
                        </a:lnSpc>
                        <a:spcBef>
                          <a:spcPts val="0"/>
                        </a:spcBef>
                        <a:spcAft>
                          <a:spcPts val="0"/>
                        </a:spcAft>
                        <a:buNone/>
                      </a:pPr>
                      <a:r>
                        <a:rPr lang="en-US" sz="1300" b="0" i="0" u="none" strike="noStrike" noProof="0">
                          <a:solidFill>
                            <a:schemeClr val="tx1"/>
                          </a:solidFill>
                          <a:effectLst/>
                          <a:latin typeface="+mn-lt"/>
                          <a:cs typeface="Segoe UI"/>
                        </a:rPr>
                        <a:t>Regular talent and role alignment reviews built into business operating rhythm. </a:t>
                      </a:r>
                    </a:p>
                    <a:p>
                      <a:pPr marL="0" lvl="1" indent="0" algn="l">
                        <a:lnSpc>
                          <a:spcPct val="100000"/>
                        </a:lnSpc>
                        <a:spcBef>
                          <a:spcPts val="0"/>
                        </a:spcBef>
                        <a:spcAft>
                          <a:spcPts val="0"/>
                        </a:spcAft>
                        <a:buNone/>
                      </a:pPr>
                      <a:r>
                        <a:rPr lang="en-US" sz="1300" b="0" i="0" u="none" strike="noStrike" noProof="0">
                          <a:solidFill>
                            <a:schemeClr val="tx1"/>
                          </a:solidFill>
                          <a:effectLst/>
                          <a:latin typeface="+mn-lt"/>
                          <a:cs typeface="Segoe UI"/>
                        </a:rPr>
                        <a:t>Managers and HR assess workforce impacts of redesign and take needed actions. Frequency depends on pace and scale of change.</a:t>
                      </a:r>
                      <a:endParaRPr lang="en-US" sz="1300">
                        <a:latin typeface="+mn-lt"/>
                      </a:endParaRP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464820" lvl="2" indent="0" algn="l"/>
                      <a:r>
                        <a:rPr lang="en-US" sz="1300" b="1" i="0" dirty="0">
                          <a:solidFill>
                            <a:schemeClr val="tx1"/>
                          </a:solidFill>
                          <a:effectLst/>
                          <a:latin typeface="+mn-lt"/>
                        </a:rPr>
                        <a:t>Workforce Planning </a:t>
                      </a:r>
                    </a:p>
                    <a:p>
                      <a:pPr marL="464820" lvl="2" indent="0" algn="l"/>
                      <a:r>
                        <a:rPr lang="en-US" sz="1300" b="1" i="0" dirty="0">
                          <a:solidFill>
                            <a:schemeClr val="tx1"/>
                          </a:solidFill>
                          <a:effectLst/>
                          <a:latin typeface="+mn-lt"/>
                        </a:rPr>
                        <a:t>and Capability Council</a:t>
                      </a:r>
                    </a:p>
                    <a:p>
                      <a:pPr marL="0" lvl="1" indent="0" algn="l"/>
                      <a:endParaRPr lang="en-US" sz="1300" b="0" i="0" dirty="0">
                        <a:solidFill>
                          <a:schemeClr val="tx1"/>
                        </a:solidFill>
                        <a:effectLst/>
                        <a:latin typeface="+mn-lt"/>
                      </a:endParaRPr>
                    </a:p>
                    <a:p>
                      <a:pPr marL="0" lvl="1" indent="0" algn="l"/>
                      <a:r>
                        <a:rPr lang="en-US" sz="1300" b="0" i="0" dirty="0">
                          <a:solidFill>
                            <a:schemeClr val="tx1"/>
                          </a:solidFill>
                          <a:effectLst/>
                          <a:latin typeface="+mn-lt"/>
                        </a:rPr>
                        <a:t>Identifies capability shifts, reskilling needs, and talent mobility requirements resulting from changes in tasks, roles, workflows, and workforce composition.</a:t>
                      </a:r>
                      <a:endParaRPr lang="en-US" sz="1300" b="1" i="0" dirty="0">
                        <a:solidFill>
                          <a:schemeClr val="tx1"/>
                        </a:solidFill>
                        <a:effectLst/>
                        <a:latin typeface="+mn-lt"/>
                      </a:endParaRP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2849104"/>
                  </a:ext>
                </a:extLst>
              </a:tr>
            </a:tbl>
          </a:graphicData>
        </a:graphic>
      </p:graphicFrame>
      <p:sp>
        <p:nvSpPr>
          <p:cNvPr id="5" name="Google Shape;812;p11">
            <a:extLst>
              <a:ext uri="{FF2B5EF4-FFF2-40B4-BE49-F238E27FC236}">
                <a16:creationId xmlns:a16="http://schemas.microsoft.com/office/drawing/2014/main" id="{B7C89471-F4B9-35BF-6089-E5DB3ECB6021}"/>
              </a:ext>
            </a:extLst>
          </p:cNvPr>
          <p:cNvSpPr txBox="1">
            <a:spLocks noGrp="1"/>
          </p:cNvSpPr>
          <p:nvPr>
            <p:ph type="title"/>
          </p:nvPr>
        </p:nvSpPr>
        <p:spPr>
          <a:xfrm>
            <a:off x="446314" y="329735"/>
            <a:ext cx="11274552" cy="451231"/>
          </a:xfrm>
          <a:noFill/>
          <a:ln>
            <a:noFill/>
          </a:ln>
        </p:spPr>
        <p:txBody>
          <a:bodyPr spcFirstLastPara="1" wrap="square" lIns="0" tIns="0" rIns="0" bIns="0" anchor="t" anchorCtr="0">
            <a:noAutofit/>
          </a:bodyPr>
          <a:lstStyle/>
          <a:p>
            <a:pPr lvl="0"/>
            <a:r>
              <a:rPr lang="en-US"/>
              <a:t>Governance Forums &amp; Mechanisms</a:t>
            </a:r>
          </a:p>
        </p:txBody>
      </p:sp>
      <p:graphicFrame>
        <p:nvGraphicFramePr>
          <p:cNvPr id="15" name="Table 14">
            <a:extLst>
              <a:ext uri="{FF2B5EF4-FFF2-40B4-BE49-F238E27FC236}">
                <a16:creationId xmlns:a16="http://schemas.microsoft.com/office/drawing/2014/main" id="{06C9440E-9C30-9CD6-F924-7FFA1C7B6353}"/>
              </a:ext>
            </a:extLst>
          </p:cNvPr>
          <p:cNvGraphicFramePr>
            <a:graphicFrameLocks noGrp="1"/>
          </p:cNvGraphicFramePr>
          <p:nvPr>
            <p:extLst>
              <p:ext uri="{D42A27DB-BD31-4B8C-83A1-F6EECF244321}">
                <p14:modId xmlns:p14="http://schemas.microsoft.com/office/powerpoint/2010/main" val="2419916500"/>
              </p:ext>
            </p:extLst>
          </p:nvPr>
        </p:nvGraphicFramePr>
        <p:xfrm>
          <a:off x="446314" y="3257222"/>
          <a:ext cx="11040844" cy="2301240"/>
        </p:xfrm>
        <a:graphic>
          <a:graphicData uri="http://schemas.openxmlformats.org/drawingml/2006/table">
            <a:tbl>
              <a:tblPr firstRow="1" bandRow="1">
                <a:tableStyleId>{74C1A8A3-306A-4EB7-A6B1-4F7E0EB9C5D6}</a:tableStyleId>
              </a:tblPr>
              <a:tblGrid>
                <a:gridCol w="2760211">
                  <a:extLst>
                    <a:ext uri="{9D8B030D-6E8A-4147-A177-3AD203B41FA5}">
                      <a16:colId xmlns:a16="http://schemas.microsoft.com/office/drawing/2014/main" val="633881801"/>
                    </a:ext>
                  </a:extLst>
                </a:gridCol>
                <a:gridCol w="2760211">
                  <a:extLst>
                    <a:ext uri="{9D8B030D-6E8A-4147-A177-3AD203B41FA5}">
                      <a16:colId xmlns:a16="http://schemas.microsoft.com/office/drawing/2014/main" val="3788552664"/>
                    </a:ext>
                  </a:extLst>
                </a:gridCol>
                <a:gridCol w="2831652">
                  <a:extLst>
                    <a:ext uri="{9D8B030D-6E8A-4147-A177-3AD203B41FA5}">
                      <a16:colId xmlns:a16="http://schemas.microsoft.com/office/drawing/2014/main" val="571473590"/>
                    </a:ext>
                  </a:extLst>
                </a:gridCol>
                <a:gridCol w="2688770">
                  <a:extLst>
                    <a:ext uri="{9D8B030D-6E8A-4147-A177-3AD203B41FA5}">
                      <a16:colId xmlns:a16="http://schemas.microsoft.com/office/drawing/2014/main" val="3096273852"/>
                    </a:ext>
                  </a:extLst>
                </a:gridCol>
              </a:tblGrid>
              <a:tr h="1074649">
                <a:tc>
                  <a:txBody>
                    <a:bodyPr/>
                    <a:lstStyle/>
                    <a:p>
                      <a:pPr marL="464820" lvl="1" indent="0" algn="l">
                        <a:buNone/>
                        <a:tabLst/>
                      </a:pPr>
                      <a:r>
                        <a:rPr lang="en-US" sz="1300" b="1" cap="none" spc="0" dirty="0">
                          <a:solidFill>
                            <a:schemeClr val="tx1"/>
                          </a:solidFill>
                        </a:rPr>
                        <a:t>Responsible AI and </a:t>
                      </a:r>
                      <a:br>
                        <a:rPr lang="en-US" sz="1300" b="1" cap="none" spc="0" dirty="0">
                          <a:solidFill>
                            <a:srgbClr val="000000"/>
                          </a:solidFill>
                        </a:rPr>
                      </a:br>
                      <a:r>
                        <a:rPr lang="en-US" sz="1300" b="1" cap="none" spc="0" dirty="0">
                          <a:solidFill>
                            <a:schemeClr val="tx1"/>
                          </a:solidFill>
                        </a:rPr>
                        <a:t>Ethics Council</a:t>
                      </a:r>
                    </a:p>
                    <a:p>
                      <a:pPr lvl="1" algn="l">
                        <a:buNone/>
                      </a:pPr>
                      <a:endParaRPr lang="en-US" sz="1300" b="1" cap="none" spc="0" dirty="0">
                        <a:solidFill>
                          <a:schemeClr val="tx1"/>
                        </a:solidFill>
                      </a:endParaRPr>
                    </a:p>
                    <a:p>
                      <a:pPr algn="l" fontAlgn="t">
                        <a:lnSpc>
                          <a:spcPts val="1500"/>
                        </a:lnSpc>
                        <a:buNone/>
                      </a:pPr>
                      <a:r>
                        <a:rPr lang="en-US" sz="1300" b="0" i="0" dirty="0">
                          <a:solidFill>
                            <a:schemeClr val="tx1"/>
                          </a:solidFill>
                          <a:effectLst/>
                          <a:latin typeface="+mn-lt"/>
                        </a:rPr>
                        <a:t>Oversees ethical, transparent, and safe use of AI, including data protection, readiness, privacy, and security. Sets guardrails, standards, policies, and governance frameworks.</a:t>
                      </a: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lnSpc>
                          <a:spcPts val="1500"/>
                        </a:lnSpc>
                        <a:buNone/>
                      </a:pPr>
                      <a:r>
                        <a:rPr lang="en-US" sz="1300" b="1" i="0" dirty="0">
                          <a:solidFill>
                            <a:schemeClr val="tx1"/>
                          </a:solidFill>
                          <a:effectLst/>
                          <a:latin typeface="+mn-lt"/>
                        </a:rPr>
                        <a:t>             AI Data Governance</a:t>
                      </a:r>
                      <a:endParaRPr lang="en-US" dirty="0"/>
                    </a:p>
                    <a:p>
                      <a:pPr lvl="0" algn="l">
                        <a:lnSpc>
                          <a:spcPts val="1500"/>
                        </a:lnSpc>
                        <a:buNone/>
                      </a:pPr>
                      <a:r>
                        <a:rPr lang="en-US" sz="1300" b="1" i="0" dirty="0">
                          <a:solidFill>
                            <a:schemeClr val="tx1"/>
                          </a:solidFill>
                          <a:effectLst/>
                          <a:latin typeface="+mn-lt"/>
                        </a:rPr>
                        <a:t>               Council</a:t>
                      </a:r>
                    </a:p>
                    <a:p>
                      <a:pPr algn="l" fontAlgn="t">
                        <a:lnSpc>
                          <a:spcPts val="1500"/>
                        </a:lnSpc>
                        <a:buNone/>
                      </a:pPr>
                      <a:endParaRPr lang="en-US" sz="1300" b="0" i="0" dirty="0">
                        <a:solidFill>
                          <a:schemeClr val="tx1"/>
                        </a:solidFill>
                        <a:effectLst/>
                        <a:latin typeface="+mn-lt"/>
                      </a:endParaRPr>
                    </a:p>
                    <a:p>
                      <a:pPr marL="0" marR="0" lvl="0" indent="0" algn="l" rtl="0" eaLnBrk="1" fontAlgn="t" latinLnBrk="0" hangingPunct="1">
                        <a:lnSpc>
                          <a:spcPts val="1500"/>
                        </a:lnSpc>
                        <a:spcBef>
                          <a:spcPts val="0"/>
                        </a:spcBef>
                        <a:spcAft>
                          <a:spcPts val="0"/>
                        </a:spcAft>
                        <a:buClrTx/>
                        <a:buSzTx/>
                        <a:buFontTx/>
                        <a:buNone/>
                      </a:pPr>
                      <a:r>
                        <a:rPr lang="en-US" sz="1300" b="0" i="0" dirty="0">
                          <a:solidFill>
                            <a:schemeClr val="tx1"/>
                          </a:solidFill>
                          <a:effectLst/>
                          <a:latin typeface="+mn-lt"/>
                        </a:rPr>
                        <a:t>Establishes standards for data quality, transparency,  compliance with policy and regulations, and supports redesign with evidence and corrective actions.</a:t>
                      </a: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464820" lvl="1" indent="0" algn="l"/>
                      <a:r>
                        <a:rPr lang="en-US" sz="1300" dirty="0">
                          <a:solidFill>
                            <a:schemeClr val="tx1"/>
                          </a:solidFill>
                          <a:latin typeface="+mn-lt"/>
                        </a:rPr>
                        <a:t>Process, Data, Technology Enablement Council</a:t>
                      </a:r>
                    </a:p>
                    <a:p>
                      <a:pPr lvl="1" algn="l"/>
                      <a:endParaRPr lang="en-US" sz="1300" dirty="0">
                        <a:solidFill>
                          <a:schemeClr val="tx1"/>
                        </a:solidFill>
                        <a:latin typeface="+mn-lt"/>
                      </a:endParaRPr>
                    </a:p>
                    <a:p>
                      <a:pPr algn="l" fontAlgn="t">
                        <a:lnSpc>
                          <a:spcPts val="1500"/>
                        </a:lnSpc>
                        <a:buNone/>
                      </a:pPr>
                      <a:r>
                        <a:rPr lang="en-US" sz="1300" b="0" i="0" dirty="0">
                          <a:solidFill>
                            <a:schemeClr val="tx1"/>
                          </a:solidFill>
                          <a:effectLst/>
                          <a:latin typeface="+mn-lt"/>
                        </a:rPr>
                        <a:t>Provides process analysis, task intelligence, and ensures data, systems, and platforms are ready for redesign.</a:t>
                      </a: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464820" lvl="2" indent="0" algn="l"/>
                      <a:r>
                        <a:rPr lang="en-US" sz="1300" dirty="0">
                          <a:ln>
                            <a:noFill/>
                          </a:ln>
                          <a:solidFill>
                            <a:schemeClr val="tx1"/>
                          </a:solidFill>
                          <a:latin typeface="+mn-lt"/>
                        </a:rPr>
                        <a:t>Change and Adoption </a:t>
                      </a:r>
                      <a:br>
                        <a:rPr lang="en-US" sz="1300" dirty="0">
                          <a:ln>
                            <a:noFill/>
                          </a:ln>
                          <a:solidFill>
                            <a:srgbClr val="000000"/>
                          </a:solidFill>
                          <a:latin typeface="+mn-lt"/>
                        </a:rPr>
                      </a:br>
                      <a:r>
                        <a:rPr lang="en-US" sz="1300" dirty="0">
                          <a:ln>
                            <a:noFill/>
                          </a:ln>
                          <a:solidFill>
                            <a:schemeClr val="tx1"/>
                          </a:solidFill>
                          <a:latin typeface="+mn-lt"/>
                        </a:rPr>
                        <a:t>Network</a:t>
                      </a:r>
                      <a:endParaRPr lang="en-US" sz="1300" b="0" i="0" dirty="0">
                        <a:ln>
                          <a:noFill/>
                        </a:ln>
                        <a:solidFill>
                          <a:schemeClr val="tx1"/>
                        </a:solidFill>
                        <a:effectLst/>
                        <a:latin typeface="+mn-lt"/>
                      </a:endParaRPr>
                    </a:p>
                    <a:p>
                      <a:pPr marL="0" marR="0" lvl="0" indent="-287337" algn="l" defTabSz="914400" rtl="0" eaLnBrk="1" fontAlgn="auto" latinLnBrk="0" hangingPunct="1">
                        <a:lnSpc>
                          <a:spcPct val="100000"/>
                        </a:lnSpc>
                        <a:spcBef>
                          <a:spcPts val="0"/>
                        </a:spcBef>
                        <a:spcAft>
                          <a:spcPts val="0"/>
                        </a:spcAft>
                        <a:buClrTx/>
                        <a:buSzTx/>
                        <a:buFontTx/>
                        <a:buNone/>
                        <a:tabLst/>
                        <a:defRPr/>
                      </a:pPr>
                      <a:endParaRPr lang="en-US" sz="1300" b="0" i="0" dirty="0">
                        <a:ln>
                          <a:noFill/>
                        </a:ln>
                        <a:solidFill>
                          <a:schemeClr val="tx1"/>
                        </a:solidFill>
                        <a:effectLst/>
                        <a:latin typeface="+mn-lt"/>
                      </a:endParaRPr>
                    </a:p>
                    <a:p>
                      <a:pPr marL="0" marR="0" lvl="0" indent="-287020" algn="l" defTabSz="914400" rtl="0" eaLnBrk="1" fontAlgn="auto" latinLnBrk="0" hangingPunct="1">
                        <a:lnSpc>
                          <a:spcPct val="100000"/>
                        </a:lnSpc>
                        <a:spcBef>
                          <a:spcPts val="0"/>
                        </a:spcBef>
                        <a:spcAft>
                          <a:spcPts val="0"/>
                        </a:spcAft>
                        <a:buClrTx/>
                        <a:buSzTx/>
                        <a:buFontTx/>
                        <a:buNone/>
                        <a:tabLst/>
                        <a:defRPr/>
                      </a:pPr>
                      <a:r>
                        <a:rPr lang="en-US" sz="1300" b="0" i="0" dirty="0">
                          <a:ln>
                            <a:noFill/>
                          </a:ln>
                          <a:solidFill>
                            <a:schemeClr val="tx1"/>
                          </a:solidFill>
                          <a:effectLst/>
                          <a:latin typeface="+mn-lt"/>
                        </a:rPr>
                        <a:t>Coordinate communication, readiness, and capability uplift to support employees through change. Ensure redesigned processes and tools are understood, adopted, and embedded in daily work.</a:t>
                      </a:r>
                    </a:p>
                  </a:txBody>
                  <a:tcPr marT="18288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67321099"/>
                  </a:ext>
                </a:extLst>
              </a:tr>
            </a:tbl>
          </a:graphicData>
        </a:graphic>
      </p:graphicFrame>
      <p:pic>
        <p:nvPicPr>
          <p:cNvPr id="6" name="Picture 5">
            <a:extLst>
              <a:ext uri="{FF2B5EF4-FFF2-40B4-BE49-F238E27FC236}">
                <a16:creationId xmlns:a16="http://schemas.microsoft.com/office/drawing/2014/main" id="{69B9F04C-7126-6A43-7E45-634E4A78D6B3}"/>
              </a:ext>
            </a:extLst>
          </p:cNvPr>
          <p:cNvPicPr>
            <a:picLocks/>
          </p:cNvPicPr>
          <p:nvPr/>
        </p:nvPicPr>
        <p:blipFill>
          <a:blip r:embed="rId3"/>
          <a:stretch>
            <a:fillRect/>
          </a:stretch>
        </p:blipFill>
        <p:spPr>
          <a:xfrm>
            <a:off x="3376844" y="3525737"/>
            <a:ext cx="365760" cy="365760"/>
          </a:xfrm>
          <a:prstGeom prst="rect">
            <a:avLst/>
          </a:prstGeom>
        </p:spPr>
      </p:pic>
      <p:sp>
        <p:nvSpPr>
          <p:cNvPr id="7" name="Freeform: Shape 28">
            <a:extLst>
              <a:ext uri="{FF2B5EF4-FFF2-40B4-BE49-F238E27FC236}">
                <a16:creationId xmlns:a16="http://schemas.microsoft.com/office/drawing/2014/main" id="{FE02801B-FB35-124A-C0CC-54D217E7A7C9}"/>
              </a:ext>
            </a:extLst>
          </p:cNvPr>
          <p:cNvSpPr>
            <a:spLocks/>
          </p:cNvSpPr>
          <p:nvPr/>
        </p:nvSpPr>
        <p:spPr>
          <a:xfrm>
            <a:off x="6205087" y="3527150"/>
            <a:ext cx="365760" cy="365760"/>
          </a:xfrm>
          <a:custGeom>
            <a:avLst/>
            <a:gdLst>
              <a:gd name="connsiteX0" fmla="*/ 407194 w 485775"/>
              <a:gd name="connsiteY0" fmla="*/ 411194 h 523875"/>
              <a:gd name="connsiteX1" fmla="*/ 292894 w 485775"/>
              <a:gd name="connsiteY1" fmla="*/ 525494 h 523875"/>
              <a:gd name="connsiteX2" fmla="*/ 26194 w 485775"/>
              <a:gd name="connsiteY2" fmla="*/ 525494 h 523875"/>
              <a:gd name="connsiteX3" fmla="*/ 26194 w 485775"/>
              <a:gd name="connsiteY3" fmla="*/ 487394 h 523875"/>
              <a:gd name="connsiteX4" fmla="*/ 292894 w 485775"/>
              <a:gd name="connsiteY4" fmla="*/ 487394 h 523875"/>
              <a:gd name="connsiteX5" fmla="*/ 369094 w 485775"/>
              <a:gd name="connsiteY5" fmla="*/ 411194 h 523875"/>
              <a:gd name="connsiteX6" fmla="*/ 292894 w 485775"/>
              <a:gd name="connsiteY6" fmla="*/ 334994 h 523875"/>
              <a:gd name="connsiteX7" fmla="*/ 121444 w 485775"/>
              <a:gd name="connsiteY7" fmla="*/ 334994 h 523875"/>
              <a:gd name="connsiteX8" fmla="*/ 7144 w 485775"/>
              <a:gd name="connsiteY8" fmla="*/ 220694 h 523875"/>
              <a:gd name="connsiteX9" fmla="*/ 121444 w 485775"/>
              <a:gd name="connsiteY9" fmla="*/ 106394 h 523875"/>
              <a:gd name="connsiteX10" fmla="*/ 408813 w 485775"/>
              <a:gd name="connsiteY10" fmla="*/ 106394 h 523875"/>
              <a:gd name="connsiteX11" fmla="*/ 336518 w 485775"/>
              <a:gd name="connsiteY11" fmla="*/ 34100 h 523875"/>
              <a:gd name="connsiteX12" fmla="*/ 363474 w 485775"/>
              <a:gd name="connsiteY12" fmla="*/ 7144 h 523875"/>
              <a:gd name="connsiteX13" fmla="*/ 481679 w 485775"/>
              <a:gd name="connsiteY13" fmla="*/ 125349 h 523875"/>
              <a:gd name="connsiteX14" fmla="*/ 363474 w 485775"/>
              <a:gd name="connsiteY14" fmla="*/ 243650 h 523875"/>
              <a:gd name="connsiteX15" fmla="*/ 336518 w 485775"/>
              <a:gd name="connsiteY15" fmla="*/ 216694 h 523875"/>
              <a:gd name="connsiteX16" fmla="*/ 408813 w 485775"/>
              <a:gd name="connsiteY16" fmla="*/ 144399 h 523875"/>
              <a:gd name="connsiteX17" fmla="*/ 121444 w 485775"/>
              <a:gd name="connsiteY17" fmla="*/ 144399 h 523875"/>
              <a:gd name="connsiteX18" fmla="*/ 45244 w 485775"/>
              <a:gd name="connsiteY18" fmla="*/ 220599 h 523875"/>
              <a:gd name="connsiteX19" fmla="*/ 121444 w 485775"/>
              <a:gd name="connsiteY19" fmla="*/ 296799 h 523875"/>
              <a:gd name="connsiteX20" fmla="*/ 292894 w 485775"/>
              <a:gd name="connsiteY20" fmla="*/ 296799 h 523875"/>
              <a:gd name="connsiteX21" fmla="*/ 407194 w 485775"/>
              <a:gd name="connsiteY21" fmla="*/ 411194 h 523875"/>
              <a:gd name="connsiteX22" fmla="*/ 83344 w 485775"/>
              <a:gd name="connsiteY22" fmla="*/ 220694 h 523875"/>
              <a:gd name="connsiteX23" fmla="*/ 121444 w 485775"/>
              <a:gd name="connsiteY23" fmla="*/ 258794 h 523875"/>
              <a:gd name="connsiteX24" fmla="*/ 159544 w 485775"/>
              <a:gd name="connsiteY24" fmla="*/ 220694 h 523875"/>
              <a:gd name="connsiteX25" fmla="*/ 121444 w 485775"/>
              <a:gd name="connsiteY25" fmla="*/ 182594 h 523875"/>
              <a:gd name="connsiteX26" fmla="*/ 83344 w 485775"/>
              <a:gd name="connsiteY26" fmla="*/ 220694 h 523875"/>
              <a:gd name="connsiteX27" fmla="*/ 330994 w 485775"/>
              <a:gd name="connsiteY27" fmla="*/ 411194 h 523875"/>
              <a:gd name="connsiteX28" fmla="*/ 292894 w 485775"/>
              <a:gd name="connsiteY28" fmla="*/ 373094 h 523875"/>
              <a:gd name="connsiteX29" fmla="*/ 254794 w 485775"/>
              <a:gd name="connsiteY29" fmla="*/ 411194 h 523875"/>
              <a:gd name="connsiteX30" fmla="*/ 292894 w 485775"/>
              <a:gd name="connsiteY30" fmla="*/ 449294 h 523875"/>
              <a:gd name="connsiteX31" fmla="*/ 330994 w 485775"/>
              <a:gd name="connsiteY31" fmla="*/ 411194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85775" h="523875">
                <a:moveTo>
                  <a:pt x="407194" y="411194"/>
                </a:moveTo>
                <a:cubicBezTo>
                  <a:pt x="407194" y="474250"/>
                  <a:pt x="355949" y="525494"/>
                  <a:pt x="292894" y="525494"/>
                </a:cubicBezTo>
                <a:lnTo>
                  <a:pt x="26194" y="525494"/>
                </a:lnTo>
                <a:lnTo>
                  <a:pt x="26194" y="487394"/>
                </a:lnTo>
                <a:lnTo>
                  <a:pt x="292894" y="487394"/>
                </a:lnTo>
                <a:cubicBezTo>
                  <a:pt x="334899" y="487394"/>
                  <a:pt x="369094" y="453200"/>
                  <a:pt x="369094" y="411194"/>
                </a:cubicBezTo>
                <a:cubicBezTo>
                  <a:pt x="369094" y="369189"/>
                  <a:pt x="334899" y="334994"/>
                  <a:pt x="292894" y="334994"/>
                </a:cubicBezTo>
                <a:lnTo>
                  <a:pt x="121444" y="334994"/>
                </a:lnTo>
                <a:cubicBezTo>
                  <a:pt x="58388" y="334994"/>
                  <a:pt x="7144" y="283750"/>
                  <a:pt x="7144" y="220694"/>
                </a:cubicBezTo>
                <a:cubicBezTo>
                  <a:pt x="7144" y="157639"/>
                  <a:pt x="58388" y="106394"/>
                  <a:pt x="121444" y="106394"/>
                </a:cubicBezTo>
                <a:lnTo>
                  <a:pt x="408813" y="106394"/>
                </a:lnTo>
                <a:lnTo>
                  <a:pt x="336518" y="34100"/>
                </a:lnTo>
                <a:lnTo>
                  <a:pt x="363474" y="7144"/>
                </a:lnTo>
                <a:lnTo>
                  <a:pt x="481679" y="125349"/>
                </a:lnTo>
                <a:lnTo>
                  <a:pt x="363474" y="243650"/>
                </a:lnTo>
                <a:lnTo>
                  <a:pt x="336518" y="216694"/>
                </a:lnTo>
                <a:lnTo>
                  <a:pt x="408813" y="144399"/>
                </a:lnTo>
                <a:lnTo>
                  <a:pt x="121444" y="144399"/>
                </a:lnTo>
                <a:cubicBezTo>
                  <a:pt x="79438" y="144399"/>
                  <a:pt x="45244" y="178594"/>
                  <a:pt x="45244" y="220599"/>
                </a:cubicBezTo>
                <a:cubicBezTo>
                  <a:pt x="45244" y="262604"/>
                  <a:pt x="79438" y="296799"/>
                  <a:pt x="121444" y="296799"/>
                </a:cubicBezTo>
                <a:lnTo>
                  <a:pt x="292894" y="296799"/>
                </a:lnTo>
                <a:cubicBezTo>
                  <a:pt x="355854" y="296894"/>
                  <a:pt x="407194" y="348139"/>
                  <a:pt x="407194" y="411194"/>
                </a:cubicBezTo>
                <a:close/>
                <a:moveTo>
                  <a:pt x="83344" y="220694"/>
                </a:moveTo>
                <a:cubicBezTo>
                  <a:pt x="83344" y="241745"/>
                  <a:pt x="100394" y="258794"/>
                  <a:pt x="121444" y="258794"/>
                </a:cubicBezTo>
                <a:cubicBezTo>
                  <a:pt x="142494" y="258794"/>
                  <a:pt x="159544" y="241745"/>
                  <a:pt x="159544" y="220694"/>
                </a:cubicBezTo>
                <a:cubicBezTo>
                  <a:pt x="159544" y="199644"/>
                  <a:pt x="142494" y="182594"/>
                  <a:pt x="121444" y="182594"/>
                </a:cubicBezTo>
                <a:cubicBezTo>
                  <a:pt x="100394" y="182594"/>
                  <a:pt x="83344" y="199644"/>
                  <a:pt x="83344" y="220694"/>
                </a:cubicBezTo>
                <a:close/>
                <a:moveTo>
                  <a:pt x="330994" y="411194"/>
                </a:moveTo>
                <a:cubicBezTo>
                  <a:pt x="330994" y="390144"/>
                  <a:pt x="313944" y="373094"/>
                  <a:pt x="292894" y="373094"/>
                </a:cubicBezTo>
                <a:cubicBezTo>
                  <a:pt x="271844" y="373094"/>
                  <a:pt x="254794" y="390144"/>
                  <a:pt x="254794" y="411194"/>
                </a:cubicBezTo>
                <a:cubicBezTo>
                  <a:pt x="254794" y="432244"/>
                  <a:pt x="271844" y="449294"/>
                  <a:pt x="292894" y="449294"/>
                </a:cubicBezTo>
                <a:cubicBezTo>
                  <a:pt x="313944" y="449294"/>
                  <a:pt x="330994" y="432244"/>
                  <a:pt x="330994" y="411194"/>
                </a:cubicBezTo>
                <a:close/>
              </a:path>
            </a:pathLst>
          </a:custGeom>
          <a:solidFill>
            <a:schemeClr val="tx2"/>
          </a:solidFill>
          <a:ln w="9525" cap="flat">
            <a:noFill/>
            <a:prstDash val="solid"/>
            <a:miter/>
          </a:ln>
        </p:spPr>
        <p:txBody>
          <a:bodyPr rtlCol="0" anchor="ctr"/>
          <a:lstStyle/>
          <a:p>
            <a:endParaRPr lang="en-US"/>
          </a:p>
        </p:txBody>
      </p:sp>
      <p:sp>
        <p:nvSpPr>
          <p:cNvPr id="8" name="Graphic 233">
            <a:extLst>
              <a:ext uri="{FF2B5EF4-FFF2-40B4-BE49-F238E27FC236}">
                <a16:creationId xmlns:a16="http://schemas.microsoft.com/office/drawing/2014/main" id="{A4F5858D-6D4E-25E5-E942-2ADC03AFDD73}"/>
              </a:ext>
            </a:extLst>
          </p:cNvPr>
          <p:cNvSpPr>
            <a:spLocks/>
          </p:cNvSpPr>
          <p:nvPr/>
        </p:nvSpPr>
        <p:spPr>
          <a:xfrm>
            <a:off x="6150429" y="931411"/>
            <a:ext cx="365760" cy="365760"/>
          </a:xfrm>
          <a:custGeom>
            <a:avLst/>
            <a:gdLst>
              <a:gd name="connsiteX0" fmla="*/ 626507 w 626506"/>
              <a:gd name="connsiteY0" fmla="*/ 184032 h 533561"/>
              <a:gd name="connsiteX1" fmla="*/ 568223 w 626506"/>
              <a:gd name="connsiteY1" fmla="*/ 275405 h 533561"/>
              <a:gd name="connsiteX2" fmla="*/ 476860 w 626506"/>
              <a:gd name="connsiteY2" fmla="*/ 217122 h 533561"/>
              <a:gd name="connsiteX3" fmla="*/ 497338 w 626506"/>
              <a:gd name="connsiteY3" fmla="*/ 185003 h 533561"/>
              <a:gd name="connsiteX4" fmla="*/ 534267 w 626506"/>
              <a:gd name="connsiteY4" fmla="*/ 208559 h 533561"/>
              <a:gd name="connsiteX5" fmla="*/ 382343 w 626506"/>
              <a:gd name="connsiteY5" fmla="*/ 48939 h 533561"/>
              <a:gd name="connsiteX6" fmla="*/ 208026 w 626506"/>
              <a:gd name="connsiteY6" fmla="*/ 63902 h 533561"/>
              <a:gd name="connsiteX7" fmla="*/ 95345 w 626506"/>
              <a:gd name="connsiteY7" fmla="*/ 197748 h 533561"/>
              <a:gd name="connsiteX8" fmla="*/ 59036 w 626506"/>
              <a:gd name="connsiteY8" fmla="*/ 186222 h 533561"/>
              <a:gd name="connsiteX9" fmla="*/ 190490 w 626506"/>
              <a:gd name="connsiteY9" fmla="*/ 30070 h 533561"/>
              <a:gd name="connsiteX10" fmla="*/ 393868 w 626506"/>
              <a:gd name="connsiteY10" fmla="*/ 12610 h 533561"/>
              <a:gd name="connsiteX11" fmla="*/ 571329 w 626506"/>
              <a:gd name="connsiteY11" fmla="*/ 199681 h 533561"/>
              <a:gd name="connsiteX12" fmla="*/ 594379 w 626506"/>
              <a:gd name="connsiteY12" fmla="*/ 163534 h 533561"/>
              <a:gd name="connsiteX13" fmla="*/ 626507 w 626506"/>
              <a:gd name="connsiteY13" fmla="*/ 184032 h 533561"/>
              <a:gd name="connsiteX14" fmla="*/ 244164 w 626506"/>
              <a:gd name="connsiteY14" fmla="*/ 484755 h 533561"/>
              <a:gd name="connsiteX15" fmla="*/ 92269 w 626506"/>
              <a:gd name="connsiteY15" fmla="*/ 325164 h 533561"/>
              <a:gd name="connsiteX16" fmla="*/ 129159 w 626506"/>
              <a:gd name="connsiteY16" fmla="*/ 348700 h 533561"/>
              <a:gd name="connsiteX17" fmla="*/ 149647 w 626506"/>
              <a:gd name="connsiteY17" fmla="*/ 316572 h 533561"/>
              <a:gd name="connsiteX18" fmla="*/ 58274 w 626506"/>
              <a:gd name="connsiteY18" fmla="*/ 258289 h 533561"/>
              <a:gd name="connsiteX19" fmla="*/ 0 w 626506"/>
              <a:gd name="connsiteY19" fmla="*/ 349662 h 533561"/>
              <a:gd name="connsiteX20" fmla="*/ 32118 w 626506"/>
              <a:gd name="connsiteY20" fmla="*/ 370141 h 533561"/>
              <a:gd name="connsiteX21" fmla="*/ 55188 w 626506"/>
              <a:gd name="connsiteY21" fmla="*/ 333974 h 533561"/>
              <a:gd name="connsiteX22" fmla="*/ 232639 w 626506"/>
              <a:gd name="connsiteY22" fmla="*/ 521064 h 533561"/>
              <a:gd name="connsiteX23" fmla="*/ 313068 w 626506"/>
              <a:gd name="connsiteY23" fmla="*/ 533561 h 533561"/>
              <a:gd name="connsiteX24" fmla="*/ 567471 w 626506"/>
              <a:gd name="connsiteY24" fmla="*/ 347443 h 533561"/>
              <a:gd name="connsiteX25" fmla="*/ 531162 w 626506"/>
              <a:gd name="connsiteY25" fmla="*/ 335927 h 533561"/>
              <a:gd name="connsiteX26" fmla="*/ 244164 w 626506"/>
              <a:gd name="connsiteY26" fmla="*/ 484755 h 533561"/>
              <a:gd name="connsiteX27" fmla="*/ 198958 w 626506"/>
              <a:gd name="connsiteY27" fmla="*/ 266785 h 533561"/>
              <a:gd name="connsiteX28" fmla="*/ 263023 w 626506"/>
              <a:gd name="connsiteY28" fmla="*/ 266785 h 533561"/>
              <a:gd name="connsiteX29" fmla="*/ 237058 w 626506"/>
              <a:gd name="connsiteY29" fmla="*/ 209635 h 533561"/>
              <a:gd name="connsiteX30" fmla="*/ 313258 w 626506"/>
              <a:gd name="connsiteY30" fmla="*/ 133435 h 533561"/>
              <a:gd name="connsiteX31" fmla="*/ 389458 w 626506"/>
              <a:gd name="connsiteY31" fmla="*/ 209635 h 533561"/>
              <a:gd name="connsiteX32" fmla="*/ 363493 w 626506"/>
              <a:gd name="connsiteY32" fmla="*/ 266785 h 533561"/>
              <a:gd name="connsiteX33" fmla="*/ 427558 w 626506"/>
              <a:gd name="connsiteY33" fmla="*/ 266785 h 533561"/>
              <a:gd name="connsiteX34" fmla="*/ 427558 w 626506"/>
              <a:gd name="connsiteY34" fmla="*/ 400135 h 533561"/>
              <a:gd name="connsiteX35" fmla="*/ 389458 w 626506"/>
              <a:gd name="connsiteY35" fmla="*/ 400135 h 533561"/>
              <a:gd name="connsiteX36" fmla="*/ 389458 w 626506"/>
              <a:gd name="connsiteY36" fmla="*/ 304885 h 533561"/>
              <a:gd name="connsiteX37" fmla="*/ 237058 w 626506"/>
              <a:gd name="connsiteY37" fmla="*/ 304885 h 533561"/>
              <a:gd name="connsiteX38" fmla="*/ 237058 w 626506"/>
              <a:gd name="connsiteY38" fmla="*/ 400135 h 533561"/>
              <a:gd name="connsiteX39" fmla="*/ 198958 w 626506"/>
              <a:gd name="connsiteY39" fmla="*/ 400135 h 533561"/>
              <a:gd name="connsiteX40" fmla="*/ 198958 w 626506"/>
              <a:gd name="connsiteY40" fmla="*/ 266785 h 533561"/>
              <a:gd name="connsiteX41" fmla="*/ 275158 w 626506"/>
              <a:gd name="connsiteY41" fmla="*/ 209635 h 533561"/>
              <a:gd name="connsiteX42" fmla="*/ 313258 w 626506"/>
              <a:gd name="connsiteY42" fmla="*/ 247735 h 533561"/>
              <a:gd name="connsiteX43" fmla="*/ 351358 w 626506"/>
              <a:gd name="connsiteY43" fmla="*/ 209635 h 533561"/>
              <a:gd name="connsiteX44" fmla="*/ 313258 w 626506"/>
              <a:gd name="connsiteY44" fmla="*/ 171535 h 533561"/>
              <a:gd name="connsiteX45" fmla="*/ 275158 w 626506"/>
              <a:gd name="connsiteY45" fmla="*/ 209635 h 533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26506" h="533561">
                <a:moveTo>
                  <a:pt x="626507" y="184032"/>
                </a:moveTo>
                <a:lnTo>
                  <a:pt x="568223" y="275405"/>
                </a:lnTo>
                <a:lnTo>
                  <a:pt x="476860" y="217122"/>
                </a:lnTo>
                <a:lnTo>
                  <a:pt x="497338" y="185003"/>
                </a:lnTo>
                <a:lnTo>
                  <a:pt x="534267" y="208559"/>
                </a:lnTo>
                <a:cubicBezTo>
                  <a:pt x="514674" y="133549"/>
                  <a:pt x="458419" y="73056"/>
                  <a:pt x="382343" y="48939"/>
                </a:cubicBezTo>
                <a:cubicBezTo>
                  <a:pt x="324145" y="30479"/>
                  <a:pt x="262233" y="35794"/>
                  <a:pt x="208026" y="63902"/>
                </a:cubicBezTo>
                <a:cubicBezTo>
                  <a:pt x="153819" y="92011"/>
                  <a:pt x="113795" y="139540"/>
                  <a:pt x="95345" y="197748"/>
                </a:cubicBezTo>
                <a:lnTo>
                  <a:pt x="59036" y="186222"/>
                </a:lnTo>
                <a:cubicBezTo>
                  <a:pt x="80562" y="118319"/>
                  <a:pt x="127254" y="62864"/>
                  <a:pt x="190490" y="30070"/>
                </a:cubicBezTo>
                <a:cubicBezTo>
                  <a:pt x="253736" y="-2715"/>
                  <a:pt x="325974" y="-8935"/>
                  <a:pt x="393868" y="12610"/>
                </a:cubicBezTo>
                <a:cubicBezTo>
                  <a:pt x="482898" y="40842"/>
                  <a:pt x="548669" y="111775"/>
                  <a:pt x="571329" y="199681"/>
                </a:cubicBezTo>
                <a:lnTo>
                  <a:pt x="594379" y="163534"/>
                </a:lnTo>
                <a:lnTo>
                  <a:pt x="626507" y="184032"/>
                </a:lnTo>
                <a:close/>
                <a:moveTo>
                  <a:pt x="244164" y="484755"/>
                </a:moveTo>
                <a:cubicBezTo>
                  <a:pt x="168307" y="460704"/>
                  <a:pt x="111928" y="400135"/>
                  <a:pt x="92269" y="325164"/>
                </a:cubicBezTo>
                <a:lnTo>
                  <a:pt x="129159" y="348700"/>
                </a:lnTo>
                <a:lnTo>
                  <a:pt x="149647" y="316572"/>
                </a:lnTo>
                <a:lnTo>
                  <a:pt x="58274" y="258289"/>
                </a:lnTo>
                <a:lnTo>
                  <a:pt x="0" y="349662"/>
                </a:lnTo>
                <a:lnTo>
                  <a:pt x="32118" y="370141"/>
                </a:lnTo>
                <a:lnTo>
                  <a:pt x="55188" y="333974"/>
                </a:lnTo>
                <a:cubicBezTo>
                  <a:pt x="77905" y="421871"/>
                  <a:pt x="143837" y="492908"/>
                  <a:pt x="232639" y="521064"/>
                </a:cubicBezTo>
                <a:cubicBezTo>
                  <a:pt x="259356" y="529542"/>
                  <a:pt x="286426" y="533561"/>
                  <a:pt x="313068" y="533561"/>
                </a:cubicBezTo>
                <a:cubicBezTo>
                  <a:pt x="426215" y="533561"/>
                  <a:pt x="531495" y="460904"/>
                  <a:pt x="567471" y="347443"/>
                </a:cubicBezTo>
                <a:lnTo>
                  <a:pt x="531162" y="335927"/>
                </a:lnTo>
                <a:cubicBezTo>
                  <a:pt x="493071" y="456094"/>
                  <a:pt x="364303" y="522845"/>
                  <a:pt x="244164" y="484755"/>
                </a:cubicBezTo>
                <a:close/>
                <a:moveTo>
                  <a:pt x="198958" y="266785"/>
                </a:moveTo>
                <a:lnTo>
                  <a:pt x="263023" y="266785"/>
                </a:lnTo>
                <a:cubicBezTo>
                  <a:pt x="247145" y="252812"/>
                  <a:pt x="237058" y="232400"/>
                  <a:pt x="237058" y="209635"/>
                </a:cubicBezTo>
                <a:cubicBezTo>
                  <a:pt x="237058" y="167620"/>
                  <a:pt x="271243" y="133435"/>
                  <a:pt x="313258" y="133435"/>
                </a:cubicBezTo>
                <a:cubicBezTo>
                  <a:pt x="355273" y="133435"/>
                  <a:pt x="389458" y="167620"/>
                  <a:pt x="389458" y="209635"/>
                </a:cubicBezTo>
                <a:cubicBezTo>
                  <a:pt x="389458" y="232400"/>
                  <a:pt x="379371" y="252812"/>
                  <a:pt x="363493" y="266785"/>
                </a:cubicBezTo>
                <a:lnTo>
                  <a:pt x="427558" y="266785"/>
                </a:lnTo>
                <a:lnTo>
                  <a:pt x="427558" y="400135"/>
                </a:lnTo>
                <a:lnTo>
                  <a:pt x="389458" y="400135"/>
                </a:lnTo>
                <a:lnTo>
                  <a:pt x="389458" y="304885"/>
                </a:lnTo>
                <a:lnTo>
                  <a:pt x="237058" y="304885"/>
                </a:lnTo>
                <a:lnTo>
                  <a:pt x="237058" y="400135"/>
                </a:lnTo>
                <a:lnTo>
                  <a:pt x="198958" y="400135"/>
                </a:lnTo>
                <a:lnTo>
                  <a:pt x="198958" y="266785"/>
                </a:lnTo>
                <a:close/>
                <a:moveTo>
                  <a:pt x="275158" y="209635"/>
                </a:moveTo>
                <a:cubicBezTo>
                  <a:pt x="275158" y="230647"/>
                  <a:pt x="292246" y="247735"/>
                  <a:pt x="313258" y="247735"/>
                </a:cubicBezTo>
                <a:cubicBezTo>
                  <a:pt x="334270" y="247735"/>
                  <a:pt x="351358" y="230647"/>
                  <a:pt x="351358" y="209635"/>
                </a:cubicBezTo>
                <a:cubicBezTo>
                  <a:pt x="351358" y="188623"/>
                  <a:pt x="334270" y="171535"/>
                  <a:pt x="313258" y="171535"/>
                </a:cubicBezTo>
                <a:cubicBezTo>
                  <a:pt x="292246" y="171535"/>
                  <a:pt x="275158" y="188623"/>
                  <a:pt x="275158" y="209635"/>
                </a:cubicBezTo>
                <a:close/>
              </a:path>
            </a:pathLst>
          </a:custGeom>
          <a:solidFill>
            <a:schemeClr val="tx2"/>
          </a:solidFill>
          <a:ln w="9525" cap="flat">
            <a:noFill/>
            <a:prstDash val="solid"/>
            <a:miter/>
          </a:ln>
        </p:spPr>
        <p:txBody>
          <a:bodyPr rtlCol="0" anchor="ctr"/>
          <a:lstStyle/>
          <a:p>
            <a:endParaRPr lang="en-US"/>
          </a:p>
        </p:txBody>
      </p:sp>
      <p:sp>
        <p:nvSpPr>
          <p:cNvPr id="11" name="Freeform: Shape 178">
            <a:extLst>
              <a:ext uri="{FF2B5EF4-FFF2-40B4-BE49-F238E27FC236}">
                <a16:creationId xmlns:a16="http://schemas.microsoft.com/office/drawing/2014/main" id="{B2330DE5-7126-4E98-27EC-B462362897C2}"/>
              </a:ext>
            </a:extLst>
          </p:cNvPr>
          <p:cNvSpPr>
            <a:spLocks/>
          </p:cNvSpPr>
          <p:nvPr/>
        </p:nvSpPr>
        <p:spPr>
          <a:xfrm>
            <a:off x="632480" y="3525737"/>
            <a:ext cx="365760" cy="365760"/>
          </a:xfrm>
          <a:custGeom>
            <a:avLst/>
            <a:gdLst>
              <a:gd name="connsiteX0" fmla="*/ 502444 w 619125"/>
              <a:gd name="connsiteY0" fmla="*/ 64294 h 476250"/>
              <a:gd name="connsiteX1" fmla="*/ 332232 w 619125"/>
              <a:gd name="connsiteY1" fmla="*/ 64294 h 476250"/>
              <a:gd name="connsiteX2" fmla="*/ 332232 w 619125"/>
              <a:gd name="connsiteY2" fmla="*/ 7144 h 476250"/>
              <a:gd name="connsiteX3" fmla="*/ 294132 w 619125"/>
              <a:gd name="connsiteY3" fmla="*/ 7144 h 476250"/>
              <a:gd name="connsiteX4" fmla="*/ 294132 w 619125"/>
              <a:gd name="connsiteY4" fmla="*/ 64294 h 476250"/>
              <a:gd name="connsiteX5" fmla="*/ 121444 w 619125"/>
              <a:gd name="connsiteY5" fmla="*/ 64294 h 476250"/>
              <a:gd name="connsiteX6" fmla="*/ 7144 w 619125"/>
              <a:gd name="connsiteY6" fmla="*/ 235744 h 476250"/>
              <a:gd name="connsiteX7" fmla="*/ 121444 w 619125"/>
              <a:gd name="connsiteY7" fmla="*/ 350044 h 476250"/>
              <a:gd name="connsiteX8" fmla="*/ 235744 w 619125"/>
              <a:gd name="connsiteY8" fmla="*/ 235744 h 476250"/>
              <a:gd name="connsiteX9" fmla="*/ 146875 w 619125"/>
              <a:gd name="connsiteY9" fmla="*/ 102394 h 476250"/>
              <a:gd name="connsiteX10" fmla="*/ 294227 w 619125"/>
              <a:gd name="connsiteY10" fmla="*/ 102394 h 476250"/>
              <a:gd name="connsiteX11" fmla="*/ 294227 w 619125"/>
              <a:gd name="connsiteY11" fmla="*/ 435769 h 476250"/>
              <a:gd name="connsiteX12" fmla="*/ 121444 w 619125"/>
              <a:gd name="connsiteY12" fmla="*/ 435769 h 476250"/>
              <a:gd name="connsiteX13" fmla="*/ 121444 w 619125"/>
              <a:gd name="connsiteY13" fmla="*/ 473869 h 476250"/>
              <a:gd name="connsiteX14" fmla="*/ 502444 w 619125"/>
              <a:gd name="connsiteY14" fmla="*/ 473869 h 476250"/>
              <a:gd name="connsiteX15" fmla="*/ 502444 w 619125"/>
              <a:gd name="connsiteY15" fmla="*/ 435769 h 476250"/>
              <a:gd name="connsiteX16" fmla="*/ 332232 w 619125"/>
              <a:gd name="connsiteY16" fmla="*/ 435769 h 476250"/>
              <a:gd name="connsiteX17" fmla="*/ 332232 w 619125"/>
              <a:gd name="connsiteY17" fmla="*/ 102394 h 476250"/>
              <a:gd name="connsiteX18" fmla="*/ 477012 w 619125"/>
              <a:gd name="connsiteY18" fmla="*/ 102394 h 476250"/>
              <a:gd name="connsiteX19" fmla="*/ 388144 w 619125"/>
              <a:gd name="connsiteY19" fmla="*/ 235744 h 476250"/>
              <a:gd name="connsiteX20" fmla="*/ 502444 w 619125"/>
              <a:gd name="connsiteY20" fmla="*/ 350044 h 476250"/>
              <a:gd name="connsiteX21" fmla="*/ 616744 w 619125"/>
              <a:gd name="connsiteY21" fmla="*/ 235744 h 476250"/>
              <a:gd name="connsiteX22" fmla="*/ 502444 w 619125"/>
              <a:gd name="connsiteY22" fmla="*/ 64294 h 476250"/>
              <a:gd name="connsiteX23" fmla="*/ 121444 w 619125"/>
              <a:gd name="connsiteY23" fmla="*/ 132969 h 476250"/>
              <a:gd name="connsiteX24" fmla="*/ 189929 w 619125"/>
              <a:gd name="connsiteY24" fmla="*/ 235744 h 476250"/>
              <a:gd name="connsiteX25" fmla="*/ 52959 w 619125"/>
              <a:gd name="connsiteY25" fmla="*/ 235744 h 476250"/>
              <a:gd name="connsiteX26" fmla="*/ 121444 w 619125"/>
              <a:gd name="connsiteY26" fmla="*/ 132969 h 476250"/>
              <a:gd name="connsiteX27" fmla="*/ 121444 w 619125"/>
              <a:gd name="connsiteY27" fmla="*/ 311944 h 476250"/>
              <a:gd name="connsiteX28" fmla="*/ 55531 w 619125"/>
              <a:gd name="connsiteY28" fmla="*/ 273844 h 476250"/>
              <a:gd name="connsiteX29" fmla="*/ 187357 w 619125"/>
              <a:gd name="connsiteY29" fmla="*/ 273844 h 476250"/>
              <a:gd name="connsiteX30" fmla="*/ 121444 w 619125"/>
              <a:gd name="connsiteY30" fmla="*/ 311944 h 476250"/>
              <a:gd name="connsiteX31" fmla="*/ 570929 w 619125"/>
              <a:gd name="connsiteY31" fmla="*/ 235744 h 476250"/>
              <a:gd name="connsiteX32" fmla="*/ 433864 w 619125"/>
              <a:gd name="connsiteY32" fmla="*/ 235744 h 476250"/>
              <a:gd name="connsiteX33" fmla="*/ 502444 w 619125"/>
              <a:gd name="connsiteY33" fmla="*/ 132969 h 476250"/>
              <a:gd name="connsiteX34" fmla="*/ 570929 w 619125"/>
              <a:gd name="connsiteY34" fmla="*/ 235744 h 476250"/>
              <a:gd name="connsiteX35" fmla="*/ 502444 w 619125"/>
              <a:gd name="connsiteY35" fmla="*/ 311944 h 476250"/>
              <a:gd name="connsiteX36" fmla="*/ 436531 w 619125"/>
              <a:gd name="connsiteY36" fmla="*/ 273844 h 476250"/>
              <a:gd name="connsiteX37" fmla="*/ 568357 w 619125"/>
              <a:gd name="connsiteY37" fmla="*/ 273844 h 476250"/>
              <a:gd name="connsiteX38" fmla="*/ 502444 w 619125"/>
              <a:gd name="connsiteY38" fmla="*/ 311944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19125" h="476250">
                <a:moveTo>
                  <a:pt x="502444" y="64294"/>
                </a:moveTo>
                <a:lnTo>
                  <a:pt x="332232" y="64294"/>
                </a:lnTo>
                <a:lnTo>
                  <a:pt x="332232" y="7144"/>
                </a:lnTo>
                <a:lnTo>
                  <a:pt x="294132" y="7144"/>
                </a:lnTo>
                <a:lnTo>
                  <a:pt x="294132" y="64294"/>
                </a:lnTo>
                <a:lnTo>
                  <a:pt x="121444" y="64294"/>
                </a:lnTo>
                <a:lnTo>
                  <a:pt x="7144" y="235744"/>
                </a:lnTo>
                <a:cubicBezTo>
                  <a:pt x="7144" y="298895"/>
                  <a:pt x="58293" y="350044"/>
                  <a:pt x="121444" y="350044"/>
                </a:cubicBezTo>
                <a:cubicBezTo>
                  <a:pt x="184594" y="350044"/>
                  <a:pt x="235744" y="298895"/>
                  <a:pt x="235744" y="235744"/>
                </a:cubicBezTo>
                <a:lnTo>
                  <a:pt x="146875" y="102394"/>
                </a:lnTo>
                <a:lnTo>
                  <a:pt x="294227" y="102394"/>
                </a:lnTo>
                <a:lnTo>
                  <a:pt x="294227" y="435769"/>
                </a:lnTo>
                <a:lnTo>
                  <a:pt x="121444" y="435769"/>
                </a:lnTo>
                <a:lnTo>
                  <a:pt x="121444" y="473869"/>
                </a:lnTo>
                <a:lnTo>
                  <a:pt x="502444" y="473869"/>
                </a:lnTo>
                <a:lnTo>
                  <a:pt x="502444" y="435769"/>
                </a:lnTo>
                <a:lnTo>
                  <a:pt x="332232" y="435769"/>
                </a:lnTo>
                <a:lnTo>
                  <a:pt x="332232" y="102394"/>
                </a:lnTo>
                <a:lnTo>
                  <a:pt x="477012" y="102394"/>
                </a:lnTo>
                <a:lnTo>
                  <a:pt x="388144" y="235744"/>
                </a:lnTo>
                <a:cubicBezTo>
                  <a:pt x="388144" y="298895"/>
                  <a:pt x="439293" y="350044"/>
                  <a:pt x="502444" y="350044"/>
                </a:cubicBezTo>
                <a:cubicBezTo>
                  <a:pt x="565595" y="350044"/>
                  <a:pt x="616744" y="298895"/>
                  <a:pt x="616744" y="235744"/>
                </a:cubicBezTo>
                <a:lnTo>
                  <a:pt x="502444" y="64294"/>
                </a:lnTo>
                <a:close/>
                <a:moveTo>
                  <a:pt x="121444" y="132969"/>
                </a:moveTo>
                <a:lnTo>
                  <a:pt x="189929" y="235744"/>
                </a:lnTo>
                <a:lnTo>
                  <a:pt x="52959" y="235744"/>
                </a:lnTo>
                <a:lnTo>
                  <a:pt x="121444" y="132969"/>
                </a:lnTo>
                <a:close/>
                <a:moveTo>
                  <a:pt x="121444" y="311944"/>
                </a:moveTo>
                <a:cubicBezTo>
                  <a:pt x="93345" y="311944"/>
                  <a:pt x="68771" y="296609"/>
                  <a:pt x="55531" y="273844"/>
                </a:cubicBezTo>
                <a:lnTo>
                  <a:pt x="187357" y="273844"/>
                </a:lnTo>
                <a:cubicBezTo>
                  <a:pt x="174117" y="296609"/>
                  <a:pt x="149542" y="311944"/>
                  <a:pt x="121444" y="311944"/>
                </a:cubicBezTo>
                <a:close/>
                <a:moveTo>
                  <a:pt x="570929" y="235744"/>
                </a:moveTo>
                <a:lnTo>
                  <a:pt x="433864" y="235744"/>
                </a:lnTo>
                <a:lnTo>
                  <a:pt x="502444" y="132969"/>
                </a:lnTo>
                <a:lnTo>
                  <a:pt x="570929" y="235744"/>
                </a:lnTo>
                <a:close/>
                <a:moveTo>
                  <a:pt x="502444" y="311944"/>
                </a:moveTo>
                <a:cubicBezTo>
                  <a:pt x="474345" y="311944"/>
                  <a:pt x="449771" y="296609"/>
                  <a:pt x="436531" y="273844"/>
                </a:cubicBezTo>
                <a:lnTo>
                  <a:pt x="568357" y="273844"/>
                </a:lnTo>
                <a:cubicBezTo>
                  <a:pt x="555117" y="296609"/>
                  <a:pt x="530543" y="311944"/>
                  <a:pt x="502444" y="311944"/>
                </a:cubicBezTo>
                <a:close/>
              </a:path>
            </a:pathLst>
          </a:custGeom>
          <a:solidFill>
            <a:schemeClr val="tx2"/>
          </a:solidFill>
          <a:ln w="9525" cap="flat">
            <a:noFill/>
            <a:prstDash val="solid"/>
            <a:miter/>
          </a:ln>
        </p:spPr>
        <p:txBody>
          <a:bodyPr rtlCol="0" anchor="ctr"/>
          <a:lstStyle/>
          <a:p>
            <a:endParaRPr lang="en-US"/>
          </a:p>
        </p:txBody>
      </p:sp>
      <p:pic>
        <p:nvPicPr>
          <p:cNvPr id="13" name="Picture 12">
            <a:extLst>
              <a:ext uri="{FF2B5EF4-FFF2-40B4-BE49-F238E27FC236}">
                <a16:creationId xmlns:a16="http://schemas.microsoft.com/office/drawing/2014/main" id="{D2243CCD-35A0-5DE6-60C1-2544D604AF64}"/>
              </a:ext>
            </a:extLst>
          </p:cNvPr>
          <p:cNvPicPr>
            <a:picLocks/>
          </p:cNvPicPr>
          <p:nvPr/>
        </p:nvPicPr>
        <p:blipFill>
          <a:blip r:embed="rId4"/>
          <a:stretch>
            <a:fillRect/>
          </a:stretch>
        </p:blipFill>
        <p:spPr>
          <a:xfrm>
            <a:off x="548310" y="964352"/>
            <a:ext cx="365760" cy="365760"/>
          </a:xfrm>
          <a:prstGeom prst="rect">
            <a:avLst/>
          </a:prstGeom>
        </p:spPr>
      </p:pic>
      <p:sp>
        <p:nvSpPr>
          <p:cNvPr id="16" name="Freeform: Shape 211">
            <a:extLst>
              <a:ext uri="{FF2B5EF4-FFF2-40B4-BE49-F238E27FC236}">
                <a16:creationId xmlns:a16="http://schemas.microsoft.com/office/drawing/2014/main" id="{7F85D110-7CEE-307C-5867-ACA585CCD67C}"/>
              </a:ext>
            </a:extLst>
          </p:cNvPr>
          <p:cNvSpPr>
            <a:spLocks/>
          </p:cNvSpPr>
          <p:nvPr/>
        </p:nvSpPr>
        <p:spPr>
          <a:xfrm>
            <a:off x="8949882" y="3525737"/>
            <a:ext cx="365760" cy="365760"/>
          </a:xfrm>
          <a:custGeom>
            <a:avLst/>
            <a:gdLst>
              <a:gd name="connsiteX0" fmla="*/ 539924 w 542925"/>
              <a:gd name="connsiteY0" fmla="*/ 188928 h 390525"/>
              <a:gd name="connsiteX1" fmla="*/ 517064 w 542925"/>
              <a:gd name="connsiteY1" fmla="*/ 151590 h 390525"/>
              <a:gd name="connsiteX2" fmla="*/ 474583 w 542925"/>
              <a:gd name="connsiteY2" fmla="*/ 141398 h 390525"/>
              <a:gd name="connsiteX3" fmla="*/ 437245 w 542925"/>
              <a:gd name="connsiteY3" fmla="*/ 164258 h 390525"/>
              <a:gd name="connsiteX4" fmla="*/ 429625 w 542925"/>
              <a:gd name="connsiteY4" fmla="*/ 178832 h 390525"/>
              <a:gd name="connsiteX5" fmla="*/ 396192 w 542925"/>
              <a:gd name="connsiteY5" fmla="*/ 178832 h 390525"/>
              <a:gd name="connsiteX6" fmla="*/ 385238 w 542925"/>
              <a:gd name="connsiteY6" fmla="*/ 143875 h 390525"/>
              <a:gd name="connsiteX7" fmla="*/ 418861 w 542925"/>
              <a:gd name="connsiteY7" fmla="*/ 115014 h 390525"/>
              <a:gd name="connsiteX8" fmla="*/ 445246 w 542925"/>
              <a:gd name="connsiteY8" fmla="*/ 121586 h 390525"/>
              <a:gd name="connsiteX9" fmla="*/ 454294 w 542925"/>
              <a:gd name="connsiteY9" fmla="*/ 120824 h 390525"/>
              <a:gd name="connsiteX10" fmla="*/ 491632 w 542925"/>
              <a:gd name="connsiteY10" fmla="*/ 97964 h 390525"/>
              <a:gd name="connsiteX11" fmla="*/ 501824 w 542925"/>
              <a:gd name="connsiteY11" fmla="*/ 55388 h 390525"/>
              <a:gd name="connsiteX12" fmla="*/ 478964 w 542925"/>
              <a:gd name="connsiteY12" fmla="*/ 18049 h 390525"/>
              <a:gd name="connsiteX13" fmla="*/ 436483 w 542925"/>
              <a:gd name="connsiteY13" fmla="*/ 7858 h 390525"/>
              <a:gd name="connsiteX14" fmla="*/ 399145 w 542925"/>
              <a:gd name="connsiteY14" fmla="*/ 30718 h 390525"/>
              <a:gd name="connsiteX15" fmla="*/ 388953 w 542925"/>
              <a:gd name="connsiteY15" fmla="*/ 73295 h 390525"/>
              <a:gd name="connsiteX16" fmla="*/ 393049 w 542925"/>
              <a:gd name="connsiteY16" fmla="*/ 86820 h 390525"/>
              <a:gd name="connsiteX17" fmla="*/ 363331 w 542925"/>
              <a:gd name="connsiteY17" fmla="*/ 112252 h 390525"/>
              <a:gd name="connsiteX18" fmla="*/ 273891 w 542925"/>
              <a:gd name="connsiteY18" fmla="*/ 73866 h 390525"/>
              <a:gd name="connsiteX19" fmla="*/ 184451 w 542925"/>
              <a:gd name="connsiteY19" fmla="*/ 112252 h 390525"/>
              <a:gd name="connsiteX20" fmla="*/ 154733 w 542925"/>
              <a:gd name="connsiteY20" fmla="*/ 86820 h 390525"/>
              <a:gd name="connsiteX21" fmla="*/ 158829 w 542925"/>
              <a:gd name="connsiteY21" fmla="*/ 73295 h 390525"/>
              <a:gd name="connsiteX22" fmla="*/ 148637 w 542925"/>
              <a:gd name="connsiteY22" fmla="*/ 30718 h 390525"/>
              <a:gd name="connsiteX23" fmla="*/ 111299 w 542925"/>
              <a:gd name="connsiteY23" fmla="*/ 7858 h 390525"/>
              <a:gd name="connsiteX24" fmla="*/ 68818 w 542925"/>
              <a:gd name="connsiteY24" fmla="*/ 18049 h 390525"/>
              <a:gd name="connsiteX25" fmla="*/ 45958 w 542925"/>
              <a:gd name="connsiteY25" fmla="*/ 55388 h 390525"/>
              <a:gd name="connsiteX26" fmla="*/ 56149 w 542925"/>
              <a:gd name="connsiteY26" fmla="*/ 97869 h 390525"/>
              <a:gd name="connsiteX27" fmla="*/ 93487 w 542925"/>
              <a:gd name="connsiteY27" fmla="*/ 120729 h 390525"/>
              <a:gd name="connsiteX28" fmla="*/ 102536 w 542925"/>
              <a:gd name="connsiteY28" fmla="*/ 121491 h 390525"/>
              <a:gd name="connsiteX29" fmla="*/ 128920 w 542925"/>
              <a:gd name="connsiteY29" fmla="*/ 114919 h 390525"/>
              <a:gd name="connsiteX30" fmla="*/ 162544 w 542925"/>
              <a:gd name="connsiteY30" fmla="*/ 143780 h 390525"/>
              <a:gd name="connsiteX31" fmla="*/ 151590 w 542925"/>
              <a:gd name="connsiteY31" fmla="*/ 178736 h 390525"/>
              <a:gd name="connsiteX32" fmla="*/ 118157 w 542925"/>
              <a:gd name="connsiteY32" fmla="*/ 178736 h 390525"/>
              <a:gd name="connsiteX33" fmla="*/ 110537 w 542925"/>
              <a:gd name="connsiteY33" fmla="*/ 164163 h 390525"/>
              <a:gd name="connsiteX34" fmla="*/ 73199 w 542925"/>
              <a:gd name="connsiteY34" fmla="*/ 141303 h 390525"/>
              <a:gd name="connsiteX35" fmla="*/ 30718 w 542925"/>
              <a:gd name="connsiteY35" fmla="*/ 151495 h 390525"/>
              <a:gd name="connsiteX36" fmla="*/ 7858 w 542925"/>
              <a:gd name="connsiteY36" fmla="*/ 188833 h 390525"/>
              <a:gd name="connsiteX37" fmla="*/ 18049 w 542925"/>
              <a:gd name="connsiteY37" fmla="*/ 231410 h 390525"/>
              <a:gd name="connsiteX38" fmla="*/ 64341 w 542925"/>
              <a:gd name="connsiteY38" fmla="*/ 254936 h 390525"/>
              <a:gd name="connsiteX39" fmla="*/ 97869 w 542925"/>
              <a:gd name="connsiteY39" fmla="*/ 244078 h 390525"/>
              <a:gd name="connsiteX40" fmla="*/ 118062 w 542925"/>
              <a:gd name="connsiteY40" fmla="*/ 216932 h 390525"/>
              <a:gd name="connsiteX41" fmla="*/ 151590 w 542925"/>
              <a:gd name="connsiteY41" fmla="*/ 216932 h 390525"/>
              <a:gd name="connsiteX42" fmla="*/ 162544 w 542925"/>
              <a:gd name="connsiteY42" fmla="*/ 251888 h 390525"/>
              <a:gd name="connsiteX43" fmla="*/ 128920 w 542925"/>
              <a:gd name="connsiteY43" fmla="*/ 280749 h 390525"/>
              <a:gd name="connsiteX44" fmla="*/ 68818 w 542925"/>
              <a:gd name="connsiteY44" fmla="*/ 285035 h 390525"/>
              <a:gd name="connsiteX45" fmla="*/ 56149 w 542925"/>
              <a:gd name="connsiteY45" fmla="*/ 364855 h 390525"/>
              <a:gd name="connsiteX46" fmla="*/ 102441 w 542925"/>
              <a:gd name="connsiteY46" fmla="*/ 388382 h 390525"/>
              <a:gd name="connsiteX47" fmla="*/ 135969 w 542925"/>
              <a:gd name="connsiteY47" fmla="*/ 377523 h 390525"/>
              <a:gd name="connsiteX48" fmla="*/ 154828 w 542925"/>
              <a:gd name="connsiteY48" fmla="*/ 308657 h 390525"/>
              <a:gd name="connsiteX49" fmla="*/ 184356 w 542925"/>
              <a:gd name="connsiteY49" fmla="*/ 283321 h 390525"/>
              <a:gd name="connsiteX50" fmla="*/ 273796 w 542925"/>
              <a:gd name="connsiteY50" fmla="*/ 321707 h 390525"/>
              <a:gd name="connsiteX51" fmla="*/ 363236 w 542925"/>
              <a:gd name="connsiteY51" fmla="*/ 283321 h 390525"/>
              <a:gd name="connsiteX52" fmla="*/ 392763 w 542925"/>
              <a:gd name="connsiteY52" fmla="*/ 308657 h 390525"/>
              <a:gd name="connsiteX53" fmla="*/ 411623 w 542925"/>
              <a:gd name="connsiteY53" fmla="*/ 377523 h 390525"/>
              <a:gd name="connsiteX54" fmla="*/ 445151 w 542925"/>
              <a:gd name="connsiteY54" fmla="*/ 388382 h 390525"/>
              <a:gd name="connsiteX55" fmla="*/ 491442 w 542925"/>
              <a:gd name="connsiteY55" fmla="*/ 364855 h 390525"/>
              <a:gd name="connsiteX56" fmla="*/ 478774 w 542925"/>
              <a:gd name="connsiteY56" fmla="*/ 285035 h 390525"/>
              <a:gd name="connsiteX57" fmla="*/ 418671 w 542925"/>
              <a:gd name="connsiteY57" fmla="*/ 280749 h 390525"/>
              <a:gd name="connsiteX58" fmla="*/ 385048 w 542925"/>
              <a:gd name="connsiteY58" fmla="*/ 251888 h 390525"/>
              <a:gd name="connsiteX59" fmla="*/ 396002 w 542925"/>
              <a:gd name="connsiteY59" fmla="*/ 217027 h 390525"/>
              <a:gd name="connsiteX60" fmla="*/ 429530 w 542925"/>
              <a:gd name="connsiteY60" fmla="*/ 217027 h 390525"/>
              <a:gd name="connsiteX61" fmla="*/ 449723 w 542925"/>
              <a:gd name="connsiteY61" fmla="*/ 244173 h 390525"/>
              <a:gd name="connsiteX62" fmla="*/ 483251 w 542925"/>
              <a:gd name="connsiteY62" fmla="*/ 255032 h 390525"/>
              <a:gd name="connsiteX63" fmla="*/ 529542 w 542925"/>
              <a:gd name="connsiteY63" fmla="*/ 231505 h 390525"/>
              <a:gd name="connsiteX64" fmla="*/ 539924 w 542925"/>
              <a:gd name="connsiteY64" fmla="*/ 188928 h 390525"/>
              <a:gd name="connsiteX65" fmla="*/ 429911 w 542925"/>
              <a:gd name="connsiteY65" fmla="*/ 53387 h 390525"/>
              <a:gd name="connsiteX66" fmla="*/ 445341 w 542925"/>
              <a:gd name="connsiteY66" fmla="*/ 45577 h 390525"/>
              <a:gd name="connsiteX67" fmla="*/ 456485 w 542925"/>
              <a:gd name="connsiteY67" fmla="*/ 49196 h 390525"/>
              <a:gd name="connsiteX68" fmla="*/ 464105 w 542925"/>
              <a:gd name="connsiteY68" fmla="*/ 61579 h 390525"/>
              <a:gd name="connsiteX69" fmla="*/ 460676 w 542925"/>
              <a:gd name="connsiteY69" fmla="*/ 75771 h 390525"/>
              <a:gd name="connsiteX70" fmla="*/ 448294 w 542925"/>
              <a:gd name="connsiteY70" fmla="*/ 83391 h 390525"/>
              <a:gd name="connsiteX71" fmla="*/ 434102 w 542925"/>
              <a:gd name="connsiteY71" fmla="*/ 79962 h 390525"/>
              <a:gd name="connsiteX72" fmla="*/ 426481 w 542925"/>
              <a:gd name="connsiteY72" fmla="*/ 67580 h 390525"/>
              <a:gd name="connsiteX73" fmla="*/ 429911 w 542925"/>
              <a:gd name="connsiteY73" fmla="*/ 53387 h 390525"/>
              <a:gd name="connsiteX74" fmla="*/ 99488 w 542925"/>
              <a:gd name="connsiteY74" fmla="*/ 83391 h 390525"/>
              <a:gd name="connsiteX75" fmla="*/ 87010 w 542925"/>
              <a:gd name="connsiteY75" fmla="*/ 75771 h 390525"/>
              <a:gd name="connsiteX76" fmla="*/ 83581 w 542925"/>
              <a:gd name="connsiteY76" fmla="*/ 61579 h 390525"/>
              <a:gd name="connsiteX77" fmla="*/ 91202 w 542925"/>
              <a:gd name="connsiteY77" fmla="*/ 49101 h 390525"/>
              <a:gd name="connsiteX78" fmla="*/ 102346 w 542925"/>
              <a:gd name="connsiteY78" fmla="*/ 45482 h 390525"/>
              <a:gd name="connsiteX79" fmla="*/ 105394 w 542925"/>
              <a:gd name="connsiteY79" fmla="*/ 45767 h 390525"/>
              <a:gd name="connsiteX80" fmla="*/ 117776 w 542925"/>
              <a:gd name="connsiteY80" fmla="*/ 53387 h 390525"/>
              <a:gd name="connsiteX81" fmla="*/ 117776 w 542925"/>
              <a:gd name="connsiteY81" fmla="*/ 53387 h 390525"/>
              <a:gd name="connsiteX82" fmla="*/ 121205 w 542925"/>
              <a:gd name="connsiteY82" fmla="*/ 67580 h 390525"/>
              <a:gd name="connsiteX83" fmla="*/ 113585 w 542925"/>
              <a:gd name="connsiteY83" fmla="*/ 80057 h 390525"/>
              <a:gd name="connsiteX84" fmla="*/ 99488 w 542925"/>
              <a:gd name="connsiteY84" fmla="*/ 83391 h 390525"/>
              <a:gd name="connsiteX85" fmla="*/ 113681 w 542925"/>
              <a:gd name="connsiteY85" fmla="*/ 346662 h 390525"/>
              <a:gd name="connsiteX86" fmla="*/ 87106 w 542925"/>
              <a:gd name="connsiteY86" fmla="*/ 342471 h 390525"/>
              <a:gd name="connsiteX87" fmla="*/ 91297 w 542925"/>
              <a:gd name="connsiteY87" fmla="*/ 315896 h 390525"/>
              <a:gd name="connsiteX88" fmla="*/ 102441 w 542925"/>
              <a:gd name="connsiteY88" fmla="*/ 312277 h 390525"/>
              <a:gd name="connsiteX89" fmla="*/ 117872 w 542925"/>
              <a:gd name="connsiteY89" fmla="*/ 320087 h 390525"/>
              <a:gd name="connsiteX90" fmla="*/ 113681 w 542925"/>
              <a:gd name="connsiteY90" fmla="*/ 346662 h 390525"/>
              <a:gd name="connsiteX91" fmla="*/ 456485 w 542925"/>
              <a:gd name="connsiteY91" fmla="*/ 315801 h 390525"/>
              <a:gd name="connsiteX92" fmla="*/ 460676 w 542925"/>
              <a:gd name="connsiteY92" fmla="*/ 342376 h 390525"/>
              <a:gd name="connsiteX93" fmla="*/ 448294 w 542925"/>
              <a:gd name="connsiteY93" fmla="*/ 349996 h 390525"/>
              <a:gd name="connsiteX94" fmla="*/ 434102 w 542925"/>
              <a:gd name="connsiteY94" fmla="*/ 346567 h 390525"/>
              <a:gd name="connsiteX95" fmla="*/ 429911 w 542925"/>
              <a:gd name="connsiteY95" fmla="*/ 319992 h 390525"/>
              <a:gd name="connsiteX96" fmla="*/ 456485 w 542925"/>
              <a:gd name="connsiteY96" fmla="*/ 315801 h 390525"/>
              <a:gd name="connsiteX97" fmla="*/ 273891 w 542925"/>
              <a:gd name="connsiteY97" fmla="*/ 112157 h 390525"/>
              <a:gd name="connsiteX98" fmla="*/ 359616 w 542925"/>
              <a:gd name="connsiteY98" fmla="*/ 197882 h 390525"/>
              <a:gd name="connsiteX99" fmla="*/ 340566 w 542925"/>
              <a:gd name="connsiteY99" fmla="*/ 251603 h 390525"/>
              <a:gd name="connsiteX100" fmla="*/ 340566 w 542925"/>
              <a:gd name="connsiteY100" fmla="*/ 226457 h 390525"/>
              <a:gd name="connsiteX101" fmla="*/ 323326 w 542925"/>
              <a:gd name="connsiteY101" fmla="*/ 226457 h 390525"/>
              <a:gd name="connsiteX102" fmla="*/ 320087 w 542925"/>
              <a:gd name="connsiteY102" fmla="*/ 164258 h 390525"/>
              <a:gd name="connsiteX103" fmla="*/ 320087 w 542925"/>
              <a:gd name="connsiteY103" fmla="*/ 164258 h 390525"/>
              <a:gd name="connsiteX104" fmla="*/ 282749 w 542925"/>
              <a:gd name="connsiteY104" fmla="*/ 141398 h 390525"/>
              <a:gd name="connsiteX105" fmla="*/ 240268 w 542925"/>
              <a:gd name="connsiteY105" fmla="*/ 151590 h 390525"/>
              <a:gd name="connsiteX106" fmla="*/ 217408 w 542925"/>
              <a:gd name="connsiteY106" fmla="*/ 188928 h 390525"/>
              <a:gd name="connsiteX107" fmla="*/ 224361 w 542925"/>
              <a:gd name="connsiteY107" fmla="*/ 226457 h 390525"/>
              <a:gd name="connsiteX108" fmla="*/ 207216 w 542925"/>
              <a:gd name="connsiteY108" fmla="*/ 226457 h 390525"/>
              <a:gd name="connsiteX109" fmla="*/ 207216 w 542925"/>
              <a:gd name="connsiteY109" fmla="*/ 251603 h 390525"/>
              <a:gd name="connsiteX110" fmla="*/ 188166 w 542925"/>
              <a:gd name="connsiteY110" fmla="*/ 197882 h 390525"/>
              <a:gd name="connsiteX111" fmla="*/ 273891 w 542925"/>
              <a:gd name="connsiteY111" fmla="*/ 112157 h 390525"/>
              <a:gd name="connsiteX112" fmla="*/ 255031 w 542925"/>
              <a:gd name="connsiteY112" fmla="*/ 194929 h 390525"/>
              <a:gd name="connsiteX113" fmla="*/ 262652 w 542925"/>
              <a:gd name="connsiteY113" fmla="*/ 182451 h 390525"/>
              <a:gd name="connsiteX114" fmla="*/ 273796 w 542925"/>
              <a:gd name="connsiteY114" fmla="*/ 178832 h 390525"/>
              <a:gd name="connsiteX115" fmla="*/ 276844 w 542925"/>
              <a:gd name="connsiteY115" fmla="*/ 179117 h 390525"/>
              <a:gd name="connsiteX116" fmla="*/ 289322 w 542925"/>
              <a:gd name="connsiteY116" fmla="*/ 186737 h 390525"/>
              <a:gd name="connsiteX117" fmla="*/ 285131 w 542925"/>
              <a:gd name="connsiteY117" fmla="*/ 213312 h 390525"/>
              <a:gd name="connsiteX118" fmla="*/ 258556 w 542925"/>
              <a:gd name="connsiteY118" fmla="*/ 209121 h 390525"/>
              <a:gd name="connsiteX119" fmla="*/ 255031 w 542925"/>
              <a:gd name="connsiteY119" fmla="*/ 194929 h 390525"/>
              <a:gd name="connsiteX120" fmla="*/ 83105 w 542925"/>
              <a:gd name="connsiteY120" fmla="*/ 200834 h 390525"/>
              <a:gd name="connsiteX121" fmla="*/ 75485 w 542925"/>
              <a:gd name="connsiteY121" fmla="*/ 213312 h 390525"/>
              <a:gd name="connsiteX122" fmla="*/ 48910 w 542925"/>
              <a:gd name="connsiteY122" fmla="*/ 209121 h 390525"/>
              <a:gd name="connsiteX123" fmla="*/ 45481 w 542925"/>
              <a:gd name="connsiteY123" fmla="*/ 194929 h 390525"/>
              <a:gd name="connsiteX124" fmla="*/ 53102 w 542925"/>
              <a:gd name="connsiteY124" fmla="*/ 182451 h 390525"/>
              <a:gd name="connsiteX125" fmla="*/ 64246 w 542925"/>
              <a:gd name="connsiteY125" fmla="*/ 178832 h 390525"/>
              <a:gd name="connsiteX126" fmla="*/ 67294 w 542925"/>
              <a:gd name="connsiteY126" fmla="*/ 179117 h 390525"/>
              <a:gd name="connsiteX127" fmla="*/ 79676 w 542925"/>
              <a:gd name="connsiteY127" fmla="*/ 186737 h 390525"/>
              <a:gd name="connsiteX128" fmla="*/ 79676 w 542925"/>
              <a:gd name="connsiteY128" fmla="*/ 186737 h 390525"/>
              <a:gd name="connsiteX129" fmla="*/ 83105 w 542925"/>
              <a:gd name="connsiteY129" fmla="*/ 200834 h 390525"/>
              <a:gd name="connsiteX130" fmla="*/ 245316 w 542925"/>
              <a:gd name="connsiteY130" fmla="*/ 278654 h 390525"/>
              <a:gd name="connsiteX131" fmla="*/ 245316 w 542925"/>
              <a:gd name="connsiteY131" fmla="*/ 264557 h 390525"/>
              <a:gd name="connsiteX132" fmla="*/ 302466 w 542925"/>
              <a:gd name="connsiteY132" fmla="*/ 264557 h 390525"/>
              <a:gd name="connsiteX133" fmla="*/ 302466 w 542925"/>
              <a:gd name="connsiteY133" fmla="*/ 278558 h 390525"/>
              <a:gd name="connsiteX134" fmla="*/ 273891 w 542925"/>
              <a:gd name="connsiteY134" fmla="*/ 283607 h 390525"/>
              <a:gd name="connsiteX135" fmla="*/ 245316 w 542925"/>
              <a:gd name="connsiteY135" fmla="*/ 278654 h 390525"/>
              <a:gd name="connsiteX136" fmla="*/ 498872 w 542925"/>
              <a:gd name="connsiteY136" fmla="*/ 209121 h 390525"/>
              <a:gd name="connsiteX137" fmla="*/ 486489 w 542925"/>
              <a:gd name="connsiteY137" fmla="*/ 216741 h 390525"/>
              <a:gd name="connsiteX138" fmla="*/ 472297 w 542925"/>
              <a:gd name="connsiteY138" fmla="*/ 213312 h 390525"/>
              <a:gd name="connsiteX139" fmla="*/ 468106 w 542925"/>
              <a:gd name="connsiteY139" fmla="*/ 186737 h 390525"/>
              <a:gd name="connsiteX140" fmla="*/ 483536 w 542925"/>
              <a:gd name="connsiteY140" fmla="*/ 178927 h 390525"/>
              <a:gd name="connsiteX141" fmla="*/ 494681 w 542925"/>
              <a:gd name="connsiteY141" fmla="*/ 182546 h 390525"/>
              <a:gd name="connsiteX142" fmla="*/ 502301 w 542925"/>
              <a:gd name="connsiteY142" fmla="*/ 195024 h 390525"/>
              <a:gd name="connsiteX143" fmla="*/ 498872 w 542925"/>
              <a:gd name="connsiteY143" fmla="*/ 209121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542925" h="390525">
                <a:moveTo>
                  <a:pt x="539924" y="188928"/>
                </a:moveTo>
                <a:cubicBezTo>
                  <a:pt x="537543" y="173879"/>
                  <a:pt x="529447" y="160639"/>
                  <a:pt x="517064" y="151590"/>
                </a:cubicBezTo>
                <a:cubicBezTo>
                  <a:pt x="504682" y="142637"/>
                  <a:pt x="489632" y="139017"/>
                  <a:pt x="474583" y="141398"/>
                </a:cubicBezTo>
                <a:cubicBezTo>
                  <a:pt x="459533" y="143780"/>
                  <a:pt x="446294" y="151876"/>
                  <a:pt x="437245" y="164258"/>
                </a:cubicBezTo>
                <a:cubicBezTo>
                  <a:pt x="433911" y="168735"/>
                  <a:pt x="431435" y="173688"/>
                  <a:pt x="429625" y="178832"/>
                </a:cubicBezTo>
                <a:lnTo>
                  <a:pt x="396192" y="178832"/>
                </a:lnTo>
                <a:cubicBezTo>
                  <a:pt x="394287" y="166449"/>
                  <a:pt x="390572" y="154733"/>
                  <a:pt x="385238" y="143875"/>
                </a:cubicBezTo>
                <a:lnTo>
                  <a:pt x="418861" y="115014"/>
                </a:lnTo>
                <a:cubicBezTo>
                  <a:pt x="427053" y="119300"/>
                  <a:pt x="436006" y="121586"/>
                  <a:pt x="445246" y="121586"/>
                </a:cubicBezTo>
                <a:cubicBezTo>
                  <a:pt x="448294" y="121586"/>
                  <a:pt x="451247" y="121396"/>
                  <a:pt x="454294" y="120824"/>
                </a:cubicBezTo>
                <a:cubicBezTo>
                  <a:pt x="469344" y="118443"/>
                  <a:pt x="482584" y="110347"/>
                  <a:pt x="491632" y="97964"/>
                </a:cubicBezTo>
                <a:cubicBezTo>
                  <a:pt x="500586" y="85582"/>
                  <a:pt x="504206" y="70532"/>
                  <a:pt x="501824" y="55388"/>
                </a:cubicBezTo>
                <a:cubicBezTo>
                  <a:pt x="499443" y="40243"/>
                  <a:pt x="491347" y="27098"/>
                  <a:pt x="478964" y="18049"/>
                </a:cubicBezTo>
                <a:cubicBezTo>
                  <a:pt x="466582" y="9096"/>
                  <a:pt x="451532" y="5477"/>
                  <a:pt x="436483" y="7858"/>
                </a:cubicBezTo>
                <a:cubicBezTo>
                  <a:pt x="421433" y="10239"/>
                  <a:pt x="408194" y="18335"/>
                  <a:pt x="399145" y="30718"/>
                </a:cubicBezTo>
                <a:cubicBezTo>
                  <a:pt x="390096" y="43100"/>
                  <a:pt x="386572" y="58150"/>
                  <a:pt x="388953" y="73295"/>
                </a:cubicBezTo>
                <a:cubicBezTo>
                  <a:pt x="389715" y="78057"/>
                  <a:pt x="391239" y="82534"/>
                  <a:pt x="393049" y="86820"/>
                </a:cubicBezTo>
                <a:lnTo>
                  <a:pt x="363331" y="112252"/>
                </a:lnTo>
                <a:cubicBezTo>
                  <a:pt x="340756" y="88630"/>
                  <a:pt x="309038" y="73866"/>
                  <a:pt x="273891" y="73866"/>
                </a:cubicBezTo>
                <a:cubicBezTo>
                  <a:pt x="238744" y="73866"/>
                  <a:pt x="207026" y="88630"/>
                  <a:pt x="184451" y="112252"/>
                </a:cubicBezTo>
                <a:lnTo>
                  <a:pt x="154733" y="86820"/>
                </a:lnTo>
                <a:cubicBezTo>
                  <a:pt x="156543" y="82534"/>
                  <a:pt x="158067" y="78057"/>
                  <a:pt x="158829" y="73295"/>
                </a:cubicBezTo>
                <a:cubicBezTo>
                  <a:pt x="161210" y="58245"/>
                  <a:pt x="157591" y="43100"/>
                  <a:pt x="148637" y="30718"/>
                </a:cubicBezTo>
                <a:cubicBezTo>
                  <a:pt x="139684" y="18335"/>
                  <a:pt x="126444" y="10239"/>
                  <a:pt x="111299" y="7858"/>
                </a:cubicBezTo>
                <a:cubicBezTo>
                  <a:pt x="96250" y="5477"/>
                  <a:pt x="81105" y="9096"/>
                  <a:pt x="68818" y="18049"/>
                </a:cubicBezTo>
                <a:cubicBezTo>
                  <a:pt x="56435" y="27003"/>
                  <a:pt x="48339" y="40243"/>
                  <a:pt x="45958" y="55388"/>
                </a:cubicBezTo>
                <a:cubicBezTo>
                  <a:pt x="43577" y="70437"/>
                  <a:pt x="47196" y="85582"/>
                  <a:pt x="56149" y="97869"/>
                </a:cubicBezTo>
                <a:cubicBezTo>
                  <a:pt x="65103" y="110251"/>
                  <a:pt x="78343" y="118348"/>
                  <a:pt x="93487" y="120729"/>
                </a:cubicBezTo>
                <a:cubicBezTo>
                  <a:pt x="96535" y="121205"/>
                  <a:pt x="99583" y="121491"/>
                  <a:pt x="102536" y="121491"/>
                </a:cubicBezTo>
                <a:cubicBezTo>
                  <a:pt x="111776" y="121491"/>
                  <a:pt x="120824" y="119205"/>
                  <a:pt x="128920" y="114919"/>
                </a:cubicBezTo>
                <a:lnTo>
                  <a:pt x="162544" y="143780"/>
                </a:lnTo>
                <a:cubicBezTo>
                  <a:pt x="157210" y="154638"/>
                  <a:pt x="153495" y="166354"/>
                  <a:pt x="151590" y="178736"/>
                </a:cubicBezTo>
                <a:lnTo>
                  <a:pt x="118157" y="178736"/>
                </a:lnTo>
                <a:cubicBezTo>
                  <a:pt x="116348" y="173593"/>
                  <a:pt x="113776" y="168735"/>
                  <a:pt x="110537" y="164163"/>
                </a:cubicBezTo>
                <a:cubicBezTo>
                  <a:pt x="101584" y="151781"/>
                  <a:pt x="88344" y="143684"/>
                  <a:pt x="73199" y="141303"/>
                </a:cubicBezTo>
                <a:cubicBezTo>
                  <a:pt x="58150" y="138922"/>
                  <a:pt x="43005" y="142541"/>
                  <a:pt x="30718" y="151495"/>
                </a:cubicBezTo>
                <a:cubicBezTo>
                  <a:pt x="18335" y="160448"/>
                  <a:pt x="10239" y="173688"/>
                  <a:pt x="7858" y="188833"/>
                </a:cubicBezTo>
                <a:cubicBezTo>
                  <a:pt x="5477" y="203882"/>
                  <a:pt x="9096" y="219027"/>
                  <a:pt x="18049" y="231410"/>
                </a:cubicBezTo>
                <a:cubicBezTo>
                  <a:pt x="29194" y="246745"/>
                  <a:pt x="46624" y="254936"/>
                  <a:pt x="64341" y="254936"/>
                </a:cubicBezTo>
                <a:cubicBezTo>
                  <a:pt x="75961" y="254936"/>
                  <a:pt x="87773" y="251412"/>
                  <a:pt x="97869" y="244078"/>
                </a:cubicBezTo>
                <a:cubicBezTo>
                  <a:pt x="107394" y="237220"/>
                  <a:pt x="114252" y="227695"/>
                  <a:pt x="118062" y="216932"/>
                </a:cubicBezTo>
                <a:lnTo>
                  <a:pt x="151590" y="216932"/>
                </a:lnTo>
                <a:cubicBezTo>
                  <a:pt x="153495" y="229314"/>
                  <a:pt x="157210" y="241030"/>
                  <a:pt x="162544" y="251888"/>
                </a:cubicBezTo>
                <a:lnTo>
                  <a:pt x="128920" y="280749"/>
                </a:lnTo>
                <a:cubicBezTo>
                  <a:pt x="110252" y="271034"/>
                  <a:pt x="86915" y="271891"/>
                  <a:pt x="68818" y="285035"/>
                </a:cubicBezTo>
                <a:cubicBezTo>
                  <a:pt x="43291" y="303609"/>
                  <a:pt x="37671" y="339423"/>
                  <a:pt x="56149" y="364855"/>
                </a:cubicBezTo>
                <a:cubicBezTo>
                  <a:pt x="67294" y="380190"/>
                  <a:pt x="84724" y="388382"/>
                  <a:pt x="102441" y="388382"/>
                </a:cubicBezTo>
                <a:cubicBezTo>
                  <a:pt x="114061" y="388382"/>
                  <a:pt x="125873" y="384857"/>
                  <a:pt x="135969" y="377523"/>
                </a:cubicBezTo>
                <a:cubicBezTo>
                  <a:pt x="157972" y="361521"/>
                  <a:pt x="165115" y="332660"/>
                  <a:pt x="154828" y="308657"/>
                </a:cubicBezTo>
                <a:lnTo>
                  <a:pt x="184356" y="283321"/>
                </a:lnTo>
                <a:cubicBezTo>
                  <a:pt x="206930" y="306943"/>
                  <a:pt x="238648" y="321707"/>
                  <a:pt x="273796" y="321707"/>
                </a:cubicBezTo>
                <a:cubicBezTo>
                  <a:pt x="308943" y="321707"/>
                  <a:pt x="340661" y="306943"/>
                  <a:pt x="363236" y="283321"/>
                </a:cubicBezTo>
                <a:lnTo>
                  <a:pt x="392763" y="308657"/>
                </a:lnTo>
                <a:cubicBezTo>
                  <a:pt x="382476" y="332660"/>
                  <a:pt x="389620" y="361521"/>
                  <a:pt x="411623" y="377523"/>
                </a:cubicBezTo>
                <a:cubicBezTo>
                  <a:pt x="421719" y="384857"/>
                  <a:pt x="433530" y="388382"/>
                  <a:pt x="445151" y="388382"/>
                </a:cubicBezTo>
                <a:cubicBezTo>
                  <a:pt x="462867" y="388382"/>
                  <a:pt x="480298" y="380190"/>
                  <a:pt x="491442" y="364855"/>
                </a:cubicBezTo>
                <a:cubicBezTo>
                  <a:pt x="509920" y="339328"/>
                  <a:pt x="504301" y="303514"/>
                  <a:pt x="478774" y="285035"/>
                </a:cubicBezTo>
                <a:cubicBezTo>
                  <a:pt x="460676" y="271891"/>
                  <a:pt x="437340" y="271034"/>
                  <a:pt x="418671" y="280749"/>
                </a:cubicBezTo>
                <a:lnTo>
                  <a:pt x="385048" y="251888"/>
                </a:lnTo>
                <a:cubicBezTo>
                  <a:pt x="390382" y="241030"/>
                  <a:pt x="394097" y="229314"/>
                  <a:pt x="396002" y="217027"/>
                </a:cubicBezTo>
                <a:lnTo>
                  <a:pt x="429530" y="217027"/>
                </a:lnTo>
                <a:cubicBezTo>
                  <a:pt x="433340" y="227885"/>
                  <a:pt x="440293" y="237315"/>
                  <a:pt x="449723" y="244173"/>
                </a:cubicBezTo>
                <a:cubicBezTo>
                  <a:pt x="459819" y="251507"/>
                  <a:pt x="471630" y="255032"/>
                  <a:pt x="483251" y="255032"/>
                </a:cubicBezTo>
                <a:cubicBezTo>
                  <a:pt x="500967" y="255032"/>
                  <a:pt x="518398" y="246840"/>
                  <a:pt x="529542" y="231505"/>
                </a:cubicBezTo>
                <a:cubicBezTo>
                  <a:pt x="538686" y="219122"/>
                  <a:pt x="542306" y="204073"/>
                  <a:pt x="539924" y="188928"/>
                </a:cubicBezTo>
                <a:close/>
                <a:moveTo>
                  <a:pt x="429911" y="53387"/>
                </a:moveTo>
                <a:cubicBezTo>
                  <a:pt x="433625" y="48244"/>
                  <a:pt x="439436" y="45577"/>
                  <a:pt x="445341" y="45577"/>
                </a:cubicBezTo>
                <a:cubicBezTo>
                  <a:pt x="449246" y="45577"/>
                  <a:pt x="453152" y="46720"/>
                  <a:pt x="456485" y="49196"/>
                </a:cubicBezTo>
                <a:cubicBezTo>
                  <a:pt x="460581" y="52149"/>
                  <a:pt x="463343" y="56626"/>
                  <a:pt x="464105" y="61579"/>
                </a:cubicBezTo>
                <a:cubicBezTo>
                  <a:pt x="464867" y="66627"/>
                  <a:pt x="463724" y="71675"/>
                  <a:pt x="460676" y="75771"/>
                </a:cubicBezTo>
                <a:cubicBezTo>
                  <a:pt x="457723" y="79867"/>
                  <a:pt x="453247" y="82629"/>
                  <a:pt x="448294" y="83391"/>
                </a:cubicBezTo>
                <a:cubicBezTo>
                  <a:pt x="443245" y="84153"/>
                  <a:pt x="438197" y="83010"/>
                  <a:pt x="434102" y="79962"/>
                </a:cubicBezTo>
                <a:cubicBezTo>
                  <a:pt x="430006" y="76914"/>
                  <a:pt x="427244" y="72533"/>
                  <a:pt x="426481" y="67580"/>
                </a:cubicBezTo>
                <a:cubicBezTo>
                  <a:pt x="425719" y="62531"/>
                  <a:pt x="426958" y="57483"/>
                  <a:pt x="429911" y="53387"/>
                </a:cubicBezTo>
                <a:close/>
                <a:moveTo>
                  <a:pt x="99488" y="83391"/>
                </a:moveTo>
                <a:cubicBezTo>
                  <a:pt x="94440" y="82629"/>
                  <a:pt x="90058" y="79867"/>
                  <a:pt x="87010" y="75771"/>
                </a:cubicBezTo>
                <a:cubicBezTo>
                  <a:pt x="84058" y="71675"/>
                  <a:pt x="82819" y="66627"/>
                  <a:pt x="83581" y="61579"/>
                </a:cubicBezTo>
                <a:cubicBezTo>
                  <a:pt x="84344" y="56531"/>
                  <a:pt x="87106" y="52149"/>
                  <a:pt x="91202" y="49101"/>
                </a:cubicBezTo>
                <a:cubicBezTo>
                  <a:pt x="94535" y="46720"/>
                  <a:pt x="98345" y="45482"/>
                  <a:pt x="102346" y="45482"/>
                </a:cubicBezTo>
                <a:cubicBezTo>
                  <a:pt x="103394" y="45482"/>
                  <a:pt x="104346" y="45577"/>
                  <a:pt x="105394" y="45767"/>
                </a:cubicBezTo>
                <a:cubicBezTo>
                  <a:pt x="110442" y="46529"/>
                  <a:pt x="114823" y="49291"/>
                  <a:pt x="117776" y="53387"/>
                </a:cubicBezTo>
                <a:lnTo>
                  <a:pt x="117776" y="53387"/>
                </a:lnTo>
                <a:cubicBezTo>
                  <a:pt x="120729" y="57483"/>
                  <a:pt x="121967" y="62531"/>
                  <a:pt x="121205" y="67580"/>
                </a:cubicBezTo>
                <a:cubicBezTo>
                  <a:pt x="120443" y="72628"/>
                  <a:pt x="117681" y="77009"/>
                  <a:pt x="113585" y="80057"/>
                </a:cubicBezTo>
                <a:cubicBezTo>
                  <a:pt x="109489" y="82915"/>
                  <a:pt x="104441" y="84153"/>
                  <a:pt x="99488" y="83391"/>
                </a:cubicBezTo>
                <a:close/>
                <a:moveTo>
                  <a:pt x="113681" y="346662"/>
                </a:moveTo>
                <a:cubicBezTo>
                  <a:pt x="105203" y="352853"/>
                  <a:pt x="93202" y="350948"/>
                  <a:pt x="87106" y="342471"/>
                </a:cubicBezTo>
                <a:cubicBezTo>
                  <a:pt x="80914" y="333994"/>
                  <a:pt x="82819" y="321992"/>
                  <a:pt x="91297" y="315896"/>
                </a:cubicBezTo>
                <a:cubicBezTo>
                  <a:pt x="94631" y="313420"/>
                  <a:pt x="98631" y="312277"/>
                  <a:pt x="102441" y="312277"/>
                </a:cubicBezTo>
                <a:cubicBezTo>
                  <a:pt x="108347" y="312277"/>
                  <a:pt x="114157" y="315039"/>
                  <a:pt x="117872" y="320087"/>
                </a:cubicBezTo>
                <a:cubicBezTo>
                  <a:pt x="124063" y="328565"/>
                  <a:pt x="122158" y="340471"/>
                  <a:pt x="113681" y="346662"/>
                </a:cubicBezTo>
                <a:close/>
                <a:moveTo>
                  <a:pt x="456485" y="315801"/>
                </a:moveTo>
                <a:cubicBezTo>
                  <a:pt x="464962" y="321992"/>
                  <a:pt x="466868" y="333899"/>
                  <a:pt x="460676" y="342376"/>
                </a:cubicBezTo>
                <a:cubicBezTo>
                  <a:pt x="457723" y="346472"/>
                  <a:pt x="453247" y="349139"/>
                  <a:pt x="448294" y="349996"/>
                </a:cubicBezTo>
                <a:cubicBezTo>
                  <a:pt x="443341" y="350758"/>
                  <a:pt x="438197" y="349615"/>
                  <a:pt x="434102" y="346567"/>
                </a:cubicBezTo>
                <a:cubicBezTo>
                  <a:pt x="425624" y="340376"/>
                  <a:pt x="423719" y="328469"/>
                  <a:pt x="429911" y="319992"/>
                </a:cubicBezTo>
                <a:cubicBezTo>
                  <a:pt x="436102" y="311515"/>
                  <a:pt x="448103" y="309610"/>
                  <a:pt x="456485" y="315801"/>
                </a:cubicBezTo>
                <a:close/>
                <a:moveTo>
                  <a:pt x="273891" y="112157"/>
                </a:moveTo>
                <a:cubicBezTo>
                  <a:pt x="321135" y="112157"/>
                  <a:pt x="359616" y="150638"/>
                  <a:pt x="359616" y="197882"/>
                </a:cubicBezTo>
                <a:cubicBezTo>
                  <a:pt x="359616" y="218265"/>
                  <a:pt x="352472" y="236934"/>
                  <a:pt x="340566" y="251603"/>
                </a:cubicBezTo>
                <a:lnTo>
                  <a:pt x="340566" y="226457"/>
                </a:lnTo>
                <a:lnTo>
                  <a:pt x="323326" y="226457"/>
                </a:lnTo>
                <a:cubicBezTo>
                  <a:pt x="334280" y="207502"/>
                  <a:pt x="333803" y="183118"/>
                  <a:pt x="320087" y="164258"/>
                </a:cubicBezTo>
                <a:lnTo>
                  <a:pt x="320087" y="164258"/>
                </a:lnTo>
                <a:cubicBezTo>
                  <a:pt x="311134" y="151876"/>
                  <a:pt x="297894" y="143780"/>
                  <a:pt x="282749" y="141398"/>
                </a:cubicBezTo>
                <a:cubicBezTo>
                  <a:pt x="267700" y="139017"/>
                  <a:pt x="252555" y="142637"/>
                  <a:pt x="240268" y="151590"/>
                </a:cubicBezTo>
                <a:cubicBezTo>
                  <a:pt x="227885" y="160544"/>
                  <a:pt x="219789" y="173783"/>
                  <a:pt x="217408" y="188928"/>
                </a:cubicBezTo>
                <a:cubicBezTo>
                  <a:pt x="215312" y="201977"/>
                  <a:pt x="217789" y="215122"/>
                  <a:pt x="224361" y="226457"/>
                </a:cubicBezTo>
                <a:lnTo>
                  <a:pt x="207216" y="226457"/>
                </a:lnTo>
                <a:lnTo>
                  <a:pt x="207216" y="251603"/>
                </a:lnTo>
                <a:cubicBezTo>
                  <a:pt x="195310" y="236839"/>
                  <a:pt x="188166" y="218170"/>
                  <a:pt x="188166" y="197882"/>
                </a:cubicBezTo>
                <a:cubicBezTo>
                  <a:pt x="188166" y="150638"/>
                  <a:pt x="226647" y="112157"/>
                  <a:pt x="273891" y="112157"/>
                </a:cubicBezTo>
                <a:close/>
                <a:moveTo>
                  <a:pt x="255031" y="194929"/>
                </a:moveTo>
                <a:cubicBezTo>
                  <a:pt x="255794" y="189881"/>
                  <a:pt x="258556" y="185499"/>
                  <a:pt x="262652" y="182451"/>
                </a:cubicBezTo>
                <a:cubicBezTo>
                  <a:pt x="265985" y="180070"/>
                  <a:pt x="269795" y="178832"/>
                  <a:pt x="273796" y="178832"/>
                </a:cubicBezTo>
                <a:cubicBezTo>
                  <a:pt x="274844" y="178832"/>
                  <a:pt x="275796" y="178927"/>
                  <a:pt x="276844" y="179117"/>
                </a:cubicBezTo>
                <a:cubicBezTo>
                  <a:pt x="281892" y="179879"/>
                  <a:pt x="286273" y="182642"/>
                  <a:pt x="289322" y="186737"/>
                </a:cubicBezTo>
                <a:cubicBezTo>
                  <a:pt x="295513" y="195215"/>
                  <a:pt x="293608" y="207216"/>
                  <a:pt x="285131" y="213312"/>
                </a:cubicBezTo>
                <a:cubicBezTo>
                  <a:pt x="276653" y="219503"/>
                  <a:pt x="264652" y="217598"/>
                  <a:pt x="258556" y="209121"/>
                </a:cubicBezTo>
                <a:cubicBezTo>
                  <a:pt x="255508" y="205025"/>
                  <a:pt x="254269" y="199977"/>
                  <a:pt x="255031" y="194929"/>
                </a:cubicBezTo>
                <a:close/>
                <a:moveTo>
                  <a:pt x="83105" y="200834"/>
                </a:moveTo>
                <a:cubicBezTo>
                  <a:pt x="82343" y="205883"/>
                  <a:pt x="79581" y="210264"/>
                  <a:pt x="75485" y="213312"/>
                </a:cubicBezTo>
                <a:cubicBezTo>
                  <a:pt x="67008" y="219503"/>
                  <a:pt x="55006" y="217598"/>
                  <a:pt x="48910" y="209121"/>
                </a:cubicBezTo>
                <a:cubicBezTo>
                  <a:pt x="45958" y="205025"/>
                  <a:pt x="44719" y="199977"/>
                  <a:pt x="45481" y="194929"/>
                </a:cubicBezTo>
                <a:cubicBezTo>
                  <a:pt x="46244" y="189881"/>
                  <a:pt x="49006" y="185499"/>
                  <a:pt x="53102" y="182451"/>
                </a:cubicBezTo>
                <a:cubicBezTo>
                  <a:pt x="56435" y="180070"/>
                  <a:pt x="60245" y="178832"/>
                  <a:pt x="64246" y="178832"/>
                </a:cubicBezTo>
                <a:cubicBezTo>
                  <a:pt x="65294" y="178832"/>
                  <a:pt x="66246" y="178927"/>
                  <a:pt x="67294" y="179117"/>
                </a:cubicBezTo>
                <a:cubicBezTo>
                  <a:pt x="72342" y="179879"/>
                  <a:pt x="76723" y="182642"/>
                  <a:pt x="79676" y="186737"/>
                </a:cubicBezTo>
                <a:lnTo>
                  <a:pt x="79676" y="186737"/>
                </a:lnTo>
                <a:cubicBezTo>
                  <a:pt x="82724" y="190833"/>
                  <a:pt x="83962" y="195881"/>
                  <a:pt x="83105" y="200834"/>
                </a:cubicBezTo>
                <a:close/>
                <a:moveTo>
                  <a:pt x="245316" y="278654"/>
                </a:moveTo>
                <a:lnTo>
                  <a:pt x="245316" y="264557"/>
                </a:lnTo>
                <a:lnTo>
                  <a:pt x="302466" y="264557"/>
                </a:lnTo>
                <a:lnTo>
                  <a:pt x="302466" y="278558"/>
                </a:lnTo>
                <a:cubicBezTo>
                  <a:pt x="293512" y="281702"/>
                  <a:pt x="283892" y="283607"/>
                  <a:pt x="273891" y="283607"/>
                </a:cubicBezTo>
                <a:cubicBezTo>
                  <a:pt x="263890" y="283607"/>
                  <a:pt x="254269" y="281797"/>
                  <a:pt x="245316" y="278654"/>
                </a:cubicBezTo>
                <a:close/>
                <a:moveTo>
                  <a:pt x="498872" y="209121"/>
                </a:moveTo>
                <a:cubicBezTo>
                  <a:pt x="495919" y="213217"/>
                  <a:pt x="491442" y="215884"/>
                  <a:pt x="486489" y="216741"/>
                </a:cubicBezTo>
                <a:cubicBezTo>
                  <a:pt x="481441" y="217503"/>
                  <a:pt x="476393" y="216360"/>
                  <a:pt x="472297" y="213312"/>
                </a:cubicBezTo>
                <a:cubicBezTo>
                  <a:pt x="463819" y="207121"/>
                  <a:pt x="461915" y="195215"/>
                  <a:pt x="468106" y="186737"/>
                </a:cubicBezTo>
                <a:cubicBezTo>
                  <a:pt x="471820" y="181594"/>
                  <a:pt x="477631" y="178927"/>
                  <a:pt x="483536" y="178927"/>
                </a:cubicBezTo>
                <a:cubicBezTo>
                  <a:pt x="487441" y="178927"/>
                  <a:pt x="491347" y="180070"/>
                  <a:pt x="494681" y="182546"/>
                </a:cubicBezTo>
                <a:cubicBezTo>
                  <a:pt x="498776" y="185499"/>
                  <a:pt x="501539" y="189976"/>
                  <a:pt x="502301" y="195024"/>
                </a:cubicBezTo>
                <a:cubicBezTo>
                  <a:pt x="503062" y="199977"/>
                  <a:pt x="501824" y="205025"/>
                  <a:pt x="498872" y="209121"/>
                </a:cubicBezTo>
                <a:close/>
              </a:path>
            </a:pathLst>
          </a:custGeom>
          <a:solidFill>
            <a:schemeClr val="tx2"/>
          </a:solidFill>
          <a:ln w="9525" cap="flat">
            <a:noFill/>
            <a:prstDash val="solid"/>
            <a:miter/>
          </a:ln>
        </p:spPr>
        <p:txBody>
          <a:bodyPr rtlCol="0" anchor="ctr"/>
          <a:lstStyle/>
          <a:p>
            <a:endParaRPr lang="en-US"/>
          </a:p>
        </p:txBody>
      </p:sp>
      <p:sp>
        <p:nvSpPr>
          <p:cNvPr id="17" name="Graphic 203">
            <a:extLst>
              <a:ext uri="{FF2B5EF4-FFF2-40B4-BE49-F238E27FC236}">
                <a16:creationId xmlns:a16="http://schemas.microsoft.com/office/drawing/2014/main" id="{FFD3CFB5-3706-A4B3-11D8-01C2222E93F1}"/>
              </a:ext>
            </a:extLst>
          </p:cNvPr>
          <p:cNvSpPr>
            <a:spLocks/>
          </p:cNvSpPr>
          <p:nvPr/>
        </p:nvSpPr>
        <p:spPr>
          <a:xfrm>
            <a:off x="3349369" y="887813"/>
            <a:ext cx="365760" cy="365760"/>
          </a:xfrm>
          <a:custGeom>
            <a:avLst/>
            <a:gdLst>
              <a:gd name="connsiteX0" fmla="*/ 441350 w 502596"/>
              <a:gd name="connsiteY0" fmla="*/ 297504 h 512387"/>
              <a:gd name="connsiteX1" fmla="*/ 470230 w 502596"/>
              <a:gd name="connsiteY1" fmla="*/ 237315 h 512387"/>
              <a:gd name="connsiteX2" fmla="*/ 392878 w 502596"/>
              <a:gd name="connsiteY2" fmla="*/ 159963 h 512387"/>
              <a:gd name="connsiteX3" fmla="*/ 315535 w 502596"/>
              <a:gd name="connsiteY3" fmla="*/ 237315 h 512387"/>
              <a:gd name="connsiteX4" fmla="*/ 344405 w 502596"/>
              <a:gd name="connsiteY4" fmla="*/ 297504 h 512387"/>
              <a:gd name="connsiteX5" fmla="*/ 311058 w 502596"/>
              <a:gd name="connsiteY5" fmla="*/ 297504 h 512387"/>
              <a:gd name="connsiteX6" fmla="*/ 251289 w 502596"/>
              <a:gd name="connsiteY6" fmla="*/ 269186 h 512387"/>
              <a:gd name="connsiteX7" fmla="*/ 191519 w 502596"/>
              <a:gd name="connsiteY7" fmla="*/ 297504 h 512387"/>
              <a:gd name="connsiteX8" fmla="*/ 158172 w 502596"/>
              <a:gd name="connsiteY8" fmla="*/ 297504 h 512387"/>
              <a:gd name="connsiteX9" fmla="*/ 187042 w 502596"/>
              <a:gd name="connsiteY9" fmla="*/ 237315 h 512387"/>
              <a:gd name="connsiteX10" fmla="*/ 109690 w 502596"/>
              <a:gd name="connsiteY10" fmla="*/ 159963 h 512387"/>
              <a:gd name="connsiteX11" fmla="*/ 32337 w 502596"/>
              <a:gd name="connsiteY11" fmla="*/ 237315 h 512387"/>
              <a:gd name="connsiteX12" fmla="*/ 61208 w 502596"/>
              <a:gd name="connsiteY12" fmla="*/ 297504 h 512387"/>
              <a:gd name="connsiteX13" fmla="*/ 0 w 502596"/>
              <a:gd name="connsiteY13" fmla="*/ 297504 h 512387"/>
              <a:gd name="connsiteX14" fmla="*/ 0 w 502596"/>
              <a:gd name="connsiteY14" fmla="*/ 447675 h 512387"/>
              <a:gd name="connsiteX15" fmla="*/ 33338 w 502596"/>
              <a:gd name="connsiteY15" fmla="*/ 447675 h 512387"/>
              <a:gd name="connsiteX16" fmla="*/ 33338 w 502596"/>
              <a:gd name="connsiteY16" fmla="*/ 330841 h 512387"/>
              <a:gd name="connsiteX17" fmla="*/ 175555 w 502596"/>
              <a:gd name="connsiteY17" fmla="*/ 330841 h 512387"/>
              <a:gd name="connsiteX18" fmla="*/ 173946 w 502596"/>
              <a:gd name="connsiteY18" fmla="*/ 346529 h 512387"/>
              <a:gd name="connsiteX19" fmla="*/ 202825 w 502596"/>
              <a:gd name="connsiteY19" fmla="*/ 406718 h 512387"/>
              <a:gd name="connsiteX20" fmla="*/ 145628 w 502596"/>
              <a:gd name="connsiteY20" fmla="*/ 406718 h 512387"/>
              <a:gd name="connsiteX21" fmla="*/ 145628 w 502596"/>
              <a:gd name="connsiteY21" fmla="*/ 512388 h 512387"/>
              <a:gd name="connsiteX22" fmla="*/ 178965 w 502596"/>
              <a:gd name="connsiteY22" fmla="*/ 512388 h 512387"/>
              <a:gd name="connsiteX23" fmla="*/ 178965 w 502596"/>
              <a:gd name="connsiteY23" fmla="*/ 440055 h 512387"/>
              <a:gd name="connsiteX24" fmla="*/ 323631 w 502596"/>
              <a:gd name="connsiteY24" fmla="*/ 440055 h 512387"/>
              <a:gd name="connsiteX25" fmla="*/ 323631 w 502596"/>
              <a:gd name="connsiteY25" fmla="*/ 512388 h 512387"/>
              <a:gd name="connsiteX26" fmla="*/ 356968 w 502596"/>
              <a:gd name="connsiteY26" fmla="*/ 512388 h 512387"/>
              <a:gd name="connsiteX27" fmla="*/ 356968 w 502596"/>
              <a:gd name="connsiteY27" fmla="*/ 406727 h 512387"/>
              <a:gd name="connsiteX28" fmla="*/ 299771 w 502596"/>
              <a:gd name="connsiteY28" fmla="*/ 406727 h 512387"/>
              <a:gd name="connsiteX29" fmla="*/ 328651 w 502596"/>
              <a:gd name="connsiteY29" fmla="*/ 346539 h 512387"/>
              <a:gd name="connsiteX30" fmla="*/ 327041 w 502596"/>
              <a:gd name="connsiteY30" fmla="*/ 330851 h 512387"/>
              <a:gd name="connsiteX31" fmla="*/ 469259 w 502596"/>
              <a:gd name="connsiteY31" fmla="*/ 330851 h 512387"/>
              <a:gd name="connsiteX32" fmla="*/ 469259 w 502596"/>
              <a:gd name="connsiteY32" fmla="*/ 447675 h 512387"/>
              <a:gd name="connsiteX33" fmla="*/ 502596 w 502596"/>
              <a:gd name="connsiteY33" fmla="*/ 447675 h 512387"/>
              <a:gd name="connsiteX34" fmla="*/ 502596 w 502596"/>
              <a:gd name="connsiteY34" fmla="*/ 297504 h 512387"/>
              <a:gd name="connsiteX35" fmla="*/ 441350 w 502596"/>
              <a:gd name="connsiteY35" fmla="*/ 297504 h 512387"/>
              <a:gd name="connsiteX36" fmla="*/ 392878 w 502596"/>
              <a:gd name="connsiteY36" fmla="*/ 193310 h 512387"/>
              <a:gd name="connsiteX37" fmla="*/ 436893 w 502596"/>
              <a:gd name="connsiteY37" fmla="*/ 237325 h 512387"/>
              <a:gd name="connsiteX38" fmla="*/ 392878 w 502596"/>
              <a:gd name="connsiteY38" fmla="*/ 281340 h 512387"/>
              <a:gd name="connsiteX39" fmla="*/ 348872 w 502596"/>
              <a:gd name="connsiteY39" fmla="*/ 237325 h 512387"/>
              <a:gd name="connsiteX40" fmla="*/ 392878 w 502596"/>
              <a:gd name="connsiteY40" fmla="*/ 193310 h 512387"/>
              <a:gd name="connsiteX41" fmla="*/ 109709 w 502596"/>
              <a:gd name="connsiteY41" fmla="*/ 193310 h 512387"/>
              <a:gd name="connsiteX42" fmla="*/ 153724 w 502596"/>
              <a:gd name="connsiteY42" fmla="*/ 237325 h 512387"/>
              <a:gd name="connsiteX43" fmla="*/ 109709 w 502596"/>
              <a:gd name="connsiteY43" fmla="*/ 281340 h 512387"/>
              <a:gd name="connsiteX44" fmla="*/ 65694 w 502596"/>
              <a:gd name="connsiteY44" fmla="*/ 237325 h 512387"/>
              <a:gd name="connsiteX45" fmla="*/ 109709 w 502596"/>
              <a:gd name="connsiteY45" fmla="*/ 193310 h 512387"/>
              <a:gd name="connsiteX46" fmla="*/ 251298 w 502596"/>
              <a:gd name="connsiteY46" fmla="*/ 302533 h 512387"/>
              <a:gd name="connsiteX47" fmla="*/ 295304 w 502596"/>
              <a:gd name="connsiteY47" fmla="*/ 346539 h 512387"/>
              <a:gd name="connsiteX48" fmla="*/ 251298 w 502596"/>
              <a:gd name="connsiteY48" fmla="*/ 390554 h 512387"/>
              <a:gd name="connsiteX49" fmla="*/ 207283 w 502596"/>
              <a:gd name="connsiteY49" fmla="*/ 346539 h 512387"/>
              <a:gd name="connsiteX50" fmla="*/ 251298 w 502596"/>
              <a:gd name="connsiteY50" fmla="*/ 302533 h 512387"/>
              <a:gd name="connsiteX51" fmla="*/ 267967 w 502596"/>
              <a:gd name="connsiteY51" fmla="*/ 93621 h 512387"/>
              <a:gd name="connsiteX52" fmla="*/ 234629 w 502596"/>
              <a:gd name="connsiteY52" fmla="*/ 93621 h 512387"/>
              <a:gd name="connsiteX53" fmla="*/ 234629 w 502596"/>
              <a:gd name="connsiteY53" fmla="*/ 0 h 512387"/>
              <a:gd name="connsiteX54" fmla="*/ 267967 w 502596"/>
              <a:gd name="connsiteY54" fmla="*/ 0 h 512387"/>
              <a:gd name="connsiteX55" fmla="*/ 267967 w 502596"/>
              <a:gd name="connsiteY55" fmla="*/ 93621 h 512387"/>
              <a:gd name="connsiteX56" fmla="*/ 152343 w 502596"/>
              <a:gd name="connsiteY56" fmla="*/ 125368 h 512387"/>
              <a:gd name="connsiteX57" fmla="*/ 112100 w 502596"/>
              <a:gd name="connsiteY57" fmla="*/ 40843 h 512387"/>
              <a:gd name="connsiteX58" fmla="*/ 142199 w 502596"/>
              <a:gd name="connsiteY58" fmla="*/ 26508 h 512387"/>
              <a:gd name="connsiteX59" fmla="*/ 182442 w 502596"/>
              <a:gd name="connsiteY59" fmla="*/ 111033 h 512387"/>
              <a:gd name="connsiteX60" fmla="*/ 152343 w 502596"/>
              <a:gd name="connsiteY60" fmla="*/ 125368 h 512387"/>
              <a:gd name="connsiteX61" fmla="*/ 350244 w 502596"/>
              <a:gd name="connsiteY61" fmla="*/ 125368 h 512387"/>
              <a:gd name="connsiteX62" fmla="*/ 320145 w 502596"/>
              <a:gd name="connsiteY62" fmla="*/ 111033 h 512387"/>
              <a:gd name="connsiteX63" fmla="*/ 360388 w 502596"/>
              <a:gd name="connsiteY63" fmla="*/ 26508 h 512387"/>
              <a:gd name="connsiteX64" fmla="*/ 390487 w 502596"/>
              <a:gd name="connsiteY64" fmla="*/ 40843 h 512387"/>
              <a:gd name="connsiteX65" fmla="*/ 350244 w 502596"/>
              <a:gd name="connsiteY65" fmla="*/ 125368 h 51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02596" h="512387">
                <a:moveTo>
                  <a:pt x="441350" y="297504"/>
                </a:moveTo>
                <a:cubicBezTo>
                  <a:pt x="458934" y="283312"/>
                  <a:pt x="470230" y="261623"/>
                  <a:pt x="470230" y="237315"/>
                </a:cubicBezTo>
                <a:cubicBezTo>
                  <a:pt x="470230" y="194662"/>
                  <a:pt x="435521" y="159963"/>
                  <a:pt x="392878" y="159963"/>
                </a:cubicBezTo>
                <a:cubicBezTo>
                  <a:pt x="350234" y="159963"/>
                  <a:pt x="315535" y="194662"/>
                  <a:pt x="315535" y="237315"/>
                </a:cubicBezTo>
                <a:cubicBezTo>
                  <a:pt x="315535" y="261623"/>
                  <a:pt x="326822" y="283312"/>
                  <a:pt x="344405" y="297504"/>
                </a:cubicBezTo>
                <a:lnTo>
                  <a:pt x="311058" y="297504"/>
                </a:lnTo>
                <a:cubicBezTo>
                  <a:pt x="296866" y="280226"/>
                  <a:pt x="275349" y="269186"/>
                  <a:pt x="251289" y="269186"/>
                </a:cubicBezTo>
                <a:cubicBezTo>
                  <a:pt x="227228" y="269186"/>
                  <a:pt x="205721" y="280226"/>
                  <a:pt x="191519" y="297504"/>
                </a:cubicBezTo>
                <a:lnTo>
                  <a:pt x="158172" y="297504"/>
                </a:lnTo>
                <a:cubicBezTo>
                  <a:pt x="175755" y="283312"/>
                  <a:pt x="187042" y="261623"/>
                  <a:pt x="187042" y="237315"/>
                </a:cubicBezTo>
                <a:cubicBezTo>
                  <a:pt x="187042" y="194662"/>
                  <a:pt x="152343" y="159963"/>
                  <a:pt x="109690" y="159963"/>
                </a:cubicBezTo>
                <a:cubicBezTo>
                  <a:pt x="67037" y="159963"/>
                  <a:pt x="32337" y="194662"/>
                  <a:pt x="32337" y="237315"/>
                </a:cubicBezTo>
                <a:cubicBezTo>
                  <a:pt x="32337" y="261623"/>
                  <a:pt x="43625" y="283312"/>
                  <a:pt x="61208" y="297504"/>
                </a:cubicBezTo>
                <a:lnTo>
                  <a:pt x="0" y="297504"/>
                </a:lnTo>
                <a:lnTo>
                  <a:pt x="0" y="447675"/>
                </a:lnTo>
                <a:lnTo>
                  <a:pt x="33338" y="447675"/>
                </a:lnTo>
                <a:lnTo>
                  <a:pt x="33338" y="330841"/>
                </a:lnTo>
                <a:lnTo>
                  <a:pt x="175555" y="330841"/>
                </a:lnTo>
                <a:cubicBezTo>
                  <a:pt x="174508" y="335909"/>
                  <a:pt x="173946" y="341157"/>
                  <a:pt x="173946" y="346529"/>
                </a:cubicBezTo>
                <a:cubicBezTo>
                  <a:pt x="173946" y="370837"/>
                  <a:pt x="185233" y="392525"/>
                  <a:pt x="202825" y="406718"/>
                </a:cubicBezTo>
                <a:lnTo>
                  <a:pt x="145628" y="406718"/>
                </a:lnTo>
                <a:lnTo>
                  <a:pt x="145628" y="512388"/>
                </a:lnTo>
                <a:lnTo>
                  <a:pt x="178965" y="512388"/>
                </a:lnTo>
                <a:lnTo>
                  <a:pt x="178965" y="440055"/>
                </a:lnTo>
                <a:lnTo>
                  <a:pt x="323631" y="440055"/>
                </a:lnTo>
                <a:lnTo>
                  <a:pt x="323631" y="512388"/>
                </a:lnTo>
                <a:lnTo>
                  <a:pt x="356968" y="512388"/>
                </a:lnTo>
                <a:lnTo>
                  <a:pt x="356968" y="406727"/>
                </a:lnTo>
                <a:lnTo>
                  <a:pt x="299771" y="406727"/>
                </a:lnTo>
                <a:cubicBezTo>
                  <a:pt x="317354" y="392535"/>
                  <a:pt x="328651" y="370837"/>
                  <a:pt x="328651" y="346539"/>
                </a:cubicBezTo>
                <a:cubicBezTo>
                  <a:pt x="328651" y="341166"/>
                  <a:pt x="328089" y="335918"/>
                  <a:pt x="327041" y="330851"/>
                </a:cubicBezTo>
                <a:lnTo>
                  <a:pt x="469259" y="330851"/>
                </a:lnTo>
                <a:lnTo>
                  <a:pt x="469259" y="447675"/>
                </a:lnTo>
                <a:lnTo>
                  <a:pt x="502596" y="447675"/>
                </a:lnTo>
                <a:lnTo>
                  <a:pt x="502596" y="297504"/>
                </a:lnTo>
                <a:lnTo>
                  <a:pt x="441350" y="297504"/>
                </a:lnTo>
                <a:close/>
                <a:moveTo>
                  <a:pt x="392878" y="193310"/>
                </a:moveTo>
                <a:cubicBezTo>
                  <a:pt x="417147" y="193310"/>
                  <a:pt x="436893" y="213055"/>
                  <a:pt x="436893" y="237325"/>
                </a:cubicBezTo>
                <a:cubicBezTo>
                  <a:pt x="436893" y="261595"/>
                  <a:pt x="417147" y="281340"/>
                  <a:pt x="392878" y="281340"/>
                </a:cubicBezTo>
                <a:cubicBezTo>
                  <a:pt x="368608" y="281340"/>
                  <a:pt x="348872" y="261595"/>
                  <a:pt x="348872" y="237325"/>
                </a:cubicBezTo>
                <a:cubicBezTo>
                  <a:pt x="348872" y="213055"/>
                  <a:pt x="368608" y="193310"/>
                  <a:pt x="392878" y="193310"/>
                </a:cubicBezTo>
                <a:close/>
                <a:moveTo>
                  <a:pt x="109709" y="193310"/>
                </a:moveTo>
                <a:cubicBezTo>
                  <a:pt x="133979" y="193310"/>
                  <a:pt x="153724" y="213055"/>
                  <a:pt x="153724" y="237325"/>
                </a:cubicBezTo>
                <a:cubicBezTo>
                  <a:pt x="153724" y="261595"/>
                  <a:pt x="133979" y="281340"/>
                  <a:pt x="109709" y="281340"/>
                </a:cubicBezTo>
                <a:cubicBezTo>
                  <a:pt x="85439" y="281340"/>
                  <a:pt x="65694" y="261595"/>
                  <a:pt x="65694" y="237325"/>
                </a:cubicBezTo>
                <a:cubicBezTo>
                  <a:pt x="65694" y="213055"/>
                  <a:pt x="85439" y="193310"/>
                  <a:pt x="109709" y="193310"/>
                </a:cubicBezTo>
                <a:close/>
                <a:moveTo>
                  <a:pt x="251298" y="302533"/>
                </a:moveTo>
                <a:cubicBezTo>
                  <a:pt x="275568" y="302533"/>
                  <a:pt x="295304" y="322269"/>
                  <a:pt x="295304" y="346539"/>
                </a:cubicBezTo>
                <a:cubicBezTo>
                  <a:pt x="295304" y="370808"/>
                  <a:pt x="275568" y="390554"/>
                  <a:pt x="251298" y="390554"/>
                </a:cubicBezTo>
                <a:cubicBezTo>
                  <a:pt x="227028" y="390554"/>
                  <a:pt x="207283" y="370808"/>
                  <a:pt x="207283" y="346539"/>
                </a:cubicBezTo>
                <a:cubicBezTo>
                  <a:pt x="207283" y="322269"/>
                  <a:pt x="227028" y="302533"/>
                  <a:pt x="251298" y="302533"/>
                </a:cubicBezTo>
                <a:close/>
                <a:moveTo>
                  <a:pt x="267967" y="93621"/>
                </a:moveTo>
                <a:lnTo>
                  <a:pt x="234629" y="93621"/>
                </a:lnTo>
                <a:lnTo>
                  <a:pt x="234629" y="0"/>
                </a:lnTo>
                <a:lnTo>
                  <a:pt x="267967" y="0"/>
                </a:lnTo>
                <a:lnTo>
                  <a:pt x="267967" y="93621"/>
                </a:lnTo>
                <a:close/>
                <a:moveTo>
                  <a:pt x="152343" y="125368"/>
                </a:moveTo>
                <a:lnTo>
                  <a:pt x="112100" y="40843"/>
                </a:lnTo>
                <a:lnTo>
                  <a:pt x="142199" y="26508"/>
                </a:lnTo>
                <a:lnTo>
                  <a:pt x="182442" y="111033"/>
                </a:lnTo>
                <a:lnTo>
                  <a:pt x="152343" y="125368"/>
                </a:lnTo>
                <a:close/>
                <a:moveTo>
                  <a:pt x="350244" y="125368"/>
                </a:moveTo>
                <a:lnTo>
                  <a:pt x="320145" y="111033"/>
                </a:lnTo>
                <a:lnTo>
                  <a:pt x="360388" y="26508"/>
                </a:lnTo>
                <a:lnTo>
                  <a:pt x="390487" y="40843"/>
                </a:lnTo>
                <a:lnTo>
                  <a:pt x="350244" y="125368"/>
                </a:lnTo>
                <a:close/>
              </a:path>
            </a:pathLst>
          </a:custGeom>
          <a:solidFill>
            <a:schemeClr val="tx2"/>
          </a:solidFill>
          <a:ln w="9525" cap="flat">
            <a:noFill/>
            <a:prstDash val="solid"/>
            <a:miter/>
          </a:ln>
        </p:spPr>
        <p:txBody>
          <a:bodyPr rtlCol="0" anchor="ctr"/>
          <a:lstStyle/>
          <a:p>
            <a:endParaRPr lang="en-US"/>
          </a:p>
        </p:txBody>
      </p:sp>
      <p:sp>
        <p:nvSpPr>
          <p:cNvPr id="18" name="Freeform: Shape 173">
            <a:extLst>
              <a:ext uri="{FF2B5EF4-FFF2-40B4-BE49-F238E27FC236}">
                <a16:creationId xmlns:a16="http://schemas.microsoft.com/office/drawing/2014/main" id="{209D5039-BC4A-4D9A-5E13-5E3A43F859C9}"/>
              </a:ext>
            </a:extLst>
          </p:cNvPr>
          <p:cNvSpPr>
            <a:spLocks/>
          </p:cNvSpPr>
          <p:nvPr/>
        </p:nvSpPr>
        <p:spPr>
          <a:xfrm>
            <a:off x="8957620" y="937268"/>
            <a:ext cx="365760" cy="365760"/>
          </a:xfrm>
          <a:custGeom>
            <a:avLst/>
            <a:gdLst>
              <a:gd name="connsiteX0" fmla="*/ 388144 w 504825"/>
              <a:gd name="connsiteY0" fmla="*/ 130969 h 542925"/>
              <a:gd name="connsiteX1" fmla="*/ 197644 w 504825"/>
              <a:gd name="connsiteY1" fmla="*/ 130969 h 542925"/>
              <a:gd name="connsiteX2" fmla="*/ 197644 w 504825"/>
              <a:gd name="connsiteY2" fmla="*/ 92869 h 542925"/>
              <a:gd name="connsiteX3" fmla="*/ 388144 w 504825"/>
              <a:gd name="connsiteY3" fmla="*/ 92869 h 542925"/>
              <a:gd name="connsiteX4" fmla="*/ 388144 w 504825"/>
              <a:gd name="connsiteY4" fmla="*/ 130969 h 542925"/>
              <a:gd name="connsiteX5" fmla="*/ 426244 w 504825"/>
              <a:gd name="connsiteY5" fmla="*/ 159544 h 542925"/>
              <a:gd name="connsiteX6" fmla="*/ 197644 w 504825"/>
              <a:gd name="connsiteY6" fmla="*/ 159544 h 542925"/>
              <a:gd name="connsiteX7" fmla="*/ 197644 w 504825"/>
              <a:gd name="connsiteY7" fmla="*/ 197644 h 542925"/>
              <a:gd name="connsiteX8" fmla="*/ 426244 w 504825"/>
              <a:gd name="connsiteY8" fmla="*/ 197644 h 542925"/>
              <a:gd name="connsiteX9" fmla="*/ 426244 w 504825"/>
              <a:gd name="connsiteY9" fmla="*/ 159544 h 542925"/>
              <a:gd name="connsiteX10" fmla="*/ 502444 w 504825"/>
              <a:gd name="connsiteY10" fmla="*/ 7144 h 542925"/>
              <a:gd name="connsiteX11" fmla="*/ 502444 w 504825"/>
              <a:gd name="connsiteY11" fmla="*/ 364331 h 542925"/>
              <a:gd name="connsiteX12" fmla="*/ 383381 w 504825"/>
              <a:gd name="connsiteY12" fmla="*/ 483394 h 542925"/>
              <a:gd name="connsiteX13" fmla="*/ 249841 w 504825"/>
              <a:gd name="connsiteY13" fmla="*/ 483394 h 542925"/>
              <a:gd name="connsiteX14" fmla="*/ 140494 w 504825"/>
              <a:gd name="connsiteY14" fmla="*/ 540544 h 542925"/>
              <a:gd name="connsiteX15" fmla="*/ 7144 w 504825"/>
              <a:gd name="connsiteY15" fmla="*/ 407194 h 542925"/>
              <a:gd name="connsiteX16" fmla="*/ 121444 w 504825"/>
              <a:gd name="connsiteY16" fmla="*/ 275368 h 542925"/>
              <a:gd name="connsiteX17" fmla="*/ 121444 w 504825"/>
              <a:gd name="connsiteY17" fmla="*/ 7144 h 542925"/>
              <a:gd name="connsiteX18" fmla="*/ 502444 w 504825"/>
              <a:gd name="connsiteY18" fmla="*/ 7144 h 542925"/>
              <a:gd name="connsiteX19" fmla="*/ 197358 w 504825"/>
              <a:gd name="connsiteY19" fmla="*/ 483394 h 542925"/>
              <a:gd name="connsiteX20" fmla="*/ 227648 w 504825"/>
              <a:gd name="connsiteY20" fmla="*/ 445294 h 542925"/>
              <a:gd name="connsiteX21" fmla="*/ 235649 w 504825"/>
              <a:gd name="connsiteY21" fmla="*/ 407194 h 542925"/>
              <a:gd name="connsiteX22" fmla="*/ 159449 w 504825"/>
              <a:gd name="connsiteY22" fmla="*/ 313849 h 542925"/>
              <a:gd name="connsiteX23" fmla="*/ 140399 w 504825"/>
              <a:gd name="connsiteY23" fmla="*/ 311944 h 542925"/>
              <a:gd name="connsiteX24" fmla="*/ 121349 w 504825"/>
              <a:gd name="connsiteY24" fmla="*/ 313849 h 542925"/>
              <a:gd name="connsiteX25" fmla="*/ 45149 w 504825"/>
              <a:gd name="connsiteY25" fmla="*/ 407194 h 542925"/>
              <a:gd name="connsiteX26" fmla="*/ 140399 w 504825"/>
              <a:gd name="connsiteY26" fmla="*/ 502444 h 542925"/>
              <a:gd name="connsiteX27" fmla="*/ 197358 w 504825"/>
              <a:gd name="connsiteY27" fmla="*/ 483394 h 542925"/>
              <a:gd name="connsiteX28" fmla="*/ 273844 w 504825"/>
              <a:gd name="connsiteY28" fmla="*/ 407194 h 542925"/>
              <a:gd name="connsiteX29" fmla="*/ 268224 w 504825"/>
              <a:gd name="connsiteY29" fmla="*/ 445294 h 542925"/>
              <a:gd name="connsiteX30" fmla="*/ 340519 w 504825"/>
              <a:gd name="connsiteY30" fmla="*/ 445294 h 542925"/>
              <a:gd name="connsiteX31" fmla="*/ 340519 w 504825"/>
              <a:gd name="connsiteY31" fmla="*/ 321469 h 542925"/>
              <a:gd name="connsiteX32" fmla="*/ 464344 w 504825"/>
              <a:gd name="connsiteY32" fmla="*/ 321469 h 542925"/>
              <a:gd name="connsiteX33" fmla="*/ 464344 w 504825"/>
              <a:gd name="connsiteY33" fmla="*/ 45244 h 542925"/>
              <a:gd name="connsiteX34" fmla="*/ 159544 w 504825"/>
              <a:gd name="connsiteY34" fmla="*/ 45244 h 542925"/>
              <a:gd name="connsiteX35" fmla="*/ 159544 w 504825"/>
              <a:gd name="connsiteY35" fmla="*/ 275368 h 542925"/>
              <a:gd name="connsiteX36" fmla="*/ 273844 w 504825"/>
              <a:gd name="connsiteY36" fmla="*/ 407194 h 542925"/>
              <a:gd name="connsiteX37" fmla="*/ 453295 w 504825"/>
              <a:gd name="connsiteY37" fmla="*/ 359569 h 542925"/>
              <a:gd name="connsiteX38" fmla="*/ 378619 w 504825"/>
              <a:gd name="connsiteY38" fmla="*/ 359569 h 542925"/>
              <a:gd name="connsiteX39" fmla="*/ 378619 w 504825"/>
              <a:gd name="connsiteY39" fmla="*/ 434245 h 542925"/>
              <a:gd name="connsiteX40" fmla="*/ 453295 w 504825"/>
              <a:gd name="connsiteY40" fmla="*/ 359569 h 542925"/>
              <a:gd name="connsiteX41" fmla="*/ 159544 w 504825"/>
              <a:gd name="connsiteY41" fmla="*/ 370618 h 542925"/>
              <a:gd name="connsiteX42" fmla="*/ 123634 w 504825"/>
              <a:gd name="connsiteY42" fmla="*/ 413385 h 542925"/>
              <a:gd name="connsiteX43" fmla="*/ 121444 w 504825"/>
              <a:gd name="connsiteY43" fmla="*/ 411575 h 542925"/>
              <a:gd name="connsiteX44" fmla="*/ 92583 w 504825"/>
              <a:gd name="connsiteY44" fmla="*/ 387382 h 542925"/>
              <a:gd name="connsiteX45" fmla="*/ 68104 w 504825"/>
              <a:gd name="connsiteY45" fmla="*/ 416528 h 542925"/>
              <a:gd name="connsiteX46" fmla="*/ 121444 w 504825"/>
              <a:gd name="connsiteY46" fmla="*/ 461296 h 542925"/>
              <a:gd name="connsiteX47" fmla="*/ 128397 w 504825"/>
              <a:gd name="connsiteY47" fmla="*/ 467106 h 542925"/>
              <a:gd name="connsiteX48" fmla="*/ 159544 w 504825"/>
              <a:gd name="connsiteY48" fmla="*/ 429959 h 542925"/>
              <a:gd name="connsiteX49" fmla="*/ 204883 w 504825"/>
              <a:gd name="connsiteY49" fmla="*/ 375857 h 542925"/>
              <a:gd name="connsiteX50" fmla="*/ 175736 w 504825"/>
              <a:gd name="connsiteY50" fmla="*/ 351377 h 542925"/>
              <a:gd name="connsiteX51" fmla="*/ 159544 w 504825"/>
              <a:gd name="connsiteY51" fmla="*/ 370618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4825" h="542925">
                <a:moveTo>
                  <a:pt x="388144" y="130969"/>
                </a:moveTo>
                <a:lnTo>
                  <a:pt x="197644" y="130969"/>
                </a:lnTo>
                <a:lnTo>
                  <a:pt x="197644" y="92869"/>
                </a:lnTo>
                <a:lnTo>
                  <a:pt x="388144" y="92869"/>
                </a:lnTo>
                <a:lnTo>
                  <a:pt x="388144" y="130969"/>
                </a:lnTo>
                <a:close/>
                <a:moveTo>
                  <a:pt x="426244" y="159544"/>
                </a:moveTo>
                <a:lnTo>
                  <a:pt x="197644" y="159544"/>
                </a:lnTo>
                <a:lnTo>
                  <a:pt x="197644" y="197644"/>
                </a:lnTo>
                <a:lnTo>
                  <a:pt x="426244" y="197644"/>
                </a:lnTo>
                <a:lnTo>
                  <a:pt x="426244" y="159544"/>
                </a:lnTo>
                <a:close/>
                <a:moveTo>
                  <a:pt x="502444" y="7144"/>
                </a:moveTo>
                <a:lnTo>
                  <a:pt x="502444" y="364331"/>
                </a:lnTo>
                <a:lnTo>
                  <a:pt x="383381" y="483394"/>
                </a:lnTo>
                <a:lnTo>
                  <a:pt x="249841" y="483394"/>
                </a:lnTo>
                <a:cubicBezTo>
                  <a:pt x="225743" y="517874"/>
                  <a:pt x="185833" y="540544"/>
                  <a:pt x="140494" y="540544"/>
                </a:cubicBezTo>
                <a:cubicBezTo>
                  <a:pt x="66866" y="540544"/>
                  <a:pt x="7144" y="480822"/>
                  <a:pt x="7144" y="407194"/>
                </a:cubicBezTo>
                <a:cubicBezTo>
                  <a:pt x="7144" y="340043"/>
                  <a:pt x="56864" y="284607"/>
                  <a:pt x="121444" y="275368"/>
                </a:cubicBezTo>
                <a:lnTo>
                  <a:pt x="121444" y="7144"/>
                </a:lnTo>
                <a:lnTo>
                  <a:pt x="502444" y="7144"/>
                </a:lnTo>
                <a:close/>
                <a:moveTo>
                  <a:pt x="197358" y="483394"/>
                </a:moveTo>
                <a:cubicBezTo>
                  <a:pt x="210503" y="473583"/>
                  <a:pt x="221075" y="460534"/>
                  <a:pt x="227648" y="445294"/>
                </a:cubicBezTo>
                <a:cubicBezTo>
                  <a:pt x="232791" y="433578"/>
                  <a:pt x="235649" y="420719"/>
                  <a:pt x="235649" y="407194"/>
                </a:cubicBezTo>
                <a:cubicBezTo>
                  <a:pt x="235649" y="361188"/>
                  <a:pt x="202883" y="322707"/>
                  <a:pt x="159449" y="313849"/>
                </a:cubicBezTo>
                <a:cubicBezTo>
                  <a:pt x="153257" y="312611"/>
                  <a:pt x="146876" y="311944"/>
                  <a:pt x="140399" y="311944"/>
                </a:cubicBezTo>
                <a:cubicBezTo>
                  <a:pt x="133922" y="311944"/>
                  <a:pt x="127540" y="312611"/>
                  <a:pt x="121349" y="313849"/>
                </a:cubicBezTo>
                <a:cubicBezTo>
                  <a:pt x="77915" y="322707"/>
                  <a:pt x="45149" y="361188"/>
                  <a:pt x="45149" y="407194"/>
                </a:cubicBezTo>
                <a:cubicBezTo>
                  <a:pt x="45149" y="459677"/>
                  <a:pt x="87916" y="502444"/>
                  <a:pt x="140399" y="502444"/>
                </a:cubicBezTo>
                <a:cubicBezTo>
                  <a:pt x="161830" y="502444"/>
                  <a:pt x="181547" y="495300"/>
                  <a:pt x="197358" y="483394"/>
                </a:cubicBezTo>
                <a:close/>
                <a:moveTo>
                  <a:pt x="273844" y="407194"/>
                </a:moveTo>
                <a:cubicBezTo>
                  <a:pt x="273844" y="420434"/>
                  <a:pt x="271844" y="433197"/>
                  <a:pt x="268224" y="445294"/>
                </a:cubicBezTo>
                <a:lnTo>
                  <a:pt x="340519" y="445294"/>
                </a:lnTo>
                <a:lnTo>
                  <a:pt x="340519" y="321469"/>
                </a:lnTo>
                <a:lnTo>
                  <a:pt x="464344" y="321469"/>
                </a:lnTo>
                <a:lnTo>
                  <a:pt x="464344" y="45244"/>
                </a:lnTo>
                <a:lnTo>
                  <a:pt x="159544" y="45244"/>
                </a:lnTo>
                <a:lnTo>
                  <a:pt x="159544" y="275368"/>
                </a:lnTo>
                <a:cubicBezTo>
                  <a:pt x="224123" y="284607"/>
                  <a:pt x="273844" y="340043"/>
                  <a:pt x="273844" y="407194"/>
                </a:cubicBezTo>
                <a:close/>
                <a:moveTo>
                  <a:pt x="453295" y="359569"/>
                </a:moveTo>
                <a:lnTo>
                  <a:pt x="378619" y="359569"/>
                </a:lnTo>
                <a:lnTo>
                  <a:pt x="378619" y="434245"/>
                </a:lnTo>
                <a:lnTo>
                  <a:pt x="453295" y="359569"/>
                </a:lnTo>
                <a:close/>
                <a:moveTo>
                  <a:pt x="159544" y="370618"/>
                </a:moveTo>
                <a:lnTo>
                  <a:pt x="123634" y="413385"/>
                </a:lnTo>
                <a:lnTo>
                  <a:pt x="121444" y="411575"/>
                </a:lnTo>
                <a:lnTo>
                  <a:pt x="92583" y="387382"/>
                </a:lnTo>
                <a:lnTo>
                  <a:pt x="68104" y="416528"/>
                </a:lnTo>
                <a:lnTo>
                  <a:pt x="121444" y="461296"/>
                </a:lnTo>
                <a:lnTo>
                  <a:pt x="128397" y="467106"/>
                </a:lnTo>
                <a:lnTo>
                  <a:pt x="159544" y="429959"/>
                </a:lnTo>
                <a:lnTo>
                  <a:pt x="204883" y="375857"/>
                </a:lnTo>
                <a:lnTo>
                  <a:pt x="175736" y="351377"/>
                </a:lnTo>
                <a:lnTo>
                  <a:pt x="159544" y="370618"/>
                </a:lnTo>
                <a:close/>
              </a:path>
            </a:pathLst>
          </a:custGeom>
          <a:solidFill>
            <a:schemeClr val="tx2"/>
          </a:solidFill>
          <a:ln w="9525" cap="flat">
            <a:noFill/>
            <a:prstDash val="solid"/>
            <a:miter/>
          </a:ln>
        </p:spPr>
        <p:txBody>
          <a:bodyPr rtlCol="0" anchor="ctr"/>
          <a:lstStyle/>
          <a:p>
            <a:endParaRPr lang="en-US"/>
          </a:p>
        </p:txBody>
      </p:sp>
      <p:sp>
        <p:nvSpPr>
          <p:cNvPr id="3" name="TextBox 2">
            <a:extLst>
              <a:ext uri="{FF2B5EF4-FFF2-40B4-BE49-F238E27FC236}">
                <a16:creationId xmlns:a16="http://schemas.microsoft.com/office/drawing/2014/main" id="{5B97EA76-FD3E-26E7-1F2B-EC468A63E898}"/>
              </a:ext>
            </a:extLst>
          </p:cNvPr>
          <p:cNvSpPr txBox="1"/>
          <p:nvPr/>
        </p:nvSpPr>
        <p:spPr>
          <a:xfrm>
            <a:off x="446315" y="5632038"/>
            <a:ext cx="11146596" cy="492443"/>
          </a:xfrm>
          <a:prstGeom prst="rect">
            <a:avLst/>
          </a:prstGeom>
          <a:solidFill>
            <a:srgbClr val="E0F1FF"/>
          </a:solidFill>
        </p:spPr>
        <p:txBody>
          <a:bodyPr wrap="square">
            <a:spAutoFit/>
          </a:bodyPr>
          <a:lstStyle/>
          <a:p>
            <a:r>
              <a:rPr lang="en-US" sz="1300"/>
              <a:t>A durable governance model — building on existing enterprise forums and adapting them for AI and cross‑functional design — keeps priorities aligned and ensures redesign decisions land consistently across business, technology, operations, and HR.</a:t>
            </a:r>
          </a:p>
        </p:txBody>
      </p:sp>
    </p:spTree>
    <p:extLst>
      <p:ext uri="{BB962C8B-B14F-4D97-AF65-F5344CB8AC3E}">
        <p14:creationId xmlns:p14="http://schemas.microsoft.com/office/powerpoint/2010/main" val="26403832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D51BADD-348F-397D-E60A-705508E8FC76}"/>
              </a:ext>
            </a:extLst>
          </p:cNvPr>
          <p:cNvGraphicFramePr>
            <a:graphicFrameLocks noGrp="1"/>
          </p:cNvGraphicFramePr>
          <p:nvPr>
            <p:extLst>
              <p:ext uri="{D42A27DB-BD31-4B8C-83A1-F6EECF244321}">
                <p14:modId xmlns:p14="http://schemas.microsoft.com/office/powerpoint/2010/main" val="3822130560"/>
              </p:ext>
            </p:extLst>
          </p:nvPr>
        </p:nvGraphicFramePr>
        <p:xfrm>
          <a:off x="457200" y="2011680"/>
          <a:ext cx="11274552" cy="3886200"/>
        </p:xfrm>
        <a:graphic>
          <a:graphicData uri="http://schemas.openxmlformats.org/drawingml/2006/table">
            <a:tbl>
              <a:tblPr firstRow="1" firstCol="1" bandRow="1">
                <a:tableStyleId>{6E25E649-3F16-4E02-A733-19D2CDBF48F0}</a:tableStyleId>
              </a:tblPr>
              <a:tblGrid>
                <a:gridCol w="1435173">
                  <a:extLst>
                    <a:ext uri="{9D8B030D-6E8A-4147-A177-3AD203B41FA5}">
                      <a16:colId xmlns:a16="http://schemas.microsoft.com/office/drawing/2014/main" val="2622303412"/>
                    </a:ext>
                  </a:extLst>
                </a:gridCol>
                <a:gridCol w="9839379">
                  <a:extLst>
                    <a:ext uri="{9D8B030D-6E8A-4147-A177-3AD203B41FA5}">
                      <a16:colId xmlns:a16="http://schemas.microsoft.com/office/drawing/2014/main" val="1024305358"/>
                    </a:ext>
                  </a:extLst>
                </a:gridCol>
              </a:tblGrid>
              <a:tr h="0">
                <a:tc>
                  <a:txBody>
                    <a:bodyPr/>
                    <a:lstStyle/>
                    <a:p>
                      <a:pPr marL="0" marR="0" algn="l">
                        <a:lnSpc>
                          <a:spcPct val="90000"/>
                        </a:lnSpc>
                        <a:spcAft>
                          <a:spcPts val="800"/>
                        </a:spcAft>
                        <a:buNone/>
                      </a:pPr>
                      <a:r>
                        <a:rPr lang="en-US" sz="1000" kern="100" dirty="0">
                          <a:effectLst/>
                          <a:latin typeface="+mn-lt"/>
                        </a:rPr>
                        <a:t>HR Jobs</a:t>
                      </a:r>
                      <a:endParaRPr lang="en-US" sz="1000" kern="100" dirty="0">
                        <a:effectLst/>
                        <a:latin typeface="+mn-lt"/>
                        <a:ea typeface="DengXian" panose="02010600030101010101" pitchFamily="2" charset="-122"/>
                        <a:cs typeface="Times New Roman" panose="02020603050405020304" pitchFamily="18" charset="0"/>
                      </a:endParaRPr>
                    </a:p>
                  </a:txBody>
                  <a:tcPr marL="45720" marR="45720">
                    <a:lnB w="12700" cap="flat" cmpd="sng" algn="ctr">
                      <a:noFill/>
                      <a:prstDash val="solid"/>
                      <a:round/>
                      <a:headEnd type="none" w="med" len="med"/>
                      <a:tailEnd type="none" w="med" len="med"/>
                    </a:lnB>
                    <a:solidFill>
                      <a:schemeClr val="accent5"/>
                    </a:solidFill>
                  </a:tcPr>
                </a:tc>
                <a:tc>
                  <a:txBody>
                    <a:bodyPr/>
                    <a:lstStyle/>
                    <a:p>
                      <a:pPr>
                        <a:lnSpc>
                          <a:spcPct val="90000"/>
                        </a:lnSpc>
                      </a:pPr>
                      <a:r>
                        <a:rPr lang="en-US" sz="1000" b="1">
                          <a:latin typeface="+mn-lt"/>
                        </a:rPr>
                        <a:t>Key HR contributions</a:t>
                      </a:r>
                      <a:endParaRPr lang="en-US" sz="1000">
                        <a:latin typeface="+mn-lt"/>
                      </a:endParaRPr>
                    </a:p>
                  </a:txBody>
                  <a:tcPr marL="45720" marR="45720">
                    <a:lnB w="12700" cap="flat" cmpd="sng" algn="ctr">
                      <a:noFill/>
                      <a:prstDash val="solid"/>
                      <a:round/>
                      <a:headEnd type="none" w="med" len="med"/>
                      <a:tailEnd type="none" w="med" len="med"/>
                    </a:lnB>
                    <a:solidFill>
                      <a:schemeClr val="accent5"/>
                    </a:solidFill>
                  </a:tcPr>
                </a:tc>
                <a:extLst>
                  <a:ext uri="{0D108BD9-81ED-4DB2-BD59-A6C34878D82A}">
                    <a16:rowId xmlns:a16="http://schemas.microsoft.com/office/drawing/2014/main" val="2643643928"/>
                  </a:ext>
                </a:extLst>
              </a:tr>
              <a:tr h="224829">
                <a:tc>
                  <a:txBody>
                    <a:bodyPr/>
                    <a:lstStyle/>
                    <a:p>
                      <a:pPr marL="0" marR="0" algn="l">
                        <a:lnSpc>
                          <a:spcPct val="90000"/>
                        </a:lnSpc>
                        <a:spcAft>
                          <a:spcPts val="800"/>
                        </a:spcAft>
                        <a:buNone/>
                      </a:pPr>
                      <a:r>
                        <a:rPr lang="en-US" sz="1000" kern="100">
                          <a:solidFill>
                            <a:schemeClr val="tx1"/>
                          </a:solidFill>
                          <a:effectLst/>
                          <a:latin typeface="+mn-lt"/>
                        </a:rPr>
                        <a:t>CHRO</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lnT w="12700" cap="flat" cmpd="sng" algn="ctr">
                      <a:noFill/>
                      <a:prstDash val="solid"/>
                      <a:round/>
                      <a:headEnd type="none" w="med" len="med"/>
                      <a:tailEnd type="none" w="med" len="med"/>
                    </a:lnT>
                    <a:solidFill>
                      <a:srgbClr val="B8DEFF"/>
                    </a:solidFill>
                  </a:tcPr>
                </a:tc>
                <a:tc>
                  <a:txBody>
                    <a:bodyPr/>
                    <a:lstStyle/>
                    <a:p>
                      <a:pPr marL="0" marR="0" lvl="0" indent="0" algn="l" defTabSz="914400" rtl="0" eaLnBrk="1" fontAlgn="auto" latinLnBrk="0" hangingPunct="1">
                        <a:lnSpc>
                          <a:spcPct val="90000"/>
                        </a:lnSpc>
                        <a:spcBef>
                          <a:spcPts val="0"/>
                        </a:spcBef>
                        <a:spcAft>
                          <a:spcPts val="800"/>
                        </a:spcAft>
                        <a:buClrTx/>
                        <a:buSzTx/>
                        <a:buFontTx/>
                        <a:buNone/>
                        <a:tabLst/>
                        <a:defRPr/>
                      </a:pPr>
                      <a:r>
                        <a:rPr lang="en-US" sz="1000" b="0">
                          <a:latin typeface="+mn-lt"/>
                        </a:rPr>
                        <a:t>Partner with the CEO and executive team to align strategy and design principles for value stream prioritization. Co-own governance and champion AI adoption and ethics. Lead HR’s enterprise contribution to workforce planning, job redesign, capability and talent shifts, and change management to enable a human-first approach to AI transformation.</a:t>
                      </a:r>
                      <a:endParaRPr lang="en-US" sz="1000" kern="100">
                        <a:effectLst/>
                        <a:latin typeface="+mn-lt"/>
                      </a:endParaRPr>
                    </a:p>
                  </a:txBody>
                  <a:tcPr marL="45720" marR="45720">
                    <a:lnT w="12700" cap="flat" cmpd="sng" algn="ctr">
                      <a:noFill/>
                      <a:prstDash val="solid"/>
                      <a:round/>
                      <a:headEnd type="none" w="med" len="med"/>
                      <a:tailEnd type="none" w="med" len="med"/>
                    </a:lnT>
                    <a:solidFill>
                      <a:srgbClr val="E0F1FF"/>
                    </a:solidFill>
                  </a:tcPr>
                </a:tc>
                <a:extLst>
                  <a:ext uri="{0D108BD9-81ED-4DB2-BD59-A6C34878D82A}">
                    <a16:rowId xmlns:a16="http://schemas.microsoft.com/office/drawing/2014/main" val="976704144"/>
                  </a:ext>
                </a:extLst>
              </a:tr>
              <a:tr h="155627">
                <a:tc>
                  <a:txBody>
                    <a:bodyPr/>
                    <a:lstStyle/>
                    <a:p>
                      <a:pPr marL="0" marR="0" algn="l">
                        <a:lnSpc>
                          <a:spcPct val="90000"/>
                        </a:lnSpc>
                        <a:spcAft>
                          <a:spcPts val="800"/>
                        </a:spcAft>
                        <a:buNone/>
                      </a:pPr>
                      <a:r>
                        <a:rPr lang="en-US" sz="1000" kern="100">
                          <a:solidFill>
                            <a:schemeClr val="tx1"/>
                          </a:solidFill>
                          <a:effectLst/>
                          <a:latin typeface="+mn-lt"/>
                        </a:rPr>
                        <a:t>HR Business Partner</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solidFill>
                      <a:srgbClr val="B8DEFF"/>
                    </a:solidFill>
                  </a:tcPr>
                </a:tc>
                <a:tc>
                  <a:txBody>
                    <a:bodyPr/>
                    <a:lstStyle/>
                    <a:p>
                      <a:pPr marL="0" marR="0" algn="l">
                        <a:lnSpc>
                          <a:spcPct val="90000"/>
                        </a:lnSpc>
                        <a:spcAft>
                          <a:spcPts val="800"/>
                        </a:spcAft>
                        <a:buNone/>
                      </a:pPr>
                      <a:r>
                        <a:rPr lang="en-US" sz="1000" dirty="0">
                          <a:latin typeface="+mn-lt"/>
                        </a:rPr>
                        <a:t>Contribute during process redesign to embed employee experience and human-centric principles and align jobs and roles with new processes. Support workforce deployment for smooth transitions. Coach leaders through change and equip managers for job redesign and capability shifts.</a:t>
                      </a:r>
                    </a:p>
                  </a:txBody>
                  <a:tcPr marL="45720" marR="45720"/>
                </a:tc>
                <a:extLst>
                  <a:ext uri="{0D108BD9-81ED-4DB2-BD59-A6C34878D82A}">
                    <a16:rowId xmlns:a16="http://schemas.microsoft.com/office/drawing/2014/main" val="4220868576"/>
                  </a:ext>
                </a:extLst>
              </a:tr>
              <a:tr h="155627">
                <a:tc>
                  <a:txBody>
                    <a:bodyPr/>
                    <a:lstStyle/>
                    <a:p>
                      <a:pPr marL="0" marR="0" algn="l">
                        <a:lnSpc>
                          <a:spcPct val="90000"/>
                        </a:lnSpc>
                        <a:spcAft>
                          <a:spcPts val="800"/>
                        </a:spcAft>
                        <a:buNone/>
                      </a:pPr>
                      <a:r>
                        <a:rPr lang="en-US" sz="1000" kern="100">
                          <a:solidFill>
                            <a:schemeClr val="tx1"/>
                          </a:solidFill>
                          <a:effectLst/>
                          <a:latin typeface="+mn-lt"/>
                        </a:rPr>
                        <a:t>Organization Design </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solidFill>
                      <a:srgbClr val="B8DEFF"/>
                    </a:solidFill>
                  </a:tcPr>
                </a:tc>
                <a:tc>
                  <a:txBody>
                    <a:bodyPr/>
                    <a:lstStyle/>
                    <a:p>
                      <a:pPr marL="0" marR="0" algn="l">
                        <a:lnSpc>
                          <a:spcPct val="90000"/>
                        </a:lnSpc>
                        <a:spcAft>
                          <a:spcPts val="800"/>
                        </a:spcAft>
                        <a:buNone/>
                      </a:pPr>
                      <a:r>
                        <a:rPr lang="en-US" sz="1000">
                          <a:latin typeface="+mn-lt"/>
                        </a:rPr>
                        <a:t>Develop frameworks and playbooks for process redesign. Ensure alignment with operating model and governance structures. Incorporate scenario modeling for organizational flexibility.</a:t>
                      </a:r>
                      <a:endParaRPr lang="en-US" sz="1000" kern="100">
                        <a:effectLst/>
                        <a:latin typeface="+mn-lt"/>
                        <a:ea typeface="DengXian" panose="02010600030101010101" pitchFamily="2" charset="-122"/>
                        <a:cs typeface="Times New Roman" panose="02020603050405020304" pitchFamily="18" charset="0"/>
                      </a:endParaRPr>
                    </a:p>
                  </a:txBody>
                  <a:tcPr marL="45720" marR="45720">
                    <a:solidFill>
                      <a:srgbClr val="E0F1FF"/>
                    </a:solidFill>
                  </a:tcPr>
                </a:tc>
                <a:extLst>
                  <a:ext uri="{0D108BD9-81ED-4DB2-BD59-A6C34878D82A}">
                    <a16:rowId xmlns:a16="http://schemas.microsoft.com/office/drawing/2014/main" val="3518448483"/>
                  </a:ext>
                </a:extLst>
              </a:tr>
              <a:tr h="0">
                <a:tc>
                  <a:txBody>
                    <a:bodyPr/>
                    <a:lstStyle/>
                    <a:p>
                      <a:pPr marL="0" marR="0" algn="l">
                        <a:lnSpc>
                          <a:spcPct val="90000"/>
                        </a:lnSpc>
                        <a:spcAft>
                          <a:spcPts val="800"/>
                        </a:spcAft>
                        <a:buNone/>
                      </a:pPr>
                      <a:r>
                        <a:rPr lang="en-US" sz="1000" kern="100">
                          <a:solidFill>
                            <a:schemeClr val="tx1"/>
                          </a:solidFill>
                          <a:effectLst/>
                          <a:latin typeface="+mn-lt"/>
                        </a:rPr>
                        <a:t>Change Management</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solidFill>
                      <a:srgbClr val="B8DEFF"/>
                    </a:solidFill>
                  </a:tcPr>
                </a:tc>
                <a:tc>
                  <a:txBody>
                    <a:bodyPr/>
                    <a:lstStyle/>
                    <a:p>
                      <a:pPr marL="0" marR="0" algn="l">
                        <a:lnSpc>
                          <a:spcPct val="90000"/>
                        </a:lnSpc>
                        <a:spcAft>
                          <a:spcPts val="800"/>
                        </a:spcAft>
                        <a:buNone/>
                      </a:pPr>
                      <a:r>
                        <a:rPr lang="en-US" sz="1000">
                          <a:latin typeface="+mn-lt"/>
                        </a:rPr>
                        <a:t>Support development of change readiness. Provide frameworks for leaders to monitor adoption and sustain transformation.</a:t>
                      </a:r>
                      <a:endParaRPr lang="en-US" sz="1000" kern="100">
                        <a:effectLst/>
                        <a:latin typeface="+mn-lt"/>
                        <a:ea typeface="DengXian" panose="02010600030101010101" pitchFamily="2" charset="-122"/>
                        <a:cs typeface="Times New Roman" panose="02020603050405020304" pitchFamily="18" charset="0"/>
                      </a:endParaRPr>
                    </a:p>
                  </a:txBody>
                  <a:tcPr marL="45720" marR="45720"/>
                </a:tc>
                <a:extLst>
                  <a:ext uri="{0D108BD9-81ED-4DB2-BD59-A6C34878D82A}">
                    <a16:rowId xmlns:a16="http://schemas.microsoft.com/office/drawing/2014/main" val="2402299714"/>
                  </a:ext>
                </a:extLst>
              </a:tr>
              <a:tr h="155627">
                <a:tc>
                  <a:txBody>
                    <a:bodyPr/>
                    <a:lstStyle/>
                    <a:p>
                      <a:pPr marL="0" marR="0" algn="l">
                        <a:lnSpc>
                          <a:spcPct val="90000"/>
                        </a:lnSpc>
                        <a:spcAft>
                          <a:spcPts val="800"/>
                        </a:spcAft>
                        <a:buNone/>
                      </a:pPr>
                      <a:r>
                        <a:rPr lang="en-US" sz="1000" kern="100">
                          <a:solidFill>
                            <a:schemeClr val="tx1"/>
                          </a:solidFill>
                          <a:effectLst/>
                          <a:latin typeface="+mn-lt"/>
                        </a:rPr>
                        <a:t>Talent &amp; Learning</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solidFill>
                      <a:srgbClr val="B8DEFF"/>
                    </a:solidFill>
                  </a:tcPr>
                </a:tc>
                <a:tc>
                  <a:txBody>
                    <a:bodyPr/>
                    <a:lstStyle/>
                    <a:p>
                      <a:pPr marL="0" marR="0" algn="l">
                        <a:lnSpc>
                          <a:spcPct val="90000"/>
                        </a:lnSpc>
                        <a:spcAft>
                          <a:spcPts val="800"/>
                        </a:spcAft>
                        <a:buNone/>
                      </a:pPr>
                      <a:r>
                        <a:rPr lang="en-US" sz="1000" kern="100">
                          <a:effectLst/>
                          <a:latin typeface="+mn-lt"/>
                        </a:rPr>
                        <a:t>Design reskilling programs, manage continuous learning, implement AI-driven L&amp;D platforms. Support enterprise upskilling in business process excellence and change management.</a:t>
                      </a:r>
                    </a:p>
                  </a:txBody>
                  <a:tcPr marL="45720" marR="45720">
                    <a:solidFill>
                      <a:srgbClr val="E0F1FF"/>
                    </a:solidFill>
                  </a:tcPr>
                </a:tc>
                <a:extLst>
                  <a:ext uri="{0D108BD9-81ED-4DB2-BD59-A6C34878D82A}">
                    <a16:rowId xmlns:a16="http://schemas.microsoft.com/office/drawing/2014/main" val="4211722190"/>
                  </a:ext>
                </a:extLst>
              </a:tr>
              <a:tr h="155627">
                <a:tc>
                  <a:txBody>
                    <a:bodyPr/>
                    <a:lstStyle/>
                    <a:p>
                      <a:pPr marL="0" marR="0" algn="l">
                        <a:lnSpc>
                          <a:spcPct val="90000"/>
                        </a:lnSpc>
                        <a:spcAft>
                          <a:spcPts val="800"/>
                        </a:spcAft>
                        <a:buNone/>
                      </a:pPr>
                      <a:r>
                        <a:rPr lang="en-US" sz="1000" kern="100">
                          <a:solidFill>
                            <a:schemeClr val="tx1"/>
                          </a:solidFill>
                          <a:effectLst/>
                          <a:latin typeface="+mn-lt"/>
                        </a:rPr>
                        <a:t>Talent Acquisition</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solidFill>
                      <a:srgbClr val="B8DEFF"/>
                    </a:solidFill>
                  </a:tcPr>
                </a:tc>
                <a:tc>
                  <a:txBody>
                    <a:bodyPr/>
                    <a:lstStyle/>
                    <a:p>
                      <a:pPr marL="0" marR="0" algn="l">
                        <a:lnSpc>
                          <a:spcPct val="90000"/>
                        </a:lnSpc>
                        <a:spcAft>
                          <a:spcPts val="800"/>
                        </a:spcAft>
                        <a:buNone/>
                      </a:pPr>
                      <a:r>
                        <a:rPr lang="en-US" sz="1000">
                          <a:latin typeface="+mn-lt"/>
                        </a:rPr>
                        <a:t>Build pipelines for AI-skilled and AI-literate talent. Source niche roles for automation, analytics, and data science aligned to future needs. </a:t>
                      </a:r>
                      <a:r>
                        <a:rPr lang="en-US" sz="1000" kern="100">
                          <a:effectLst/>
                          <a:latin typeface="+mn-lt"/>
                          <a:ea typeface="DengXian" panose="02010600030101010101" pitchFamily="2" charset="-122"/>
                          <a:cs typeface="Times New Roman" panose="02020603050405020304" pitchFamily="18" charset="0"/>
                        </a:rPr>
                        <a:t>Leverage analytics for talent sourcing and market insights. </a:t>
                      </a:r>
                      <a:r>
                        <a:rPr lang="en-US" sz="1000">
                          <a:latin typeface="+mn-lt"/>
                        </a:rPr>
                        <a:t>Refresh Employment Brand and EVP to reflect transformation priorities.</a:t>
                      </a:r>
                      <a:endParaRPr lang="en-US" sz="1000" kern="100">
                        <a:effectLst/>
                        <a:latin typeface="+mn-lt"/>
                        <a:ea typeface="DengXian" panose="02010600030101010101" pitchFamily="2" charset="-122"/>
                        <a:cs typeface="Times New Roman" panose="02020603050405020304" pitchFamily="18" charset="0"/>
                      </a:endParaRPr>
                    </a:p>
                  </a:txBody>
                  <a:tcPr marL="45720" marR="45720"/>
                </a:tc>
                <a:extLst>
                  <a:ext uri="{0D108BD9-81ED-4DB2-BD59-A6C34878D82A}">
                    <a16:rowId xmlns:a16="http://schemas.microsoft.com/office/drawing/2014/main" val="833028534"/>
                  </a:ext>
                </a:extLst>
              </a:tr>
              <a:tr h="155627">
                <a:tc>
                  <a:txBody>
                    <a:bodyPr/>
                    <a:lstStyle/>
                    <a:p>
                      <a:pPr marL="0" marR="0" algn="l">
                        <a:lnSpc>
                          <a:spcPct val="90000"/>
                        </a:lnSpc>
                        <a:spcAft>
                          <a:spcPts val="800"/>
                        </a:spcAft>
                        <a:buNone/>
                      </a:pPr>
                      <a:r>
                        <a:rPr lang="en-US" sz="1000" kern="100">
                          <a:solidFill>
                            <a:schemeClr val="tx1"/>
                          </a:solidFill>
                          <a:effectLst/>
                          <a:latin typeface="+mn-lt"/>
                          <a:ea typeface="DengXian" panose="02010600030101010101" pitchFamily="2" charset="-122"/>
                          <a:cs typeface="Times New Roman" panose="02020603050405020304" pitchFamily="18" charset="0"/>
                        </a:rPr>
                        <a:t>Employee Experience Culture</a:t>
                      </a:r>
                    </a:p>
                  </a:txBody>
                  <a:tcPr marL="45720" marR="45720">
                    <a:solidFill>
                      <a:srgbClr val="B8DEFF"/>
                    </a:solidFill>
                  </a:tcPr>
                </a:tc>
                <a:tc>
                  <a:txBody>
                    <a:bodyPr/>
                    <a:lstStyle/>
                    <a:p>
                      <a:pPr marL="0" marR="0" algn="l">
                        <a:lnSpc>
                          <a:spcPct val="90000"/>
                        </a:lnSpc>
                        <a:spcAft>
                          <a:spcPts val="0"/>
                        </a:spcAft>
                        <a:buNone/>
                      </a:pPr>
                      <a:r>
                        <a:rPr lang="en-US" sz="1000">
                          <a:latin typeface="+mn-lt"/>
                        </a:rPr>
                        <a:t>Embed employee experience principles into redesign and change initiatives to sustain engagement and support strategy. </a:t>
                      </a:r>
                      <a:r>
                        <a:rPr lang="en-US" sz="1000" kern="1200">
                          <a:solidFill>
                            <a:schemeClr val="dk1"/>
                          </a:solidFill>
                          <a:effectLst/>
                          <a:latin typeface="+mn-lt"/>
                          <a:ea typeface="+mn-ea"/>
                          <a:cs typeface="+mn-cs"/>
                        </a:rPr>
                        <a:t>Shape culture by fostering mindsets and behaviors that enable adaptability and resilience for AI-driven and dynamic process redesign.</a:t>
                      </a:r>
                      <a:endParaRPr lang="en-US" sz="1000" kern="100">
                        <a:effectLst/>
                        <a:latin typeface="+mn-lt"/>
                        <a:ea typeface="DengXian" panose="02010600030101010101" pitchFamily="2" charset="-122"/>
                        <a:cs typeface="Times New Roman" panose="02020603050405020304" pitchFamily="18" charset="0"/>
                      </a:endParaRPr>
                    </a:p>
                  </a:txBody>
                  <a:tcPr marL="45720" marR="45720">
                    <a:solidFill>
                      <a:srgbClr val="E0F1FF"/>
                    </a:solidFill>
                  </a:tcPr>
                </a:tc>
                <a:extLst>
                  <a:ext uri="{0D108BD9-81ED-4DB2-BD59-A6C34878D82A}">
                    <a16:rowId xmlns:a16="http://schemas.microsoft.com/office/drawing/2014/main" val="412524706"/>
                  </a:ext>
                </a:extLst>
              </a:tr>
              <a:tr h="155627">
                <a:tc>
                  <a:txBody>
                    <a:bodyPr/>
                    <a:lstStyle/>
                    <a:p>
                      <a:pPr marL="0" marR="0" algn="l">
                        <a:lnSpc>
                          <a:spcPct val="90000"/>
                        </a:lnSpc>
                        <a:spcAft>
                          <a:spcPts val="800"/>
                        </a:spcAft>
                        <a:buNone/>
                      </a:pPr>
                      <a:r>
                        <a:rPr lang="en-US" sz="1000" kern="100">
                          <a:solidFill>
                            <a:schemeClr val="tx1"/>
                          </a:solidFill>
                          <a:effectLst/>
                          <a:latin typeface="+mn-lt"/>
                          <a:ea typeface="DengXian" panose="02010600030101010101" pitchFamily="2" charset="-122"/>
                          <a:cs typeface="Times New Roman" panose="02020603050405020304" pitchFamily="18" charset="0"/>
                        </a:rPr>
                        <a:t>Total Rewards</a:t>
                      </a:r>
                    </a:p>
                  </a:txBody>
                  <a:tcPr marL="45720" marR="45720">
                    <a:solidFill>
                      <a:srgbClr val="B8DEFF"/>
                    </a:solidFill>
                  </a:tcPr>
                </a:tc>
                <a:tc>
                  <a:txBody>
                    <a:bodyPr/>
                    <a:lstStyle/>
                    <a:p>
                      <a:pPr marL="0" marR="0" algn="l">
                        <a:lnSpc>
                          <a:spcPct val="90000"/>
                        </a:lnSpc>
                        <a:spcAft>
                          <a:spcPts val="800"/>
                        </a:spcAft>
                        <a:buNone/>
                      </a:pPr>
                      <a:r>
                        <a:rPr lang="en-US" sz="1000" b="0" kern="100" dirty="0">
                          <a:effectLst/>
                          <a:latin typeface="+mn-lt"/>
                          <a:ea typeface="DengXian" panose="02010600030101010101" pitchFamily="2" charset="-122"/>
                          <a:cs typeface="Times New Roman" panose="02020603050405020304" pitchFamily="18" charset="0"/>
                        </a:rPr>
                        <a:t>Refine what good performance looks like in an AI infused organization.</a:t>
                      </a:r>
                      <a:r>
                        <a:rPr lang="en-US" sz="1000" b="0" i="0" u="none" strike="noStrike" kern="1200" dirty="0">
                          <a:solidFill>
                            <a:schemeClr val="tx1"/>
                          </a:solidFill>
                          <a:effectLst/>
                          <a:latin typeface="+mn-lt"/>
                          <a:ea typeface="+mn-ea"/>
                          <a:cs typeface="+mn-cs"/>
                        </a:rPr>
                        <a:t> Align compensation models with redesigned jobs and roles, incentivize adoption of AI-enabled processes and recognize the outcomes that matter.</a:t>
                      </a:r>
                      <a:endParaRPr lang="en-US" sz="1000" b="0" kern="100" dirty="0">
                        <a:effectLst/>
                        <a:latin typeface="+mn-lt"/>
                        <a:ea typeface="DengXian" panose="02010600030101010101" pitchFamily="2" charset="-122"/>
                        <a:cs typeface="Times New Roman" panose="02020603050405020304" pitchFamily="18" charset="0"/>
                      </a:endParaRPr>
                    </a:p>
                  </a:txBody>
                  <a:tcPr marL="45720" marR="45720"/>
                </a:tc>
                <a:extLst>
                  <a:ext uri="{0D108BD9-81ED-4DB2-BD59-A6C34878D82A}">
                    <a16:rowId xmlns:a16="http://schemas.microsoft.com/office/drawing/2014/main" val="3909714608"/>
                  </a:ext>
                </a:extLst>
              </a:tr>
              <a:tr h="155627">
                <a:tc>
                  <a:txBody>
                    <a:bodyPr/>
                    <a:lstStyle/>
                    <a:p>
                      <a:pPr marL="0" marR="0" algn="l">
                        <a:lnSpc>
                          <a:spcPct val="90000"/>
                        </a:lnSpc>
                        <a:spcAft>
                          <a:spcPts val="800"/>
                        </a:spcAft>
                        <a:buNone/>
                      </a:pPr>
                      <a:r>
                        <a:rPr lang="en-US" sz="1000" kern="100">
                          <a:solidFill>
                            <a:schemeClr val="tx1"/>
                          </a:solidFill>
                          <a:effectLst/>
                          <a:latin typeface="+mn-lt"/>
                          <a:ea typeface="DengXian" panose="02010600030101010101" pitchFamily="2" charset="-122"/>
                          <a:cs typeface="Times New Roman" panose="02020603050405020304" pitchFamily="18" charset="0"/>
                        </a:rPr>
                        <a:t>Workforce planning</a:t>
                      </a:r>
                    </a:p>
                  </a:txBody>
                  <a:tcPr marL="45720" marR="45720">
                    <a:solidFill>
                      <a:srgbClr val="B8DEFF"/>
                    </a:solidFill>
                  </a:tcPr>
                </a:tc>
                <a:tc>
                  <a:txBody>
                    <a:bodyPr/>
                    <a:lstStyle/>
                    <a:p>
                      <a:pPr marL="0" marR="0" algn="l">
                        <a:lnSpc>
                          <a:spcPct val="90000"/>
                        </a:lnSpc>
                        <a:spcAft>
                          <a:spcPts val="800"/>
                        </a:spcAft>
                        <a:buNone/>
                      </a:pPr>
                      <a:r>
                        <a:rPr lang="en-US" sz="1000" b="0">
                          <a:latin typeface="+mn-lt"/>
                        </a:rPr>
                        <a:t>Assess future workforce needs, anticipate skill gaps, and align talent supply with business strategy. Develop skills taxonomy and mobility pathways for future capability needs. Apply scenario planning to anticipate disruptions and workforce shifts.</a:t>
                      </a:r>
                      <a:endParaRPr lang="en-US" sz="1000" b="0" kern="100">
                        <a:effectLst/>
                        <a:latin typeface="+mn-lt"/>
                        <a:ea typeface="DengXian" panose="02010600030101010101" pitchFamily="2" charset="-122"/>
                        <a:cs typeface="Times New Roman" panose="02020603050405020304" pitchFamily="18" charset="0"/>
                      </a:endParaRPr>
                    </a:p>
                  </a:txBody>
                  <a:tcPr marL="45720" marR="45720">
                    <a:solidFill>
                      <a:srgbClr val="E0F1FF"/>
                    </a:solidFill>
                  </a:tcPr>
                </a:tc>
                <a:extLst>
                  <a:ext uri="{0D108BD9-81ED-4DB2-BD59-A6C34878D82A}">
                    <a16:rowId xmlns:a16="http://schemas.microsoft.com/office/drawing/2014/main" val="2294305984"/>
                  </a:ext>
                </a:extLst>
              </a:tr>
              <a:tr h="142013">
                <a:tc>
                  <a:txBody>
                    <a:bodyPr/>
                    <a:lstStyle/>
                    <a:p>
                      <a:pPr marL="0" marR="0" algn="l">
                        <a:lnSpc>
                          <a:spcPct val="90000"/>
                        </a:lnSpc>
                        <a:spcAft>
                          <a:spcPts val="800"/>
                        </a:spcAft>
                        <a:buNone/>
                      </a:pPr>
                      <a:r>
                        <a:rPr lang="en-US" sz="1000" kern="100">
                          <a:solidFill>
                            <a:schemeClr val="tx1"/>
                          </a:solidFill>
                          <a:effectLst/>
                          <a:latin typeface="+mn-lt"/>
                        </a:rPr>
                        <a:t>People Analytics</a:t>
                      </a:r>
                      <a:endParaRPr lang="en-US" sz="1000" kern="100">
                        <a:solidFill>
                          <a:schemeClr val="tx1"/>
                        </a:solidFill>
                        <a:effectLst/>
                        <a:latin typeface="+mn-lt"/>
                        <a:ea typeface="DengXian" panose="02010600030101010101" pitchFamily="2" charset="-122"/>
                        <a:cs typeface="Times New Roman" panose="02020603050405020304" pitchFamily="18" charset="0"/>
                      </a:endParaRPr>
                    </a:p>
                  </a:txBody>
                  <a:tcPr marL="45720" marR="45720">
                    <a:lnB w="12700" cap="flat" cmpd="sng" algn="ctr">
                      <a:noFill/>
                      <a:prstDash val="solid"/>
                      <a:round/>
                      <a:headEnd type="none" w="med" len="med"/>
                      <a:tailEnd type="none" w="med" len="med"/>
                    </a:lnB>
                    <a:solidFill>
                      <a:srgbClr val="B8DEFF"/>
                    </a:solidFill>
                  </a:tcPr>
                </a:tc>
                <a:tc>
                  <a:txBody>
                    <a:bodyPr/>
                    <a:lstStyle/>
                    <a:p>
                      <a:pPr marL="0" marR="0" algn="l">
                        <a:lnSpc>
                          <a:spcPct val="90000"/>
                        </a:lnSpc>
                        <a:spcAft>
                          <a:spcPts val="0"/>
                        </a:spcAft>
                        <a:buNone/>
                      </a:pPr>
                      <a:r>
                        <a:rPr lang="en-US" sz="1000" dirty="0">
                          <a:latin typeface="+mn-lt"/>
                        </a:rPr>
                        <a:t>Analyze workforce trends and model the impact of automation on roles and skills. Predict job evolution and deliver insights to guide organizational decisions. Measure/monitor employee well-being indicators. Track and report on leading and lagging indicators of change success. </a:t>
                      </a:r>
                      <a:endParaRPr lang="en-US" sz="1000" kern="100" dirty="0">
                        <a:effectLst/>
                        <a:latin typeface="+mn-lt"/>
                        <a:ea typeface="DengXian" panose="02010600030101010101" pitchFamily="2" charset="-122"/>
                        <a:cs typeface="Times New Roman" panose="02020603050405020304" pitchFamily="18" charset="0"/>
                      </a:endParaRPr>
                    </a:p>
                  </a:txBody>
                  <a:tcPr marL="45720" marR="45720">
                    <a:lnB w="12700" cap="flat" cmpd="sng" algn="ctr">
                      <a:noFill/>
                      <a:prstDash val="solid"/>
                      <a:round/>
                      <a:headEnd type="none" w="med" len="med"/>
                      <a:tailEnd type="none" w="med" len="med"/>
                    </a:lnB>
                  </a:tcPr>
                </a:tc>
                <a:extLst>
                  <a:ext uri="{0D108BD9-81ED-4DB2-BD59-A6C34878D82A}">
                    <a16:rowId xmlns:a16="http://schemas.microsoft.com/office/drawing/2014/main" val="3652528983"/>
                  </a:ext>
                </a:extLst>
              </a:tr>
            </a:tbl>
          </a:graphicData>
        </a:graphic>
      </p:graphicFrame>
      <p:sp>
        <p:nvSpPr>
          <p:cNvPr id="3" name="TextBox 2">
            <a:extLst>
              <a:ext uri="{FF2B5EF4-FFF2-40B4-BE49-F238E27FC236}">
                <a16:creationId xmlns:a16="http://schemas.microsoft.com/office/drawing/2014/main" id="{B069BD64-2FFE-EF5F-7067-5E69F699D7A7}"/>
              </a:ext>
            </a:extLst>
          </p:cNvPr>
          <p:cNvSpPr txBox="1"/>
          <p:nvPr/>
        </p:nvSpPr>
        <p:spPr>
          <a:xfrm>
            <a:off x="457200" y="914400"/>
            <a:ext cx="11274552" cy="707886"/>
          </a:xfrm>
          <a:prstGeom prst="rect">
            <a:avLst/>
          </a:prstGeom>
          <a:noFill/>
          <a:ln w="6350">
            <a:solidFill>
              <a:srgbClr val="002869"/>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Gartner Sans" panose="020B0504030402040204" pitchFamily="34" charset="0"/>
              </a:rPr>
              <a:t>HR enables enterprise work redesign by coordinating across all HR roles to align talent, technology, and processes. The scope varies by company size:</a:t>
            </a:r>
            <a:endPar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endParaRPr>
          </a:p>
          <a:p>
            <a:pPr marL="174625" marR="0" lvl="0" indent="-17462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Gartner Sans" panose="020B0504030402040204" pitchFamily="34" charset="0"/>
              </a:rPr>
              <a:t>Small:</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rPr>
              <a:t> HR acts as a facilitator, leveraging external vendors and agile practices for lean redesign.</a:t>
            </a:r>
          </a:p>
          <a:p>
            <a:pPr marL="174625" marR="0" lvl="0" indent="-17462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Gartner Sans" panose="020B0504030402040204" pitchFamily="34" charset="0"/>
              </a:rPr>
              <a:t>Medium:</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rPr>
              <a:t> HR formalizes change programs, partners with business process owners and </a:t>
            </a:r>
            <a:r>
              <a:rPr kumimoji="0" lang="en-US" sz="1000" b="0" i="0" u="none" strike="noStrike" kern="1200" cap="none" spc="0" normalizeH="0" baseline="0" noProof="0" dirty="0" err="1">
                <a:ln>
                  <a:noFill/>
                </a:ln>
                <a:solidFill>
                  <a:prstClr val="black"/>
                </a:solidFill>
                <a:effectLst/>
                <a:uLnTx/>
                <a:uFillTx/>
                <a:latin typeface="Gartner Sans" panose="020B0504030402040204" pitchFamily="34" charset="0"/>
              </a:rPr>
              <a:t>CoEs</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rPr>
              <a:t>, and selectively manages vendors.</a:t>
            </a:r>
          </a:p>
          <a:p>
            <a:pPr marL="174625" marR="0" lvl="0" indent="-17462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Gartner Sans" panose="020B0504030402040204" pitchFamily="34" charset="0"/>
              </a:rPr>
              <a:t>Large:</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rPr>
              <a:t> HR leads </a:t>
            </a:r>
            <a:r>
              <a:rPr kumimoji="0" lang="en-US" sz="1000" b="0" i="0" u="none" strike="noStrike" kern="1200" cap="none" spc="0" normalizeH="0" baseline="0" noProof="0" dirty="0" err="1">
                <a:ln>
                  <a:noFill/>
                </a:ln>
                <a:solidFill>
                  <a:prstClr val="black"/>
                </a:solidFill>
                <a:effectLst/>
                <a:uLnTx/>
                <a:uFillTx/>
                <a:latin typeface="Gartner Sans" panose="020B0504030402040204" pitchFamily="34" charset="0"/>
              </a:rPr>
              <a:t>enterprisewide</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rPr>
              <a:t> organization design frameworks, establishes governance for complex change initiatives. Coordinates across business unit/functions</a:t>
            </a:r>
            <a:r>
              <a:rPr kumimoji="0" lang="en-US" sz="1000" b="0" i="0" u="none" strike="noStrike" kern="1200" cap="none" spc="0" normalizeH="0" baseline="0" noProof="0" dirty="0">
                <a:ln>
                  <a:noFill/>
                </a:ln>
                <a:solidFill>
                  <a:prstClr val="black"/>
                </a:solidFill>
                <a:effectLst/>
                <a:uLnTx/>
                <a:uFillTx/>
                <a:latin typeface="Gartner Sans" panose="020B0504030402040204" pitchFamily="34" charset="0"/>
                <a:ea typeface="+mn-ea"/>
                <a:cs typeface="+mn-cs"/>
              </a:rPr>
              <a:t>.</a:t>
            </a:r>
          </a:p>
        </p:txBody>
      </p:sp>
      <p:sp>
        <p:nvSpPr>
          <p:cNvPr id="7" name="TextBox 6">
            <a:extLst>
              <a:ext uri="{FF2B5EF4-FFF2-40B4-BE49-F238E27FC236}">
                <a16:creationId xmlns:a16="http://schemas.microsoft.com/office/drawing/2014/main" id="{2E48210C-250F-B2CD-C75A-0D65749526AB}"/>
              </a:ext>
            </a:extLst>
          </p:cNvPr>
          <p:cNvSpPr txBox="1"/>
          <p:nvPr/>
        </p:nvSpPr>
        <p:spPr>
          <a:xfrm>
            <a:off x="457200" y="1737360"/>
            <a:ext cx="5956195" cy="276999"/>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rPr>
              <a:t>Key HR contributions include:</a:t>
            </a: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ndParaRPr>
          </a:p>
        </p:txBody>
      </p:sp>
      <p:sp>
        <p:nvSpPr>
          <p:cNvPr id="8" name="TextBox 7">
            <a:extLst>
              <a:ext uri="{FF2B5EF4-FFF2-40B4-BE49-F238E27FC236}">
                <a16:creationId xmlns:a16="http://schemas.microsoft.com/office/drawing/2014/main" id="{4C58BF84-3CE7-82B5-AA8A-00BD1602E5C8}"/>
              </a:ext>
            </a:extLst>
          </p:cNvPr>
          <p:cNvSpPr txBox="1"/>
          <p:nvPr/>
        </p:nvSpPr>
        <p:spPr>
          <a:xfrm>
            <a:off x="457200" y="5945867"/>
            <a:ext cx="10270067" cy="246221"/>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Gartner Sans" panose="020B0504030402040204" pitchFamily="34" charset="0"/>
                <a:ea typeface="+mn-ea"/>
                <a:cs typeface="+mn-cs"/>
              </a:rPr>
              <a:t>Note: HR Technology, HR Operations, play enabling roles in execution and sustainment, rather than</a:t>
            </a:r>
            <a:r>
              <a:rPr lang="en-US" sz="1000">
                <a:latin typeface="Gartner Sans" panose="020B0504030402040204" pitchFamily="34" charset="0"/>
              </a:rPr>
              <a:t> a leading role in </a:t>
            </a:r>
            <a:r>
              <a:rPr kumimoji="0" lang="en-US" sz="1000" b="0" i="0" u="none" strike="noStrike" kern="1200" cap="none" spc="0" normalizeH="0" baseline="0" noProof="0">
                <a:ln>
                  <a:noFill/>
                </a:ln>
                <a:effectLst/>
                <a:uLnTx/>
                <a:uFillTx/>
                <a:latin typeface="Gartner Sans" panose="020B0504030402040204" pitchFamily="34" charset="0"/>
                <a:ea typeface="+mn-ea"/>
                <a:cs typeface="+mn-cs"/>
              </a:rPr>
              <a:t>enterprise work redesign enablement.</a:t>
            </a:r>
          </a:p>
        </p:txBody>
      </p:sp>
      <p:sp>
        <p:nvSpPr>
          <p:cNvPr id="9" name="Title 8">
            <a:extLst>
              <a:ext uri="{FF2B5EF4-FFF2-40B4-BE49-F238E27FC236}">
                <a16:creationId xmlns:a16="http://schemas.microsoft.com/office/drawing/2014/main" id="{75501976-3DFE-1831-68FF-2822E7B61728}"/>
              </a:ext>
            </a:extLst>
          </p:cNvPr>
          <p:cNvSpPr>
            <a:spLocks noGrp="1"/>
          </p:cNvSpPr>
          <p:nvPr>
            <p:ph type="title"/>
          </p:nvPr>
        </p:nvSpPr>
        <p:spPr>
          <a:xfrm>
            <a:off x="457200" y="361950"/>
            <a:ext cx="11274552" cy="451231"/>
          </a:xfrm>
        </p:spPr>
        <p:txBody>
          <a:bodyPr/>
          <a:lstStyle/>
          <a:p>
            <a:pPr lvl="0"/>
            <a:r>
              <a:rPr lang="en-US"/>
              <a:t>HR Contribution: Enterprise Work Redesign</a:t>
            </a:r>
          </a:p>
        </p:txBody>
      </p:sp>
    </p:spTree>
    <p:extLst>
      <p:ext uri="{BB962C8B-B14F-4D97-AF65-F5344CB8AC3E}">
        <p14:creationId xmlns:p14="http://schemas.microsoft.com/office/powerpoint/2010/main" val="1532541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6011B-201D-7B13-E332-8001C9029584}"/>
            </a:ext>
          </a:extLst>
        </p:cNvPr>
        <p:cNvGrpSpPr/>
        <p:nvPr/>
      </p:nvGrpSpPr>
      <p:grpSpPr>
        <a:xfrm>
          <a:off x="0" y="0"/>
          <a:ext cx="0" cy="0"/>
          <a:chOff x="0" y="0"/>
          <a:chExt cx="0" cy="0"/>
        </a:xfrm>
      </p:grpSpPr>
      <p:sp>
        <p:nvSpPr>
          <p:cNvPr id="6" name="Google Shape;812;p11">
            <a:extLst>
              <a:ext uri="{FF2B5EF4-FFF2-40B4-BE49-F238E27FC236}">
                <a16:creationId xmlns:a16="http://schemas.microsoft.com/office/drawing/2014/main" id="{4C48B39F-213B-03A6-E673-472B8A3813A4}"/>
              </a:ext>
            </a:extLst>
          </p:cNvPr>
          <p:cNvSpPr txBox="1">
            <a:spLocks noGrp="1"/>
          </p:cNvSpPr>
          <p:nvPr>
            <p:ph type="title"/>
          </p:nvPr>
        </p:nvSpPr>
        <p:spPr>
          <a:xfrm>
            <a:off x="457200" y="361950"/>
            <a:ext cx="11274552" cy="451231"/>
          </a:xfrm>
          <a:noFill/>
          <a:ln>
            <a:noFill/>
          </a:ln>
        </p:spPr>
        <p:txBody>
          <a:bodyPr spcFirstLastPara="1" wrap="square" lIns="0" tIns="0" rIns="0" bIns="0" anchor="t" anchorCtr="0">
            <a:noAutofit/>
          </a:bodyPr>
          <a:lstStyle/>
          <a:p>
            <a:pPr lvl="0"/>
            <a:r>
              <a:rPr lang="en-US"/>
              <a:t>Collaboration: Enterprise Work Redesign</a:t>
            </a:r>
          </a:p>
        </p:txBody>
      </p:sp>
      <p:sp>
        <p:nvSpPr>
          <p:cNvPr id="10" name="TextBox 9">
            <a:extLst>
              <a:ext uri="{FF2B5EF4-FFF2-40B4-BE49-F238E27FC236}">
                <a16:creationId xmlns:a16="http://schemas.microsoft.com/office/drawing/2014/main" id="{94DB173F-7580-3438-A3CA-284722ED8DEC}"/>
              </a:ext>
            </a:extLst>
          </p:cNvPr>
          <p:cNvSpPr txBox="1"/>
          <p:nvPr/>
        </p:nvSpPr>
        <p:spPr>
          <a:xfrm>
            <a:off x="458723" y="914400"/>
            <a:ext cx="11274552" cy="1015663"/>
          </a:xfrm>
          <a:prstGeom prst="rect">
            <a:avLst/>
          </a:prstGeom>
          <a:noFill/>
          <a:ln w="6350">
            <a:solidFill>
              <a:srgbClr val="002869"/>
            </a:solidFill>
          </a:ln>
        </p:spPr>
        <p:txBody>
          <a:bodyPr wrap="square">
            <a:spAutoFit/>
          </a:bodyPr>
          <a:lstStyle/>
          <a:p>
            <a:r>
              <a:rPr lang="en-US" sz="1000" dirty="0"/>
              <a:t>Enterprise value stream and process redesign involves collaboration across internal teams and external partners. Different teams and roles can play a distinct role in shaping workflows and governance. Involvement varies by enterprise size:</a:t>
            </a:r>
          </a:p>
          <a:p>
            <a:pPr marL="171450" indent="-171450">
              <a:buFont typeface="Arial" panose="020B0604020202020204" pitchFamily="34" charset="0"/>
              <a:buChar char="•"/>
            </a:pPr>
            <a:r>
              <a:rPr lang="en-US" sz="1000" b="1" dirty="0"/>
              <a:t>Small:</a:t>
            </a:r>
            <a:r>
              <a:rPr lang="en-US" sz="1000" dirty="0"/>
              <a:t> Leaders own redesign with minimal formalization; heavy reliance on external expertise.</a:t>
            </a:r>
          </a:p>
          <a:p>
            <a:pPr marL="171450" indent="-171450">
              <a:buFont typeface="Arial" panose="020B0604020202020204" pitchFamily="34" charset="0"/>
              <a:buChar char="•"/>
            </a:pPr>
            <a:r>
              <a:rPr lang="en-US" sz="1000" b="1" dirty="0"/>
              <a:t>Medium:</a:t>
            </a:r>
            <a:r>
              <a:rPr lang="en-US" sz="1000" dirty="0"/>
              <a:t> Dedicated HR, IT, and process teams; selective vendor use for complex projects and pilots.</a:t>
            </a:r>
          </a:p>
          <a:p>
            <a:pPr marL="171450" indent="-171450">
              <a:buFont typeface="Arial" panose="020B0604020202020204" pitchFamily="34" charset="0"/>
              <a:buChar char="•"/>
            </a:pPr>
            <a:r>
              <a:rPr lang="en-US" sz="1000" b="1" dirty="0"/>
              <a:t>Large:</a:t>
            </a:r>
            <a:r>
              <a:rPr lang="en-US" sz="1000" dirty="0"/>
              <a:t> </a:t>
            </a:r>
            <a:r>
              <a:rPr lang="en-US" sz="1000" dirty="0" err="1"/>
              <a:t>Enterprisewide</a:t>
            </a:r>
            <a:r>
              <a:rPr lang="en-US" sz="1000" dirty="0"/>
              <a:t> governance, Centers of Excellence, and formal frameworks; strategic vendor partnerships for global transformation, benchmarking, and automation enablement</a:t>
            </a:r>
          </a:p>
          <a:p>
            <a:r>
              <a:rPr lang="en-US" sz="1000" dirty="0" err="1"/>
              <a:t>CHROs</a:t>
            </a:r>
            <a:r>
              <a:rPr lang="en-US" sz="1000" dirty="0"/>
              <a:t> co own design strategy and governance. HR drives human-centric design, workforce planning, job redesign, talent/capability alignment, and change leadership. </a:t>
            </a:r>
          </a:p>
        </p:txBody>
      </p:sp>
      <p:graphicFrame>
        <p:nvGraphicFramePr>
          <p:cNvPr id="11" name="Table 10">
            <a:extLst>
              <a:ext uri="{FF2B5EF4-FFF2-40B4-BE49-F238E27FC236}">
                <a16:creationId xmlns:a16="http://schemas.microsoft.com/office/drawing/2014/main" id="{1FEF352D-18C6-4894-323D-64CE5C9BACE3}"/>
              </a:ext>
            </a:extLst>
          </p:cNvPr>
          <p:cNvGraphicFramePr>
            <a:graphicFrameLocks noGrp="1"/>
          </p:cNvGraphicFramePr>
          <p:nvPr>
            <p:extLst>
              <p:ext uri="{D42A27DB-BD31-4B8C-83A1-F6EECF244321}">
                <p14:modId xmlns:p14="http://schemas.microsoft.com/office/powerpoint/2010/main" val="3698687888"/>
              </p:ext>
            </p:extLst>
          </p:nvPr>
        </p:nvGraphicFramePr>
        <p:xfrm>
          <a:off x="451677" y="2125385"/>
          <a:ext cx="11274552" cy="3246120"/>
        </p:xfrm>
        <a:graphic>
          <a:graphicData uri="http://schemas.openxmlformats.org/drawingml/2006/table">
            <a:tbl>
              <a:tblPr firstRow="1" firstCol="1" bandRow="1">
                <a:tableStyleId>{6E25E649-3F16-4E02-A733-19D2CDBF48F0}</a:tableStyleId>
              </a:tblPr>
              <a:tblGrid>
                <a:gridCol w="3087528">
                  <a:extLst>
                    <a:ext uri="{9D8B030D-6E8A-4147-A177-3AD203B41FA5}">
                      <a16:colId xmlns:a16="http://schemas.microsoft.com/office/drawing/2014/main" val="3802244413"/>
                    </a:ext>
                  </a:extLst>
                </a:gridCol>
                <a:gridCol w="8187024">
                  <a:extLst>
                    <a:ext uri="{9D8B030D-6E8A-4147-A177-3AD203B41FA5}">
                      <a16:colId xmlns:a16="http://schemas.microsoft.com/office/drawing/2014/main" val="1921141254"/>
                    </a:ext>
                  </a:extLst>
                </a:gridCol>
              </a:tblGrid>
              <a:tr h="0">
                <a:tc>
                  <a:txBody>
                    <a:bodyPr/>
                    <a:lstStyle/>
                    <a:p>
                      <a:pPr marL="0" marR="0" algn="l">
                        <a:lnSpc>
                          <a:spcPct val="90000"/>
                        </a:lnSpc>
                        <a:spcAft>
                          <a:spcPts val="800"/>
                        </a:spcAft>
                        <a:buNone/>
                      </a:pPr>
                      <a:r>
                        <a:rPr lang="en-US" sz="1000" kern="100" dirty="0">
                          <a:effectLst/>
                          <a:latin typeface="+mn-lt"/>
                        </a:rPr>
                        <a:t>Leader/Team</a:t>
                      </a:r>
                      <a:endParaRPr lang="en-US" sz="1000" kern="100" dirty="0">
                        <a:effectLst/>
                        <a:latin typeface="+mn-lt"/>
                        <a:ea typeface="DengXian" panose="02010600030101010101" pitchFamily="2" charset="-122"/>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pPr marL="0" marR="0" algn="l">
                        <a:lnSpc>
                          <a:spcPct val="90000"/>
                        </a:lnSpc>
                        <a:spcAft>
                          <a:spcPts val="800"/>
                        </a:spcAft>
                        <a:buNone/>
                      </a:pPr>
                      <a:r>
                        <a:rPr lang="en-US" sz="1000" kern="100">
                          <a:effectLst/>
                          <a:latin typeface="+mn-lt"/>
                        </a:rPr>
                        <a:t>Role in Process Redesign</a:t>
                      </a:r>
                      <a:endParaRPr lang="en-US" sz="1000" kern="100">
                        <a:effectLst/>
                        <a:latin typeface="+mn-lt"/>
                        <a:ea typeface="DengXian" panose="02010600030101010101" pitchFamily="2" charset="-122"/>
                        <a:cs typeface="Times New Roman" panose="02020603050405020304" pitchFamily="18" charset="0"/>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extLst>
                  <a:ext uri="{0D108BD9-81ED-4DB2-BD59-A6C34878D82A}">
                    <a16:rowId xmlns:a16="http://schemas.microsoft.com/office/drawing/2014/main" val="3929257852"/>
                  </a:ext>
                </a:extLst>
              </a:tr>
              <a:tr h="193214">
                <a:tc>
                  <a:txBody>
                    <a:bodyPr/>
                    <a:lstStyle/>
                    <a:p>
                      <a:pPr marL="0" marR="0" lvl="0" algn="l">
                        <a:lnSpc>
                          <a:spcPct val="90000"/>
                        </a:lnSpc>
                        <a:spcAft>
                          <a:spcPts val="800"/>
                        </a:spcAft>
                        <a:buNone/>
                      </a:pPr>
                      <a:r>
                        <a:rPr lang="en-US" sz="1000" b="1" kern="100" dirty="0">
                          <a:solidFill>
                            <a:srgbClr val="000000"/>
                          </a:solidFill>
                          <a:effectLst/>
                          <a:latin typeface="+mn-lt"/>
                        </a:rPr>
                        <a:t>CHRO/HR</a:t>
                      </a:r>
                      <a:endParaRPr lang="en-US" sz="1000" b="1" kern="100" dirty="0">
                        <a:solidFill>
                          <a:srgbClr val="000000"/>
                        </a:solidFill>
                        <a:effectLst/>
                        <a:latin typeface="+mn-lt"/>
                        <a:ea typeface="DengXian" panose="02010600030101010101" pitchFamily="2" charset="-122"/>
                        <a:cs typeface="Times New Roman" panose="02020603050405020304" pitchFamily="18" charset="0"/>
                      </a:endParaRPr>
                    </a:p>
                  </a:txBody>
                  <a:tcPr>
                    <a:lnT w="12700" cap="flat" cmpd="sng" algn="ctr">
                      <a:noFill/>
                      <a:prstDash val="solid"/>
                      <a:round/>
                      <a:headEnd type="none" w="med" len="med"/>
                      <a:tailEnd type="none" w="med" len="med"/>
                    </a:lnT>
                    <a:solidFill>
                      <a:srgbClr val="B8DEFF"/>
                    </a:solidFill>
                  </a:tcPr>
                </a:tc>
                <a:tc>
                  <a:txBody>
                    <a:bodyPr/>
                    <a:lstStyle/>
                    <a:p>
                      <a:pPr marL="0" marR="0" lvl="0" indent="0" algn="l" defTabSz="914400" rtl="0" eaLnBrk="1" fontAlgn="auto" latinLnBrk="0" hangingPunct="1">
                        <a:lnSpc>
                          <a:spcPct val="90000"/>
                        </a:lnSpc>
                        <a:spcBef>
                          <a:spcPts val="0"/>
                        </a:spcBef>
                        <a:spcAft>
                          <a:spcPts val="800"/>
                        </a:spcAft>
                        <a:buClrTx/>
                        <a:buSzTx/>
                        <a:buFontTx/>
                        <a:buNone/>
                        <a:tabLst/>
                        <a:defRPr/>
                      </a:pPr>
                      <a:r>
                        <a:rPr lang="en-US" sz="1000" b="0">
                          <a:latin typeface="+mn-lt"/>
                        </a:rPr>
                        <a:t>Partner with the CEO and executive team to align strategy and design principles for value stream prioritization. Co-own governance and champion AI adoption and ethics. Lead HR’s enterprise contribution to workforce planning, job redesign, capability and talent shifts, and change management to enable a human-first approach to AI transformation.</a:t>
                      </a:r>
                      <a:endParaRPr lang="en-US" sz="1000" kern="100">
                        <a:effectLst/>
                        <a:latin typeface="+mn-lt"/>
                      </a:endParaRPr>
                    </a:p>
                  </a:txBody>
                  <a:tcPr>
                    <a:lnT w="12700" cap="flat" cmpd="sng" algn="ctr">
                      <a:noFill/>
                      <a:prstDash val="solid"/>
                      <a:round/>
                      <a:headEnd type="none" w="med" len="med"/>
                      <a:tailEnd type="none" w="med" len="med"/>
                    </a:lnT>
                    <a:solidFill>
                      <a:srgbClr val="E0F1FF"/>
                    </a:solidFill>
                  </a:tcPr>
                </a:tc>
                <a:extLst>
                  <a:ext uri="{0D108BD9-81ED-4DB2-BD59-A6C34878D82A}">
                    <a16:rowId xmlns:a16="http://schemas.microsoft.com/office/drawing/2014/main" val="4115754171"/>
                  </a:ext>
                </a:extLst>
              </a:tr>
              <a:tr h="0">
                <a:tc>
                  <a:txBody>
                    <a:bodyPr/>
                    <a:lstStyle/>
                    <a:p>
                      <a:pPr marL="0" marR="0" lvl="0" algn="l">
                        <a:lnSpc>
                          <a:spcPct val="90000"/>
                        </a:lnSpc>
                        <a:spcAft>
                          <a:spcPts val="800"/>
                        </a:spcAft>
                        <a:buNone/>
                      </a:pPr>
                      <a:r>
                        <a:rPr lang="en-US" sz="1000" b="1" kern="100" dirty="0">
                          <a:solidFill>
                            <a:schemeClr val="tx1"/>
                          </a:solidFill>
                          <a:effectLst/>
                          <a:latin typeface="+mn-lt"/>
                        </a:rPr>
                        <a:t>CEO/Executive Leadership</a:t>
                      </a:r>
                      <a:endParaRPr lang="en-US" sz="1000" b="1" kern="100" dirty="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lvl="1" indent="0" algn="l">
                        <a:lnSpc>
                          <a:spcPct val="90000"/>
                        </a:lnSpc>
                        <a:spcAft>
                          <a:spcPts val="800"/>
                        </a:spcAft>
                        <a:buNone/>
                      </a:pPr>
                      <a:r>
                        <a:rPr lang="en-US" sz="1000" dirty="0"/>
                        <a:t>Set transformation vision, align investments, and ensure AI strategy aligns with business goals. Sponsor </a:t>
                      </a:r>
                      <a:r>
                        <a:rPr lang="en-US" sz="1000" dirty="0" err="1"/>
                        <a:t>enterprisewide</a:t>
                      </a:r>
                      <a:r>
                        <a:rPr lang="en-US" sz="1000" dirty="0"/>
                        <a:t> governance.</a:t>
                      </a:r>
                      <a:endParaRPr lang="en-US" sz="1000" kern="100" dirty="0">
                        <a:effectLst/>
                        <a:latin typeface="+mn-lt"/>
                        <a:ea typeface="DengXian" panose="02010600030101010101" pitchFamily="2" charset="-122"/>
                        <a:cs typeface="Times New Roman" panose="02020603050405020304" pitchFamily="18" charset="0"/>
                      </a:endParaRPr>
                    </a:p>
                  </a:txBody>
                  <a:tcPr/>
                </a:tc>
                <a:extLst>
                  <a:ext uri="{0D108BD9-81ED-4DB2-BD59-A6C34878D82A}">
                    <a16:rowId xmlns:a16="http://schemas.microsoft.com/office/drawing/2014/main" val="3180707194"/>
                  </a:ext>
                </a:extLst>
              </a:tr>
              <a:tr h="0">
                <a:tc>
                  <a:txBody>
                    <a:bodyPr/>
                    <a:lstStyle/>
                    <a:p>
                      <a:pPr lvl="0" algn="l">
                        <a:lnSpc>
                          <a:spcPct val="90000"/>
                        </a:lnSpc>
                        <a:buNone/>
                      </a:pPr>
                      <a:r>
                        <a:rPr lang="en-US" sz="1000" b="1" dirty="0">
                          <a:solidFill>
                            <a:schemeClr val="tx1"/>
                          </a:solidFill>
                        </a:rPr>
                        <a:t>CFO/Finance</a:t>
                      </a:r>
                    </a:p>
                  </a:txBody>
                  <a:tcPr anchor="ctr">
                    <a:solidFill>
                      <a:srgbClr val="B8DEFF"/>
                    </a:solidFill>
                  </a:tcPr>
                </a:tc>
                <a:tc>
                  <a:txBody>
                    <a:bodyPr/>
                    <a:lstStyle/>
                    <a:p>
                      <a:pPr algn="l">
                        <a:lnSpc>
                          <a:spcPct val="90000"/>
                        </a:lnSpc>
                        <a:buNone/>
                      </a:pPr>
                      <a:r>
                        <a:rPr lang="en-US" sz="1000"/>
                        <a:t>Fund and prioritize redesign investments. Model ROI across cost, innovation, and experience</a:t>
                      </a:r>
                    </a:p>
                  </a:txBody>
                  <a:tcPr>
                    <a:solidFill>
                      <a:srgbClr val="E0F1FF"/>
                    </a:solidFill>
                  </a:tcPr>
                </a:tc>
                <a:extLst>
                  <a:ext uri="{0D108BD9-81ED-4DB2-BD59-A6C34878D82A}">
                    <a16:rowId xmlns:a16="http://schemas.microsoft.com/office/drawing/2014/main" val="3055335123"/>
                  </a:ext>
                </a:extLst>
              </a:tr>
              <a:tr h="0">
                <a:tc>
                  <a:txBody>
                    <a:bodyPr/>
                    <a:lstStyle/>
                    <a:p>
                      <a:pPr lvl="0" algn="l">
                        <a:lnSpc>
                          <a:spcPct val="90000"/>
                        </a:lnSpc>
                        <a:buNone/>
                      </a:pPr>
                      <a:r>
                        <a:rPr lang="en-US" sz="1000" b="1" dirty="0">
                          <a:solidFill>
                            <a:schemeClr val="tx1"/>
                          </a:solidFill>
                        </a:rPr>
                        <a:t>CIO/CTO/IT</a:t>
                      </a:r>
                    </a:p>
                  </a:txBody>
                  <a:tcPr anchor="ctr">
                    <a:solidFill>
                      <a:srgbClr val="B8DEFF"/>
                    </a:solidFill>
                  </a:tcPr>
                </a:tc>
                <a:tc>
                  <a:txBody>
                    <a:bodyPr/>
                    <a:lstStyle/>
                    <a:p>
                      <a:pPr algn="l">
                        <a:lnSpc>
                          <a:spcPct val="90000"/>
                        </a:lnSpc>
                        <a:buNone/>
                      </a:pPr>
                      <a:r>
                        <a:rPr lang="en-US" sz="1000"/>
                        <a:t>Own technology enablement and lead automation architecture, data governance, and orchestration of AI-driven processes.</a:t>
                      </a:r>
                    </a:p>
                  </a:txBody>
                  <a:tcPr/>
                </a:tc>
                <a:extLst>
                  <a:ext uri="{0D108BD9-81ED-4DB2-BD59-A6C34878D82A}">
                    <a16:rowId xmlns:a16="http://schemas.microsoft.com/office/drawing/2014/main" val="3399315074"/>
                  </a:ext>
                </a:extLst>
              </a:tr>
              <a:tr h="0">
                <a:tc>
                  <a:txBody>
                    <a:bodyPr/>
                    <a:lstStyle/>
                    <a:p>
                      <a:pPr lvl="0" algn="l">
                        <a:lnSpc>
                          <a:spcPct val="90000"/>
                        </a:lnSpc>
                        <a:buNone/>
                      </a:pPr>
                      <a:r>
                        <a:rPr lang="en-US" sz="1000" b="1">
                          <a:solidFill>
                            <a:schemeClr val="tx1"/>
                          </a:solidFill>
                        </a:rPr>
                        <a:t>Business Process Owners/Ops Leaders</a:t>
                      </a:r>
                    </a:p>
                  </a:txBody>
                  <a:tcPr anchor="ctr">
                    <a:solidFill>
                      <a:srgbClr val="B8DEFF"/>
                    </a:solidFill>
                  </a:tcPr>
                </a:tc>
                <a:tc>
                  <a:txBody>
                    <a:bodyPr/>
                    <a:lstStyle/>
                    <a:p>
                      <a:pPr marL="0" indent="0" algn="l">
                        <a:lnSpc>
                          <a:spcPct val="90000"/>
                        </a:lnSpc>
                        <a:buNone/>
                      </a:pPr>
                      <a:r>
                        <a:rPr lang="en-US" sz="1000"/>
                        <a:t>Own redesign for their function, ensure alignment with enterprise goals, and drive implementation.</a:t>
                      </a:r>
                    </a:p>
                  </a:txBody>
                  <a:tcPr>
                    <a:solidFill>
                      <a:srgbClr val="E0F1FF"/>
                    </a:solidFill>
                  </a:tcPr>
                </a:tc>
                <a:extLst>
                  <a:ext uri="{0D108BD9-81ED-4DB2-BD59-A6C34878D82A}">
                    <a16:rowId xmlns:a16="http://schemas.microsoft.com/office/drawing/2014/main" val="3145507677"/>
                  </a:ext>
                </a:extLst>
              </a:tr>
              <a:tr h="0">
                <a:tc>
                  <a:txBody>
                    <a:bodyPr/>
                    <a:lstStyle/>
                    <a:p>
                      <a:pPr marL="0" marR="0" lvl="0" algn="l">
                        <a:lnSpc>
                          <a:spcPct val="90000"/>
                        </a:lnSpc>
                        <a:spcAft>
                          <a:spcPts val="800"/>
                        </a:spcAft>
                        <a:buNone/>
                      </a:pPr>
                      <a:r>
                        <a:rPr lang="en-US" sz="1000" b="1" kern="100" dirty="0">
                          <a:solidFill>
                            <a:schemeClr val="tx1"/>
                          </a:solidFill>
                          <a:effectLst/>
                          <a:latin typeface="+mn-lt"/>
                          <a:ea typeface="DengXian" panose="02010600030101010101" pitchFamily="2" charset="-122"/>
                          <a:cs typeface="Times New Roman" panose="02020603050405020304" pitchFamily="18" charset="0"/>
                        </a:rPr>
                        <a:t>Risk/Compliance</a:t>
                      </a:r>
                    </a:p>
                  </a:txBody>
                  <a:tcPr>
                    <a:solidFill>
                      <a:srgbClr val="B8DEFF"/>
                    </a:solidFill>
                  </a:tcPr>
                </a:tc>
                <a:tc>
                  <a:txBody>
                    <a:bodyPr/>
                    <a:lstStyle/>
                    <a:p>
                      <a:pPr marL="0" marR="0" indent="0" algn="l">
                        <a:lnSpc>
                          <a:spcPct val="90000"/>
                        </a:lnSpc>
                        <a:spcAft>
                          <a:spcPts val="800"/>
                        </a:spcAft>
                        <a:buNone/>
                      </a:pPr>
                      <a:r>
                        <a:rPr lang="en-US" sz="1000"/>
                        <a:t>Embed regulatory, security, and compliance standards into redesign. Assess risk exposure for automation and AI integration. </a:t>
                      </a:r>
                      <a:endParaRPr lang="en-US" sz="1000" kern="100">
                        <a:effectLst/>
                        <a:latin typeface="+mn-lt"/>
                        <a:ea typeface="DengXian" panose="02010600030101010101" pitchFamily="2" charset="-122"/>
                        <a:cs typeface="Times New Roman" panose="02020603050405020304" pitchFamily="18" charset="0"/>
                      </a:endParaRPr>
                    </a:p>
                  </a:txBody>
                  <a:tcPr/>
                </a:tc>
                <a:extLst>
                  <a:ext uri="{0D108BD9-81ED-4DB2-BD59-A6C34878D82A}">
                    <a16:rowId xmlns:a16="http://schemas.microsoft.com/office/drawing/2014/main" val="812349112"/>
                  </a:ext>
                </a:extLst>
              </a:tr>
              <a:tr h="0">
                <a:tc>
                  <a:txBody>
                    <a:bodyPr/>
                    <a:lstStyle/>
                    <a:p>
                      <a:pPr marL="0" marR="0" lvl="0" algn="l">
                        <a:lnSpc>
                          <a:spcPct val="90000"/>
                        </a:lnSpc>
                        <a:spcAft>
                          <a:spcPts val="800"/>
                        </a:spcAft>
                        <a:buNone/>
                      </a:pPr>
                      <a:r>
                        <a:rPr lang="en-US" sz="1000" b="1" kern="100">
                          <a:solidFill>
                            <a:schemeClr val="tx1"/>
                          </a:solidFill>
                          <a:effectLst/>
                          <a:latin typeface="+mn-lt"/>
                        </a:rPr>
                        <a:t>Enterprise Architects</a:t>
                      </a:r>
                      <a:endParaRPr lang="en-US" sz="1000" b="1" kern="10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indent="0" algn="l">
                        <a:lnSpc>
                          <a:spcPct val="90000"/>
                        </a:lnSpc>
                        <a:spcAft>
                          <a:spcPts val="800"/>
                        </a:spcAft>
                        <a:buNone/>
                      </a:pPr>
                      <a:r>
                        <a:rPr lang="en-US" sz="1000"/>
                        <a:t>Define future-state architecture and design principles; Integrate technology/process standards in redesign</a:t>
                      </a:r>
                      <a:endParaRPr lang="en-US" sz="1000" kern="100">
                        <a:effectLst/>
                        <a:latin typeface="+mn-lt"/>
                        <a:ea typeface="DengXian" panose="02010600030101010101" pitchFamily="2" charset="-122"/>
                        <a:cs typeface="Times New Roman" panose="02020603050405020304" pitchFamily="18" charset="0"/>
                      </a:endParaRPr>
                    </a:p>
                  </a:txBody>
                  <a:tcPr>
                    <a:solidFill>
                      <a:srgbClr val="E0F1FF"/>
                    </a:solidFill>
                  </a:tcPr>
                </a:tc>
                <a:extLst>
                  <a:ext uri="{0D108BD9-81ED-4DB2-BD59-A6C34878D82A}">
                    <a16:rowId xmlns:a16="http://schemas.microsoft.com/office/drawing/2014/main" val="1607256159"/>
                  </a:ext>
                </a:extLst>
              </a:tr>
              <a:tr h="0">
                <a:tc>
                  <a:txBody>
                    <a:bodyPr/>
                    <a:lstStyle/>
                    <a:p>
                      <a:pPr marL="0" marR="0" lvl="0" algn="l">
                        <a:lnSpc>
                          <a:spcPct val="90000"/>
                        </a:lnSpc>
                        <a:spcAft>
                          <a:spcPts val="800"/>
                        </a:spcAft>
                        <a:buNone/>
                      </a:pPr>
                      <a:r>
                        <a:rPr lang="en-US" sz="1000" b="1" kern="100" dirty="0">
                          <a:solidFill>
                            <a:schemeClr val="tx1"/>
                          </a:solidFill>
                          <a:effectLst/>
                          <a:latin typeface="+mn-lt"/>
                        </a:rPr>
                        <a:t>Business Process Excellence/Engineering </a:t>
                      </a:r>
                      <a:r>
                        <a:rPr lang="en-US" sz="1000" b="1" kern="100" dirty="0" err="1">
                          <a:solidFill>
                            <a:schemeClr val="tx1"/>
                          </a:solidFill>
                          <a:effectLst/>
                          <a:latin typeface="+mn-lt"/>
                        </a:rPr>
                        <a:t>CoE</a:t>
                      </a:r>
                      <a:endParaRPr lang="en-US" sz="1000" b="1" kern="100" dirty="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indent="0" algn="l">
                        <a:lnSpc>
                          <a:spcPct val="90000"/>
                        </a:lnSpc>
                        <a:spcAft>
                          <a:spcPts val="800"/>
                        </a:spcAft>
                        <a:buNone/>
                      </a:pPr>
                      <a:r>
                        <a:rPr lang="en-US" sz="1000"/>
                        <a:t>Map processes, identify bottlenecks, and apply Lean/Six Sigma for optimization. Drive governance and continuous improvement.</a:t>
                      </a:r>
                      <a:endParaRPr lang="en-US" sz="1000" kern="100">
                        <a:effectLst/>
                        <a:latin typeface="+mn-lt"/>
                        <a:ea typeface="DengXian" panose="02010600030101010101" pitchFamily="2" charset="-122"/>
                        <a:cs typeface="Times New Roman" panose="02020603050405020304" pitchFamily="18" charset="0"/>
                      </a:endParaRPr>
                    </a:p>
                  </a:txBody>
                  <a:tcPr/>
                </a:tc>
                <a:extLst>
                  <a:ext uri="{0D108BD9-81ED-4DB2-BD59-A6C34878D82A}">
                    <a16:rowId xmlns:a16="http://schemas.microsoft.com/office/drawing/2014/main" val="1729366783"/>
                  </a:ext>
                </a:extLst>
              </a:tr>
              <a:tr h="0">
                <a:tc>
                  <a:txBody>
                    <a:bodyPr/>
                    <a:lstStyle/>
                    <a:p>
                      <a:pPr marL="0" marR="0" lvl="0" algn="l">
                        <a:lnSpc>
                          <a:spcPct val="90000"/>
                        </a:lnSpc>
                        <a:spcAft>
                          <a:spcPts val="800"/>
                        </a:spcAft>
                        <a:buNone/>
                      </a:pPr>
                      <a:r>
                        <a:rPr lang="en-US" sz="1000" b="1" kern="100">
                          <a:solidFill>
                            <a:schemeClr val="tx1"/>
                          </a:solidFill>
                          <a:effectLst/>
                          <a:latin typeface="+mn-lt"/>
                        </a:rPr>
                        <a:t>Business Process Analysts</a:t>
                      </a:r>
                      <a:endParaRPr lang="en-US" sz="1000" b="1" kern="10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indent="0" algn="l">
                        <a:lnSpc>
                          <a:spcPct val="90000"/>
                        </a:lnSpc>
                        <a:spcAft>
                          <a:spcPts val="800"/>
                        </a:spcAft>
                        <a:buNone/>
                      </a:pPr>
                      <a:r>
                        <a:rPr lang="en-US" sz="1000" kern="100">
                          <a:effectLst/>
                          <a:latin typeface="+mn-lt"/>
                        </a:rPr>
                        <a:t>Map as-is processes, identify bottlenecks, model future state</a:t>
                      </a:r>
                      <a:endParaRPr lang="en-US" sz="1000" kern="100">
                        <a:effectLst/>
                        <a:latin typeface="+mn-lt"/>
                        <a:ea typeface="DengXian" panose="02010600030101010101" pitchFamily="2" charset="-122"/>
                        <a:cs typeface="Times New Roman" panose="02020603050405020304" pitchFamily="18" charset="0"/>
                      </a:endParaRPr>
                    </a:p>
                  </a:txBody>
                  <a:tcPr>
                    <a:solidFill>
                      <a:srgbClr val="E0F1FF"/>
                    </a:solidFill>
                  </a:tcPr>
                </a:tc>
                <a:extLst>
                  <a:ext uri="{0D108BD9-81ED-4DB2-BD59-A6C34878D82A}">
                    <a16:rowId xmlns:a16="http://schemas.microsoft.com/office/drawing/2014/main" val="1869843804"/>
                  </a:ext>
                </a:extLst>
              </a:tr>
              <a:tr h="0">
                <a:tc>
                  <a:txBody>
                    <a:bodyPr/>
                    <a:lstStyle/>
                    <a:p>
                      <a:pPr marL="0" marR="0" lvl="0" algn="l">
                        <a:lnSpc>
                          <a:spcPct val="90000"/>
                        </a:lnSpc>
                        <a:spcAft>
                          <a:spcPts val="800"/>
                        </a:spcAft>
                        <a:buNone/>
                      </a:pPr>
                      <a:r>
                        <a:rPr lang="en-US" sz="1000" b="1" kern="100">
                          <a:solidFill>
                            <a:schemeClr val="tx1"/>
                          </a:solidFill>
                          <a:effectLst/>
                          <a:latin typeface="+mn-lt"/>
                        </a:rPr>
                        <a:t>Consulting Partners</a:t>
                      </a:r>
                      <a:endParaRPr lang="en-US" sz="1000" b="1" kern="10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indent="0" algn="l">
                        <a:lnSpc>
                          <a:spcPct val="90000"/>
                        </a:lnSpc>
                        <a:spcAft>
                          <a:spcPts val="800"/>
                        </a:spcAft>
                        <a:buNone/>
                      </a:pPr>
                      <a:r>
                        <a:rPr lang="en-US" sz="1000" dirty="0"/>
                        <a:t>Provide strategic guidance, governance design, benchmarking, support complex process redesign</a:t>
                      </a:r>
                      <a:endParaRPr lang="en-US" sz="1000" kern="100" dirty="0">
                        <a:effectLst/>
                        <a:latin typeface="+mn-lt"/>
                        <a:ea typeface="DengXian" panose="02010600030101010101" pitchFamily="2" charset="-122"/>
                        <a:cs typeface="Times New Roman" panose="02020603050405020304" pitchFamily="18" charset="0"/>
                      </a:endParaRPr>
                    </a:p>
                  </a:txBody>
                  <a:tcPr/>
                </a:tc>
                <a:extLst>
                  <a:ext uri="{0D108BD9-81ED-4DB2-BD59-A6C34878D82A}">
                    <a16:rowId xmlns:a16="http://schemas.microsoft.com/office/drawing/2014/main" val="2435352957"/>
                  </a:ext>
                </a:extLst>
              </a:tr>
              <a:tr h="0">
                <a:tc>
                  <a:txBody>
                    <a:bodyPr/>
                    <a:lstStyle/>
                    <a:p>
                      <a:pPr marL="0" marR="0" lvl="0" algn="l">
                        <a:lnSpc>
                          <a:spcPct val="90000"/>
                        </a:lnSpc>
                        <a:spcAft>
                          <a:spcPts val="800"/>
                        </a:spcAft>
                        <a:buNone/>
                      </a:pPr>
                      <a:r>
                        <a:rPr lang="en-US" sz="1000" b="1" kern="100" dirty="0">
                          <a:solidFill>
                            <a:schemeClr val="tx1"/>
                          </a:solidFill>
                          <a:effectLst/>
                          <a:latin typeface="+mn-lt"/>
                        </a:rPr>
                        <a:t>Process Mining/Task Intelligence Vendors</a:t>
                      </a:r>
                      <a:endParaRPr lang="en-US" sz="1000" b="1" kern="100" dirty="0">
                        <a:solidFill>
                          <a:schemeClr val="tx1"/>
                        </a:solidFill>
                        <a:effectLst/>
                        <a:latin typeface="+mn-lt"/>
                        <a:ea typeface="DengXian" panose="02010600030101010101" pitchFamily="2" charset="-122"/>
                        <a:cs typeface="Times New Roman" panose="02020603050405020304" pitchFamily="18" charset="0"/>
                      </a:endParaRPr>
                    </a:p>
                  </a:txBody>
                  <a:tcPr>
                    <a:solidFill>
                      <a:srgbClr val="B8DEFF"/>
                    </a:solidFill>
                  </a:tcPr>
                </a:tc>
                <a:tc>
                  <a:txBody>
                    <a:bodyPr/>
                    <a:lstStyle/>
                    <a:p>
                      <a:pPr marL="0" marR="0" indent="0" algn="l">
                        <a:lnSpc>
                          <a:spcPct val="90000"/>
                        </a:lnSpc>
                        <a:spcAft>
                          <a:spcPts val="800"/>
                        </a:spcAft>
                        <a:buNone/>
                        <a:tabLst>
                          <a:tab pos="0" algn="l"/>
                        </a:tabLst>
                      </a:pPr>
                      <a:r>
                        <a:rPr lang="en-US" sz="1000"/>
                        <a:t>Enable process discovery, conformance checks, root cause analysis, and simulation for optimization</a:t>
                      </a:r>
                      <a:endParaRPr lang="en-US" sz="1000" kern="100">
                        <a:effectLst/>
                        <a:latin typeface="+mn-lt"/>
                        <a:ea typeface="DengXian" panose="02010600030101010101" pitchFamily="2" charset="-122"/>
                        <a:cs typeface="Times New Roman" panose="02020603050405020304" pitchFamily="18" charset="0"/>
                      </a:endParaRPr>
                    </a:p>
                  </a:txBody>
                  <a:tcPr>
                    <a:solidFill>
                      <a:srgbClr val="E0F1FF"/>
                    </a:solidFill>
                  </a:tcPr>
                </a:tc>
                <a:extLst>
                  <a:ext uri="{0D108BD9-81ED-4DB2-BD59-A6C34878D82A}">
                    <a16:rowId xmlns:a16="http://schemas.microsoft.com/office/drawing/2014/main" val="3929012645"/>
                  </a:ext>
                </a:extLst>
              </a:tr>
              <a:tr h="0">
                <a:tc>
                  <a:txBody>
                    <a:bodyPr/>
                    <a:lstStyle/>
                    <a:p>
                      <a:pPr marL="0" marR="0" lvl="0" algn="l">
                        <a:lnSpc>
                          <a:spcPct val="90000"/>
                        </a:lnSpc>
                        <a:spcAft>
                          <a:spcPts val="800"/>
                        </a:spcAft>
                        <a:buNone/>
                      </a:pPr>
                      <a:r>
                        <a:rPr lang="en-US" sz="1000" b="1" kern="100" dirty="0">
                          <a:solidFill>
                            <a:schemeClr val="tx1"/>
                          </a:solidFill>
                          <a:effectLst/>
                          <a:latin typeface="+mn-lt"/>
                        </a:rPr>
                        <a:t>System Integrators/Automation Vendors</a:t>
                      </a:r>
                      <a:endParaRPr lang="en-US" sz="1000" b="1" kern="100" dirty="0">
                        <a:solidFill>
                          <a:schemeClr val="tx1"/>
                        </a:solidFill>
                        <a:effectLst/>
                        <a:latin typeface="+mn-lt"/>
                        <a:ea typeface="DengXian" panose="02010600030101010101" pitchFamily="2" charset="-122"/>
                        <a:cs typeface="Times New Roman" panose="02020603050405020304" pitchFamily="18" charset="0"/>
                      </a:endParaRPr>
                    </a:p>
                  </a:txBody>
                  <a:tcPr>
                    <a:lnB w="12700" cap="flat" cmpd="sng" algn="ctr">
                      <a:noFill/>
                      <a:prstDash val="solid"/>
                      <a:round/>
                      <a:headEnd type="none" w="med" len="med"/>
                      <a:tailEnd type="none" w="med" len="med"/>
                    </a:lnB>
                    <a:solidFill>
                      <a:srgbClr val="B8DEFF"/>
                    </a:solidFill>
                  </a:tcPr>
                </a:tc>
                <a:tc>
                  <a:txBody>
                    <a:bodyPr/>
                    <a:lstStyle/>
                    <a:p>
                      <a:pPr marL="0" marR="0" indent="0" algn="l">
                        <a:lnSpc>
                          <a:spcPct val="90000"/>
                        </a:lnSpc>
                        <a:spcAft>
                          <a:spcPts val="800"/>
                        </a:spcAft>
                        <a:buNone/>
                        <a:tabLst/>
                      </a:pPr>
                      <a:r>
                        <a:rPr lang="en-US" sz="1000" dirty="0"/>
                        <a:t>Build and orchestrate automation workflows, integrate platforms, and enable AI-driven process execution</a:t>
                      </a:r>
                      <a:endParaRPr lang="en-US" sz="1000" kern="100" dirty="0">
                        <a:effectLst/>
                        <a:latin typeface="+mn-lt"/>
                        <a:ea typeface="DengXian" panose="02010600030101010101" pitchFamily="2" charset="-122"/>
                        <a:cs typeface="Times New Roman" panose="02020603050405020304" pitchFamily="18" charset="0"/>
                      </a:endParaRPr>
                    </a:p>
                  </a:txBody>
                  <a:tcPr>
                    <a:lnB w="12700" cap="flat" cmpd="sng" algn="ctr">
                      <a:noFill/>
                      <a:prstDash val="solid"/>
                      <a:round/>
                      <a:headEnd type="none" w="med" len="med"/>
                      <a:tailEnd type="none" w="med" len="med"/>
                    </a:lnB>
                  </a:tcPr>
                </a:tc>
                <a:extLst>
                  <a:ext uri="{0D108BD9-81ED-4DB2-BD59-A6C34878D82A}">
                    <a16:rowId xmlns:a16="http://schemas.microsoft.com/office/drawing/2014/main" val="4105187316"/>
                  </a:ext>
                </a:extLst>
              </a:tr>
            </a:tbl>
          </a:graphicData>
        </a:graphic>
      </p:graphicFrame>
    </p:spTree>
    <p:extLst>
      <p:ext uri="{BB962C8B-B14F-4D97-AF65-F5344CB8AC3E}">
        <p14:creationId xmlns:p14="http://schemas.microsoft.com/office/powerpoint/2010/main" val="81919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37F04-6806-2CA2-F986-F94001C6ACE0}"/>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82021CA-933F-87E3-0A11-D84623CBAFDF}"/>
              </a:ext>
            </a:extLst>
          </p:cNvPr>
          <p:cNvGraphicFramePr>
            <a:graphicFrameLocks noGrp="1"/>
          </p:cNvGraphicFramePr>
          <p:nvPr>
            <p:extLst>
              <p:ext uri="{D42A27DB-BD31-4B8C-83A1-F6EECF244321}">
                <p14:modId xmlns:p14="http://schemas.microsoft.com/office/powerpoint/2010/main" val="3769731667"/>
              </p:ext>
            </p:extLst>
          </p:nvPr>
        </p:nvGraphicFramePr>
        <p:xfrm>
          <a:off x="457200" y="1297948"/>
          <a:ext cx="11285397" cy="4673440"/>
        </p:xfrm>
        <a:graphic>
          <a:graphicData uri="http://schemas.openxmlformats.org/drawingml/2006/table">
            <a:tbl>
              <a:tblPr/>
              <a:tblGrid>
                <a:gridCol w="1318437">
                  <a:extLst>
                    <a:ext uri="{9D8B030D-6E8A-4147-A177-3AD203B41FA5}">
                      <a16:colId xmlns:a16="http://schemas.microsoft.com/office/drawing/2014/main" val="2593746804"/>
                    </a:ext>
                  </a:extLst>
                </a:gridCol>
                <a:gridCol w="1993392">
                  <a:extLst>
                    <a:ext uri="{9D8B030D-6E8A-4147-A177-3AD203B41FA5}">
                      <a16:colId xmlns:a16="http://schemas.microsoft.com/office/drawing/2014/main" val="251900541"/>
                    </a:ext>
                  </a:extLst>
                </a:gridCol>
                <a:gridCol w="1993392">
                  <a:extLst>
                    <a:ext uri="{9D8B030D-6E8A-4147-A177-3AD203B41FA5}">
                      <a16:colId xmlns:a16="http://schemas.microsoft.com/office/drawing/2014/main" val="84288049"/>
                    </a:ext>
                  </a:extLst>
                </a:gridCol>
                <a:gridCol w="1993392">
                  <a:extLst>
                    <a:ext uri="{9D8B030D-6E8A-4147-A177-3AD203B41FA5}">
                      <a16:colId xmlns:a16="http://schemas.microsoft.com/office/drawing/2014/main" val="3632875677"/>
                    </a:ext>
                  </a:extLst>
                </a:gridCol>
                <a:gridCol w="1993392">
                  <a:extLst>
                    <a:ext uri="{9D8B030D-6E8A-4147-A177-3AD203B41FA5}">
                      <a16:colId xmlns:a16="http://schemas.microsoft.com/office/drawing/2014/main" val="333678064"/>
                    </a:ext>
                  </a:extLst>
                </a:gridCol>
                <a:gridCol w="1993392">
                  <a:extLst>
                    <a:ext uri="{9D8B030D-6E8A-4147-A177-3AD203B41FA5}">
                      <a16:colId xmlns:a16="http://schemas.microsoft.com/office/drawing/2014/main" val="3645306422"/>
                    </a:ext>
                  </a:extLst>
                </a:gridCol>
              </a:tblGrid>
              <a:tr h="296303">
                <a:tc>
                  <a:txBody>
                    <a:bodyPr/>
                    <a:lstStyle/>
                    <a:p>
                      <a:pPr algn="ctr" fontAlgn="t"/>
                      <a:endParaRPr lang="en-GB" sz="1200" b="0" dirty="0">
                        <a:solidFill>
                          <a:schemeClr val="bg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a:noFill/>
                    </a:lnT>
                    <a:lnB w="12700" cap="flat" cmpd="sng" algn="ctr">
                      <a:noFill/>
                      <a:prstDash val="solid"/>
                      <a:round/>
                      <a:headEnd type="none" w="med" len="med"/>
                      <a:tailEnd type="none" w="med" len="med"/>
                    </a:lnB>
                    <a:noFill/>
                  </a:tcPr>
                </a:tc>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Level 1: Process Aware</a:t>
                      </a:r>
                    </a:p>
                  </a:txBody>
                  <a:tcPr marL="72560" marR="72560" marT="72560" marB="72560" anchor="ctr">
                    <a:lnL>
                      <a:noFill/>
                    </a:lnL>
                    <a:lnR>
                      <a:noFill/>
                    </a:lnR>
                    <a:lnT>
                      <a:noFill/>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Level 2: Coordinated Process</a:t>
                      </a:r>
                    </a:p>
                  </a:txBody>
                  <a:tcPr marL="72560" marR="72560" marT="72560" marB="72560" anchor="ctr">
                    <a:lnL>
                      <a:noFill/>
                    </a:lnL>
                    <a:lnR>
                      <a:noFill/>
                    </a:lnR>
                    <a:lnT>
                      <a:noFill/>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US" sz="1200" b="1">
                          <a:solidFill>
                            <a:schemeClr val="tx1"/>
                          </a:solidFill>
                          <a:effectLst/>
                          <a:latin typeface="Gartner Sans" panose="020B0504030402040204" pitchFamily="34" charset="0"/>
                          <a:cs typeface="Arial" panose="020B0604020202020204" pitchFamily="34" charset="0"/>
                        </a:rPr>
                        <a:t>Level 3: Cross-Boundary Process Management</a:t>
                      </a:r>
                    </a:p>
                  </a:txBody>
                  <a:tcPr marL="72560" marR="72560" marT="72560" marB="72560" anchor="ctr">
                    <a:lnL>
                      <a:noFill/>
                    </a:lnL>
                    <a:lnR>
                      <a:noFill/>
                    </a:lnR>
                    <a:lnT>
                      <a:noFill/>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US" sz="1200" b="1">
                          <a:solidFill>
                            <a:schemeClr val="tx1"/>
                          </a:solidFill>
                          <a:effectLst/>
                          <a:latin typeface="Gartner Sans" panose="020B0504030402040204" pitchFamily="34" charset="0"/>
                          <a:cs typeface="Arial" panose="020B0604020202020204" pitchFamily="34" charset="0"/>
                        </a:rPr>
                        <a:t>Level 4: Goal-Driven Processes</a:t>
                      </a:r>
                    </a:p>
                  </a:txBody>
                  <a:tcPr marL="72560" marR="72560" marT="72560" marB="72560" anchor="ctr">
                    <a:lnL>
                      <a:noFill/>
                    </a:lnL>
                    <a:lnR>
                      <a:noFill/>
                    </a:lnR>
                    <a:lnT>
                      <a:noFill/>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Level 5: Optimized Processes </a:t>
                      </a:r>
                    </a:p>
                  </a:txBody>
                  <a:tcPr marL="72560" marR="72560" marT="72560" marB="72560" anchor="ctr">
                    <a:lnL>
                      <a:noFill/>
                    </a:lnL>
                    <a:lnR>
                      <a:noFill/>
                    </a:lnR>
                    <a:lnT>
                      <a:noFill/>
                    </a:lnT>
                    <a:lnB w="7620" cap="flat" cmpd="sng" algn="ctr">
                      <a:solidFill>
                        <a:srgbClr val="E0E0E0"/>
                      </a:solidFill>
                      <a:prstDash val="solid"/>
                      <a:round/>
                      <a:headEnd type="none" w="med" len="med"/>
                      <a:tailEnd type="none" w="med" len="med"/>
                    </a:lnB>
                    <a:solidFill>
                      <a:srgbClr val="B8DEFF"/>
                    </a:solidFill>
                  </a:tcPr>
                </a:tc>
                <a:extLst>
                  <a:ext uri="{0D108BD9-81ED-4DB2-BD59-A6C34878D82A}">
                    <a16:rowId xmlns:a16="http://schemas.microsoft.com/office/drawing/2014/main" val="697584885"/>
                  </a:ext>
                </a:extLst>
              </a:tr>
              <a:tr h="402371">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Organization and Culture</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12700" cap="flat" cmpd="sng" algn="ctr">
                      <a:no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0">
                          <a:effectLst/>
                          <a:latin typeface="Gartner Sans" panose="020B0504030402040204" pitchFamily="34" charset="0"/>
                          <a:cs typeface="Arial" panose="020B0604020202020204" pitchFamily="34" charset="0"/>
                        </a:rPr>
                        <a:t>Functional hierarchy</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chemeClr val="bg1"/>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Isolated champions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chemeClr val="bg1"/>
                    </a:solidFill>
                  </a:tcPr>
                </a:tc>
                <a:tc>
                  <a:txBody>
                    <a:bodyPr/>
                    <a:lstStyle/>
                    <a:p>
                      <a:pPr algn="l" fontAlgn="t"/>
                      <a:r>
                        <a:rPr lang="en-US" sz="1200" b="0">
                          <a:effectLst/>
                          <a:latin typeface="Gartner Sans" panose="020B0504030402040204" pitchFamily="34" charset="0"/>
                          <a:cs typeface="Arial" panose="020B0604020202020204" pitchFamily="34" charset="0"/>
                        </a:rPr>
                        <a:t>BPCC is fully functional; continuous process improvement mentality</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chemeClr val="bg1"/>
                    </a:solidFill>
                  </a:tcPr>
                </a:tc>
                <a:tc>
                  <a:txBody>
                    <a:bodyPr/>
                    <a:lstStyle/>
                    <a:p>
                      <a:pPr algn="l" fontAlgn="t"/>
                      <a:r>
                        <a:rPr lang="en-US" sz="1200" b="0">
                          <a:effectLst/>
                          <a:latin typeface="Gartner Sans" panose="020B0504030402040204" pitchFamily="34" charset="0"/>
                          <a:cs typeface="Arial" panose="020B0604020202020204" pitchFamily="34" charset="0"/>
                        </a:rPr>
                        <a:t>Matrix management; strategic alignment of processes to goals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GB" sz="1200" b="0">
                          <a:effectLst/>
                          <a:latin typeface="Gartner Sans" panose="020B0504030402040204" pitchFamily="34" charset="0"/>
                          <a:cs typeface="Arial" panose="020B0604020202020204" pitchFamily="34" charset="0"/>
                        </a:rPr>
                        <a:t>Process excellence reputation</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409183567"/>
                  </a:ext>
                </a:extLst>
              </a:tr>
              <a:tr h="296303">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Process Competencies</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Isolated at best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Skills awareness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Tiered model for skilling up</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Process skills are reflected in job profiles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Required of all employees and managers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66570482"/>
                  </a:ext>
                </a:extLst>
              </a:tr>
              <a:tr h="402371">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Methodologies</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Non existent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Experimentation with a few legacy process methods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Beginning of standardized methods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Organization-specific methodology toolbox is in place</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Input from the collective is incorporated into the toolbox</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496054506"/>
                  </a:ext>
                </a:extLst>
              </a:tr>
              <a:tr h="508438">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Technology and Architecture</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0">
                          <a:solidFill>
                            <a:schemeClr val="tx1"/>
                          </a:solidFill>
                          <a:effectLst/>
                          <a:latin typeface="Gartner Sans" panose="020B0504030402040204" pitchFamily="34" charset="0"/>
                          <a:cs typeface="Arial" panose="020B0604020202020204" pitchFamily="34" charset="0"/>
                        </a:rPr>
                        <a:t>Application silos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Manual, paper-based tools are used to maintain process models, at best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Enterprisewide process nomenclature; IT is working with the BPCC</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Comprehensive business rule management strategy is in place</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Simulation, optimization, complex-event processing, dynamic BPM and more are in use</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018970685"/>
                  </a:ext>
                </a:extLst>
              </a:tr>
              <a:tr h="402371">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Metrics and Measurements</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US" sz="1200" b="0" dirty="0">
                          <a:solidFill>
                            <a:schemeClr val="tx1"/>
                          </a:solidFill>
                          <a:effectLst/>
                          <a:latin typeface="Gartner Sans" panose="020B0504030402040204" pitchFamily="34" charset="0"/>
                          <a:cs typeface="Arial" panose="020B0604020202020204" pitchFamily="34" charset="0"/>
                        </a:rPr>
                        <a:t>Task-oriented key performance indicators (KPIs)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Process performance data collection starts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Process performance indicators are established</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solidFill>
                            <a:schemeClr val="tx1"/>
                          </a:solidFill>
                          <a:effectLst/>
                          <a:latin typeface="Gartner Sans" panose="020B0504030402040204" pitchFamily="34" charset="0"/>
                          <a:cs typeface="Arial" panose="020B0604020202020204" pitchFamily="34" charset="0"/>
                        </a:rPr>
                        <a:t>PPIs are linked to strategic goals, with real-time updates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Scenarios are stored for easy invocation</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884734825"/>
                  </a:ext>
                </a:extLst>
              </a:tr>
              <a:tr h="402371">
                <a:tc>
                  <a:txBody>
                    <a:bodyPr/>
                    <a:lstStyle/>
                    <a:p>
                      <a:pPr algn="l" fontAlgn="t"/>
                      <a:r>
                        <a:rPr lang="en-GB" sz="1200" b="1">
                          <a:solidFill>
                            <a:schemeClr val="tx1"/>
                          </a:solidFill>
                          <a:effectLst/>
                          <a:latin typeface="Gartner Sans" panose="020B0504030402040204" pitchFamily="34" charset="0"/>
                          <a:cs typeface="Arial" panose="020B0604020202020204" pitchFamily="34" charset="0"/>
                        </a:rPr>
                        <a:t>Governance</a:t>
                      </a:r>
                      <a:endParaRPr lang="en-GB" sz="1200" b="0">
                        <a:solidFill>
                          <a:schemeClr val="tx1"/>
                        </a:solidFill>
                        <a:effectLst/>
                        <a:latin typeface="Gartner Sans" panose="020B0504030402040204" pitchFamily="34" charset="0"/>
                        <a:cs typeface="Arial" panose="020B0604020202020204" pitchFamily="34" charset="0"/>
                      </a:endParaRP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B8DEFF"/>
                    </a:solidFill>
                  </a:tcPr>
                </a:tc>
                <a:tc>
                  <a:txBody>
                    <a:bodyPr/>
                    <a:lstStyle/>
                    <a:p>
                      <a:pPr algn="l" fontAlgn="t"/>
                      <a:r>
                        <a:rPr lang="en-GB" sz="1200" b="0">
                          <a:effectLst/>
                          <a:latin typeface="Gartner Sans" panose="020B0504030402040204" pitchFamily="34" charset="0"/>
                          <a:cs typeface="Arial" panose="020B0604020202020204" pitchFamily="34" charset="0"/>
                        </a:rPr>
                        <a:t>Non existent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The steering committee funds business application investments by IT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Global process owners are supported by the BPM council</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Matrix model to balance local and global concerns</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pPr algn="l" fontAlgn="t"/>
                      <a:r>
                        <a:rPr lang="en-US" sz="1200" b="0">
                          <a:effectLst/>
                          <a:latin typeface="Gartner Sans" panose="020B0504030402040204" pitchFamily="34" charset="0"/>
                          <a:cs typeface="Arial" panose="020B0604020202020204" pitchFamily="34" charset="0"/>
                        </a:rPr>
                        <a:t>Decentralized, tiered model, with local empowerment</a:t>
                      </a:r>
                    </a:p>
                  </a:txBody>
                  <a:tcPr marL="72560" marR="72560" marT="72560" marB="72560" anchor="ctr">
                    <a:lnL>
                      <a:noFill/>
                    </a:lnL>
                    <a:lnR>
                      <a:noFill/>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716724233"/>
                  </a:ext>
                </a:extLst>
              </a:tr>
            </a:tbl>
          </a:graphicData>
        </a:graphic>
      </p:graphicFrame>
      <p:sp>
        <p:nvSpPr>
          <p:cNvPr id="6" name="TextBox 5">
            <a:extLst>
              <a:ext uri="{FF2B5EF4-FFF2-40B4-BE49-F238E27FC236}">
                <a16:creationId xmlns:a16="http://schemas.microsoft.com/office/drawing/2014/main" id="{E565CA2F-DD27-C1F0-4378-149B90EA23E3}"/>
              </a:ext>
            </a:extLst>
          </p:cNvPr>
          <p:cNvSpPr txBox="1"/>
          <p:nvPr/>
        </p:nvSpPr>
        <p:spPr>
          <a:xfrm>
            <a:off x="457200" y="5974839"/>
            <a:ext cx="6825066" cy="276999"/>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A798C"/>
                </a:solidFill>
                <a:effectLst/>
                <a:uLnTx/>
                <a:uFillTx/>
                <a:latin typeface="Gartner Sans" panose="020B0504030402040204" pitchFamily="34" charset="0"/>
                <a:ea typeface="+mn-ea"/>
                <a:cs typeface="+mn-cs"/>
              </a:rPr>
              <a:t>Source: </a:t>
            </a:r>
            <a:r>
              <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hlinkClick r:id="rId3"/>
              </a:rPr>
              <a:t>The Enterprise Process Architecture Handbook: Process Maturity Assessment</a:t>
            </a:r>
            <a:endPar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endParaRPr>
          </a:p>
        </p:txBody>
      </p:sp>
      <p:sp>
        <p:nvSpPr>
          <p:cNvPr id="5" name="TextBox 4">
            <a:extLst>
              <a:ext uri="{FF2B5EF4-FFF2-40B4-BE49-F238E27FC236}">
                <a16:creationId xmlns:a16="http://schemas.microsoft.com/office/drawing/2014/main" id="{1CD60972-D7B2-4387-E35D-1BC7B640755C}"/>
              </a:ext>
            </a:extLst>
          </p:cNvPr>
          <p:cNvSpPr txBox="1"/>
          <p:nvPr/>
        </p:nvSpPr>
        <p:spPr>
          <a:xfrm>
            <a:off x="457200" y="914400"/>
            <a:ext cx="11283873" cy="276999"/>
          </a:xfrm>
          <a:prstGeom prst="rect">
            <a:avLst/>
          </a:prstGeom>
          <a:noFill/>
          <a:ln w="12700">
            <a:solidFill>
              <a:srgbClr val="002869"/>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Use process maturity to gauge redesign readiness, estimate change effort, and target optimization and technology integration where impact will be highest.</a:t>
            </a:r>
          </a:p>
        </p:txBody>
      </p:sp>
      <p:sp>
        <p:nvSpPr>
          <p:cNvPr id="7" name="Title 6">
            <a:extLst>
              <a:ext uri="{FF2B5EF4-FFF2-40B4-BE49-F238E27FC236}">
                <a16:creationId xmlns:a16="http://schemas.microsoft.com/office/drawing/2014/main" id="{FD662FCF-A018-6DDD-D976-9FA02CECB7A0}"/>
              </a:ext>
            </a:extLst>
          </p:cNvPr>
          <p:cNvSpPr>
            <a:spLocks noGrp="1"/>
          </p:cNvSpPr>
          <p:nvPr>
            <p:ph type="title"/>
          </p:nvPr>
        </p:nvSpPr>
        <p:spPr>
          <a:xfrm>
            <a:off x="457200" y="361950"/>
            <a:ext cx="11274552" cy="451231"/>
          </a:xfrm>
        </p:spPr>
        <p:txBody>
          <a:bodyPr/>
          <a:lstStyle/>
          <a:p>
            <a:r>
              <a:rPr lang="en-US"/>
              <a:t>Process Maturity and Work Redesign Implications</a:t>
            </a:r>
          </a:p>
        </p:txBody>
      </p:sp>
    </p:spTree>
    <p:extLst>
      <p:ext uri="{BB962C8B-B14F-4D97-AF65-F5344CB8AC3E}">
        <p14:creationId xmlns:p14="http://schemas.microsoft.com/office/powerpoint/2010/main" val="839318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132B9-7041-78B8-888A-5B09007E0EE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8943419-DA1B-B15B-2F4F-490E9172C8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6" imgH="347" progId="TCLayout.ActiveDocument.1">
                  <p:embed/>
                </p:oleObj>
              </mc:Choice>
              <mc:Fallback>
                <p:oleObj name="think-cell Slide" r:id="rId4" imgW="346" imgH="347" progId="TCLayout.ActiveDocument.1">
                  <p:embed/>
                  <p:pic>
                    <p:nvPicPr>
                      <p:cNvPr id="5" name="think-cell data - do not delete" hidden="1">
                        <a:extLst>
                          <a:ext uri="{FF2B5EF4-FFF2-40B4-BE49-F238E27FC236}">
                            <a16:creationId xmlns:a16="http://schemas.microsoft.com/office/drawing/2014/main" id="{F8943419-DA1B-B15B-2F4F-490E9172C8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42815D4-0CB9-4163-DA25-6C96FFF3E476}"/>
              </a:ext>
            </a:extLst>
          </p:cNvPr>
          <p:cNvSpPr>
            <a:spLocks noGrp="1"/>
          </p:cNvSpPr>
          <p:nvPr>
            <p:ph type="title"/>
          </p:nvPr>
        </p:nvSpPr>
        <p:spPr>
          <a:xfrm>
            <a:off x="385465" y="361950"/>
            <a:ext cx="11274552" cy="451231"/>
          </a:xfrm>
        </p:spPr>
        <p:txBody>
          <a:bodyPr vert="horz"/>
          <a:lstStyle/>
          <a:p>
            <a:r>
              <a:rPr lang="en-US" dirty="0"/>
              <a:t>Data as Central Enabler AI-Infused Work Redesign </a:t>
            </a:r>
          </a:p>
        </p:txBody>
      </p:sp>
      <p:graphicFrame>
        <p:nvGraphicFramePr>
          <p:cNvPr id="15" name="Table 14">
            <a:extLst>
              <a:ext uri="{FF2B5EF4-FFF2-40B4-BE49-F238E27FC236}">
                <a16:creationId xmlns:a16="http://schemas.microsoft.com/office/drawing/2014/main" id="{6441D4EA-C9A5-2891-2031-56A0D54B9504}"/>
              </a:ext>
            </a:extLst>
          </p:cNvPr>
          <p:cNvGraphicFramePr>
            <a:graphicFrameLocks noGrp="1"/>
          </p:cNvGraphicFramePr>
          <p:nvPr>
            <p:extLst>
              <p:ext uri="{D42A27DB-BD31-4B8C-83A1-F6EECF244321}">
                <p14:modId xmlns:p14="http://schemas.microsoft.com/office/powerpoint/2010/main" val="2398851295"/>
              </p:ext>
            </p:extLst>
          </p:nvPr>
        </p:nvGraphicFramePr>
        <p:xfrm>
          <a:off x="385465" y="1730828"/>
          <a:ext cx="5505449" cy="3657600"/>
        </p:xfrm>
        <a:graphic>
          <a:graphicData uri="http://schemas.openxmlformats.org/drawingml/2006/table">
            <a:tbl>
              <a:tblPr/>
              <a:tblGrid>
                <a:gridCol w="1350335">
                  <a:extLst>
                    <a:ext uri="{9D8B030D-6E8A-4147-A177-3AD203B41FA5}">
                      <a16:colId xmlns:a16="http://schemas.microsoft.com/office/drawing/2014/main" val="1213563615"/>
                    </a:ext>
                  </a:extLst>
                </a:gridCol>
                <a:gridCol w="4155114">
                  <a:extLst>
                    <a:ext uri="{9D8B030D-6E8A-4147-A177-3AD203B41FA5}">
                      <a16:colId xmlns:a16="http://schemas.microsoft.com/office/drawing/2014/main" val="2795172307"/>
                    </a:ext>
                  </a:extLst>
                </a:gridCol>
              </a:tblGrid>
              <a:tr h="0">
                <a:tc>
                  <a:txBody>
                    <a:bodyPr/>
                    <a:lstStyle/>
                    <a:p>
                      <a:pPr algn="l" rtl="0" fontAlgn="ctr"/>
                      <a:r>
                        <a:rPr lang="en-GB" sz="1200" b="1" i="0" u="none" strike="noStrike">
                          <a:solidFill>
                            <a:schemeClr val="tx1"/>
                          </a:solidFill>
                          <a:effectLst/>
                          <a:latin typeface="Gartner Sans" panose="020B0504030402040204" pitchFamily="34" charset="0"/>
                        </a:rPr>
                        <a:t>Data Quality</a:t>
                      </a:r>
                    </a:p>
                  </a:txBody>
                  <a:tcPr anchor="ctr">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1" i="0" u="none" strike="noStrike">
                          <a:solidFill>
                            <a:schemeClr val="tx1"/>
                          </a:solidFill>
                          <a:effectLst/>
                          <a:latin typeface="Gartner Sans" panose="020B0504030402040204" pitchFamily="34" charset="0"/>
                        </a:rPr>
                        <a:t>Definitions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extLst>
                  <a:ext uri="{0D108BD9-81ED-4DB2-BD59-A6C34878D82A}">
                    <a16:rowId xmlns:a16="http://schemas.microsoft.com/office/drawing/2014/main" val="517831092"/>
                  </a:ext>
                </a:extLst>
              </a:tr>
              <a:tr h="229584">
                <a:tc>
                  <a:txBody>
                    <a:bodyPr/>
                    <a:lstStyle/>
                    <a:p>
                      <a:pPr algn="l" rtl="0" fontAlgn="ctr"/>
                      <a:r>
                        <a:rPr lang="en-GB" sz="1200" b="1" i="0" u="none" strike="noStrike">
                          <a:solidFill>
                            <a:schemeClr val="tx1"/>
                          </a:solidFill>
                          <a:effectLst/>
                          <a:latin typeface="Gartner Sans" panose="020B0504030402040204" pitchFamily="34" charset="0"/>
                        </a:rPr>
                        <a:t>Completeness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Complete data ensures that an adequate population of data sufficiently represents the problem.</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109906"/>
                  </a:ext>
                </a:extLst>
              </a:tr>
              <a:tr h="229584">
                <a:tc>
                  <a:txBody>
                    <a:bodyPr/>
                    <a:lstStyle/>
                    <a:p>
                      <a:pPr algn="l" rtl="0" fontAlgn="ctr"/>
                      <a:r>
                        <a:rPr lang="en-GB" sz="1200" b="1" i="0" u="none" strike="noStrike">
                          <a:solidFill>
                            <a:schemeClr val="tx1"/>
                          </a:solidFill>
                          <a:effectLst/>
                          <a:latin typeface="Gartner Sans" panose="020B0504030402040204" pitchFamily="34" charset="0"/>
                        </a:rPr>
                        <a:t>Uniqueness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Data is unique and free from duplicates, ensuring that each data point is represented once. </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45417435"/>
                  </a:ext>
                </a:extLst>
              </a:tr>
              <a:tr h="229584">
                <a:tc>
                  <a:txBody>
                    <a:bodyPr/>
                    <a:lstStyle/>
                    <a:p>
                      <a:pPr algn="l" rtl="0" fontAlgn="ctr"/>
                      <a:r>
                        <a:rPr lang="en-GB" sz="1200" b="1" i="0" u="none" strike="noStrike">
                          <a:solidFill>
                            <a:schemeClr val="tx1"/>
                          </a:solidFill>
                          <a:effectLst/>
                          <a:latin typeface="Gartner Sans" panose="020B0504030402040204" pitchFamily="34" charset="0"/>
                        </a:rPr>
                        <a:t>Reliability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Reliable data includes limited errors and avoids the need for extensive quality checks.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94966852"/>
                  </a:ext>
                </a:extLst>
              </a:tr>
              <a:tr h="229584">
                <a:tc>
                  <a:txBody>
                    <a:bodyPr/>
                    <a:lstStyle/>
                    <a:p>
                      <a:pPr algn="l" rtl="0" fontAlgn="ctr"/>
                      <a:r>
                        <a:rPr lang="en-GB" sz="1200" b="1" i="0" u="none" strike="noStrike">
                          <a:solidFill>
                            <a:schemeClr val="tx1"/>
                          </a:solidFill>
                          <a:effectLst/>
                          <a:latin typeface="Gartner Sans" panose="020B0504030402040204" pitchFamily="34" charset="0"/>
                        </a:rPr>
                        <a:t>Free from Bias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Biased data either includes or avoids subsets of the entire subject under analysis.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9133254"/>
                  </a:ext>
                </a:extLst>
              </a:tr>
              <a:tr h="229584">
                <a:tc>
                  <a:txBody>
                    <a:bodyPr/>
                    <a:lstStyle/>
                    <a:p>
                      <a:pPr algn="l" rtl="0" fontAlgn="ctr"/>
                      <a:r>
                        <a:rPr lang="en-GB" sz="1200" b="1" i="0" u="none" strike="noStrike">
                          <a:solidFill>
                            <a:schemeClr val="tx1"/>
                          </a:solidFill>
                          <a:effectLst/>
                          <a:latin typeface="Gartner Sans" panose="020B0504030402040204" pitchFamily="34" charset="0"/>
                        </a:rPr>
                        <a:t>Relevancy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Relevant data includes a logical reference to the subject matter under analysis.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7758842"/>
                  </a:ext>
                </a:extLst>
              </a:tr>
              <a:tr h="229584">
                <a:tc>
                  <a:txBody>
                    <a:bodyPr/>
                    <a:lstStyle/>
                    <a:p>
                      <a:pPr algn="l" rtl="0" fontAlgn="ctr"/>
                      <a:r>
                        <a:rPr lang="en-GB" sz="1200" b="1" i="0" u="none" strike="noStrike">
                          <a:solidFill>
                            <a:schemeClr val="tx1"/>
                          </a:solidFill>
                          <a:effectLst/>
                          <a:latin typeface="Gartner Sans" panose="020B0504030402040204" pitchFamily="34" charset="0"/>
                        </a:rPr>
                        <a:t>Independence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Independent data elements have little or no correlation with one another and have a unique impact on the outcomes during analysis.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9921737"/>
                  </a:ext>
                </a:extLst>
              </a:tr>
              <a:tr h="229584">
                <a:tc>
                  <a:txBody>
                    <a:bodyPr/>
                    <a:lstStyle/>
                    <a:p>
                      <a:pPr algn="l" rtl="0" fontAlgn="ctr"/>
                      <a:r>
                        <a:rPr lang="en-GB" sz="1200" b="1" i="0" u="none" strike="noStrike">
                          <a:solidFill>
                            <a:schemeClr val="tx1"/>
                          </a:solidFill>
                          <a:effectLst/>
                          <a:latin typeface="Gartner Sans" panose="020B0504030402040204" pitchFamily="34" charset="0"/>
                        </a:rPr>
                        <a:t>Quality Remedies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rtl="0" fontAlgn="ctr"/>
                      <a:r>
                        <a:rPr lang="en-GB" sz="1200" b="0" i="0" u="none" strike="noStrike">
                          <a:solidFill>
                            <a:schemeClr val="tx1"/>
                          </a:solidFill>
                          <a:effectLst/>
                          <a:latin typeface="Gartner Sans" panose="020B0504030402040204" pitchFamily="34" charset="0"/>
                        </a:rPr>
                        <a:t>Remedies reflect the ability to correct data inadequacies around quality.</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54632246"/>
                  </a:ext>
                </a:extLst>
              </a:tr>
            </a:tbl>
          </a:graphicData>
        </a:graphic>
      </p:graphicFrame>
      <p:graphicFrame>
        <p:nvGraphicFramePr>
          <p:cNvPr id="17" name="Table 16">
            <a:extLst>
              <a:ext uri="{FF2B5EF4-FFF2-40B4-BE49-F238E27FC236}">
                <a16:creationId xmlns:a16="http://schemas.microsoft.com/office/drawing/2014/main" id="{DA102D29-68F5-6EF0-F772-0F25D2237EB4}"/>
              </a:ext>
            </a:extLst>
          </p:cNvPr>
          <p:cNvGraphicFramePr>
            <a:graphicFrameLocks noGrp="1"/>
          </p:cNvGraphicFramePr>
          <p:nvPr>
            <p:extLst>
              <p:ext uri="{D42A27DB-BD31-4B8C-83A1-F6EECF244321}">
                <p14:modId xmlns:p14="http://schemas.microsoft.com/office/powerpoint/2010/main" val="2515563662"/>
              </p:ext>
            </p:extLst>
          </p:nvPr>
        </p:nvGraphicFramePr>
        <p:xfrm>
          <a:off x="6249434" y="1730828"/>
          <a:ext cx="5510208" cy="3490011"/>
        </p:xfrm>
        <a:graphic>
          <a:graphicData uri="http://schemas.openxmlformats.org/drawingml/2006/table">
            <a:tbl>
              <a:tblPr/>
              <a:tblGrid>
                <a:gridCol w="1555884">
                  <a:extLst>
                    <a:ext uri="{9D8B030D-6E8A-4147-A177-3AD203B41FA5}">
                      <a16:colId xmlns:a16="http://schemas.microsoft.com/office/drawing/2014/main" val="3362070932"/>
                    </a:ext>
                  </a:extLst>
                </a:gridCol>
                <a:gridCol w="3954324">
                  <a:extLst>
                    <a:ext uri="{9D8B030D-6E8A-4147-A177-3AD203B41FA5}">
                      <a16:colId xmlns:a16="http://schemas.microsoft.com/office/drawing/2014/main" val="646350687"/>
                    </a:ext>
                  </a:extLst>
                </a:gridCol>
              </a:tblGrid>
              <a:tr h="289611">
                <a:tc>
                  <a:txBody>
                    <a:bodyPr/>
                    <a:lstStyle/>
                    <a:p>
                      <a:pPr algn="l" fontAlgn="ctr"/>
                      <a:r>
                        <a:rPr lang="es-CO" sz="1200" b="1" i="0" u="none" strike="noStrike">
                          <a:solidFill>
                            <a:schemeClr val="tx1"/>
                          </a:solidFill>
                          <a:effectLst/>
                          <a:latin typeface="Gartner Sans" panose="020B0504030402040204" pitchFamily="34" charset="0"/>
                        </a:rPr>
                        <a:t>Data Accessibility</a:t>
                      </a:r>
                    </a:p>
                  </a:txBody>
                  <a:tcPr anchor="ctr">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s-CO" sz="1200" b="1" i="0" u="none" strike="noStrike">
                          <a:solidFill>
                            <a:schemeClr val="tx1"/>
                          </a:solidFill>
                          <a:effectLst/>
                          <a:latin typeface="Gartner Sans" panose="020B0504030402040204" pitchFamily="34" charset="0"/>
                        </a:rPr>
                        <a:t>Definitions</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extLst>
                  <a:ext uri="{0D108BD9-81ED-4DB2-BD59-A6C34878D82A}">
                    <a16:rowId xmlns:a16="http://schemas.microsoft.com/office/drawing/2014/main" val="2838462740"/>
                  </a:ext>
                </a:extLst>
              </a:tr>
              <a:tr h="289611">
                <a:tc>
                  <a:txBody>
                    <a:bodyPr/>
                    <a:lstStyle/>
                    <a:p>
                      <a:pPr algn="l" fontAlgn="ctr"/>
                      <a:r>
                        <a:rPr lang="es-CO" sz="1200" b="1" i="0" u="none" strike="noStrike">
                          <a:solidFill>
                            <a:schemeClr val="tx1"/>
                          </a:solidFill>
                          <a:effectLst/>
                          <a:latin typeface="Gartner Sans" panose="020B0504030402040204" pitchFamily="34" charset="0"/>
                        </a:rPr>
                        <a:t>Documentation</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Systems are well documented, along with integration points. Data is well-documented for each system</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7976521"/>
                  </a:ext>
                </a:extLst>
              </a:tr>
              <a:tr h="289611">
                <a:tc>
                  <a:txBody>
                    <a:bodyPr/>
                    <a:lstStyle/>
                    <a:p>
                      <a:pPr algn="l" fontAlgn="ctr"/>
                      <a:r>
                        <a:rPr lang="es-CO" sz="1200" b="1" i="0" u="none" strike="noStrike">
                          <a:solidFill>
                            <a:schemeClr val="tx1"/>
                          </a:solidFill>
                          <a:effectLst/>
                          <a:latin typeface="Gartner Sans" panose="020B0504030402040204" pitchFamily="34" charset="0"/>
                        </a:rPr>
                        <a:t>Context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mn-lt"/>
                        </a:rPr>
                        <a:t>Data has </a:t>
                      </a:r>
                      <a:r>
                        <a:rPr lang="en-US" sz="1200" b="0" i="0" kern="1200">
                          <a:solidFill>
                            <a:schemeClr val="tx1"/>
                          </a:solidFill>
                          <a:effectLst/>
                          <a:latin typeface="+mn-lt"/>
                          <a:ea typeface="+mn-ea"/>
                          <a:cs typeface="+mn-cs"/>
                        </a:rPr>
                        <a:t>comprehensive metadata, captures lineage, and includes transformation history</a:t>
                      </a:r>
                      <a:endParaRPr lang="en-US" sz="1200" b="0" i="0" u="none" strike="noStrike">
                        <a:solidFill>
                          <a:schemeClr val="tx1"/>
                        </a:solidFill>
                        <a:effectLst/>
                        <a:latin typeface="+mn-lt"/>
                      </a:endParaRP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3230755"/>
                  </a:ext>
                </a:extLst>
              </a:tr>
              <a:tr h="405455">
                <a:tc>
                  <a:txBody>
                    <a:bodyPr/>
                    <a:lstStyle/>
                    <a:p>
                      <a:pPr algn="l" fontAlgn="ctr"/>
                      <a:r>
                        <a:rPr lang="es-CO" sz="1200" b="1" i="0" u="none" strike="noStrike">
                          <a:solidFill>
                            <a:schemeClr val="tx1"/>
                          </a:solidFill>
                          <a:effectLst/>
                          <a:latin typeface="Gartner Sans" panose="020B0504030402040204" pitchFamily="34" charset="0"/>
                        </a:rPr>
                        <a:t>Usability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Data is usable when it can be included in traditional analysis formats, such as regression, correlation, clustering, etc.</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4092601"/>
                  </a:ext>
                </a:extLst>
              </a:tr>
              <a:tr h="289611">
                <a:tc>
                  <a:txBody>
                    <a:bodyPr/>
                    <a:lstStyle/>
                    <a:p>
                      <a:pPr algn="l" fontAlgn="ctr"/>
                      <a:r>
                        <a:rPr lang="es-CO" sz="1200" b="1" i="0" u="none" strike="noStrike">
                          <a:solidFill>
                            <a:schemeClr val="tx1"/>
                          </a:solidFill>
                          <a:effectLst/>
                          <a:latin typeface="Gartner Sans" panose="020B0504030402040204" pitchFamily="34" charset="0"/>
                        </a:rPr>
                        <a:t>Availability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Data is available or easily retrievable from the source system and can be integrated into business processes.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2478883"/>
                  </a:ext>
                </a:extLst>
              </a:tr>
              <a:tr h="289611">
                <a:tc>
                  <a:txBody>
                    <a:bodyPr/>
                    <a:lstStyle/>
                    <a:p>
                      <a:pPr algn="l" fontAlgn="ctr"/>
                      <a:r>
                        <a:rPr lang="es-CO" sz="1200" b="1" i="0" u="none" strike="noStrike">
                          <a:solidFill>
                            <a:schemeClr val="tx1"/>
                          </a:solidFill>
                          <a:effectLst/>
                          <a:latin typeface="Gartner Sans" panose="020B0504030402040204" pitchFamily="34" charset="0"/>
                        </a:rPr>
                        <a:t>Timeliness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Data is up-to-date and relevant to the current context of the use case.</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7455951"/>
                  </a:ext>
                </a:extLst>
              </a:tr>
              <a:tr h="173766">
                <a:tc>
                  <a:txBody>
                    <a:bodyPr/>
                    <a:lstStyle/>
                    <a:p>
                      <a:pPr algn="l" fontAlgn="ctr"/>
                      <a:r>
                        <a:rPr lang="es-CO" sz="1200" b="1" i="0" u="none" strike="noStrike">
                          <a:solidFill>
                            <a:schemeClr val="tx1"/>
                          </a:solidFill>
                          <a:effectLst/>
                          <a:latin typeface="Gartner Sans" panose="020B0504030402040204" pitchFamily="34" charset="0"/>
                        </a:rPr>
                        <a:t>Compliance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Data adheres to regulatory requirements.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2506228"/>
                  </a:ext>
                </a:extLst>
              </a:tr>
              <a:tr h="289611">
                <a:tc>
                  <a:txBody>
                    <a:bodyPr/>
                    <a:lstStyle/>
                    <a:p>
                      <a:pPr algn="l" fontAlgn="ctr"/>
                      <a:r>
                        <a:rPr lang="es-CO" sz="1200" b="1" i="0" u="none" strike="noStrike">
                          <a:solidFill>
                            <a:schemeClr val="tx1"/>
                          </a:solidFill>
                          <a:effectLst/>
                          <a:latin typeface="Gartner Sans" panose="020B0504030402040204" pitchFamily="34" charset="0"/>
                        </a:rPr>
                        <a:t>Accessibility Remedies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DEFF"/>
                    </a:solidFill>
                  </a:tcPr>
                </a:tc>
                <a:tc>
                  <a:txBody>
                    <a:bodyPr/>
                    <a:lstStyle/>
                    <a:p>
                      <a:pPr algn="l" fontAlgn="ctr"/>
                      <a:r>
                        <a:rPr lang="en-US" sz="1200" b="0" i="0" u="none" strike="noStrike">
                          <a:solidFill>
                            <a:schemeClr val="tx1"/>
                          </a:solidFill>
                          <a:effectLst/>
                          <a:latin typeface="Gartner Sans" panose="020B0504030402040204" pitchFamily="34" charset="0"/>
                        </a:rPr>
                        <a:t>Remedies reflect the ability to correct data inadequacies around access.</a:t>
                      </a:r>
                    </a:p>
                  </a:txBody>
                  <a:tcPr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168724495"/>
                  </a:ext>
                </a:extLst>
              </a:tr>
            </a:tbl>
          </a:graphicData>
        </a:graphic>
      </p:graphicFrame>
      <p:sp>
        <p:nvSpPr>
          <p:cNvPr id="23" name="TextBox 22">
            <a:extLst>
              <a:ext uri="{FF2B5EF4-FFF2-40B4-BE49-F238E27FC236}">
                <a16:creationId xmlns:a16="http://schemas.microsoft.com/office/drawing/2014/main" id="{788AEEC4-9CC1-EE80-D906-FCFD93E9821F}"/>
              </a:ext>
            </a:extLst>
          </p:cNvPr>
          <p:cNvSpPr txBox="1"/>
          <p:nvPr/>
        </p:nvSpPr>
        <p:spPr>
          <a:xfrm>
            <a:off x="6251814" y="5248373"/>
            <a:ext cx="5505449" cy="1169551"/>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Transactional data: </a:t>
            </a:r>
            <a:r>
              <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captures detailed and time-specific information about HR business processes: an employee performance review, manager changes, performance ratings and talent assessments. </a:t>
            </a:r>
          </a:p>
          <a:p>
            <a:pPr marL="171450" marR="0" lvl="0" indent="-17145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Metadata:</a:t>
            </a:r>
            <a:r>
              <a:rPr kumimoji="0" lang="en-US" sz="1200" b="0" i="0" u="none" strike="noStrike" kern="1200" cap="none" spc="0" normalizeH="0" baseline="0" noProof="0">
                <a:ln>
                  <a:noFill/>
                </a:ln>
                <a:solidFill>
                  <a:prstClr val="black"/>
                </a:solidFill>
                <a:effectLst/>
                <a:uLnTx/>
                <a:uFillTx/>
                <a:latin typeface="Gartner Sans" panose="020B0504030402040204" pitchFamily="34" charset="0"/>
                <a:ea typeface="+mn-ea"/>
                <a:cs typeface="+mn-cs"/>
              </a:rPr>
              <a:t> the data’s structure, organization and characteristics, such as format, character type and source.</a:t>
            </a:r>
          </a:p>
        </p:txBody>
      </p:sp>
      <p:sp>
        <p:nvSpPr>
          <p:cNvPr id="25" name="TextBox 24">
            <a:extLst>
              <a:ext uri="{FF2B5EF4-FFF2-40B4-BE49-F238E27FC236}">
                <a16:creationId xmlns:a16="http://schemas.microsoft.com/office/drawing/2014/main" id="{E67A84F5-8D07-5DD3-51FC-EF7BDEFD568D}"/>
              </a:ext>
            </a:extLst>
          </p:cNvPr>
          <p:cNvSpPr txBox="1"/>
          <p:nvPr/>
        </p:nvSpPr>
        <p:spPr>
          <a:xfrm>
            <a:off x="385465" y="5540828"/>
            <a:ext cx="5505448" cy="276999"/>
          </a:xfrm>
          <a:prstGeom prst="rect">
            <a:avLst/>
          </a:prstGeom>
          <a:noFill/>
          <a:ln w="12700">
            <a:solidFill>
              <a:srgbClr val="0057AF"/>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artner Sans" panose="020B0504030402040204" pitchFamily="34" charset="0"/>
                <a:ea typeface="+mn-ea"/>
                <a:cs typeface="Arabic Typesetting" panose="03020402040406030203" pitchFamily="66" charset="-78"/>
              </a:rPr>
              <a:t>Only 14% of IT Leaders are very confident that their data is ready for </a:t>
            </a:r>
            <a:r>
              <a:rPr kumimoji="0" lang="en-US" sz="1200" b="1"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AI</a:t>
            </a:r>
          </a:p>
        </p:txBody>
      </p:sp>
      <p:sp>
        <p:nvSpPr>
          <p:cNvPr id="26" name="TextBox 25">
            <a:extLst>
              <a:ext uri="{FF2B5EF4-FFF2-40B4-BE49-F238E27FC236}">
                <a16:creationId xmlns:a16="http://schemas.microsoft.com/office/drawing/2014/main" id="{981711D9-3DBB-BEB4-45D0-A54A659245AB}"/>
              </a:ext>
            </a:extLst>
          </p:cNvPr>
          <p:cNvSpPr txBox="1"/>
          <p:nvPr/>
        </p:nvSpPr>
        <p:spPr>
          <a:xfrm>
            <a:off x="385465" y="5847116"/>
            <a:ext cx="5460521" cy="230832"/>
          </a:xfrm>
          <a:prstGeom prst="rect">
            <a:avLst/>
          </a:prstGeom>
          <a:noFill/>
        </p:spPr>
        <p:txBody>
          <a:bodyPr wrap="square" lIns="0">
            <a:spAutoFit/>
          </a:bodyPr>
          <a:lstStyle/>
          <a:p>
            <a:pPr marL="0" marR="0" lvl="0" indent="0" algn="l" defTabSz="457200" rtl="0" eaLnBrk="1" fontAlgn="auto" latinLnBrk="0" hangingPunct="1">
              <a:lnSpc>
                <a:spcPct val="100000"/>
              </a:lnSpc>
              <a:spcBef>
                <a:spcPts val="0"/>
              </a:spcBef>
              <a:spcAft>
                <a:spcPts val="0"/>
              </a:spcAft>
              <a:buClrTx/>
              <a:buSzPts val="900"/>
              <a:buFontTx/>
              <a:buNone/>
              <a:tabLst/>
              <a:defRPr/>
            </a:pPr>
            <a:r>
              <a:rPr kumimoji="0" lang="en-US" sz="900" b="0" i="0" u="none" strike="noStrike" kern="1200" cap="none" spc="0" normalizeH="0" baseline="0" noProof="0">
                <a:ln>
                  <a:noFill/>
                </a:ln>
                <a:solidFill>
                  <a:srgbClr val="5A798C"/>
                </a:solidFill>
                <a:effectLst/>
                <a:uLnTx/>
                <a:uFillTx/>
                <a:latin typeface="Gartner Sans" panose="020B0504030402040204" pitchFamily="34" charset="0"/>
                <a:ea typeface="Arial"/>
                <a:cs typeface="Arial"/>
                <a:sym typeface="Arial"/>
              </a:rPr>
              <a:t>Source: 2025 Gartner Generative and Agentic AI in Enterprise Applications Survey</a:t>
            </a:r>
          </a:p>
        </p:txBody>
      </p:sp>
      <p:sp>
        <p:nvSpPr>
          <p:cNvPr id="6" name="TextBox 5">
            <a:extLst>
              <a:ext uri="{FF2B5EF4-FFF2-40B4-BE49-F238E27FC236}">
                <a16:creationId xmlns:a16="http://schemas.microsoft.com/office/drawing/2014/main" id="{FC633FF5-37BF-37DA-4A90-3F843DE9B569}"/>
              </a:ext>
            </a:extLst>
          </p:cNvPr>
          <p:cNvSpPr txBox="1"/>
          <p:nvPr/>
        </p:nvSpPr>
        <p:spPr>
          <a:xfrm>
            <a:off x="385465" y="813181"/>
            <a:ext cx="11274552" cy="830997"/>
          </a:xfrm>
          <a:prstGeom prst="rect">
            <a:avLst/>
          </a:prstGeom>
          <a:noFill/>
          <a:ln w="12700">
            <a:solidFill>
              <a:srgbClr val="002869"/>
            </a:solidFill>
          </a:ln>
        </p:spPr>
        <p:txBody>
          <a:bodyPr wrap="square">
            <a:spAutoFit/>
          </a:bodyPr>
          <a:lstStyle/>
          <a:p>
            <a:pPr lvl="0">
              <a:defRPr/>
            </a:pPr>
            <a:r>
              <a:rPr lang="en-US" sz="1200" dirty="0">
                <a:solidFill>
                  <a:prstClr val="black"/>
                </a:solidFill>
                <a:latin typeface="Gartner Sans" panose="020B0504030402040204" pitchFamily="34" charset="0"/>
              </a:rPr>
              <a:t>Treat data as a go/no‑go checkpoint before implementing AI. High‑quality, accessible data is essential for effective AI‑driven work redesign. Without reliable, integrated data, automation and optimization will fall short — leading to inefficiencies, biased decisions, and missed productivity gains.</a:t>
            </a:r>
          </a:p>
          <a:p>
            <a:pPr lvl="0">
              <a:defRPr/>
            </a:pPr>
            <a:r>
              <a:rPr kumimoji="0" lang="en-US" sz="1200" b="0" i="0" u="none" strike="noStrike" kern="1200" cap="none" spc="0" normalizeH="0" baseline="0" noProof="0" dirty="0">
                <a:ln>
                  <a:noFill/>
                </a:ln>
                <a:solidFill>
                  <a:prstClr val="black"/>
                </a:solidFill>
                <a:effectLst/>
                <a:uLnTx/>
                <a:uFillTx/>
                <a:latin typeface="Gartner Sans" panose="020B0504030402040204" pitchFamily="34" charset="0"/>
                <a:ea typeface="+mn-ea"/>
                <a:cs typeface="+mn-cs"/>
              </a:rPr>
              <a:t>Data management requires ongoing governance. Leaders need simple, repeatable practices to continually monitor and maintain data quality as AI scales — otherwise data degrades, automation weakens, and bias and productivity losses follow.</a:t>
            </a:r>
          </a:p>
        </p:txBody>
      </p:sp>
      <p:sp>
        <p:nvSpPr>
          <p:cNvPr id="3" name="TextBox 2">
            <a:extLst>
              <a:ext uri="{FF2B5EF4-FFF2-40B4-BE49-F238E27FC236}">
                <a16:creationId xmlns:a16="http://schemas.microsoft.com/office/drawing/2014/main" id="{DC1B3703-4A3F-632E-D599-E6F3E61C7065}"/>
              </a:ext>
            </a:extLst>
          </p:cNvPr>
          <p:cNvSpPr txBox="1"/>
          <p:nvPr/>
        </p:nvSpPr>
        <p:spPr>
          <a:xfrm>
            <a:off x="385465" y="6051720"/>
            <a:ext cx="6096000" cy="215444"/>
          </a:xfrm>
          <a:prstGeom prst="rect">
            <a:avLst/>
          </a:prstGeom>
          <a:noFill/>
        </p:spPr>
        <p:txBody>
          <a:bodyPr wrap="square">
            <a:spAutoFit/>
          </a:bodyPr>
          <a:lstStyle/>
          <a:p>
            <a:r>
              <a:rPr lang="en-US" sz="800">
                <a:hlinkClick r:id="rId6"/>
              </a:rPr>
              <a:t>Use This Checklist to Ensure Your Data Is Ready for the Agentic AI Era</a:t>
            </a:r>
            <a:endParaRPr lang="en-US" sz="800"/>
          </a:p>
        </p:txBody>
      </p:sp>
    </p:spTree>
    <p:extLst>
      <p:ext uri="{BB962C8B-B14F-4D97-AF65-F5344CB8AC3E}">
        <p14:creationId xmlns:p14="http://schemas.microsoft.com/office/powerpoint/2010/main" val="3079000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ADF84-ED62-43AF-F5C9-E4C60E05BC8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D51B7D-6DBA-CF7A-F1D0-C43E31DDF2BB}"/>
              </a:ext>
            </a:extLst>
          </p:cNvPr>
          <p:cNvSpPr>
            <a:spLocks noGrp="1"/>
          </p:cNvSpPr>
          <p:nvPr>
            <p:ph type="title"/>
          </p:nvPr>
        </p:nvSpPr>
        <p:spPr>
          <a:xfrm>
            <a:off x="1365814" y="2267488"/>
            <a:ext cx="5408210" cy="677108"/>
          </a:xfrm>
        </p:spPr>
        <p:txBody>
          <a:bodyPr/>
          <a:lstStyle/>
          <a:p>
            <a:r>
              <a:rPr lang="en-US"/>
              <a:t>Appendix</a:t>
            </a:r>
          </a:p>
        </p:txBody>
      </p:sp>
    </p:spTree>
    <p:extLst>
      <p:ext uri="{BB962C8B-B14F-4D97-AF65-F5344CB8AC3E}">
        <p14:creationId xmlns:p14="http://schemas.microsoft.com/office/powerpoint/2010/main" val="75043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E5EBD-7BF0-3324-6851-641E76FF6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14AFA-A92C-3667-A5EF-767836FA8611}"/>
              </a:ext>
            </a:extLst>
          </p:cNvPr>
          <p:cNvSpPr>
            <a:spLocks noGrp="1"/>
          </p:cNvSpPr>
          <p:nvPr>
            <p:ph type="title"/>
          </p:nvPr>
        </p:nvSpPr>
        <p:spPr>
          <a:xfrm>
            <a:off x="457200" y="361950"/>
            <a:ext cx="11274552" cy="451231"/>
          </a:xfrm>
        </p:spPr>
        <p:txBody>
          <a:bodyPr/>
          <a:lstStyle/>
          <a:p>
            <a:r>
              <a:rPr lang="en-US"/>
              <a:t>Glossary</a:t>
            </a:r>
          </a:p>
        </p:txBody>
      </p:sp>
      <p:graphicFrame>
        <p:nvGraphicFramePr>
          <p:cNvPr id="4" name="Content Placeholder 3">
            <a:extLst>
              <a:ext uri="{FF2B5EF4-FFF2-40B4-BE49-F238E27FC236}">
                <a16:creationId xmlns:a16="http://schemas.microsoft.com/office/drawing/2014/main" id="{C0D35EDD-E0CE-C8F0-15D3-969C5C880FA7}"/>
              </a:ext>
            </a:extLst>
          </p:cNvPr>
          <p:cNvGraphicFramePr>
            <a:graphicFrameLocks noGrp="1"/>
          </p:cNvGraphicFramePr>
          <p:nvPr>
            <p:ph idx="4294967295"/>
            <p:extLst>
              <p:ext uri="{D42A27DB-BD31-4B8C-83A1-F6EECF244321}">
                <p14:modId xmlns:p14="http://schemas.microsoft.com/office/powerpoint/2010/main" val="2495589328"/>
              </p:ext>
            </p:extLst>
          </p:nvPr>
        </p:nvGraphicFramePr>
        <p:xfrm>
          <a:off x="457200" y="811427"/>
          <a:ext cx="11280775" cy="5392227"/>
        </p:xfrm>
        <a:graphic>
          <a:graphicData uri="http://schemas.openxmlformats.org/drawingml/2006/table">
            <a:tbl>
              <a:tblPr firstRow="1" bandRow="1">
                <a:tableStyleId>{85BE263C-DBD7-4A20-BB59-AAB30ACAA65A}</a:tableStyleId>
              </a:tblPr>
              <a:tblGrid>
                <a:gridCol w="902813">
                  <a:extLst>
                    <a:ext uri="{9D8B030D-6E8A-4147-A177-3AD203B41FA5}">
                      <a16:colId xmlns:a16="http://schemas.microsoft.com/office/drawing/2014/main" val="1482317196"/>
                    </a:ext>
                  </a:extLst>
                </a:gridCol>
                <a:gridCol w="10377962">
                  <a:extLst>
                    <a:ext uri="{9D8B030D-6E8A-4147-A177-3AD203B41FA5}">
                      <a16:colId xmlns:a16="http://schemas.microsoft.com/office/drawing/2014/main" val="2215532096"/>
                    </a:ext>
                  </a:extLst>
                </a:gridCol>
              </a:tblGrid>
              <a:tr h="190485">
                <a:tc>
                  <a:txBody>
                    <a:bodyPr/>
                    <a:lstStyle/>
                    <a:p>
                      <a:pPr>
                        <a:lnSpc>
                          <a:spcPct val="90000"/>
                        </a:lnSpc>
                      </a:pPr>
                      <a:r>
                        <a:rPr lang="en-US" sz="950" dirty="0"/>
                        <a:t>Concept</a:t>
                      </a:r>
                    </a:p>
                  </a:txBody>
                  <a:tcPr>
                    <a:solidFill>
                      <a:schemeClr val="accent5"/>
                    </a:solidFill>
                  </a:tcPr>
                </a:tc>
                <a:tc>
                  <a:txBody>
                    <a:bodyPr/>
                    <a:lstStyle/>
                    <a:p>
                      <a:pPr>
                        <a:lnSpc>
                          <a:spcPct val="90000"/>
                        </a:lnSpc>
                      </a:pPr>
                      <a:r>
                        <a:rPr lang="en-US" sz="950"/>
                        <a:t>Definition</a:t>
                      </a:r>
                    </a:p>
                  </a:txBody>
                  <a:tcPr>
                    <a:solidFill>
                      <a:schemeClr val="accent5"/>
                    </a:solidFill>
                  </a:tcPr>
                </a:tc>
                <a:extLst>
                  <a:ext uri="{0D108BD9-81ED-4DB2-BD59-A6C34878D82A}">
                    <a16:rowId xmlns:a16="http://schemas.microsoft.com/office/drawing/2014/main" val="1703153003"/>
                  </a:ext>
                </a:extLst>
              </a:tr>
              <a:tr h="531050">
                <a:tc>
                  <a:txBody>
                    <a:bodyPr/>
                    <a:lstStyle/>
                    <a:p>
                      <a:pPr>
                        <a:lnSpc>
                          <a:spcPct val="90000"/>
                        </a:lnSpc>
                      </a:pPr>
                      <a:r>
                        <a:rPr lang="en-US" sz="950" b="1"/>
                        <a:t>Business Capability </a:t>
                      </a:r>
                    </a:p>
                  </a:txBody>
                  <a:tcPr>
                    <a:solidFill>
                      <a:srgbClr val="E0F1FF"/>
                    </a:solidFill>
                  </a:tcPr>
                </a:tc>
                <a:tc>
                  <a:txBody>
                    <a:bodyPr/>
                    <a:lstStyle/>
                    <a:p>
                      <a:pPr>
                        <a:lnSpc>
                          <a:spcPct val="90000"/>
                        </a:lnSpc>
                      </a:pPr>
                      <a:r>
                        <a:rPr lang="en-US" sz="1000" b="0" i="0" kern="1200">
                          <a:solidFill>
                            <a:schemeClr val="dk1"/>
                          </a:solidFill>
                          <a:effectLst/>
                          <a:latin typeface="+mn-lt"/>
                          <a:ea typeface="+mn-ea"/>
                          <a:cs typeface="+mn-cs"/>
                        </a:rPr>
                        <a:t>Business capabilities are the necessary activities — what actions the entity must perform — to create and deliver the organization’s value proposition or mission to customers or constituents and to retain some of that value to sustain the operations of the entity</a:t>
                      </a:r>
                    </a:p>
                    <a:p>
                      <a:pPr marL="0" marR="0" lvl="0" indent="0" algn="l" defTabSz="914400" rtl="0" eaLnBrk="1" fontAlgn="auto" latinLnBrk="0" hangingPunct="1">
                        <a:lnSpc>
                          <a:spcPct val="90000"/>
                        </a:lnSpc>
                        <a:spcBef>
                          <a:spcPts val="0"/>
                        </a:spcBef>
                        <a:spcAft>
                          <a:spcPts val="300"/>
                        </a:spcAft>
                        <a:buClrTx/>
                        <a:buSzTx/>
                        <a:buFont typeface="Arial" panose="020B0604020202020204" pitchFamily="34" charset="0"/>
                        <a:buNone/>
                        <a:tabLst/>
                        <a:defRPr/>
                      </a:pPr>
                      <a:r>
                        <a:rPr lang="en-US" sz="1000" b="0" i="0">
                          <a:solidFill>
                            <a:schemeClr val="tx1"/>
                          </a:solidFill>
                          <a:latin typeface="+mn-lt"/>
                        </a:rPr>
                        <a:t>Differentiating capabilities: Provide long-term competitive advantage; Requisite: Necessary or mandatory for running business but do not differentiate the organization competitively. </a:t>
                      </a:r>
                      <a:r>
                        <a:rPr lang="en-US" sz="1000" b="0" i="0">
                          <a:solidFill>
                            <a:schemeClr val="dk1"/>
                          </a:solidFill>
                          <a:latin typeface="+mn-lt"/>
                        </a:rPr>
                        <a:t>Non-core: No longer aligned with the organization’s strategic direction; Core: </a:t>
                      </a:r>
                      <a:r>
                        <a:rPr lang="en-US" sz="1000" b="0" i="0" strike="noStrike">
                          <a:solidFill>
                            <a:schemeClr val="tx1"/>
                          </a:solidFill>
                          <a:latin typeface="+mn-lt"/>
                        </a:rPr>
                        <a:t>Critical to enable and execute the organization’s strategy.</a:t>
                      </a:r>
                      <a:endParaRPr lang="en-US" sz="1000" b="0" i="0">
                        <a:latin typeface="+mn-lt"/>
                      </a:endParaRPr>
                    </a:p>
                  </a:txBody>
                  <a:tcPr>
                    <a:solidFill>
                      <a:srgbClr val="E0F1FF"/>
                    </a:solidFill>
                  </a:tcPr>
                </a:tc>
                <a:extLst>
                  <a:ext uri="{0D108BD9-81ED-4DB2-BD59-A6C34878D82A}">
                    <a16:rowId xmlns:a16="http://schemas.microsoft.com/office/drawing/2014/main" val="2187262391"/>
                  </a:ext>
                </a:extLst>
              </a:tr>
              <a:tr h="415605">
                <a:tc>
                  <a:txBody>
                    <a:bodyPr/>
                    <a:lstStyle/>
                    <a:p>
                      <a:pPr>
                        <a:lnSpc>
                          <a:spcPct val="90000"/>
                        </a:lnSpc>
                      </a:pPr>
                      <a:r>
                        <a:rPr lang="en-US" sz="950" b="1"/>
                        <a:t>Value Stream</a:t>
                      </a:r>
                    </a:p>
                  </a:txBody>
                  <a:tcPr/>
                </a:tc>
                <a:tc>
                  <a:txBody>
                    <a:bodyPr/>
                    <a:lstStyle/>
                    <a:p>
                      <a:pPr>
                        <a:lnSpc>
                          <a:spcPct val="90000"/>
                        </a:lnSpc>
                      </a:pPr>
                      <a:r>
                        <a:rPr lang="en-US" sz="1000" b="0" i="0" kern="1200" dirty="0">
                          <a:solidFill>
                            <a:schemeClr val="dk1"/>
                          </a:solidFill>
                          <a:effectLst/>
                          <a:latin typeface="+mn-lt"/>
                          <a:ea typeface="+mn-ea"/>
                          <a:cs typeface="+mn-cs"/>
                        </a:rPr>
                        <a:t>A value stream depicts a sequence of business capabilities that, collectively, deliver value for the customer or constituent. A stream begins with the initial concept of value — the product or the service — and includes development, delivery and receipt by the customer or constituent. For example, “from concept to new product introduction” is a value stream that incorporates multiple business capabilities, e.g., “source raw materials,” “manufacture new widget” and “build to stock.</a:t>
                      </a:r>
                      <a:endParaRPr lang="en-US" sz="1000" b="0" i="0" dirty="0">
                        <a:latin typeface="+mn-lt"/>
                      </a:endParaRPr>
                    </a:p>
                  </a:txBody>
                  <a:tcPr/>
                </a:tc>
                <a:extLst>
                  <a:ext uri="{0D108BD9-81ED-4DB2-BD59-A6C34878D82A}">
                    <a16:rowId xmlns:a16="http://schemas.microsoft.com/office/drawing/2014/main" val="1576920912"/>
                  </a:ext>
                </a:extLst>
              </a:tr>
              <a:tr h="531050">
                <a:tc>
                  <a:txBody>
                    <a:bodyPr/>
                    <a:lstStyle/>
                    <a:p>
                      <a:pPr>
                        <a:lnSpc>
                          <a:spcPct val="90000"/>
                        </a:lnSpc>
                      </a:pPr>
                      <a:r>
                        <a:rPr lang="en-US" sz="950" b="1" i="0" kern="1200">
                          <a:solidFill>
                            <a:schemeClr val="dk1"/>
                          </a:solidFill>
                          <a:effectLst/>
                          <a:latin typeface="+mn-lt"/>
                          <a:ea typeface="+mn-ea"/>
                          <a:cs typeface="+mn-cs"/>
                        </a:rPr>
                        <a:t>Process </a:t>
                      </a:r>
                      <a:endParaRPr lang="en-US" sz="950" b="1" i="1" kern="1200">
                        <a:solidFill>
                          <a:schemeClr val="dk1"/>
                        </a:solidFill>
                        <a:effectLst/>
                        <a:latin typeface="+mn-lt"/>
                        <a:ea typeface="+mn-ea"/>
                        <a:cs typeface="+mn-cs"/>
                      </a:endParaRPr>
                    </a:p>
                  </a:txBody>
                  <a:tcPr>
                    <a:solidFill>
                      <a:srgbClr val="E0F1FF"/>
                    </a:solidFill>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Process models (aka workflow diagrams) specify more details for how work happens in the pursuit of creating value for customers. Process models include the sequence of inputs, direct- and indirect-value adding activities, decisions, outputs and resources (i.e., people, technology, alliances) used. </a:t>
                      </a:r>
                      <a:r>
                        <a:rPr kumimoji="0" lang="en-US" sz="1000" b="0" i="0" u="none" strike="noStrike" kern="1200" cap="none" spc="0" normalizeH="0" baseline="0" dirty="0">
                          <a:ln>
                            <a:noFill/>
                          </a:ln>
                          <a:solidFill>
                            <a:schemeClr val="dk1"/>
                          </a:solidFill>
                          <a:effectLst/>
                          <a:uLnTx/>
                          <a:uFillTx/>
                          <a:latin typeface="+mn-lt"/>
                          <a:ea typeface="+mn-ea"/>
                          <a:cs typeface="+mn-cs"/>
                        </a:rPr>
                        <a:t> </a:t>
                      </a:r>
                      <a:r>
                        <a:rPr kumimoji="0" lang="en-US" sz="1000" b="0" i="0" u="none" strike="noStrike" kern="1200" cap="none" spc="0" normalizeH="0" baseline="0" noProof="0" dirty="0">
                          <a:ln>
                            <a:noFill/>
                          </a:ln>
                          <a:solidFill>
                            <a:prstClr val="black"/>
                          </a:solidFill>
                          <a:effectLst/>
                          <a:uLnTx/>
                          <a:uFillTx/>
                          <a:latin typeface="+mn-lt"/>
                          <a:ea typeface="+mn-ea"/>
                          <a:cs typeface="+mn-cs"/>
                        </a:rPr>
                        <a:t>Processes are span multiple workflows, roles and tasks to achieve a defined business outcome. An example of a process would be hire to retire, which includes decision points, business rules and cross-functional collaboration. Processes define the “what” and “why” of work by establishing objectives and desired outcomes.</a:t>
                      </a:r>
                    </a:p>
                  </a:txBody>
                  <a:tcPr>
                    <a:solidFill>
                      <a:srgbClr val="E0F1FF"/>
                    </a:solidFill>
                  </a:tcPr>
                </a:tc>
                <a:extLst>
                  <a:ext uri="{0D108BD9-81ED-4DB2-BD59-A6C34878D82A}">
                    <a16:rowId xmlns:a16="http://schemas.microsoft.com/office/drawing/2014/main" val="3165923100"/>
                  </a:ext>
                </a:extLst>
              </a:tr>
              <a:tr h="300159">
                <a:tc>
                  <a:txBody>
                    <a:bodyPr/>
                    <a:lstStyle/>
                    <a:p>
                      <a:pPr>
                        <a:lnSpc>
                          <a:spcPct val="90000"/>
                        </a:lnSpc>
                      </a:pPr>
                      <a:r>
                        <a:rPr lang="en-US" sz="950" b="1" i="0" kern="1200">
                          <a:solidFill>
                            <a:schemeClr val="dk1"/>
                          </a:solidFill>
                          <a:effectLst/>
                          <a:latin typeface="+mn-lt"/>
                          <a:ea typeface="+mn-ea"/>
                          <a:cs typeface="+mn-cs"/>
                        </a:rPr>
                        <a:t>Workflow</a:t>
                      </a:r>
                      <a:endParaRPr lang="en-US" sz="950" b="1"/>
                    </a:p>
                  </a:txBody>
                  <a:tcPr/>
                </a:tc>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Workflows are structured sequences and steps within a process. They outline the activities, handoffs and decision points to complete specific outcomes. Workflows define the “how” of work by prescribing the sequence, roles and infrastructure required for execution.</a:t>
                      </a:r>
                    </a:p>
                  </a:txBody>
                  <a:tcPr/>
                </a:tc>
                <a:extLst>
                  <a:ext uri="{0D108BD9-81ED-4DB2-BD59-A6C34878D82A}">
                    <a16:rowId xmlns:a16="http://schemas.microsoft.com/office/drawing/2014/main" val="1330301709"/>
                  </a:ext>
                </a:extLst>
              </a:tr>
              <a:tr h="415605">
                <a:tc>
                  <a:txBody>
                    <a:bodyPr/>
                    <a:lstStyle/>
                    <a:p>
                      <a:pPr>
                        <a:lnSpc>
                          <a:spcPct val="90000"/>
                        </a:lnSpc>
                      </a:pPr>
                      <a:r>
                        <a:rPr lang="en-US" sz="950" b="1">
                          <a:solidFill>
                            <a:schemeClr val="tx1"/>
                          </a:solidFill>
                        </a:rPr>
                        <a:t>Job</a:t>
                      </a:r>
                    </a:p>
                  </a:txBody>
                  <a:tcPr>
                    <a:solidFill>
                      <a:srgbClr val="E0F1FF"/>
                    </a:solidFill>
                  </a:tcPr>
                </a:tc>
                <a:tc>
                  <a:txBody>
                    <a:bodyPr/>
                    <a:lstStyle/>
                    <a:p>
                      <a:pPr>
                        <a:lnSpc>
                          <a:spcPct val="90000"/>
                        </a:lnSpc>
                      </a:pPr>
                      <a:r>
                        <a:rPr lang="en-US" sz="1000" b="0" i="0">
                          <a:solidFill>
                            <a:schemeClr val="tx1"/>
                          </a:solidFill>
                          <a:latin typeface="+mn-lt"/>
                        </a:rPr>
                        <a:t>A job describing a type of work within an organization. It defines: Tasks and responsibilities., Required skills and competencies</a:t>
                      </a:r>
                    </a:p>
                    <a:p>
                      <a:pPr>
                        <a:lnSpc>
                          <a:spcPct val="90000"/>
                        </a:lnSpc>
                      </a:pPr>
                      <a:r>
                        <a:rPr lang="en-US" sz="1000" b="0" i="0">
                          <a:solidFill>
                            <a:schemeClr val="tx1"/>
                          </a:solidFill>
                          <a:latin typeface="+mn-lt"/>
                        </a:rPr>
                        <a:t>Level of impact and value to the organization Jobs are grouped into job families for consistency and career architecture. Example: FP&amp;A Analyst in Finance; IT Business Partner in IT.</a:t>
                      </a:r>
                    </a:p>
                  </a:txBody>
                  <a:tcPr>
                    <a:solidFill>
                      <a:srgbClr val="E0F1FF"/>
                    </a:solidFill>
                  </a:tcPr>
                </a:tc>
                <a:extLst>
                  <a:ext uri="{0D108BD9-81ED-4DB2-BD59-A6C34878D82A}">
                    <a16:rowId xmlns:a16="http://schemas.microsoft.com/office/drawing/2014/main" val="245740816"/>
                  </a:ext>
                </a:extLst>
              </a:tr>
              <a:tr h="415605">
                <a:tc>
                  <a:txBody>
                    <a:bodyPr/>
                    <a:lstStyle/>
                    <a:p>
                      <a:pPr>
                        <a:lnSpc>
                          <a:spcPct val="90000"/>
                        </a:lnSpc>
                      </a:pPr>
                      <a:r>
                        <a:rPr lang="en-US" sz="950" b="1">
                          <a:solidFill>
                            <a:schemeClr val="tx1"/>
                          </a:solidFill>
                        </a:rPr>
                        <a:t>Position</a:t>
                      </a:r>
                    </a:p>
                  </a:txBody>
                  <a:tcPr/>
                </a:tc>
                <a:tc>
                  <a:txBody>
                    <a:bodyPr/>
                    <a:lstStyle/>
                    <a:p>
                      <a:pPr>
                        <a:lnSpc>
                          <a:spcPct val="90000"/>
                        </a:lnSpc>
                      </a:pPr>
                      <a:r>
                        <a:rPr lang="en-US" sz="1000" b="0" i="0" dirty="0">
                          <a:solidFill>
                            <a:schemeClr val="tx1"/>
                          </a:solidFill>
                          <a:latin typeface="+mn-lt"/>
                        </a:rPr>
                        <a:t>A position refers to a</a:t>
                      </a:r>
                      <a:r>
                        <a:rPr lang="en-US" sz="1000" b="0" i="0" dirty="0">
                          <a:effectLst/>
                          <a:latin typeface="+mn-lt"/>
                        </a:rPr>
                        <a:t> unique, approved headcount or job within the organization's structure, independent of any specific employee It represents a specific box on an org chart and includes a set of approved attributes, such as job title, job code, salary band, reporting relationships, and work location.</a:t>
                      </a:r>
                      <a:endParaRPr lang="en-US" sz="1000" b="0" i="0" dirty="0">
                        <a:solidFill>
                          <a:schemeClr val="tx1"/>
                        </a:solidFill>
                        <a:effectLst/>
                        <a:latin typeface="+mn-lt"/>
                      </a:endParaRPr>
                    </a:p>
                    <a:p>
                      <a:pPr>
                        <a:lnSpc>
                          <a:spcPct val="90000"/>
                        </a:lnSpc>
                      </a:pPr>
                      <a:r>
                        <a:rPr lang="en-US" sz="1000" b="0" i="0" dirty="0">
                          <a:solidFill>
                            <a:schemeClr val="tx1"/>
                          </a:solidFill>
                          <a:latin typeface="+mn-lt"/>
                        </a:rPr>
                        <a:t>Example: Job = “</a:t>
                      </a:r>
                      <a:r>
                        <a:rPr lang="en-US" sz="1000" b="0" i="0" dirty="0" err="1">
                          <a:solidFill>
                            <a:schemeClr val="tx1"/>
                          </a:solidFill>
                          <a:latin typeface="+mn-lt"/>
                        </a:rPr>
                        <a:t>FP&amp;A</a:t>
                      </a:r>
                      <a:r>
                        <a:rPr lang="en-US" sz="1000" b="0" i="0" dirty="0">
                          <a:solidFill>
                            <a:schemeClr val="tx1"/>
                          </a:solidFill>
                          <a:latin typeface="+mn-lt"/>
                        </a:rPr>
                        <a:t> Analyst” Position = “</a:t>
                      </a:r>
                      <a:r>
                        <a:rPr lang="en-US" sz="1000" b="0" i="0" dirty="0" err="1">
                          <a:solidFill>
                            <a:schemeClr val="tx1"/>
                          </a:solidFill>
                          <a:latin typeface="+mn-lt"/>
                        </a:rPr>
                        <a:t>FP&amp;A</a:t>
                      </a:r>
                      <a:r>
                        <a:rPr lang="en-US" sz="1000" b="0" i="0" dirty="0">
                          <a:solidFill>
                            <a:schemeClr val="tx1"/>
                          </a:solidFill>
                          <a:latin typeface="+mn-lt"/>
                        </a:rPr>
                        <a:t> Analyst — EMEA Region” (occupied by one person)</a:t>
                      </a:r>
                    </a:p>
                  </a:txBody>
                  <a:tcPr/>
                </a:tc>
                <a:extLst>
                  <a:ext uri="{0D108BD9-81ED-4DB2-BD59-A6C34878D82A}">
                    <a16:rowId xmlns:a16="http://schemas.microsoft.com/office/drawing/2014/main" val="3941976952"/>
                  </a:ext>
                </a:extLst>
              </a:tr>
              <a:tr h="300159">
                <a:tc>
                  <a:txBody>
                    <a:bodyPr/>
                    <a:lstStyle/>
                    <a:p>
                      <a:pPr>
                        <a:lnSpc>
                          <a:spcPct val="90000"/>
                        </a:lnSpc>
                      </a:pPr>
                      <a:r>
                        <a:rPr lang="en-US" sz="950" b="1"/>
                        <a:t>Role </a:t>
                      </a:r>
                    </a:p>
                  </a:txBody>
                  <a:tcPr>
                    <a:solidFill>
                      <a:srgbClr val="E0F1FF"/>
                    </a:solidFill>
                  </a:tcPr>
                </a:tc>
                <a:tc>
                  <a:txBody>
                    <a:bodyPr/>
                    <a:lstStyle/>
                    <a:p>
                      <a:pPr>
                        <a:lnSpc>
                          <a:spcPct val="90000"/>
                        </a:lnSpc>
                      </a:pPr>
                      <a:r>
                        <a:rPr lang="en-US" sz="1000" kern="1200" dirty="0">
                          <a:solidFill>
                            <a:schemeClr val="dk1"/>
                          </a:solidFill>
                          <a:effectLst/>
                          <a:latin typeface="+mn-lt"/>
                          <a:ea typeface="+mn-ea"/>
                          <a:cs typeface="+mn-cs"/>
                        </a:rPr>
                        <a:t>Role as “A part-time “hat” someone wears, or additive title representative of composable activities someone performs in addition to the core responsibilities of their job</a:t>
                      </a:r>
                      <a:r>
                        <a:rPr lang="en-US" sz="1000" kern="1200">
                          <a:solidFill>
                            <a:schemeClr val="dk1"/>
                          </a:solidFill>
                          <a:effectLst/>
                          <a:latin typeface="+mn-lt"/>
                          <a:ea typeface="+mn-ea"/>
                          <a:cs typeface="+mn-cs"/>
                        </a:rPr>
                        <a:t>.” (e.g., Project </a:t>
                      </a:r>
                      <a:r>
                        <a:rPr lang="en-US" sz="1000" kern="1200" dirty="0">
                          <a:solidFill>
                            <a:schemeClr val="dk1"/>
                          </a:solidFill>
                          <a:effectLst/>
                          <a:latin typeface="+mn-lt"/>
                          <a:ea typeface="+mn-ea"/>
                          <a:cs typeface="+mn-cs"/>
                        </a:rPr>
                        <a:t>Manager, Product Owner, Service Lead)</a:t>
                      </a:r>
                      <a:endParaRPr lang="en-US" sz="1000" b="0" i="0" dirty="0">
                        <a:latin typeface="+mn-lt"/>
                      </a:endParaRPr>
                    </a:p>
                  </a:txBody>
                  <a:tcPr>
                    <a:solidFill>
                      <a:srgbClr val="E0F1FF"/>
                    </a:solidFill>
                  </a:tcPr>
                </a:tc>
                <a:extLst>
                  <a:ext uri="{0D108BD9-81ED-4DB2-BD59-A6C34878D82A}">
                    <a16:rowId xmlns:a16="http://schemas.microsoft.com/office/drawing/2014/main" val="2928895901"/>
                  </a:ext>
                </a:extLst>
              </a:tr>
              <a:tr h="300159">
                <a:tc>
                  <a:txBody>
                    <a:bodyPr/>
                    <a:lstStyle/>
                    <a:p>
                      <a:pPr>
                        <a:lnSpc>
                          <a:spcPct val="90000"/>
                        </a:lnSpc>
                      </a:pPr>
                      <a:r>
                        <a:rPr lang="en-US" sz="950" b="1"/>
                        <a:t>Process mining </a:t>
                      </a:r>
                    </a:p>
                  </a:txBody>
                  <a:tcPr>
                    <a:solidFill>
                      <a:srgbClr val="E0F1FF"/>
                    </a:solidFill>
                  </a:tcPr>
                </a:tc>
                <a:tc>
                  <a:txBody>
                    <a:bodyPr/>
                    <a:lstStyle/>
                    <a:p>
                      <a:pPr>
                        <a:lnSpc>
                          <a:spcPct val="90000"/>
                        </a:lnSpc>
                      </a:pPr>
                      <a:r>
                        <a:rPr lang="en-US" sz="1000" b="0" i="0" dirty="0">
                          <a:latin typeface="+mn-lt"/>
                        </a:rPr>
                        <a:t>Process mining is a technique designed to discover, monitor, and improve real processes (not assumed processes) by extracting knowledge from event logs in information systems. It delivers visibility and insights into how processes actually run, helping identify bottlenecks, inefficiencies, and areas for improvement</a:t>
                      </a:r>
                    </a:p>
                  </a:txBody>
                  <a:tcPr>
                    <a:solidFill>
                      <a:srgbClr val="E0F1FF"/>
                    </a:solidFill>
                  </a:tcPr>
                </a:tc>
                <a:extLst>
                  <a:ext uri="{0D108BD9-81ED-4DB2-BD59-A6C34878D82A}">
                    <a16:rowId xmlns:a16="http://schemas.microsoft.com/office/drawing/2014/main" val="648344711"/>
                  </a:ext>
                </a:extLst>
              </a:tr>
              <a:tr h="415605">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950" b="1" i="0" kern="1200">
                          <a:solidFill>
                            <a:schemeClr val="dk1"/>
                          </a:solidFill>
                          <a:effectLst/>
                          <a:latin typeface="+mn-lt"/>
                          <a:ea typeface="+mn-ea"/>
                          <a:cs typeface="+mn-cs"/>
                        </a:rPr>
                        <a:t>Task Mining</a:t>
                      </a:r>
                    </a:p>
                  </a:txBody>
                  <a:tcPr>
                    <a:solidFill>
                      <a:srgbClr val="FFFFFF"/>
                    </a:solidFill>
                  </a:tcPr>
                </a:tc>
                <a:tc>
                  <a:txBody>
                    <a:bodyPr/>
                    <a:lstStyle/>
                    <a:p>
                      <a:pPr>
                        <a:lnSpc>
                          <a:spcPct val="90000"/>
                        </a:lnSpc>
                      </a:pPr>
                      <a:r>
                        <a:rPr lang="en-US" sz="1000" b="0" i="0" dirty="0">
                          <a:latin typeface="+mn-lt"/>
                        </a:rPr>
                        <a:t>A method of extracting valuable insights from low-level event data recorded in user interface logs or obtained through computer vision. The data captured includes individual steps performed by a user, such as keystrokes, mouse clicks, and data entries, and is interpreted using techniques like natural language processing (NLP) and optical character recognition (OCR). Task mining complements process mining by providing a deeper understanding of the activities and actions taken within a process. </a:t>
                      </a:r>
                    </a:p>
                  </a:txBody>
                  <a:tcPr>
                    <a:solidFill>
                      <a:srgbClr val="FFFFFF"/>
                    </a:solidFill>
                  </a:tcPr>
                </a:tc>
                <a:extLst>
                  <a:ext uri="{0D108BD9-81ED-4DB2-BD59-A6C34878D82A}">
                    <a16:rowId xmlns:a16="http://schemas.microsoft.com/office/drawing/2014/main" val="2348309953"/>
                  </a:ext>
                </a:extLst>
              </a:tr>
              <a:tr h="415605">
                <a:tc>
                  <a:txBody>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en-US" sz="950" b="1" i="0" kern="1200">
                          <a:solidFill>
                            <a:schemeClr val="dk1"/>
                          </a:solidFill>
                          <a:effectLst/>
                          <a:latin typeface="+mn-lt"/>
                          <a:ea typeface="+mn-ea"/>
                          <a:cs typeface="+mn-cs"/>
                        </a:rPr>
                        <a:t>Process Intelligence</a:t>
                      </a:r>
                    </a:p>
                  </a:txBody>
                  <a:tcPr>
                    <a:solidFill>
                      <a:srgbClr val="E0F1FF"/>
                    </a:solidFill>
                  </a:tcPr>
                </a:tc>
                <a:tc>
                  <a:txBody>
                    <a:bodyPr/>
                    <a:lstStyle/>
                    <a:p>
                      <a:pPr>
                        <a:lnSpc>
                          <a:spcPct val="90000"/>
                        </a:lnSpc>
                      </a:pPr>
                      <a:r>
                        <a:rPr lang="en-US" sz="1000" b="0" i="0" kern="1200">
                          <a:solidFill>
                            <a:schemeClr val="dk1"/>
                          </a:solidFill>
                          <a:effectLst/>
                          <a:latin typeface="+mn-lt"/>
                          <a:ea typeface="+mn-ea"/>
                          <a:cs typeface="+mn-cs"/>
                        </a:rPr>
                        <a:t>Process intelligence platforms combine development and runtime software tools to analyze, model, and monitor business processes. They offer capabilities such as process mapping and mining, in-depth analysis, real-time alerting, SLA and threshold-based tracking, anomaly detection, performance dashboards, and interactive decision support by providing data about current processes and their conditions.</a:t>
                      </a:r>
                    </a:p>
                  </a:txBody>
                  <a:tcPr>
                    <a:solidFill>
                      <a:srgbClr val="E0F1FF"/>
                    </a:solidFill>
                  </a:tcPr>
                </a:tc>
                <a:extLst>
                  <a:ext uri="{0D108BD9-81ED-4DB2-BD59-A6C34878D82A}">
                    <a16:rowId xmlns:a16="http://schemas.microsoft.com/office/drawing/2014/main" val="4260568449"/>
                  </a:ext>
                </a:extLst>
              </a:tr>
              <a:tr h="300159">
                <a:tc>
                  <a:txBody>
                    <a:bodyPr/>
                    <a:lstStyle/>
                    <a:p>
                      <a:pPr>
                        <a:lnSpc>
                          <a:spcPct val="90000"/>
                        </a:lnSpc>
                      </a:pPr>
                      <a:r>
                        <a:rPr lang="en-US" sz="950" b="1"/>
                        <a:t>Workforce Capability</a:t>
                      </a:r>
                    </a:p>
                  </a:txBody>
                  <a:tcPr>
                    <a:lnB w="12700" cap="flat" cmpd="sng" algn="ctr">
                      <a:noFill/>
                      <a:prstDash val="solid"/>
                      <a:round/>
                      <a:headEnd type="none" w="med" len="med"/>
                      <a:tailEnd type="none" w="med" len="med"/>
                    </a:lnB>
                    <a:solidFill>
                      <a:srgbClr val="FFFFFF"/>
                    </a:solidFill>
                  </a:tcPr>
                </a:tc>
                <a:tc>
                  <a:txBody>
                    <a:bodyPr/>
                    <a:lstStyle/>
                    <a:p>
                      <a:pPr>
                        <a:lnSpc>
                          <a:spcPct val="90000"/>
                        </a:lnSpc>
                      </a:pPr>
                      <a:r>
                        <a:rPr lang="en-US" sz="1000" b="0" i="0" kern="1200">
                          <a:solidFill>
                            <a:schemeClr val="dk1"/>
                          </a:solidFill>
                          <a:effectLst/>
                          <a:latin typeface="+mn-lt"/>
                          <a:ea typeface="+mn-ea"/>
                          <a:cs typeface="+mn-cs"/>
                        </a:rPr>
                        <a:t>Workforce capability is described as the knowledge, experiences, skills, and competencies that an organization requires in its workforce to accomplish its work processes Workforce capabilities specifically target the individual competencies and skills required in the workforce. </a:t>
                      </a:r>
                    </a:p>
                  </a:txBody>
                  <a:tcP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612801793"/>
                  </a:ext>
                </a:extLst>
              </a:tr>
            </a:tbl>
          </a:graphicData>
        </a:graphic>
      </p:graphicFrame>
    </p:spTree>
    <p:extLst>
      <p:ext uri="{BB962C8B-B14F-4D97-AF65-F5344CB8AC3E}">
        <p14:creationId xmlns:p14="http://schemas.microsoft.com/office/powerpoint/2010/main" val="1614534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B0BA1-CFD2-2611-3074-D4C10AFD09EC}"/>
            </a:ext>
          </a:extLst>
        </p:cNvPr>
        <p:cNvGrpSpPr/>
        <p:nvPr/>
      </p:nvGrpSpPr>
      <p:grpSpPr>
        <a:xfrm>
          <a:off x="0" y="0"/>
          <a:ext cx="0" cy="0"/>
          <a:chOff x="0" y="0"/>
          <a:chExt cx="0" cy="0"/>
        </a:xfrm>
      </p:grpSpPr>
      <p:sp>
        <p:nvSpPr>
          <p:cNvPr id="6" name="Google Shape;578;p11">
            <a:extLst>
              <a:ext uri="{FF2B5EF4-FFF2-40B4-BE49-F238E27FC236}">
                <a16:creationId xmlns:a16="http://schemas.microsoft.com/office/drawing/2014/main" id="{7B28B522-FA22-01B1-5DFF-616BDECA7EAA}"/>
              </a:ext>
            </a:extLst>
          </p:cNvPr>
          <p:cNvSpPr txBox="1">
            <a:spLocks noGrp="1"/>
          </p:cNvSpPr>
          <p:nvPr>
            <p:ph type="title"/>
          </p:nvPr>
        </p:nvSpPr>
        <p:spPr>
          <a:xfrm>
            <a:off x="457200" y="361950"/>
            <a:ext cx="11274552" cy="451231"/>
          </a:xfrm>
        </p:spPr>
        <p:txBody>
          <a:bodyPr spcFirstLastPara="1" lIns="0" tIns="0" rIns="0" bIns="0" anchor="t" anchorCtr="0">
            <a:normAutofit/>
          </a:bodyPr>
          <a:lstStyle/>
          <a:p>
            <a:pPr lvl="0"/>
            <a:r>
              <a:rPr lang="en-US"/>
              <a:t>Sample Value Stream Map</a:t>
            </a:r>
          </a:p>
        </p:txBody>
      </p:sp>
      <p:pic>
        <p:nvPicPr>
          <p:cNvPr id="8194" name="Picture 2" descr="Use Value Streams to Design Service and Operating Models and Enable Application Composability">
            <a:extLst>
              <a:ext uri="{FF2B5EF4-FFF2-40B4-BE49-F238E27FC236}">
                <a16:creationId xmlns:a16="http://schemas.microsoft.com/office/drawing/2014/main" id="{6CC6B16B-2C05-2505-34CD-E3457F693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409"/>
          <a:stretch>
            <a:fillRect/>
          </a:stretch>
        </p:blipFill>
        <p:spPr bwMode="auto">
          <a:xfrm>
            <a:off x="1861486" y="1092246"/>
            <a:ext cx="8469027" cy="4673509"/>
          </a:xfrm>
          <a:prstGeom prst="rect">
            <a:avLst/>
          </a:prstGeom>
          <a:solidFill>
            <a:srgbClr val="FFFFFF"/>
          </a:solidFill>
        </p:spPr>
      </p:pic>
    </p:spTree>
    <p:extLst>
      <p:ext uri="{BB962C8B-B14F-4D97-AF65-F5344CB8AC3E}">
        <p14:creationId xmlns:p14="http://schemas.microsoft.com/office/powerpoint/2010/main" val="27323240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49B6E-9540-ADB9-59E8-F891440CEFF1}"/>
            </a:ext>
          </a:extLst>
        </p:cNvPr>
        <p:cNvGrpSpPr/>
        <p:nvPr/>
      </p:nvGrpSpPr>
      <p:grpSpPr>
        <a:xfrm>
          <a:off x="0" y="0"/>
          <a:ext cx="0" cy="0"/>
          <a:chOff x="0" y="0"/>
          <a:chExt cx="0" cy="0"/>
        </a:xfrm>
      </p:grpSpPr>
      <p:sp>
        <p:nvSpPr>
          <p:cNvPr id="6" name="Google Shape;578;p11">
            <a:extLst>
              <a:ext uri="{FF2B5EF4-FFF2-40B4-BE49-F238E27FC236}">
                <a16:creationId xmlns:a16="http://schemas.microsoft.com/office/drawing/2014/main" id="{3AD6AC12-3068-A585-66F9-2AA19E521FCC}"/>
              </a:ext>
            </a:extLst>
          </p:cNvPr>
          <p:cNvSpPr txBox="1">
            <a:spLocks noGrp="1"/>
          </p:cNvSpPr>
          <p:nvPr>
            <p:ph type="title"/>
          </p:nvPr>
        </p:nvSpPr>
        <p:spPr>
          <a:xfrm>
            <a:off x="457200" y="361950"/>
            <a:ext cx="11274552" cy="451231"/>
          </a:xfrm>
        </p:spPr>
        <p:txBody>
          <a:bodyPr spcFirstLastPara="1" lIns="0" tIns="0" rIns="0" bIns="0" anchor="t" anchorCtr="0">
            <a:normAutofit/>
          </a:bodyPr>
          <a:lstStyle/>
          <a:p>
            <a:pPr lvl="0"/>
            <a:r>
              <a:rPr lang="en-US"/>
              <a:t>Sample Value Stream Map</a:t>
            </a:r>
          </a:p>
        </p:txBody>
      </p:sp>
      <p:pic>
        <p:nvPicPr>
          <p:cNvPr id="1026" name="Picture 2" descr="This graphic mentions the key elements of a value stream map, comprising: (1) designed to drive strategic outcomes, (2) end-to-end processes and sub-processes, (3) team and business unit flow, (4) data, information and deliverables flow, (5) process step duration + wait time and (6) enabling capabilities.&#10;">
            <a:extLst>
              <a:ext uri="{FF2B5EF4-FFF2-40B4-BE49-F238E27FC236}">
                <a16:creationId xmlns:a16="http://schemas.microsoft.com/office/drawing/2014/main" id="{276F1DF2-D46B-E554-D05B-77FB7F0C412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00351" y="772917"/>
            <a:ext cx="6445546" cy="5607625"/>
          </a:xfrm>
          <a:prstGeom prst="rect">
            <a:avLst/>
          </a:prstGeom>
          <a:solidFill>
            <a:srgbClr val="FFFFFF"/>
          </a:solidFill>
        </p:spPr>
      </p:pic>
    </p:spTree>
    <p:extLst>
      <p:ext uri="{BB962C8B-B14F-4D97-AF65-F5344CB8AC3E}">
        <p14:creationId xmlns:p14="http://schemas.microsoft.com/office/powerpoint/2010/main" val="87973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07996"/>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33C3A0C-E5F3-49C6-8FE5-EA4FAE3272EF}"/>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1F96FF"/>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4198240C-8A10-4D26-B418-EE7C2F363812}"/>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Presentation1" id="{AEC50898-E3D9-4949-8FBE-445064EAE36B}" vid="{D8F2B47A-9B41-4434-9B73-5A44EB567CAA}"/>
    </a:ext>
  </a:extLst>
</a:theme>
</file>

<file path=ppt/theme/theme4.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19972B22E0C44EBC35B7C8F9E76D9E" ma:contentTypeVersion="4" ma:contentTypeDescription="Create a new document." ma:contentTypeScope="" ma:versionID="ff089d8139e51c3d045a313082beb305">
  <xsd:schema xmlns:xsd="http://www.w3.org/2001/XMLSchema" xmlns:xs="http://www.w3.org/2001/XMLSchema" xmlns:p="http://schemas.microsoft.com/office/2006/metadata/properties" xmlns:ns2="0703107b-2aa5-41ac-8948-5a2a1db25b04" targetNamespace="http://schemas.microsoft.com/office/2006/metadata/properties" ma:root="true" ma:fieldsID="801d988ec394798fe0b0289dc4f527a5" ns2:_="">
    <xsd:import namespace="0703107b-2aa5-41ac-8948-5a2a1db25b0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3107b-2aa5-41ac-8948-5a2a1db2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2.xml><?xml version="1.0" encoding="utf-8"?>
<ds:datastoreItem xmlns:ds="http://schemas.openxmlformats.org/officeDocument/2006/customXml" ds:itemID="{849EAD55-449F-4D7E-ADE7-D5D587B8A89C}">
  <ds:schemaRefs>
    <ds:schemaRef ds:uri="0703107b-2aa5-41ac-8948-5a2a1db25b0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6BF0811-1F35-4432-AF5B-C342C82B4ADE}">
  <ds:schemaRefs>
    <ds:schemaRef ds:uri="0703107b-2aa5-41ac-8948-5a2a1db25b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Toolkit_Tool_Blank_PowerPoint_Template</Template>
  <TotalTime>16</TotalTime>
  <Words>6772</Words>
  <Application>Microsoft Office PowerPoint</Application>
  <PresentationFormat>Widescreen</PresentationFormat>
  <Paragraphs>695</Paragraphs>
  <Slides>23</Slides>
  <Notes>23</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23</vt:i4>
      </vt:variant>
    </vt:vector>
  </HeadingPairs>
  <TitlesOfParts>
    <vt:vector size="33" baseType="lpstr">
      <vt:lpstr>Gartner Sans</vt:lpstr>
      <vt:lpstr>Arial</vt:lpstr>
      <vt:lpstr>Segoe UI</vt:lpstr>
      <vt:lpstr>System Font Regular</vt:lpstr>
      <vt:lpstr>Gartner Sans Semibold</vt:lpstr>
      <vt:lpstr>Wingdings</vt:lpstr>
      <vt:lpstr>White bkgrnd master</vt:lpstr>
      <vt:lpstr>Blue bkgrnd master</vt:lpstr>
      <vt:lpstr>Crystal bkgrnd master</vt:lpstr>
      <vt:lpstr>think-cell Slide</vt:lpstr>
      <vt:lpstr>Guide to Redesign Work in the Human-Machine Era</vt:lpstr>
      <vt:lpstr>Contents</vt:lpstr>
      <vt:lpstr>Overview: Work Redesign Cycle</vt:lpstr>
      <vt:lpstr>Key Steps and HR Function Contribution</vt:lpstr>
      <vt:lpstr>1. Align on Design Goals and Key Value Streams</vt:lpstr>
      <vt:lpstr>2. Assess Process Performance</vt:lpstr>
      <vt:lpstr>3. Define People + Technology Contribution</vt:lpstr>
      <vt:lpstr>Align Technology to Work Value and Complexity</vt:lpstr>
      <vt:lpstr>Assess Return vs. Feasibility and Change Effort</vt:lpstr>
      <vt:lpstr>4. Redesign Processes</vt:lpstr>
      <vt:lpstr>5. Redesign Jobs and Assess Impact</vt:lpstr>
      <vt:lpstr>Dynamic Redesign:  Continuous Adaptation — People, Process, Technology</vt:lpstr>
      <vt:lpstr>Summary: Dynamic Value Stream and Process Optimization</vt:lpstr>
      <vt:lpstr>Resourcing &amp; Readiness </vt:lpstr>
      <vt:lpstr>Governance Forums &amp; Mechanisms</vt:lpstr>
      <vt:lpstr>HR Contribution: Enterprise Work Redesign</vt:lpstr>
      <vt:lpstr>Collaboration: Enterprise Work Redesign</vt:lpstr>
      <vt:lpstr>Process Maturity and Work Redesign Implications</vt:lpstr>
      <vt:lpstr>Data as Central Enabler AI-Infused Work Redesign </vt:lpstr>
      <vt:lpstr>Appendix</vt:lpstr>
      <vt:lpstr>Glossary</vt:lpstr>
      <vt:lpstr>Sample Value Stream Map</vt:lpstr>
      <vt:lpstr>Sample Value Stream Map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Diane Satterfield</dc:creator>
  <cp:keywords/>
  <dc:description/>
  <cp:lastModifiedBy>Shaurya Verma</cp:lastModifiedBy>
  <cp:revision>2</cp:revision>
  <dcterms:created xsi:type="dcterms:W3CDTF">2026-03-03T01:06:00Z</dcterms:created>
  <dcterms:modified xsi:type="dcterms:W3CDTF">2026-03-31T10:02:22Z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0x010100E019972B22E0C44EBC35B7C8F9E76D9E</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d8d3d77b-5a15-4f74-98cf-087d376f40ea</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_dlc_DocIdPersistId">
    <vt:bool>false</vt:bool>
  </property>
  <property fmtid="{D5CDD505-2E9C-101B-9397-08002B2CF9AE}" pid="12" name="Order">
    <vt:r8>54800</vt:r8>
  </property>
</Properties>
</file>