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(15 seconds):</a:t>
            </a:r>
          </a:p>
          <a:p>
            <a:r>
              <a:t>"We've invested heavily in AI. Today I want to talk about why most AI initiatives — across the industry, not just here — aren't delivering returns. And more importantly, what we can do about it."</a:t>
            </a:r>
          </a:p>
          <a:p/>
          <a:p>
            <a:r>
              <a:t>Don't read the slide. Set the room with a direct statement.</a:t>
            </a:r>
          </a:p>
          <a:p/>
          <a:p>
            <a:r>
              <a:t>TRANSITION:</a:t>
            </a:r>
          </a:p>
          <a:p>
            <a:r>
              <a:t>"Let me give you the executive summary, then we'll go section by section."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This is the "read only this slide" slide. If someone reads ONLY this, they get the full story.</a:t>
            </a:r>
          </a:p>
          <a:p/>
          <a:p>
            <a:r>
              <a:t>KEY TALKING POINTS:</a:t>
            </a:r>
          </a:p>
          <a:p>
            <a:r>
              <a:t>- "Three columns: the problem is clear — 70-85% failure rate. The hidden cost is that it compounds — each failure makes the next one harder. And the path forward is counterintuitive: invest in culture before technology."</a:t>
            </a:r>
          </a:p>
          <a:p>
            <a:r>
              <a:t>- Emphasize the 3x stat: "If your first AI initiative fails and you don't address the cultural root cause, your second attempt faces roughly triple the resistance."</a:t>
            </a:r>
          </a:p>
          <a:p/>
          <a:p>
            <a:r>
              <a:t>TRANSITION:</a:t>
            </a:r>
          </a:p>
          <a:p>
            <a:r>
              <a:t>- "Here's what we'll cover."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spend more than 15 seconds here. Simply say:</a:t>
            </a:r>
          </a:p>
          <a:p>
            <a:r>
              <a:t>"Five sections — we start with the data, define the root cause, diagnose where we're stuck, show what works, and end with three concrete actions."</a:t>
            </a:r>
          </a:p>
          <a:p/>
          <a:p>
            <a:r>
              <a:t>Move quickly to the numbers.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briefly. Let the room reset before the data slide.</a:t>
            </a:r>
          </a:p>
          <a:p>
            <a:r>
              <a:t>"Let's start with what the research tells us."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DELIVERY: Walk left to right through each number. Let each one land.</a:t>
            </a:r>
          </a:p>
          <a:p/>
          <a:p>
            <a:r>
              <a:t>70-85%: "Across every major survey — McKinsey, Gartner, BCG — the failure rate is consistent."</a:t>
            </a:r>
          </a:p>
          <a:p/>
          <a:p>
            <a:r>
              <a:t>&lt;15%: "Less than 15% of failures are attributed to technology. The models work. The organization doesn’t adopt."</a:t>
            </a:r>
          </a:p>
          <a:p/>
          <a:p>
            <a:r>
              <a:t>#1 Cause: "The number one reason: organizational and cultural resistance."</a:t>
            </a:r>
          </a:p>
          <a:p/>
          <a:p>
            <a:r>
              <a:t>$4.6T: "Global AI investment is projected at $4.6 trillion by 2027. The majority at risk."</a:t>
            </a:r>
          </a:p>
          <a:p/>
          <a:p>
            <a:r>
              <a:t>Point to the callout bar. Pause.</a:t>
            </a:r>
          </a:p>
          <a:p/>
          <a:p>
            <a:r>
              <a:t>TRANSITION: "So if it’s not the technology, what is it?"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"This is the concept that explains why the numbers look the way they do."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definitional slide — it creates the vocabulary the rest of the deck builds on.</a:t>
            </a:r>
          </a:p>
          <a:p/>
          <a:p>
            <a:r>
              <a:t>FRAMING:</a:t>
            </a:r>
          </a:p>
          <a:p>
            <a:r>
              <a:t>"Everyone in this room understands technical debt. But there’s a parallel concept that’s far more dangerous because it’s invisible: cultural debt."</a:t>
            </a:r>
          </a:p>
          <a:p/>
          <a:p>
            <a:r>
              <a:t>Walk the comparison. Pause on row 3: "Tracked, measured, budgeted — versus untracked, unmeasured, unbudgeted."</a:t>
            </a:r>
          </a:p>
          <a:p/>
          <a:p>
            <a:r>
              <a:t>Read the bottom bar aloud. Let it land.</a:t>
            </a:r>
          </a:p>
          <a:p/>
          <a:p>
            <a:r>
              <a:t>TRANSITION: "And here’s why this is urgent — cultural debt compounds."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cycle slowly. Each loop is worse than the last.</a:t>
            </a:r>
          </a:p>
          <a:p/>
          <a:p>
            <a:r>
              <a:t>"An AI initiative launches. Adoption stalls. Leadership declares failure. Cynicism deepens. Shadow processes harden. And the next initiative faces higher resistance before it even starts."</a:t>
            </a:r>
          </a:p>
          <a:p/>
          <a:p>
            <a:r>
              <a:t>Then walk the four cycles:</a:t>
            </a:r>
          </a:p>
          <a:p>
            <a:r>
              <a:t>- Cycle 1: Healthy skepticism. Fine.</a:t>
            </a:r>
          </a:p>
          <a:p>
            <a:r>
              <a:t>- Cycle 2: Active resistance. Fighting institutional memory.</a:t>
            </a:r>
          </a:p>
          <a:p>
            <a:r>
              <a:t>- Cycle 3: Organizational antibodies. Resistance is unconscious.</a:t>
            </a:r>
          </a:p>
          <a:p>
            <a:r>
              <a:t>- Cycle 4: Structural inability. The best people have disengaged.</a:t>
            </a:r>
          </a:p>
          <a:p/>
          <a:p>
            <a:r>
              <a:t>TRANSITION: "So what are the specific patterns that predict this?"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"Now we get practical. These five patterns are diagnostic — if even two are present, the initiative is at risk."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down each row:</a:t>
            </a:r>
          </a:p>
          <a:p/>
          <a:p>
            <a:r>
              <a:t>"Permission Culture — teams need approvals before experimenting. Innovation dies in committee."</a:t>
            </a:r>
          </a:p>
          <a:p/>
          <a:p>
            <a:r>
              <a:t>"Metric Misalignment — the most common. We measure 'models deployed' not 'decisions improved.'"</a:t>
            </a:r>
          </a:p>
          <a:p/>
          <a:p>
            <a:r>
              <a:t>"Invisible Middle — the least discussed, most lethal. Middle managers aren’t resisting — they’re rationally waiting."</a:t>
            </a:r>
          </a:p>
          <a:p/>
          <a:p>
            <a:r>
              <a:t>"Skills Theater — everyone went to training. Nobody changed how they work."</a:t>
            </a:r>
          </a:p>
          <a:p/>
          <a:p>
            <a:r>
              <a:t>"Trust Deficit — 'AI will replace us' goes unaddressed. Best people quietly disengage."</a:t>
            </a:r>
          </a:p>
          <a:p/>
          <a:p>
            <a:r>
              <a:t>Ask: "Mentally score your organization. How many are present?"</a:t>
            </a:r>
          </a:p>
          <a:p/>
          <a:p>
            <a:r>
              <a:t>TRANSITION: "The organizations that break this cycle have three things in common."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"We’ve seen the problem. Now the turn: what actually works."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turn from problem to solution.</a:t>
            </a:r>
          </a:p>
          <a:p/>
          <a:p>
            <a:r>
              <a:t>"Psychological safety sounds soft until you realize it’s the difference between teams who experiment and teams who hide."</a:t>
            </a:r>
          </a:p>
          <a:p/>
          <a:p>
            <a:r>
              <a:t>"Aligned incentives sounds obvious until you audit how many AI programs measure 'models in production' rather than 'decisions improved.'"</a:t>
            </a:r>
          </a:p>
          <a:p/>
          <a:p>
            <a:r>
              <a:t>"Visible leadership — not sponsorship in a steering committee, but a VP who shows the team how they used Claude this week."</a:t>
            </a:r>
          </a:p>
          <a:p/>
          <a:p>
            <a:r>
              <a:t>Read the bottom bar: "They treat culture as infrastructure."</a:t>
            </a:r>
          </a:p>
          <a:p/>
          <a:p>
            <a:r>
              <a:t>TRANSITION: "So what does the shift look like?"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reframes the investment sequence.</a:t>
            </a:r>
          </a:p>
          <a:p/>
          <a:p>
            <a:r>
              <a:t>"Almost every failed AI initiative started with technology selection. The ones that succeed start with people."</a:t>
            </a:r>
          </a:p>
          <a:p/>
          <a:p>
            <a:r>
              <a:t>The From/To framing lets the audience self-diagnose.</a:t>
            </a:r>
          </a:p>
          <a:p/>
          <a:p>
            <a:r>
              <a:t>Read the bottom bar: the sequence matters. People first, process, then technology.</a:t>
            </a:r>
          </a:p>
          <a:p/>
          <a:p>
            <a:r>
              <a:t>TRANSITION: "And there’s urgency — because cultural debt doesn’t wait."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"We’ve diagnosed the problem. Here’s what to do about it."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urgency slide. Compounding metaphor works because leadership thinks in financial terms.</a:t>
            </a:r>
          </a:p>
          <a:p/>
          <a:p>
            <a:r>
              <a:t>"Every quarter unaddressed, the cost roughly doubles — not because the problem gets harder, but because the cynicism gets deeper."</a:t>
            </a:r>
          </a:p>
          <a:p/>
          <a:p>
            <a:r>
              <a:t>Walk left to right. Colors darken — visual cue for escalating severity.</a:t>
            </a:r>
          </a:p>
          <a:p/>
          <a:p>
            <a:r>
              <a:t>TRANSITION: "So here are three actions we can take today."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action, not inspiration. Low-cost, high-signal.</a:t>
            </a:r>
          </a:p>
          <a:p/>
          <a:p>
            <a:r>
              <a:t>"I’m not asking for a new program or a new budget. Three targeted actions."</a:t>
            </a:r>
          </a:p>
          <a:p/>
          <a:p>
            <a:r>
              <a:t>1. Cultural audit — "Name the debt. Can’t fix what you don’t measure."</a:t>
            </a:r>
          </a:p>
          <a:p>
            <a:r>
              <a:t>2. Scorecard — "Change the metric, change the behavior."</a:t>
            </a:r>
          </a:p>
          <a:p>
            <a:r>
              <a:t>3. Visible leadership — "Until the C-suite models it, everything else is policy without practice."</a:t>
            </a:r>
          </a:p>
          <a:p/>
          <a:p>
            <a:r>
              <a:t>Read the closing line. Pause. Let it land.</a:t>
            </a:r>
          </a:p>
          <a:p/>
          <a:p>
            <a:r>
              <a:t>Ask: "Who in this room owns the first one?"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actions, not the table. The 30-day window is important.</a:t>
            </a:r>
          </a:p>
          <a:p/>
          <a:p>
            <a:r>
              <a:t>If the next meeting isn’t on the calendar before people leave the room, it won’t happen.</a:t>
            </a:r>
          </a:p>
          <a:p/>
          <a:p>
            <a:r>
              <a:t>Ask: "Can we get the readiness assessment scheduled before we leave today?"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within time: "That’s the core presentation. Backup material follows — research sources, assessment framework, and anticipated questions."</a:t>
            </a:r>
          </a:p>
          <a:p/>
          <a:p>
            <a:r>
              <a:t>If over time: skip to audience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the "where did you get that number?" question. The 70-85% range uses different study definitions of failure, but the pattern is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actionable appendix slide. Offer to facilitate the assessment.</a:t>
            </a:r>
          </a:p>
          <a:p/>
          <a:p>
            <a:r>
              <a:t>The value is in the conversation, not the score. When a VP rates "Experimentation Safety" as 2 and their peer rates it 4, that disagreement is more valuable than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Don’t present this — flip to it when asked.</a:t>
            </a:r>
          </a:p>
          <a:p/>
          <a:p>
            <a:r>
              <a:t>"Change management" → comes from HR. Validate, then distinguish.</a:t>
            </a:r>
          </a:p>
          <a:p>
            <a:r>
              <a:t>"Can’t slow down" → from the CTO. Reframe speed as "deliver value faster."</a:t>
            </a:r>
          </a:p>
          <a:p>
            <a:r>
              <a:t>"Budget" → easiest: costs almost nothing vs. a failed AI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The Hidden Balance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FFFFFF"/>
                </a:solidFill>
                <a:latin typeface="Helvetica Neue"/>
              </a:defRPr>
            </a:pPr>
            <a:r>
              <a:t>Why AI Initiatives Fail and What Cultural Debt Costs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BBBBFF"/>
                </a:solidFill>
                <a:latin typeface="Helvetica Neue"/>
              </a:defRPr>
            </a:pPr>
            <a:r>
              <a:t>A case for treating culture as infrastructure — not afterthought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999CC"/>
                </a:solidFill>
                <a:latin typeface="Helvetica Neue"/>
              </a:defRPr>
            </a:pPr>
            <a:r>
              <a:t>BTS-DTS Architecture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000050"/>
                </a:solidFill>
                <a:latin typeface="Helvetica Neue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1A1A"/>
                </a:solidFill>
                <a:latin typeface="Helvetica Neue"/>
              </a:defRPr>
            </a:pPr>
            <a:r>
              <a:t>AI initiatives fail at 70-85% — not from bad technology, but from cultural debt that compounds with every failed attempt.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680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The Problem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The Hidden Cost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The Path Forward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70-85%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3x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Culture before code</a:t>
                      </a:r>
                    </a:p>
                  </a:txBody>
                  <a:tcPr>
                    <a:noFill/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AI initiative failure rate across industries. Technology is rarely the cause.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Higher failure rate on second attempt when cultural debt is unaddressed.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Organizations that invest in cultural readiness see 2-3x higher adoption.</a:t>
                      </a:r>
                    </a:p>
                  </a:txBody>
                  <a:tcPr>
                    <a:noFill/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What's failing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What's compounding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What works</a:t>
                      </a:r>
                    </a:p>
                  </a:txBody>
                  <a:tcPr>
                    <a:noFill/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Not the models, not the data, not the platforms — the organization itself.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Each failure breeds cynicism, shadow processes, and passive resistance.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Psychological safety, aligned incentives, and visible leadership commitment.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888888"/>
                </a:solidFill>
                <a:latin typeface="Helvetica Neue"/>
              </a:defRPr>
            </a:pPr>
            <a:r>
              <a:t>Sources: McKinsey Global Institute (2023); Gartner AI in the Enterprise (2024); MIT CISR (2024)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000050"/>
                </a:solidFill>
                <a:latin typeface="Helvetica Neue"/>
              </a:defRPr>
            </a:pPr>
            <a:r>
              <a:t>What We'll Explore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0050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50"/>
                </a:solidFill>
                <a:latin typeface="Helvetica Neue"/>
              </a:defRPr>
            </a:pPr>
            <a:r>
              <a:t>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600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Why 70-85% of AI initiatives fail — and technology isn't the reason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011680"/>
            <a:ext cx="9601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0050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50"/>
                </a:solidFill>
                <a:latin typeface="Helvetica Neue"/>
              </a:defRPr>
            </a:pPr>
            <a:r>
              <a:t>The Root 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514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What cultural debt is, how it compounds, and why no one tracks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926080"/>
            <a:ext cx="9601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0050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50"/>
                </a:solidFill>
                <a:latin typeface="Helvetica Neue"/>
              </a:defRPr>
            </a:pPr>
            <a:r>
              <a:t>The Diagnosis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429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Five cultural patterns that predict AI failure before launch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840480"/>
            <a:ext cx="9601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0050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50"/>
                </a:solidFill>
                <a:latin typeface="Helvetica Neue"/>
              </a:defRPr>
            </a:pPr>
            <a:r>
              <a:t>The Path Forward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343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What organizations that break the cycle do differently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754880"/>
            <a:ext cx="9601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9377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0050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50"/>
                </a:solidFill>
                <a:latin typeface="Helvetica Neue"/>
              </a:defRPr>
            </a:pPr>
            <a:r>
              <a:t>The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257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Three things you can do this quarter to start paying down cultural debt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FFFFFF"/>
                </a:solidFill>
                <a:latin typeface="Helvetica Neue"/>
              </a:defRPr>
            </a:pPr>
            <a:r>
              <a:t>The Numbers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70-85% of AI Initiatives Fail — Technology Isn’t the Reason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1A1A"/>
                </a:solidFill>
                <a:latin typeface="Helvetica Neue"/>
              </a:defRPr>
            </a:pPr>
            <a:r>
              <a:t>The technology works. The organization doesn’t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000050"/>
                </a:solidFill>
                <a:latin typeface="Helvetica Neue"/>
              </a:defRPr>
            </a:pPr>
            <a:r>
              <a:t>70-85%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333AA"/>
                </a:solidFill>
                <a:latin typeface="Helvetica Neue"/>
              </a:defRPr>
            </a:pPr>
            <a:r>
              <a:t>Fail to deliver</a:t>
            </a:r>
            <a:br/>
            <a:r>
              <a:t>expected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Consistent across industries,</a:t>
            </a:r>
            <a:br/>
            <a:r>
              <a:t>company sizes, and geographies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000050"/>
                </a:solidFill>
                <a:latin typeface="Helvetica Neue"/>
              </a:defRPr>
            </a:pPr>
            <a:r>
              <a:t>&lt;15%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333AA"/>
                </a:solidFill>
                <a:latin typeface="Helvetica Neue"/>
              </a:defRPr>
            </a:pPr>
            <a:r>
              <a:t>Failures attributed</a:t>
            </a:r>
            <a:br/>
            <a:r>
              <a:t>to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Models work. Infrastructure works.</a:t>
            </a:r>
            <a:br/>
            <a:r>
              <a:t>The organization doesn’t adopt.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000050"/>
                </a:solidFill>
                <a:latin typeface="Helvetica Neue"/>
              </a:defRPr>
            </a:pPr>
            <a:r>
              <a:t>#1 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333AA"/>
                </a:solidFill>
                <a:latin typeface="Helvetica Neue"/>
              </a:defRPr>
            </a:pPr>
            <a:r>
              <a:t>Organizational and</a:t>
            </a:r>
            <a:br/>
            <a:r>
              <a:t>cultural resistance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Change resistance, skill gaps,</a:t>
            </a:r>
            <a:br/>
            <a:r>
              <a:t>misaligned incentives, lack of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000050"/>
                </a:solidFill>
                <a:latin typeface="Helvetica Neue"/>
              </a:defRPr>
            </a:pPr>
            <a:r>
              <a:t>$4.6T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333AA"/>
                </a:solidFill>
                <a:latin typeface="Helvetica Neue"/>
              </a:defRPr>
            </a:pPr>
            <a:r>
              <a:t>Projected global AI</a:t>
            </a:r>
            <a:br/>
            <a:r>
              <a:t>investment by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The majority at risk of</a:t>
            </a:r>
            <a:br/>
            <a:r>
              <a:t>delivering no return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72000"/>
            <a:ext cx="10972800" cy="64008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50"/>
                </a:solidFill>
                <a:latin typeface="Helvetica Neue"/>
              </a:defRPr>
            </a:pPr>
            <a:r>
              <a:t>The gap between AI capability and organizational readiness is where value dies.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888888"/>
                </a:solidFill>
                <a:latin typeface="Helvetica Neue"/>
              </a:defRPr>
            </a:pPr>
            <a:r>
              <a:t>Sources: McKinsey (2023); BCG AI Adoption Survey (2024); IDC AI Spending Guide (2025)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FFFFFF"/>
                </a:solidFill>
                <a:latin typeface="Helvetica Neue"/>
              </a:defRPr>
            </a:pPr>
            <a:r>
              <a:t>The 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BBBBFF"/>
                </a:solidFill>
                <a:latin typeface="Helvetica Neue"/>
              </a:defRPr>
            </a:pPr>
            <a:r>
              <a:t>What cultural debt is and how it compounds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000050"/>
                </a:solidFill>
                <a:latin typeface="Helvetica Neue"/>
              </a:defRPr>
            </a:pPr>
            <a:r>
              <a:t>Cultural Debt Compounds Like Technical Debt — But No One Tracks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5303520" cy="347472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50"/>
                </a:solidFill>
                <a:latin typeface="Helvetica Neue"/>
              </a:defRPr>
            </a:pPr>
            <a:r>
              <a:t>Technical Debt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•  Shortcuts in code that create future rework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•  Visible in code reviews, build times, bug 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•  Tracked, measured, budgeted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•  Compounds as system complexity grows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•  Fix: refactor the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303520" cy="347472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50"/>
                </a:solidFill>
                <a:latin typeface="Helvetica Neue"/>
              </a:defRPr>
            </a:pPr>
            <a:r>
              <a:t>Cultural Debt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•  Shortcuts in change management that create future resistance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•  Invisible until the next initiative stalls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•  Untracked, unmeasured, unbudgeted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•  Compounds as organizational cynicism grows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657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•  Fix: rebuild trust, realign incentives, invest in people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10972800" cy="73152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1">
                <a:solidFill>
                  <a:srgbClr val="FFFFFF"/>
                </a:solidFill>
                <a:latin typeface="Helvetica Neue"/>
              </a:defRPr>
            </a:pPr>
            <a:r>
              <a:t>Cultural debt accrues every time an organization deploys technology without investing in the humans who must adopt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Every Failed AI Initiative Makes the Next One Harder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2560320" cy="109728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7830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0050"/>
                </a:solidFill>
                <a:latin typeface="Helvetica Neue"/>
              </a:defRPr>
            </a:pPr>
            <a:r>
              <a:t>AI Initiative</a:t>
            </a:r>
            <a:br/>
            <a:r>
              <a:t>Launched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645920"/>
            <a:ext cx="2560320" cy="109728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7830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0050"/>
                </a:solidFill>
                <a:latin typeface="Helvetica Neue"/>
              </a:defRPr>
            </a:pPr>
            <a:r>
              <a:t>Adoption</a:t>
            </a:r>
            <a:br/>
            <a:r>
              <a:t>Stalls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645920"/>
            <a:ext cx="2560320" cy="109728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7830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0050"/>
                </a:solidFill>
                <a:latin typeface="Helvetica Neue"/>
              </a:defRPr>
            </a:pPr>
            <a:r>
              <a:t>Leadership</a:t>
            </a:r>
            <a:br/>
            <a:r>
              <a:t>Declares Failure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3474720"/>
            <a:ext cx="2560320" cy="109728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3611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0050"/>
                </a:solidFill>
                <a:latin typeface="Helvetica Neue"/>
              </a:defRPr>
            </a:pPr>
            <a:r>
              <a:t>Cynicism</a:t>
            </a:r>
            <a:br/>
            <a:r>
              <a:t>Deepens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3474720"/>
            <a:ext cx="2560320" cy="109728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611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0050"/>
                </a:solidFill>
                <a:latin typeface="Helvetica Neue"/>
              </a:defRPr>
            </a:pPr>
            <a:r>
              <a:t>Shadow Processes</a:t>
            </a:r>
            <a:br/>
            <a:r>
              <a:t>Harden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474720"/>
            <a:ext cx="2560320" cy="109728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36118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0050"/>
                </a:solidFill>
                <a:latin typeface="Helvetica Neue"/>
              </a:defRPr>
            </a:pPr>
            <a:r>
              <a:t>Next Initiative Faces</a:t>
            </a:r>
            <a:br/>
            <a:r>
              <a:t>Higher Resistance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00050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00050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00050"/>
                </a:solidFill>
                <a:latin typeface="Helvetica Neue"/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840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00050"/>
                </a:solidFill>
                <a:latin typeface="Helvetica Neue"/>
              </a:defRPr>
            </a:pPr>
            <a:r>
              <a:t>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840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00050"/>
                </a:solidFill>
                <a:latin typeface="Helvetica Neue"/>
              </a:defRPr>
            </a:pPr>
            <a:r>
              <a:t>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00050"/>
                </a:solidFill>
                <a:latin typeface="Helvetica Neue"/>
              </a:defRPr>
            </a:pPr>
            <a:r>
              <a:t>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46320"/>
            <a:ext cx="10972800" cy="118872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Cycle 1: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9377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Healthy skepticism — “Let’s see if this works”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Cycle 2: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19379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Active resistance — “We tried this before”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49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Cycle 3: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449824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Organizational antibodies — “AI doesn’t work here”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7058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Cycle 4: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5705856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Structural inability — the best people have stopped engaging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FFFFFF"/>
                </a:solidFill>
                <a:latin typeface="Helvetica Neue"/>
              </a:defRPr>
            </a:pPr>
            <a:r>
              <a:t>The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BBBBFF"/>
                </a:solidFill>
                <a:latin typeface="Helvetica Neue"/>
              </a:defRPr>
            </a:pPr>
            <a:r>
              <a:t>Five patterns that predict failure before launch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Five Cultural Patterns Predict AI Failure Before Launch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343400"/>
                <a:gridCol w="4343400"/>
              </a:tblGrid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What It Looks Like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What It Costs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Permission Culture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Teams wait for approval before experimenting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Innovation dies in committee; competitors move faster</a:t>
                      </a:r>
                    </a:p>
                  </a:txBody>
                  <a:tcP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Metric Misalignment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AI success measured by deployment, not adoption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Teams ship models no one uses; declare victory anyway</a:t>
                      </a:r>
                    </a:p>
                  </a:txBody>
                  <a:tcP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Invisible Middle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Middle management neither sponsors nor blocks — they wait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Initiatives lose momentum in the layer that controls execution</a:t>
                      </a:r>
                    </a:p>
                  </a:txBody>
                  <a:tcP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Skills Theater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Training programs check boxes but don’t build capability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Teams attend workshops, return to old workflows Monday morning</a:t>
                      </a:r>
                    </a:p>
                  </a:txBody>
                  <a:tcP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Trust Deficit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“AI will replace us” narrative goes unaddressed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Best talent disengages or leaves; adoption becomes coercion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48640" y="5394960"/>
            <a:ext cx="10972800" cy="64008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0050"/>
                </a:solidFill>
                <a:latin typeface="Helvetica Neue"/>
              </a:defRPr>
            </a:pPr>
            <a:r>
              <a:t>If even two of these patterns are present, the initiative is at risk before a single model is trained.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FFFFFF"/>
                </a:solidFill>
                <a:latin typeface="Helvetica Neue"/>
              </a:defRPr>
            </a:pPr>
            <a:r>
              <a:t>The Path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BBBBFF"/>
                </a:solidFill>
                <a:latin typeface="Helvetica Neue"/>
              </a:defRPr>
            </a:pPr>
            <a:r>
              <a:t>What organizations that succeed do differently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000050"/>
                </a:solidFill>
                <a:latin typeface="Helvetica Neue"/>
              </a:defRPr>
            </a:pPr>
            <a:r>
              <a:t>Organizations That Break the Cycle Invest in Culture Before Code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86868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What They Do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Why It Works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Psychological safety first —</a:t>
                      </a:r>
                    </a:p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create space for experimentation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People adopt what they help build; fear</a:t>
                      </a:r>
                    </a:p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of failure kills adoption faster than bad tech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Google Project Aristotle: psychological</a:t>
                      </a:r>
                    </a:p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safety is #1 predictor of team effectiveness</a:t>
                      </a:r>
                    </a:p>
                  </a:txBody>
                  <a:tcPr>
                    <a:noFill/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Aligned incentives — measure</a:t>
                      </a:r>
                    </a:p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adoption and impact, not deployment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What gets measured gets done; if the metric</a:t>
                      </a:r>
                    </a:p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is “model deployed” nobody owns adoption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Microsoft AI transformation: shifted KPIs</a:t>
                      </a:r>
                    </a:p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from deployment to outcome — adoption +40%</a:t>
                      </a:r>
                    </a:p>
                  </a:txBody>
                  <a:tcPr>
                    <a:noFill/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Visible leadership commitment —</a:t>
                      </a:r>
                    </a:p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leaders use the tools publicly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Permission flows downward; if the VP doesn’t</a:t>
                      </a:r>
                    </a:p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use it, the team won’t either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MIT CISR: executive engagement is the</a:t>
                      </a:r>
                    </a:p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strongest predictor of transformation success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CC"/>
                </a:solidFill>
                <a:latin typeface="Helvetica Neue"/>
              </a:defRPr>
            </a:pPr>
            <a:r>
              <a:t>The common thread: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Helvetica Neue"/>
              </a:defRPr>
            </a:pPr>
            <a:r>
              <a:t>They treat culture as infrastructure — something you build and maintain — not as a side effect of technology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0050"/>
                </a:solidFill>
                <a:latin typeface="Helvetica Neue"/>
              </a:defRPr>
            </a:pPr>
            <a:r>
              <a:t>The Shift Requires People, Process, and Technology — In That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333AA"/>
                </a:solidFill>
                <a:latin typeface="Helvetica Neue"/>
              </a:defRPr>
            </a:pPr>
            <a:r>
              <a:t>Most organizations invest in reverse order. That sequence is the source of cultural debt.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474720" cy="411480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50"/>
                </a:solidFill>
                <a:latin typeface="Helvetica Neue"/>
              </a:defRPr>
            </a:pPr>
            <a:r>
              <a:t>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0050"/>
                </a:solidFill>
                <a:latin typeface="Helvetica Neue"/>
              </a:defRPr>
            </a:pPr>
            <a:r>
              <a:t>• From: AI as threat → To: AI as multiplier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  Invest in capability, not just training. Redefine roles around Human +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0050"/>
                </a:solidFill>
                <a:latin typeface="Helvetica Neue"/>
              </a:defRPr>
            </a:pPr>
            <a:r>
              <a:t>• From: Skills theater → To: Apprenticeship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  Learn by doing, not by slide deck. Build internal multipliers.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474720" cy="411480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50"/>
                </a:solidFill>
                <a:latin typeface="Helvetica Neue"/>
              </a:defRPr>
            </a:pPr>
            <a: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65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0050"/>
                </a:solidFill>
                <a:latin typeface="Helvetica Neue"/>
              </a:defRPr>
            </a:pPr>
            <a:r>
              <a:t>• From: Deploy then adopt → To: Co-design then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  Embed adoption into delivery. Measure outcomes, not outputs.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880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0050"/>
                </a:solidFill>
                <a:latin typeface="Helvetica Neue"/>
              </a:defRPr>
            </a:pPr>
            <a:r>
              <a:t>• From: IT-led → To: Business-led, IT-enabled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91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  Business owns the outcome. Technology teams enable.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371600"/>
            <a:ext cx="3474720" cy="411480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50"/>
                </a:solidFill>
                <a:latin typeface="Helvetica Neue"/>
              </a:defRPr>
            </a:pPr>
            <a:r>
              <a:t>Technology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965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0050"/>
                </a:solidFill>
                <a:latin typeface="Helvetica Neue"/>
              </a:defRPr>
            </a:pPr>
            <a:r>
              <a:t>• From: Build it, they will come → To: Build what they asked for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377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  Meet people where they are. Integrate into existing workflows.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880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0050"/>
                </a:solidFill>
                <a:latin typeface="Helvetica Neue"/>
              </a:defRPr>
            </a:pPr>
            <a:r>
              <a:t>• From: Centralized tools → To: Contextual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291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  Responsible AI at platform level. Teams focus on value.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Helvetica Neue"/>
              </a:defRPr>
            </a:pPr>
            <a:r>
              <a:t>Start with People (Q1)  |  Redesign Process around adoption (Q2)  |  Then select Technology (Q3)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FFFFFF"/>
                </a:solidFill>
                <a:latin typeface="Helvetica Neue"/>
              </a:defRPr>
            </a:pPr>
            <a:r>
              <a:t>The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BBBBFF"/>
                </a:solidFill>
                <a:latin typeface="Helvetica Neue"/>
              </a:defRPr>
            </a:pPr>
            <a:r>
              <a:t>Three things you can do this quarter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Cultural Debt Grows Quarterly — Every Delay Compounds the Cost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560320" cy="320040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0050"/>
                </a:solidFill>
                <a:latin typeface="Helvetica Neue"/>
              </a:defRPr>
            </a:pPr>
            <a:r>
              <a:t>Quarter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00050"/>
                </a:solidFill>
                <a:latin typeface="Helvetica Neue"/>
              </a:defRPr>
            </a:pPr>
            <a:r>
              <a:t>Skepticism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1A1A1A"/>
                </a:solidFill>
                <a:latin typeface="Helvetica Neue"/>
              </a:defRPr>
            </a:pPr>
            <a:r>
              <a:t>“Let’s wait and see”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333AA"/>
                </a:solidFill>
                <a:latin typeface="Helvetica Neue"/>
              </a:defRPr>
            </a:pPr>
            <a:r>
              <a:t>Low cost to address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71600"/>
            <a:ext cx="2560320" cy="320040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0050"/>
                </a:solidFill>
                <a:latin typeface="Helvetica Neue"/>
              </a:defRPr>
            </a:pPr>
            <a:r>
              <a:t>Quarter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00050"/>
                </a:solidFill>
                <a:latin typeface="Helvetica Neue"/>
              </a:defRPr>
            </a:pPr>
            <a:r>
              <a:t>Resistance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1A1A1A"/>
                </a:solidFill>
                <a:latin typeface="Helvetica Neue"/>
              </a:defRPr>
            </a:pPr>
            <a:r>
              <a:t>“This didn’t work last time”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333AA"/>
                </a:solidFill>
                <a:latin typeface="Helvetica Neue"/>
              </a:defRPr>
            </a:pPr>
            <a:r>
              <a:t>Moderate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560320" cy="32004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0050"/>
                </a:solidFill>
                <a:latin typeface="Helvetica Neue"/>
              </a:defRPr>
            </a:pPr>
            <a:r>
              <a:t>Quarter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00050"/>
                </a:solidFill>
                <a:latin typeface="Helvetica Neue"/>
              </a:defRPr>
            </a:pPr>
            <a:r>
              <a:t>Antibodies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1A1A1A"/>
                </a:solidFill>
                <a:latin typeface="Helvetica Neue"/>
              </a:defRPr>
            </a:pPr>
            <a:r>
              <a:t>“AI isn’t for us”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333AA"/>
                </a:solidFill>
                <a:latin typeface="Helvetica Neue"/>
              </a:defRPr>
            </a:pPr>
            <a:r>
              <a:t>High cost — requires visible reset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371600"/>
            <a:ext cx="2560320" cy="3200400"/>
          </a:xfrm>
          <a:prstGeom prst="rect">
            <a:avLst/>
          </a:prstGeom>
          <a:solidFill>
            <a:srgbClr val="FFC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0050"/>
                </a:solidFill>
                <a:latin typeface="Helvetica Neue"/>
              </a:defRPr>
            </a:pPr>
            <a:r>
              <a:t>Year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00050"/>
                </a:solidFill>
                <a:latin typeface="Helvetica Neue"/>
              </a:defRPr>
            </a:pPr>
            <a:r>
              <a:t>Structural Lock-in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1A1A1A"/>
                </a:solidFill>
                <a:latin typeface="Helvetica Neue"/>
              </a:defRPr>
            </a:pPr>
            <a:r>
              <a:t>The best people stopped engaging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333AA"/>
                </a:solidFill>
                <a:latin typeface="Helvetica Neue"/>
              </a:defRPr>
            </a:pPr>
            <a:r>
              <a:t>Requires org redesign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000050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000050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000050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029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999CC"/>
                </a:solidFill>
                <a:latin typeface="Helvetica Neue"/>
              </a:defRPr>
            </a:pPr>
            <a:r>
              <a:t>The math is simple: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Helvetica Neue"/>
              </a:defRPr>
            </a:pPr>
            <a:r>
              <a:t>Addressing cultural debt in Q1 costs a leadership conversation. Addressing it in Year 2 costs a transformation program.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Three Actions to Start Paying Down Cultural Debt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132588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50"/>
                </a:solidFill>
                <a:latin typeface="Helvetica Neue"/>
              </a:defRPr>
            </a:pPr>
            <a:r>
              <a:t>1. Audit the Cultural Balance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Run a cultural readiness assessment before the next AI investment. Name the debt.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Survey team sentiment on AI. Map the last 3 failed initiatives. Identify failure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333AA"/>
                </a:solidFill>
                <a:latin typeface="Helvetica Neue"/>
              </a:defRPr>
            </a:pPr>
            <a:r>
              <a:t>Executive Sponsor + HR  |  Within 30 days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10972800" cy="132588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50"/>
                </a:solidFill>
                <a:latin typeface="Helvetica Neue"/>
              </a:defRPr>
            </a:pPr>
            <a:r>
              <a:t>2. Realign the Scorecard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Change how you measure AI success from “deployed” to “adopted and delivering value.”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Rewrite KPIs for the current AI portfolio. Add adoption metrics. Remove vanity metrics.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333AA"/>
                </a:solidFill>
                <a:latin typeface="Helvetica Neue"/>
              </a:defRPr>
            </a:pPr>
            <a:r>
              <a:t>Business Unit Leads  |  Within 30 days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14800"/>
            <a:ext cx="10972800" cy="132588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50"/>
                </a:solidFill>
                <a:latin typeface="Helvetica Neue"/>
              </a:defRPr>
            </a:pPr>
            <a:r>
              <a:t>3. Make Leadership 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Executives use the tools, share what they learned, and admit what didn’t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One executive shares an AI experiment (success or failure) at the next all-hands. Publicly.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333AA"/>
                </a:solidFill>
                <a:latin typeface="Helvetica Neue"/>
              </a:defRPr>
            </a:pPr>
            <a:r>
              <a:t>C-Suite  |  Next all-hands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669280"/>
            <a:ext cx="10972800" cy="50292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FFFFFF"/>
                </a:solidFill>
                <a:latin typeface="Helvetica Neue"/>
              </a:defRPr>
            </a:pPr>
            <a:r>
              <a:t>The question is not whether you’ve invested in AI. The question is whether you’ve invested in the human system required to make it 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000050"/>
                </a:solidFill>
                <a:latin typeface="Helvetica Neue"/>
              </a:defRPr>
            </a:pPr>
            <a:r>
              <a:t>Next Steps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3200400"/>
                <a:gridCol w="1828800"/>
              </a:tblGrid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By When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Circulate this deck and the cultural debt framework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[Presenter]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This week</a:t>
                      </a:r>
                    </a:p>
                  </a:txBody>
                  <a:tcP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Run cultural readiness assessment on current AI portfolio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[Executive Sponsor] + HR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Within 30 days</a:t>
                      </a:r>
                    </a:p>
                  </a:txBody>
                  <a:tcP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Audit AI program KPIs — flag any measuring deployment without adoption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Business Unit Leads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Within 30 days</a:t>
                      </a:r>
                    </a:p>
                  </a:txBody>
                  <a:tcP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Schedule leadership AI “show and tell”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[C-Suite Champion]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Next all-hands</a:t>
                      </a:r>
                    </a:p>
                  </a:txBody>
                  <a:tcP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Reconvene to review findings and agree on debt paydown plan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[Presenter] + Steering Committee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45 days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FFFFFF"/>
                </a:solidFill>
                <a:latin typeface="Helvetica Neue"/>
              </a:defRPr>
            </a:pPr>
            <a:r>
              <a:t>Appendix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The Research Behind the 70-85% Failure Rate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943600"/>
                <a:gridCol w="1828800"/>
              </a:tblGrid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McKinsey Global Institute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70% of companies report AI transformations fail to reach stated goals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2023</a:t>
                      </a:r>
                    </a:p>
                  </a:txBody>
                  <a:tcP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Gartner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85% of AI projects deliver erroneous outcomes due to bias in data, algorithms, or teams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2024</a:t>
                      </a:r>
                    </a:p>
                  </a:txBody>
                  <a:tcP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BCG &amp; MIT Sloan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Only 10% of companies report significant financial benefit from AI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2024</a:t>
                      </a:r>
                    </a:p>
                  </a:txBody>
                  <a:tcP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Rand Corporation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AI projects fail primarily due to organizational factors, not technology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2024</a:t>
                      </a:r>
                    </a:p>
                  </a:txBody>
                  <a:tcP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Deloitte State of AI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"Cultural readiness" as top AI barrier increased from 32% to 47% YoY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2025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Cultural Debt Assessment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1A1A1A"/>
                </a:solidFill>
                <a:latin typeface="Helvetica Neue"/>
              </a:defRPr>
            </a:pPr>
            <a:r>
              <a:t>Rate your organization 1-5 on each dimension. A score below 15 signals significant cultural debt.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1 (High Debt)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5 (Low Debt)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Experimentation Safety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Failures are punished or hidden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Failures are shared and learned from openly</a:t>
                      </a: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Incentive Alignment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AI success = model deployed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AI success = business outcome improved</a:t>
                      </a: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Middle Management Buy-in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Managers wait for direction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Managers actively sponsor experiments</a:t>
                      </a: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Skill Building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Training is annual, classroom-based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Learning is continuous, embedded in work</a:t>
                      </a: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Trust Level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“AI will replace us” is dominant narrative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“AI will make us better” is believed and evidenced</a:t>
                      </a: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Leadership Visibility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Leaders talk about AI but don’t use it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Leaders demo their own AI usage regularly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28822"/>
                </a:solidFill>
                <a:latin typeface="Helvetica Neue"/>
              </a:defRPr>
            </a:pPr>
            <a:r>
              <a:t>25-30: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Cultural infrastructure is strong — invest in technology with confidence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AA"/>
                </a:solidFill>
                <a:latin typeface="Helvetica Neue"/>
              </a:defRPr>
            </a:pPr>
            <a:r>
              <a:t>18-24: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0749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Moderate debt — address gaps before scaling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C8800"/>
                </a:solidFill>
                <a:latin typeface="Helvetica Neue"/>
              </a:defRPr>
            </a:pPr>
            <a:r>
              <a:t>12-17: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3949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Significant debt — pause technology investment, invest in people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1499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C3333"/>
                </a:solidFill>
                <a:latin typeface="Helvetica Neue"/>
              </a:defRPr>
            </a:pPr>
            <a:r>
              <a:t>6-11: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714999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Critical debt — organizational redesign needed before AI can succeed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Anticipated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4572000" cy="82296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“Isn’t this just change management?”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9601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Change management addresses a specific initiative. Cultural debt is the accumulated residue of every initiative. If change management were sufficient, the failure rate wouldn’t be 70-85%.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4572000" cy="82296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“We can’t afford to slow down.”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9659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Every initiative launched into a high-debt org has a 70-85% chance of failing and making the next one harder. One quarter of assessment is cheaper than failing a third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4572000" cy="82296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“How do we measure cultural debt?”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9718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Track adoption rates, not deployment counts. Survey sentiment quarterly. Measure time-to-adoption, not time-to-production. Use the assessment framework in the appendix.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4572000" cy="82296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“Whose budget does this come from?”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9776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The assessment costs almost nothing (survey + facilitated conversation). Interventions use existing budgets redirected, not new spend.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4572000" cy="82296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“We have executive sponsorship.”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983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Sponsorship that lives in a steering committee but doesn’t reach the teams doing the work is cultural debt in disguise. The question is whether it’s visible and active.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