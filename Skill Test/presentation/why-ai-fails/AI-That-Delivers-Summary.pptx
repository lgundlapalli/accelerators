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Presenter: Joseph Grenny (Author &amp; Cofounder, Crucial Learning) and JaeLynn Williams (Advisor &amp; Former Executive).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headline: '95% of GenAI pilots are failing — not because the models are wrong, but because the human system around them doesn't change.' The Air Methods story is the opening case study: a routing AI that correctly identified a closer base, but crews never adopted it. One conversation could have fixed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finding: the most behaviorally agile teams are 12x faster, 6x more consistent, and 3x more engaged than the least agile. This is the organizational capability gap that determines who wins the AI race.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loan underwriting example to make human failure modes concrete. Ask the audience: 'Which of these four happens in your organization when AI delivers a recommendation that contradicts past practice?'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slide. Let the question sit. Then reframe: 'This isn't a technology question. It's a leadership question.' AI exposes the organizational habits — silence, avoidance, workarounds — that were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column. The stats are from Crucial Learning's study of 1,700 professionals. Key point: these are learnable behaviors — not personality traits. Organizations can deliberately build them through modeling, coaching, and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case studies is from 3M Health Information Systems (except the last, Air Methods). Walk across: 'In every case the model worked. The failure was human.' Use the failure type label to anchor: visibility, adoption, accountability,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quadrant. This tool scores any AI initiative from 0–8. A score of 0-2 = serious execution risk. 3-5 = mixed, targeted intervention needed. 6-8 = healthy, maintain. The instruction: start with the lowest score, not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action slide. For each gap, the fix is a conversation — not a technology update. Walk through each row and ask: 'Which of these is present in your current AI initiatives?' The bottom tagline is the closing thesis of the entire session.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opening question: 'The model was right. The outcome was wrong. Where is that happening in your organization right now?' End with the diagnostic as the next step — something they can do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10"/>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0"/>
            <a:ext cx="11183112" cy="1280160"/>
          </a:xfrm>
          <a:prstGeom prst="rect">
            <a:avLst/>
          </a:prstGeom>
          <a:noFill/>
        </p:spPr>
        <p:txBody>
          <a:bodyPr wrap="square">
            <a:spAutoFit/>
          </a:bodyPr>
          <a:lstStyle/>
          <a:p>
            <a:pPr algn="l"/>
            <a:r>
              <a:rPr sz="5200" b="1" i="0">
                <a:solidFill>
                  <a:srgbClr val="FFFFFF"/>
                </a:solidFill>
              </a:rPr>
              <a:t>AI THAT DELIVERS</a:t>
            </a:r>
          </a:p>
        </p:txBody>
      </p:sp>
      <p:sp>
        <p:nvSpPr>
          <p:cNvPr id="4" name="TextBox 3"/>
          <p:cNvSpPr txBox="1"/>
          <p:nvPr/>
        </p:nvSpPr>
        <p:spPr>
          <a:xfrm>
            <a:off x="502920" y="2743200"/>
            <a:ext cx="11183112" cy="640080"/>
          </a:xfrm>
          <a:prstGeom prst="rect">
            <a:avLst/>
          </a:prstGeom>
          <a:noFill/>
        </p:spPr>
        <p:txBody>
          <a:bodyPr wrap="square">
            <a:spAutoFit/>
          </a:bodyPr>
          <a:lstStyle/>
          <a:p>
            <a:pPr algn="l"/>
            <a:r>
              <a:rPr sz="2000" b="1" i="0">
                <a:solidFill>
                  <a:srgbClr val="CC0000"/>
                </a:solidFill>
              </a:rPr>
              <a:t>ALIGNING TECHNOLOGY WITH HUMAN BEHAVIOR</a:t>
            </a:r>
          </a:p>
        </p:txBody>
      </p:sp>
      <p:sp>
        <p:nvSpPr>
          <p:cNvPr id="5" name="Rectangle 4"/>
          <p:cNvSpPr/>
          <p:nvPr/>
        </p:nvSpPr>
        <p:spPr>
          <a:xfrm>
            <a:off x="502920" y="3520440"/>
            <a:ext cx="54864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703320"/>
            <a:ext cx="6400800" cy="457200"/>
          </a:xfrm>
          <a:prstGeom prst="rect">
            <a:avLst/>
          </a:prstGeom>
          <a:noFill/>
        </p:spPr>
        <p:txBody>
          <a:bodyPr wrap="square">
            <a:spAutoFit/>
          </a:bodyPr>
          <a:lstStyle/>
          <a:p>
            <a:pPr algn="l"/>
            <a:r>
              <a:rPr sz="1600" b="0" i="0">
                <a:solidFill>
                  <a:srgbClr val="D0D0D0"/>
                </a:solidFill>
              </a:rPr>
              <a:t>Joseph Grenny &amp; JaeLynn Williams  |  Crucial Learning</a:t>
            </a:r>
          </a:p>
        </p:txBody>
      </p:sp>
      <p:sp>
        <p:nvSpPr>
          <p:cNvPr id="7" name="TextBox 6"/>
          <p:cNvSpPr txBox="1"/>
          <p:nvPr/>
        </p:nvSpPr>
        <p:spPr>
          <a:xfrm>
            <a:off x="502920" y="6217920"/>
            <a:ext cx="11183112" cy="411480"/>
          </a:xfrm>
          <a:prstGeom prst="rect">
            <a:avLst/>
          </a:prstGeom>
          <a:noFill/>
        </p:spPr>
        <p:txBody>
          <a:bodyPr wrap="square">
            <a:spAutoFit/>
          </a:bodyPr>
          <a:lstStyle/>
          <a:p>
            <a:pPr algn="l"/>
            <a:r>
              <a:rPr sz="1100" b="0" i="1">
                <a:solidFill>
                  <a:srgbClr val="555555"/>
                </a:solidFill>
              </a:rPr>
              <a:t>Source: AI Transformation — Crucial Conversations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822960"/>
          </a:xfrm>
          <a:prstGeom prst="rect">
            <a:avLst/>
          </a:prstGeom>
          <a:noFill/>
        </p:spPr>
        <p:txBody>
          <a:bodyPr wrap="square">
            <a:spAutoFit/>
          </a:bodyPr>
          <a:lstStyle/>
          <a:p>
            <a:pPr algn="l"/>
            <a:r>
              <a:rPr sz="3400" b="1" i="0">
                <a:solidFill>
                  <a:srgbClr val="101010"/>
                </a:solidFill>
              </a:rPr>
              <a:t>95% of Generative AI Pilots Are Failing</a:t>
            </a:r>
          </a:p>
        </p:txBody>
      </p:sp>
      <p:sp>
        <p:nvSpPr>
          <p:cNvPr id="4" name="TextBox 3"/>
          <p:cNvSpPr txBox="1"/>
          <p:nvPr/>
        </p:nvSpPr>
        <p:spPr>
          <a:xfrm>
            <a:off x="502920" y="1051560"/>
            <a:ext cx="11183112" cy="502920"/>
          </a:xfrm>
          <a:prstGeom prst="rect">
            <a:avLst/>
          </a:prstGeom>
          <a:noFill/>
        </p:spPr>
        <p:txBody>
          <a:bodyPr wrap="square">
            <a:spAutoFit/>
          </a:bodyPr>
          <a:lstStyle/>
          <a:p>
            <a:pPr algn="l"/>
            <a:r>
              <a:rPr sz="1800" b="0" i="1">
                <a:solidFill>
                  <a:srgbClr val="555555"/>
                </a:solidFill>
              </a:rPr>
              <a:t>The technology works. The human system doesn't change.</a:t>
            </a:r>
          </a:p>
        </p:txBody>
      </p:sp>
      <p:sp>
        <p:nvSpPr>
          <p:cNvPr id="5" name="Rectangle 4"/>
          <p:cNvSpPr/>
          <p:nvPr/>
        </p:nvSpPr>
        <p:spPr>
          <a:xfrm>
            <a:off x="502920" y="1691640"/>
            <a:ext cx="5303520" cy="347472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4846320" cy="3291840"/>
          </a:xfrm>
          <a:prstGeom prst="rect">
            <a:avLst/>
          </a:prstGeom>
          <a:noFill/>
        </p:spPr>
        <p:txBody>
          <a:bodyPr wrap="square">
            <a:spAutoFit/>
          </a:bodyPr>
          <a:lstStyle/>
          <a:p>
            <a:pPr algn="l"/>
            <a:r>
              <a:rPr sz="1500" b="1">
                <a:solidFill>
                  <a:srgbClr val="101010"/>
                </a:solidFill>
              </a:rPr>
              <a:t>"The model was right.  The outcome was wrong."</a:t>
            </a:r>
          </a:p>
          <a:p>
            <a:pPr algn="l"/>
            <a:r>
              <a:rPr sz="1500" b="0">
                <a:solidFill>
                  <a:srgbClr val="101010"/>
                </a:solidFill>
              </a:rPr>
              <a:t/>
            </a:r>
          </a:p>
          <a:p>
            <a:pPr algn="l"/>
            <a:r>
              <a:rPr sz="1500" b="0">
                <a:solidFill>
                  <a:srgbClr val="555555"/>
                </a:solidFill>
              </a:rPr>
              <a:t>Air Methods deployed an AI routing model to reduce crew drive time.</a:t>
            </a:r>
          </a:p>
          <a:p>
            <a:pPr algn="l"/>
            <a:r>
              <a:rPr sz="1500" b="0">
                <a:solidFill>
                  <a:srgbClr val="555555"/>
                </a:solidFill>
              </a:rPr>
              <a:t>Crews kept driving to their assigned base — 75 miles away —</a:t>
            </a:r>
          </a:p>
          <a:p>
            <a:pPr algn="l"/>
            <a:r>
              <a:rPr sz="1500" b="0">
                <a:solidFill>
                  <a:srgbClr val="555555"/>
                </a:solidFill>
              </a:rPr>
              <a:t>bypassing a nearby base 8 miles from home.</a:t>
            </a:r>
          </a:p>
          <a:p>
            <a:pPr algn="l"/>
            <a:r>
              <a:rPr sz="1500" b="0">
                <a:solidFill>
                  <a:srgbClr val="101010"/>
                </a:solidFill>
              </a:rPr>
              <a:t/>
            </a:r>
          </a:p>
          <a:p>
            <a:pPr algn="l"/>
            <a:r>
              <a:rPr sz="1500" b="0">
                <a:solidFill>
                  <a:srgbClr val="555555"/>
                </a:solidFill>
              </a:rPr>
              <a:t>The model flagged a better route. Nobody acted on it.</a:t>
            </a:r>
          </a:p>
          <a:p>
            <a:pPr algn="l"/>
            <a:r>
              <a:rPr sz="1500" b="0">
                <a:solidFill>
                  <a:srgbClr val="555555"/>
                </a:solidFill>
              </a:rPr>
              <a:t>The conversation never happened.</a:t>
            </a:r>
          </a:p>
        </p:txBody>
      </p:sp>
      <p:sp>
        <p:nvSpPr>
          <p:cNvPr id="7" name="Rectangle 6"/>
          <p:cNvSpPr/>
          <p:nvPr/>
        </p:nvSpPr>
        <p:spPr>
          <a:xfrm>
            <a:off x="6583680" y="1691640"/>
            <a:ext cx="5029200" cy="14630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783080"/>
            <a:ext cx="5029200" cy="822960"/>
          </a:xfrm>
          <a:prstGeom prst="rect">
            <a:avLst/>
          </a:prstGeom>
          <a:noFill/>
        </p:spPr>
        <p:txBody>
          <a:bodyPr wrap="square">
            <a:spAutoFit/>
          </a:bodyPr>
          <a:lstStyle/>
          <a:p>
            <a:pPr algn="ctr"/>
            <a:r>
              <a:rPr sz="6400" b="1" i="0">
                <a:solidFill>
                  <a:srgbClr val="FFFFFF"/>
                </a:solidFill>
              </a:rPr>
              <a:t>95%</a:t>
            </a:r>
          </a:p>
        </p:txBody>
      </p:sp>
      <p:sp>
        <p:nvSpPr>
          <p:cNvPr id="9" name="TextBox 8"/>
          <p:cNvSpPr txBox="1"/>
          <p:nvPr/>
        </p:nvSpPr>
        <p:spPr>
          <a:xfrm>
            <a:off x="6583680" y="2606040"/>
            <a:ext cx="5029200" cy="457200"/>
          </a:xfrm>
          <a:prstGeom prst="rect">
            <a:avLst/>
          </a:prstGeom>
          <a:noFill/>
        </p:spPr>
        <p:txBody>
          <a:bodyPr wrap="square">
            <a:spAutoFit/>
          </a:bodyPr>
          <a:lstStyle/>
          <a:p>
            <a:pPr algn="ctr"/>
            <a:r>
              <a:rPr sz="1400" b="1" i="0">
                <a:solidFill>
                  <a:srgbClr val="FFFFFF"/>
                </a:solidFill>
              </a:rPr>
              <a:t>of GenAI pilots at companies are failing</a:t>
            </a:r>
          </a:p>
        </p:txBody>
      </p:sp>
      <p:sp>
        <p:nvSpPr>
          <p:cNvPr id="10" name="TextBox 9"/>
          <p:cNvSpPr txBox="1"/>
          <p:nvPr/>
        </p:nvSpPr>
        <p:spPr>
          <a:xfrm>
            <a:off x="6583680" y="3017520"/>
            <a:ext cx="5029200" cy="320040"/>
          </a:xfrm>
          <a:prstGeom prst="rect">
            <a:avLst/>
          </a:prstGeom>
          <a:noFill/>
        </p:spPr>
        <p:txBody>
          <a:bodyPr wrap="square">
            <a:spAutoFit/>
          </a:bodyPr>
          <a:lstStyle/>
          <a:p>
            <a:pPr algn="ctr"/>
            <a:r>
              <a:rPr sz="1100" b="0" i="1">
                <a:solidFill>
                  <a:srgbClr val="FFFFFF"/>
                </a:solidFill>
              </a:rPr>
              <a:t>— MIT / Fortune (Aug 2025)</a:t>
            </a:r>
          </a:p>
        </p:txBody>
      </p:sp>
      <p:sp>
        <p:nvSpPr>
          <p:cNvPr id="11" name="Rectangle 10"/>
          <p:cNvSpPr/>
          <p:nvPr/>
        </p:nvSpPr>
        <p:spPr>
          <a:xfrm>
            <a:off x="6583680" y="3337560"/>
            <a:ext cx="5029200" cy="1828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3429000"/>
            <a:ext cx="4663440" cy="1691640"/>
          </a:xfrm>
          <a:prstGeom prst="rect">
            <a:avLst/>
          </a:prstGeom>
          <a:noFill/>
        </p:spPr>
        <p:txBody>
          <a:bodyPr wrap="square">
            <a:spAutoFit/>
          </a:bodyPr>
          <a:lstStyle/>
          <a:p>
            <a:pPr algn="l"/>
            <a:r>
              <a:rPr sz="1300" b="1">
                <a:solidFill>
                  <a:srgbClr val="101010"/>
                </a:solidFill>
              </a:rPr>
              <a:t>AI is deployed as two different things:</a:t>
            </a:r>
          </a:p>
          <a:p>
            <a:pPr algn="l"/>
            <a:r>
              <a:rPr sz="1300" b="0">
                <a:solidFill>
                  <a:srgbClr val="101010"/>
                </a:solidFill>
              </a:rPr>
              <a:t/>
            </a:r>
          </a:p>
          <a:p>
            <a:pPr algn="l"/>
            <a:r>
              <a:rPr sz="1300" b="0">
                <a:solidFill>
                  <a:srgbClr val="555555"/>
                </a:solidFill>
              </a:rPr>
              <a:t>• Productivity tool  (email, slides, summaries)</a:t>
            </a:r>
          </a:p>
          <a:p>
            <a:pPr algn="l"/>
            <a:r>
              <a:rPr sz="1300" b="0">
                <a:solidFill>
                  <a:srgbClr val="555555"/>
                </a:solidFill>
              </a:rPr>
              <a:t>• Business transformation tool  (decisions, predictions, redesigned workflows)</a:t>
            </a:r>
          </a:p>
          <a:p>
            <a:pPr algn="l"/>
            <a:r>
              <a:rPr sz="1300" b="0">
                <a:solidFill>
                  <a:srgbClr val="101010"/>
                </a:solidFill>
              </a:rPr>
              <a:t/>
            </a:r>
          </a:p>
          <a:p>
            <a:pPr algn="l"/>
            <a:r>
              <a:rPr sz="1300" b="1">
                <a:solidFill>
                  <a:srgbClr val="CC0000"/>
                </a:solidFill>
              </a:rPr>
              <a:t>The gap between the two is behavioral — not technical.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010"/>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4572000" cy="1371600"/>
          </a:xfrm>
          <a:prstGeom prst="rect">
            <a:avLst/>
          </a:prstGeom>
          <a:noFill/>
        </p:spPr>
        <p:txBody>
          <a:bodyPr wrap="square">
            <a:spAutoFit/>
          </a:bodyPr>
          <a:lstStyle/>
          <a:p>
            <a:pPr algn="l"/>
            <a:r>
              <a:rPr sz="3800" b="1" i="0">
                <a:solidFill>
                  <a:srgbClr val="FFFFFF"/>
                </a:solidFill>
              </a:rPr>
              <a:t>BEHAVIORAL
AGILITY</a:t>
            </a:r>
          </a:p>
        </p:txBody>
      </p:sp>
      <p:sp>
        <p:nvSpPr>
          <p:cNvPr id="4" name="TextBox 3"/>
          <p:cNvSpPr txBox="1"/>
          <p:nvPr/>
        </p:nvSpPr>
        <p:spPr>
          <a:xfrm>
            <a:off x="502920" y="1828800"/>
            <a:ext cx="5303520" cy="2011680"/>
          </a:xfrm>
          <a:prstGeom prst="rect">
            <a:avLst/>
          </a:prstGeom>
          <a:noFill/>
        </p:spPr>
        <p:txBody>
          <a:bodyPr wrap="square">
            <a:spAutoFit/>
          </a:bodyPr>
          <a:lstStyle/>
          <a:p>
            <a:pPr algn="l"/>
            <a:r>
              <a:rPr sz="2000" b="0" i="1">
                <a:solidFill>
                  <a:srgbClr val="FFFFFF"/>
                </a:solidFill>
              </a:rPr>
              <a:t>The health of a relationship, team, or organization
is a function of the average lag time between
identifying and discussing problems.</a:t>
            </a:r>
          </a:p>
        </p:txBody>
      </p:sp>
      <p:sp>
        <p:nvSpPr>
          <p:cNvPr id="5" name="TextBox 4"/>
          <p:cNvSpPr txBox="1"/>
          <p:nvPr/>
        </p:nvSpPr>
        <p:spPr>
          <a:xfrm>
            <a:off x="502920" y="3840480"/>
            <a:ext cx="5303520" cy="914400"/>
          </a:xfrm>
          <a:prstGeom prst="rect">
            <a:avLst/>
          </a:prstGeom>
          <a:noFill/>
        </p:spPr>
        <p:txBody>
          <a:bodyPr wrap="square">
            <a:spAutoFit/>
          </a:bodyPr>
          <a:lstStyle/>
          <a:p>
            <a:pPr algn="l"/>
            <a:r>
              <a:rPr sz="1600" b="0" i="0">
                <a:solidFill>
                  <a:srgbClr val="D0D0D0"/>
                </a:solidFill>
              </a:rPr>
              <a:t>Organizations that act fast on new ideas consistently outperform those that don't.</a:t>
            </a:r>
          </a:p>
        </p:txBody>
      </p:sp>
      <p:sp>
        <p:nvSpPr>
          <p:cNvPr id="6" name="Rectangle 5"/>
          <p:cNvSpPr/>
          <p:nvPr/>
        </p:nvSpPr>
        <p:spPr>
          <a:xfrm>
            <a:off x="6400800" y="457200"/>
            <a:ext cx="5303520" cy="5669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640080"/>
            <a:ext cx="4937760" cy="411480"/>
          </a:xfrm>
          <a:prstGeom prst="rect">
            <a:avLst/>
          </a:prstGeom>
          <a:noFill/>
        </p:spPr>
        <p:txBody>
          <a:bodyPr wrap="square">
            <a:spAutoFit/>
          </a:bodyPr>
          <a:lstStyle/>
          <a:p>
            <a:pPr algn="ctr"/>
            <a:r>
              <a:rPr sz="1300" b="0" i="1">
                <a:solidFill>
                  <a:srgbClr val="D0D0D0"/>
                </a:solidFill>
              </a:rPr>
              <a:t>Study of 1,700+ professionals</a:t>
            </a:r>
          </a:p>
        </p:txBody>
      </p:sp>
      <p:sp>
        <p:nvSpPr>
          <p:cNvPr id="8" name="TextBox 7"/>
          <p:cNvSpPr txBox="1"/>
          <p:nvPr/>
        </p:nvSpPr>
        <p:spPr>
          <a:xfrm>
            <a:off x="6583680" y="1188720"/>
            <a:ext cx="2011680" cy="1005840"/>
          </a:xfrm>
          <a:prstGeom prst="rect">
            <a:avLst/>
          </a:prstGeom>
          <a:noFill/>
        </p:spPr>
        <p:txBody>
          <a:bodyPr wrap="square">
            <a:spAutoFit/>
          </a:bodyPr>
          <a:lstStyle/>
          <a:p>
            <a:pPr algn="ctr"/>
            <a:r>
              <a:rPr sz="5200" b="1" i="0">
                <a:solidFill>
                  <a:srgbClr val="CC0000"/>
                </a:solidFill>
              </a:rPr>
              <a:t>12×</a:t>
            </a:r>
          </a:p>
        </p:txBody>
      </p:sp>
      <p:sp>
        <p:nvSpPr>
          <p:cNvPr id="9" name="TextBox 8"/>
          <p:cNvSpPr txBox="1"/>
          <p:nvPr/>
        </p:nvSpPr>
        <p:spPr>
          <a:xfrm>
            <a:off x="8503920" y="1463040"/>
            <a:ext cx="3017520" cy="640080"/>
          </a:xfrm>
          <a:prstGeom prst="rect">
            <a:avLst/>
          </a:prstGeom>
          <a:noFill/>
        </p:spPr>
        <p:txBody>
          <a:bodyPr wrap="square">
            <a:spAutoFit/>
          </a:bodyPr>
          <a:lstStyle/>
          <a:p>
            <a:pPr algn="l"/>
            <a:r>
              <a:rPr sz="1500" b="0" i="0">
                <a:solidFill>
                  <a:srgbClr val="FFFFFF"/>
                </a:solidFill>
              </a:rPr>
              <a:t>faster to implement great ideas</a:t>
            </a:r>
          </a:p>
        </p:txBody>
      </p:sp>
      <p:sp>
        <p:nvSpPr>
          <p:cNvPr id="10" name="TextBox 9"/>
          <p:cNvSpPr txBox="1"/>
          <p:nvPr/>
        </p:nvSpPr>
        <p:spPr>
          <a:xfrm>
            <a:off x="6583680" y="2743200"/>
            <a:ext cx="2011680" cy="1005840"/>
          </a:xfrm>
          <a:prstGeom prst="rect">
            <a:avLst/>
          </a:prstGeom>
          <a:noFill/>
        </p:spPr>
        <p:txBody>
          <a:bodyPr wrap="square">
            <a:spAutoFit/>
          </a:bodyPr>
          <a:lstStyle/>
          <a:p>
            <a:pPr algn="ctr"/>
            <a:r>
              <a:rPr sz="5200" b="1" i="0">
                <a:solidFill>
                  <a:srgbClr val="CC0000"/>
                </a:solidFill>
              </a:rPr>
              <a:t>6×</a:t>
            </a:r>
          </a:p>
        </p:txBody>
      </p:sp>
      <p:sp>
        <p:nvSpPr>
          <p:cNvPr id="11" name="TextBox 10"/>
          <p:cNvSpPr txBox="1"/>
          <p:nvPr/>
        </p:nvSpPr>
        <p:spPr>
          <a:xfrm>
            <a:off x="8503920" y="3017520"/>
            <a:ext cx="3017520" cy="640080"/>
          </a:xfrm>
          <a:prstGeom prst="rect">
            <a:avLst/>
          </a:prstGeom>
          <a:noFill/>
        </p:spPr>
        <p:txBody>
          <a:bodyPr wrap="square">
            <a:spAutoFit/>
          </a:bodyPr>
          <a:lstStyle/>
          <a:p>
            <a:pPr algn="l"/>
            <a:r>
              <a:rPr sz="1500" b="0" i="0">
                <a:solidFill>
                  <a:srgbClr val="FFFFFF"/>
                </a:solidFill>
              </a:rPr>
              <a:t>more consistent in adopting new methods</a:t>
            </a:r>
          </a:p>
        </p:txBody>
      </p:sp>
      <p:sp>
        <p:nvSpPr>
          <p:cNvPr id="12" name="TextBox 11"/>
          <p:cNvSpPr txBox="1"/>
          <p:nvPr/>
        </p:nvSpPr>
        <p:spPr>
          <a:xfrm>
            <a:off x="6583680" y="4297680"/>
            <a:ext cx="2011680" cy="1005840"/>
          </a:xfrm>
          <a:prstGeom prst="rect">
            <a:avLst/>
          </a:prstGeom>
          <a:noFill/>
        </p:spPr>
        <p:txBody>
          <a:bodyPr wrap="square">
            <a:spAutoFit/>
          </a:bodyPr>
          <a:lstStyle/>
          <a:p>
            <a:pPr algn="ctr"/>
            <a:r>
              <a:rPr sz="5200" b="1" i="0">
                <a:solidFill>
                  <a:srgbClr val="CC0000"/>
                </a:solidFill>
              </a:rPr>
              <a:t>3×</a:t>
            </a:r>
          </a:p>
        </p:txBody>
      </p:sp>
      <p:sp>
        <p:nvSpPr>
          <p:cNvPr id="13" name="TextBox 12"/>
          <p:cNvSpPr txBox="1"/>
          <p:nvPr/>
        </p:nvSpPr>
        <p:spPr>
          <a:xfrm>
            <a:off x="8503920" y="4572000"/>
            <a:ext cx="3017520" cy="640080"/>
          </a:xfrm>
          <a:prstGeom prst="rect">
            <a:avLst/>
          </a:prstGeom>
          <a:noFill/>
        </p:spPr>
        <p:txBody>
          <a:bodyPr wrap="square">
            <a:spAutoFit/>
          </a:bodyPr>
          <a:lstStyle/>
          <a:p>
            <a:pPr algn="l"/>
            <a:r>
              <a:rPr sz="1500" b="0" i="0">
                <a:solidFill>
                  <a:srgbClr val="FFFFFF"/>
                </a:solidFill>
              </a:rPr>
              <a:t>more engaged at work</a:t>
            </a:r>
          </a:p>
        </p:txBody>
      </p:sp>
      <p:sp>
        <p:nvSpPr>
          <p:cNvPr id="14" name="TextBox 13"/>
          <p:cNvSpPr txBox="1"/>
          <p:nvPr/>
        </p:nvSpPr>
        <p:spPr>
          <a:xfrm>
            <a:off x="6583680" y="5623560"/>
            <a:ext cx="4937760" cy="411480"/>
          </a:xfrm>
          <a:prstGeom prst="rect">
            <a:avLst/>
          </a:prstGeom>
          <a:noFill/>
        </p:spPr>
        <p:txBody>
          <a:bodyPr wrap="square">
            <a:spAutoFit/>
          </a:bodyPr>
          <a:lstStyle/>
          <a:p>
            <a:pPr algn="ctr"/>
            <a:r>
              <a:rPr sz="1400" b="1" i="1">
                <a:solidFill>
                  <a:srgbClr val="CC0000"/>
                </a:solidFill>
              </a:rPr>
              <a:t>Behavioral agility is the bottleneck.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183112" cy="868680"/>
          </a:xfrm>
          <a:prstGeom prst="rect">
            <a:avLst/>
          </a:prstGeom>
          <a:noFill/>
        </p:spPr>
        <p:txBody>
          <a:bodyPr wrap="square">
            <a:spAutoFit/>
          </a:bodyPr>
          <a:lstStyle/>
          <a:p>
            <a:pPr algn="l"/>
            <a:r>
              <a:rPr sz="3000" b="1" i="0">
                <a:solidFill>
                  <a:srgbClr val="101010"/>
                </a:solidFill>
              </a:rPr>
              <a:t>Even When AI Does Its Job, Humans Can Squander the Opportunity</a:t>
            </a:r>
          </a:p>
        </p:txBody>
      </p:sp>
      <p:sp>
        <p:nvSpPr>
          <p:cNvPr id="4" name="TextBox 3"/>
          <p:cNvSpPr txBox="1"/>
          <p:nvPr/>
        </p:nvSpPr>
        <p:spPr>
          <a:xfrm>
            <a:off x="502920" y="1051560"/>
            <a:ext cx="11183112" cy="411480"/>
          </a:xfrm>
          <a:prstGeom prst="rect">
            <a:avLst/>
          </a:prstGeom>
          <a:noFill/>
        </p:spPr>
        <p:txBody>
          <a:bodyPr wrap="square">
            <a:spAutoFit/>
          </a:bodyPr>
          <a:lstStyle/>
          <a:p>
            <a:pPr algn="l"/>
            <a:r>
              <a:rPr sz="1600" b="0" i="1">
                <a:solidFill>
                  <a:srgbClr val="CC0000"/>
                </a:solidFill>
              </a:rPr>
              <a:t>Example: AI for Loan &amp; Claim Decisions</a:t>
            </a:r>
          </a:p>
        </p:txBody>
      </p:sp>
      <p:sp>
        <p:nvSpPr>
          <p:cNvPr id="5" name="Rectangle 4"/>
          <p:cNvSpPr/>
          <p:nvPr/>
        </p:nvSpPr>
        <p:spPr>
          <a:xfrm>
            <a:off x="502920" y="1508760"/>
            <a:ext cx="411480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0200"/>
            <a:ext cx="3749039" cy="1005840"/>
          </a:xfrm>
          <a:prstGeom prst="rect">
            <a:avLst/>
          </a:prstGeom>
          <a:noFill/>
        </p:spPr>
        <p:txBody>
          <a:bodyPr wrap="square">
            <a:spAutoFit/>
          </a:bodyPr>
          <a:lstStyle/>
          <a:p>
            <a:pPr algn="l"/>
            <a:r>
              <a:rPr sz="1400" b="0" i="0">
                <a:solidFill>
                  <a:srgbClr val="101010"/>
                </a:solidFill>
              </a:rPr>
              <a:t>AI recommends approving a loan applicant who, under previous criteria, would have been denied.</a:t>
            </a:r>
          </a:p>
        </p:txBody>
      </p:sp>
      <p:sp>
        <p:nvSpPr>
          <p:cNvPr id="7" name="Rectangle 6"/>
          <p:cNvSpPr/>
          <p:nvPr/>
        </p:nvSpPr>
        <p:spPr>
          <a:xfrm>
            <a:off x="502920" y="292608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92608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71800"/>
            <a:ext cx="5180076" cy="320040"/>
          </a:xfrm>
          <a:prstGeom prst="rect">
            <a:avLst/>
          </a:prstGeom>
          <a:noFill/>
        </p:spPr>
        <p:txBody>
          <a:bodyPr wrap="square">
            <a:spAutoFit/>
          </a:bodyPr>
          <a:lstStyle/>
          <a:p>
            <a:pPr algn="l"/>
            <a:r>
              <a:rPr sz="1300" b="1" i="0">
                <a:solidFill>
                  <a:srgbClr val="FFFFFF"/>
                </a:solidFill>
              </a:rPr>
              <a:t>1  Skepticism</a:t>
            </a:r>
          </a:p>
        </p:txBody>
      </p:sp>
      <p:sp>
        <p:nvSpPr>
          <p:cNvPr id="10" name="TextBox 9"/>
          <p:cNvSpPr txBox="1"/>
          <p:nvPr/>
        </p:nvSpPr>
        <p:spPr>
          <a:xfrm>
            <a:off x="640080" y="3383280"/>
            <a:ext cx="5180076" cy="1234440"/>
          </a:xfrm>
          <a:prstGeom prst="rect">
            <a:avLst/>
          </a:prstGeom>
          <a:noFill/>
        </p:spPr>
        <p:txBody>
          <a:bodyPr wrap="square">
            <a:spAutoFit/>
          </a:bodyPr>
          <a:lstStyle/>
          <a:p>
            <a:pPr algn="l"/>
            <a:r>
              <a:rPr sz="1300" b="0" i="0">
                <a:solidFill>
                  <a:srgbClr val="101010"/>
                </a:solidFill>
              </a:rPr>
              <a:t>Busy underwriter delays action — 'let me think about it'</a:t>
            </a:r>
          </a:p>
        </p:txBody>
      </p:sp>
      <p:sp>
        <p:nvSpPr>
          <p:cNvPr id="11" name="Rectangle 10"/>
          <p:cNvSpPr/>
          <p:nvPr/>
        </p:nvSpPr>
        <p:spPr>
          <a:xfrm>
            <a:off x="6231636" y="292608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92608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8796" y="2971800"/>
            <a:ext cx="5180076" cy="320040"/>
          </a:xfrm>
          <a:prstGeom prst="rect">
            <a:avLst/>
          </a:prstGeom>
          <a:noFill/>
        </p:spPr>
        <p:txBody>
          <a:bodyPr wrap="square">
            <a:spAutoFit/>
          </a:bodyPr>
          <a:lstStyle/>
          <a:p>
            <a:pPr algn="l"/>
            <a:r>
              <a:rPr sz="1300" b="1" i="0">
                <a:solidFill>
                  <a:srgbClr val="FFFFFF"/>
                </a:solidFill>
              </a:rPr>
              <a:t>2  Intuition Override</a:t>
            </a:r>
          </a:p>
        </p:txBody>
      </p:sp>
      <p:sp>
        <p:nvSpPr>
          <p:cNvPr id="14" name="TextBox 13"/>
          <p:cNvSpPr txBox="1"/>
          <p:nvPr/>
        </p:nvSpPr>
        <p:spPr>
          <a:xfrm>
            <a:off x="6368796" y="3383280"/>
            <a:ext cx="5180076" cy="1234440"/>
          </a:xfrm>
          <a:prstGeom prst="rect">
            <a:avLst/>
          </a:prstGeom>
          <a:noFill/>
        </p:spPr>
        <p:txBody>
          <a:bodyPr wrap="square">
            <a:spAutoFit/>
          </a:bodyPr>
          <a:lstStyle/>
          <a:p>
            <a:pPr algn="l"/>
            <a:r>
              <a:rPr sz="1300" b="0" i="0">
                <a:solidFill>
                  <a:srgbClr val="101010"/>
                </a:solidFill>
              </a:rPr>
              <a:t>Past experience says risky → overrides AI 'to be safe'</a:t>
            </a:r>
          </a:p>
        </p:txBody>
      </p:sp>
      <p:sp>
        <p:nvSpPr>
          <p:cNvPr id="15" name="Rectangle 14"/>
          <p:cNvSpPr/>
          <p:nvPr/>
        </p:nvSpPr>
        <p:spPr>
          <a:xfrm>
            <a:off x="502920" y="489204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9204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937760"/>
            <a:ext cx="5180076" cy="320040"/>
          </a:xfrm>
          <a:prstGeom prst="rect">
            <a:avLst/>
          </a:prstGeom>
          <a:noFill/>
        </p:spPr>
        <p:txBody>
          <a:bodyPr wrap="square">
            <a:spAutoFit/>
          </a:bodyPr>
          <a:lstStyle/>
          <a:p>
            <a:pPr algn="l"/>
            <a:r>
              <a:rPr sz="1300" b="1" i="0">
                <a:solidFill>
                  <a:srgbClr val="FFFFFF"/>
                </a:solidFill>
              </a:rPr>
              <a:t>3  Manager Pushback</a:t>
            </a:r>
          </a:p>
        </p:txBody>
      </p:sp>
      <p:sp>
        <p:nvSpPr>
          <p:cNvPr id="18" name="TextBox 17"/>
          <p:cNvSpPr txBox="1"/>
          <p:nvPr/>
        </p:nvSpPr>
        <p:spPr>
          <a:xfrm>
            <a:off x="640080" y="5349240"/>
            <a:ext cx="5180076" cy="1234440"/>
          </a:xfrm>
          <a:prstGeom prst="rect">
            <a:avLst/>
          </a:prstGeom>
          <a:noFill/>
        </p:spPr>
        <p:txBody>
          <a:bodyPr wrap="square">
            <a:spAutoFit/>
          </a:bodyPr>
          <a:lstStyle/>
          <a:p>
            <a:pPr algn="l"/>
            <a:r>
              <a:rPr sz="1300" b="0" i="0">
                <a:solidFill>
                  <a:srgbClr val="101010"/>
                </a:solidFill>
              </a:rPr>
              <a:t>Hesitation because manager punishes when AI-based loans go wrong</a:t>
            </a:r>
          </a:p>
        </p:txBody>
      </p:sp>
      <p:sp>
        <p:nvSpPr>
          <p:cNvPr id="19" name="Rectangle 18"/>
          <p:cNvSpPr/>
          <p:nvPr/>
        </p:nvSpPr>
        <p:spPr>
          <a:xfrm>
            <a:off x="6231636" y="489204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489204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8796" y="4937760"/>
            <a:ext cx="5180076" cy="320040"/>
          </a:xfrm>
          <a:prstGeom prst="rect">
            <a:avLst/>
          </a:prstGeom>
          <a:noFill/>
        </p:spPr>
        <p:txBody>
          <a:bodyPr wrap="square">
            <a:spAutoFit/>
          </a:bodyPr>
          <a:lstStyle/>
          <a:p>
            <a:pPr algn="l"/>
            <a:r>
              <a:rPr sz="1300" b="1" i="0">
                <a:solidFill>
                  <a:srgbClr val="FFFFFF"/>
                </a:solidFill>
              </a:rPr>
              <a:t>4  Downstream Rejection</a:t>
            </a:r>
          </a:p>
        </p:txBody>
      </p:sp>
      <p:sp>
        <p:nvSpPr>
          <p:cNvPr id="22" name="TextBox 21"/>
          <p:cNvSpPr txBox="1"/>
          <p:nvPr/>
        </p:nvSpPr>
        <p:spPr>
          <a:xfrm>
            <a:off x="6368796" y="5349240"/>
            <a:ext cx="5180076" cy="1234440"/>
          </a:xfrm>
          <a:prstGeom prst="rect">
            <a:avLst/>
          </a:prstGeom>
          <a:noFill/>
        </p:spPr>
        <p:txBody>
          <a:bodyPr wrap="square">
            <a:spAutoFit/>
          </a:bodyPr>
          <a:lstStyle/>
          <a:p>
            <a:pPr algn="l"/>
            <a:r>
              <a:rPr sz="1300" b="0" i="0">
                <a:solidFill>
                  <a:srgbClr val="101010"/>
                </a:solidFill>
              </a:rPr>
              <a:t>Approves the loan, but the next step in the process declines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010"/>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1097280"/>
            <a:ext cx="3200400" cy="5029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61288"/>
            <a:ext cx="2926080" cy="384048"/>
          </a:xfrm>
          <a:prstGeom prst="rect">
            <a:avLst/>
          </a:prstGeom>
          <a:noFill/>
        </p:spPr>
        <p:txBody>
          <a:bodyPr wrap="square">
            <a:spAutoFit/>
          </a:bodyPr>
          <a:lstStyle/>
          <a:p>
            <a:pPr algn="l"/>
            <a:r>
              <a:rPr sz="1400" b="1" i="0">
                <a:solidFill>
                  <a:srgbClr val="FFFFFF"/>
                </a:solidFill>
              </a:rPr>
              <a:t>OUR QUESTION</a:t>
            </a:r>
          </a:p>
        </p:txBody>
      </p:sp>
      <p:sp>
        <p:nvSpPr>
          <p:cNvPr id="5" name="TextBox 4"/>
          <p:cNvSpPr txBox="1"/>
          <p:nvPr/>
        </p:nvSpPr>
        <p:spPr>
          <a:xfrm>
            <a:off x="502920" y="1920240"/>
            <a:ext cx="11183112" cy="2286000"/>
          </a:xfrm>
          <a:prstGeom prst="rect">
            <a:avLst/>
          </a:prstGeom>
          <a:noFill/>
        </p:spPr>
        <p:txBody>
          <a:bodyPr wrap="square">
            <a:spAutoFit/>
          </a:bodyPr>
          <a:lstStyle/>
          <a:p>
            <a:pPr algn="ctr"/>
            <a:r>
              <a:rPr sz="4000" b="1" i="0">
                <a:solidFill>
                  <a:srgbClr val="FFFFFF"/>
                </a:solidFill>
              </a:rPr>
              <a:t>Why are so few organizations
translating AI business insights
into substantial business results?</a:t>
            </a:r>
          </a:p>
        </p:txBody>
      </p:sp>
      <p:sp>
        <p:nvSpPr>
          <p:cNvPr id="6" name="Rectangle 5"/>
          <p:cNvSpPr/>
          <p:nvPr/>
        </p:nvSpPr>
        <p:spPr>
          <a:xfrm>
            <a:off x="502920" y="4434840"/>
            <a:ext cx="11183112"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572000"/>
            <a:ext cx="11183112" cy="822960"/>
          </a:xfrm>
          <a:prstGeom prst="rect">
            <a:avLst/>
          </a:prstGeom>
          <a:noFill/>
        </p:spPr>
        <p:txBody>
          <a:bodyPr wrap="square">
            <a:spAutoFit/>
          </a:bodyPr>
          <a:lstStyle/>
          <a:p>
            <a:pPr algn="ctr"/>
            <a:r>
              <a:rPr sz="1800" b="0" i="1">
                <a:solidFill>
                  <a:srgbClr val="D0D0D0"/>
                </a:solidFill>
              </a:rPr>
              <a:t>AI exposes how your organization actually works.
The answer to the question above is the answer to your transformation.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183112" cy="777240"/>
          </a:xfrm>
          <a:prstGeom prst="rect">
            <a:avLst/>
          </a:prstGeom>
          <a:noFill/>
        </p:spPr>
        <p:txBody>
          <a:bodyPr wrap="square">
            <a:spAutoFit/>
          </a:bodyPr>
          <a:lstStyle/>
          <a:p>
            <a:pPr algn="l"/>
            <a:r>
              <a:rPr sz="3200" b="1" i="0">
                <a:solidFill>
                  <a:srgbClr val="101010"/>
                </a:solidFill>
              </a:rPr>
              <a:t>Four Crucial Conversations That Drive AI Adoption</a:t>
            </a:r>
          </a:p>
        </p:txBody>
      </p:sp>
      <p:sp>
        <p:nvSpPr>
          <p:cNvPr id="4" name="TextBox 3"/>
          <p:cNvSpPr txBox="1"/>
          <p:nvPr/>
        </p:nvSpPr>
        <p:spPr>
          <a:xfrm>
            <a:off x="502920" y="960120"/>
            <a:ext cx="11183112" cy="457200"/>
          </a:xfrm>
          <a:prstGeom prst="rect">
            <a:avLst/>
          </a:prstGeom>
          <a:noFill/>
        </p:spPr>
        <p:txBody>
          <a:bodyPr wrap="square">
            <a:spAutoFit/>
          </a:bodyPr>
          <a:lstStyle/>
          <a:p>
            <a:pPr algn="l"/>
            <a:r>
              <a:rPr sz="1600" b="0" i="1">
                <a:solidFill>
                  <a:srgbClr val="555555"/>
                </a:solidFill>
              </a:rPr>
              <a:t>Behaviorally agile organizations have these conversations consistently. Others don't.</a:t>
            </a:r>
          </a:p>
        </p:txBody>
      </p:sp>
      <p:sp>
        <p:nvSpPr>
          <p:cNvPr id="5" name="Rectangle 4"/>
          <p:cNvSpPr/>
          <p:nvPr/>
        </p:nvSpPr>
        <p:spPr>
          <a:xfrm>
            <a:off x="502920"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45920"/>
            <a:ext cx="2510028" cy="502920"/>
          </a:xfrm>
          <a:prstGeom prst="rect">
            <a:avLst/>
          </a:prstGeom>
          <a:noFill/>
        </p:spPr>
        <p:txBody>
          <a:bodyPr wrap="square">
            <a:spAutoFit/>
          </a:bodyPr>
          <a:lstStyle/>
          <a:p>
            <a:pPr algn="l"/>
            <a:r>
              <a:rPr sz="1200" b="1" i="0">
                <a:solidFill>
                  <a:srgbClr val="FFFFFF"/>
                </a:solidFill>
              </a:rPr>
              <a:t>SPEAKING UP</a:t>
            </a:r>
          </a:p>
        </p:txBody>
      </p:sp>
      <p:sp>
        <p:nvSpPr>
          <p:cNvPr id="8" name="TextBox 7"/>
          <p:cNvSpPr txBox="1"/>
          <p:nvPr/>
        </p:nvSpPr>
        <p:spPr>
          <a:xfrm>
            <a:off x="594360" y="2286000"/>
            <a:ext cx="2510028" cy="1645920"/>
          </a:xfrm>
          <a:prstGeom prst="rect">
            <a:avLst/>
          </a:prstGeom>
          <a:noFill/>
        </p:spPr>
        <p:txBody>
          <a:bodyPr wrap="square">
            <a:spAutoFit/>
          </a:bodyPr>
          <a:lstStyle/>
          <a:p>
            <a:pPr algn="l"/>
            <a:r>
              <a:rPr sz="1300" b="0" i="0">
                <a:solidFill>
                  <a:srgbClr val="101010"/>
                </a:solidFill>
              </a:rPr>
              <a:t>Openly name concerns
that signal a need for
innovation or course correction.</a:t>
            </a:r>
          </a:p>
        </p:txBody>
      </p:sp>
      <p:sp>
        <p:nvSpPr>
          <p:cNvPr id="9" name="Rectangle 8"/>
          <p:cNvSpPr/>
          <p:nvPr/>
        </p:nvSpPr>
        <p:spPr>
          <a:xfrm>
            <a:off x="502920"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4160520"/>
            <a:ext cx="2510028" cy="1280160"/>
          </a:xfrm>
          <a:prstGeom prst="rect">
            <a:avLst/>
          </a:prstGeom>
          <a:noFill/>
        </p:spPr>
        <p:txBody>
          <a:bodyPr wrap="square">
            <a:spAutoFit/>
          </a:bodyPr>
          <a:lstStyle/>
          <a:p>
            <a:pPr algn="ctr"/>
            <a:r>
              <a:rPr sz="1300" b="1" i="0">
                <a:solidFill>
                  <a:srgbClr val="FFFFFF"/>
                </a:solidFill>
              </a:rPr>
              <a:t>3× more likely
to speak up quickly</a:t>
            </a:r>
          </a:p>
        </p:txBody>
      </p:sp>
      <p:sp>
        <p:nvSpPr>
          <p:cNvPr id="11" name="Rectangle 10"/>
          <p:cNvSpPr/>
          <p:nvPr/>
        </p:nvSpPr>
        <p:spPr>
          <a:xfrm>
            <a:off x="3332988"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2988"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4428" y="1645920"/>
            <a:ext cx="2510028" cy="502920"/>
          </a:xfrm>
          <a:prstGeom prst="rect">
            <a:avLst/>
          </a:prstGeom>
          <a:noFill/>
        </p:spPr>
        <p:txBody>
          <a:bodyPr wrap="square">
            <a:spAutoFit/>
          </a:bodyPr>
          <a:lstStyle/>
          <a:p>
            <a:pPr algn="l"/>
            <a:r>
              <a:rPr sz="1200" b="1" i="0">
                <a:solidFill>
                  <a:srgbClr val="FFFFFF"/>
                </a:solidFill>
              </a:rPr>
              <a:t>REMINDING</a:t>
            </a:r>
          </a:p>
        </p:txBody>
      </p:sp>
      <p:sp>
        <p:nvSpPr>
          <p:cNvPr id="14" name="TextBox 13"/>
          <p:cNvSpPr txBox="1"/>
          <p:nvPr/>
        </p:nvSpPr>
        <p:spPr>
          <a:xfrm>
            <a:off x="3424428" y="2286000"/>
            <a:ext cx="2510028" cy="1645920"/>
          </a:xfrm>
          <a:prstGeom prst="rect">
            <a:avLst/>
          </a:prstGeom>
          <a:noFill/>
        </p:spPr>
        <p:txBody>
          <a:bodyPr wrap="square">
            <a:spAutoFit/>
          </a:bodyPr>
          <a:lstStyle/>
          <a:p>
            <a:pPr algn="l"/>
            <a:r>
              <a:rPr sz="1300" b="0" i="0">
                <a:solidFill>
                  <a:srgbClr val="101010"/>
                </a:solidFill>
              </a:rPr>
              <a:t>Nudge colleagues who
default to old routines
when new methods are called for.</a:t>
            </a:r>
          </a:p>
        </p:txBody>
      </p:sp>
      <p:sp>
        <p:nvSpPr>
          <p:cNvPr id="15" name="Rectangle 14"/>
          <p:cNvSpPr/>
          <p:nvPr/>
        </p:nvSpPr>
        <p:spPr>
          <a:xfrm>
            <a:off x="3332988"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4428" y="4160520"/>
            <a:ext cx="2510028" cy="1280160"/>
          </a:xfrm>
          <a:prstGeom prst="rect">
            <a:avLst/>
          </a:prstGeom>
          <a:noFill/>
        </p:spPr>
        <p:txBody>
          <a:bodyPr wrap="square">
            <a:spAutoFit/>
          </a:bodyPr>
          <a:lstStyle/>
          <a:p>
            <a:pPr algn="ctr"/>
            <a:r>
              <a:rPr sz="1300" b="1" i="0">
                <a:solidFill>
                  <a:srgbClr val="FFFFFF"/>
                </a:solidFill>
              </a:rPr>
              <a:t>5× more likely
to remind peers</a:t>
            </a:r>
          </a:p>
        </p:txBody>
      </p:sp>
      <p:sp>
        <p:nvSpPr>
          <p:cNvPr id="17" name="Rectangle 16"/>
          <p:cNvSpPr/>
          <p:nvPr/>
        </p:nvSpPr>
        <p:spPr>
          <a:xfrm>
            <a:off x="6163056"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6"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1645920"/>
            <a:ext cx="2510028" cy="502920"/>
          </a:xfrm>
          <a:prstGeom prst="rect">
            <a:avLst/>
          </a:prstGeom>
          <a:noFill/>
        </p:spPr>
        <p:txBody>
          <a:bodyPr wrap="square">
            <a:spAutoFit/>
          </a:bodyPr>
          <a:lstStyle/>
          <a:p>
            <a:pPr algn="l"/>
            <a:r>
              <a:rPr sz="1200" b="1" i="0">
                <a:solidFill>
                  <a:srgbClr val="FFFFFF"/>
                </a:solidFill>
              </a:rPr>
              <a:t>HOLDING ACCOUNTABLE</a:t>
            </a:r>
          </a:p>
        </p:txBody>
      </p:sp>
      <p:sp>
        <p:nvSpPr>
          <p:cNvPr id="20" name="TextBox 19"/>
          <p:cNvSpPr txBox="1"/>
          <p:nvPr/>
        </p:nvSpPr>
        <p:spPr>
          <a:xfrm>
            <a:off x="6254496" y="2286000"/>
            <a:ext cx="2510028" cy="1645920"/>
          </a:xfrm>
          <a:prstGeom prst="rect">
            <a:avLst/>
          </a:prstGeom>
          <a:noFill/>
        </p:spPr>
        <p:txBody>
          <a:bodyPr wrap="square">
            <a:spAutoFit/>
          </a:bodyPr>
          <a:lstStyle/>
          <a:p>
            <a:pPr algn="l"/>
            <a:r>
              <a:rPr sz="1300" b="0" i="0">
                <a:solidFill>
                  <a:srgbClr val="101010"/>
                </a:solidFill>
              </a:rPr>
              <a:t>Direct, immediate correction
when someone violates agreed
behavioral norms.</a:t>
            </a:r>
          </a:p>
        </p:txBody>
      </p:sp>
      <p:sp>
        <p:nvSpPr>
          <p:cNvPr id="21" name="Rectangle 20"/>
          <p:cNvSpPr/>
          <p:nvPr/>
        </p:nvSpPr>
        <p:spPr>
          <a:xfrm>
            <a:off x="6163056"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54496" y="4160520"/>
            <a:ext cx="2510028" cy="1280160"/>
          </a:xfrm>
          <a:prstGeom prst="rect">
            <a:avLst/>
          </a:prstGeom>
          <a:noFill/>
        </p:spPr>
        <p:txBody>
          <a:bodyPr wrap="square">
            <a:spAutoFit/>
          </a:bodyPr>
          <a:lstStyle/>
          <a:p>
            <a:pPr algn="ctr"/>
            <a:r>
              <a:rPr sz="1300" b="1" i="0">
                <a:solidFill>
                  <a:srgbClr val="FFFFFF"/>
                </a:solidFill>
              </a:rPr>
              <a:t>6× more likely to suggest
improvements without
fear of power dynamics</a:t>
            </a:r>
          </a:p>
        </p:txBody>
      </p:sp>
      <p:sp>
        <p:nvSpPr>
          <p:cNvPr id="23" name="Rectangle 22"/>
          <p:cNvSpPr/>
          <p:nvPr/>
        </p:nvSpPr>
        <p:spPr>
          <a:xfrm>
            <a:off x="8993124"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93124"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4564" y="1645920"/>
            <a:ext cx="2510028" cy="502920"/>
          </a:xfrm>
          <a:prstGeom prst="rect">
            <a:avLst/>
          </a:prstGeom>
          <a:noFill/>
        </p:spPr>
        <p:txBody>
          <a:bodyPr wrap="square">
            <a:spAutoFit/>
          </a:bodyPr>
          <a:lstStyle/>
          <a:p>
            <a:pPr algn="l"/>
            <a:r>
              <a:rPr sz="1200" b="1" i="0">
                <a:solidFill>
                  <a:srgbClr val="FFFFFF"/>
                </a:solidFill>
              </a:rPr>
              <a:t>CHALLENGING
SACRED COWS</a:t>
            </a:r>
          </a:p>
        </p:txBody>
      </p:sp>
      <p:sp>
        <p:nvSpPr>
          <p:cNvPr id="26" name="TextBox 25"/>
          <p:cNvSpPr txBox="1"/>
          <p:nvPr/>
        </p:nvSpPr>
        <p:spPr>
          <a:xfrm>
            <a:off x="9084564" y="2286000"/>
            <a:ext cx="2510028" cy="1645920"/>
          </a:xfrm>
          <a:prstGeom prst="rect">
            <a:avLst/>
          </a:prstGeom>
          <a:noFill/>
        </p:spPr>
        <p:txBody>
          <a:bodyPr wrap="square">
            <a:spAutoFit/>
          </a:bodyPr>
          <a:lstStyle/>
          <a:p>
            <a:pPr algn="l"/>
            <a:r>
              <a:rPr sz="1300" b="0" i="0">
                <a:solidFill>
                  <a:srgbClr val="101010"/>
                </a:solidFill>
              </a:rPr>
              <a:t>Follow the data — even when
it contradicts leadership
preferences or past practice.</a:t>
            </a:r>
          </a:p>
        </p:txBody>
      </p:sp>
      <p:sp>
        <p:nvSpPr>
          <p:cNvPr id="27" name="Rectangle 26"/>
          <p:cNvSpPr/>
          <p:nvPr/>
        </p:nvSpPr>
        <p:spPr>
          <a:xfrm>
            <a:off x="8993124"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4564" y="4160520"/>
            <a:ext cx="2510028" cy="1280160"/>
          </a:xfrm>
          <a:prstGeom prst="rect">
            <a:avLst/>
          </a:prstGeom>
          <a:noFill/>
        </p:spPr>
        <p:txBody>
          <a:bodyPr wrap="square">
            <a:spAutoFit/>
          </a:bodyPr>
          <a:lstStyle/>
          <a:p>
            <a:pPr algn="ctr"/>
            <a:r>
              <a:rPr sz="1300" b="1" i="0">
                <a:solidFill>
                  <a:srgbClr val="FFFFFF"/>
                </a:solidFill>
              </a:rPr>
              <a:t>3× more likely peers
immediately correct
misuse of new approaches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010"/>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183112" cy="777240"/>
          </a:xfrm>
          <a:prstGeom prst="rect">
            <a:avLst/>
          </a:prstGeom>
          <a:noFill/>
        </p:spPr>
        <p:txBody>
          <a:bodyPr wrap="square">
            <a:spAutoFit/>
          </a:bodyPr>
          <a:lstStyle/>
          <a:p>
            <a:pPr algn="l"/>
            <a:r>
              <a:rPr sz="3600" b="1" i="0">
                <a:solidFill>
                  <a:srgbClr val="FFFFFF"/>
                </a:solidFill>
              </a:rPr>
              <a:t>AI Fails in Predictable Ways</a:t>
            </a:r>
          </a:p>
        </p:txBody>
      </p:sp>
      <p:sp>
        <p:nvSpPr>
          <p:cNvPr id="4" name="TextBox 3"/>
          <p:cNvSpPr txBox="1"/>
          <p:nvPr/>
        </p:nvSpPr>
        <p:spPr>
          <a:xfrm>
            <a:off x="502920" y="960120"/>
            <a:ext cx="11183112" cy="457200"/>
          </a:xfrm>
          <a:prstGeom prst="rect">
            <a:avLst/>
          </a:prstGeom>
          <a:noFill/>
        </p:spPr>
        <p:txBody>
          <a:bodyPr wrap="square">
            <a:spAutoFit/>
          </a:bodyPr>
          <a:lstStyle/>
          <a:p>
            <a:pPr algn="l"/>
            <a:r>
              <a:rPr sz="1600" b="0" i="1">
                <a:solidFill>
                  <a:srgbClr val="D0D0D0"/>
                </a:solidFill>
              </a:rPr>
              <a:t>These weren't isolated incidents. The same four patterns appear across every industry.</a:t>
            </a:r>
          </a:p>
        </p:txBody>
      </p:sp>
      <p:sp>
        <p:nvSpPr>
          <p:cNvPr id="5" name="Rectangle 4"/>
          <p:cNvSpPr/>
          <p:nvPr/>
        </p:nvSpPr>
        <p:spPr>
          <a:xfrm>
            <a:off x="502920"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18488"/>
            <a:ext cx="2510028" cy="347472"/>
          </a:xfrm>
          <a:prstGeom prst="rect">
            <a:avLst/>
          </a:prstGeom>
          <a:noFill/>
        </p:spPr>
        <p:txBody>
          <a:bodyPr wrap="square">
            <a:spAutoFit/>
          </a:bodyPr>
          <a:lstStyle/>
          <a:p>
            <a:pPr algn="l"/>
            <a:r>
              <a:rPr sz="1200" b="1" i="0">
                <a:solidFill>
                  <a:srgbClr val="FFFFFF"/>
                </a:solidFill>
              </a:rPr>
              <a:t>VISIBILITY</a:t>
            </a:r>
          </a:p>
        </p:txBody>
      </p:sp>
      <p:sp>
        <p:nvSpPr>
          <p:cNvPr id="8" name="TextBox 7"/>
          <p:cNvSpPr txBox="1"/>
          <p:nvPr/>
        </p:nvSpPr>
        <p:spPr>
          <a:xfrm>
            <a:off x="594360" y="2084832"/>
            <a:ext cx="2510028" cy="365760"/>
          </a:xfrm>
          <a:prstGeom prst="rect">
            <a:avLst/>
          </a:prstGeom>
          <a:noFill/>
        </p:spPr>
        <p:txBody>
          <a:bodyPr wrap="square">
            <a:spAutoFit/>
          </a:bodyPr>
          <a:lstStyle/>
          <a:p>
            <a:pPr algn="l"/>
            <a:r>
              <a:rPr sz="1100" b="1" i="0">
                <a:solidFill>
                  <a:srgbClr val="CC0000"/>
                </a:solidFill>
              </a:rPr>
              <a:t>Behavior: Speak Up</a:t>
            </a:r>
          </a:p>
        </p:txBody>
      </p:sp>
      <p:sp>
        <p:nvSpPr>
          <p:cNvPr id="9" name="TextBox 8"/>
          <p:cNvSpPr txBox="1"/>
          <p:nvPr/>
        </p:nvSpPr>
        <p:spPr>
          <a:xfrm>
            <a:off x="594360" y="2423160"/>
            <a:ext cx="2510028" cy="320040"/>
          </a:xfrm>
          <a:prstGeom prst="rect">
            <a:avLst/>
          </a:prstGeom>
          <a:noFill/>
        </p:spPr>
        <p:txBody>
          <a:bodyPr wrap="square">
            <a:spAutoFit/>
          </a:bodyPr>
          <a:lstStyle/>
          <a:p>
            <a:pPr algn="l"/>
            <a:r>
              <a:rPr sz="1000" b="0" i="1">
                <a:solidFill>
                  <a:srgbClr val="D0D0D0"/>
                </a:solidFill>
              </a:rPr>
              <a:t>3M Health Info Systems</a:t>
            </a:r>
          </a:p>
        </p:txBody>
      </p:sp>
      <p:sp>
        <p:nvSpPr>
          <p:cNvPr id="10" name="TextBox 9"/>
          <p:cNvSpPr txBox="1"/>
          <p:nvPr/>
        </p:nvSpPr>
        <p:spPr>
          <a:xfrm>
            <a:off x="594360" y="2788920"/>
            <a:ext cx="2510028" cy="2194560"/>
          </a:xfrm>
          <a:prstGeom prst="rect">
            <a:avLst/>
          </a:prstGeom>
          <a:noFill/>
        </p:spPr>
        <p:txBody>
          <a:bodyPr wrap="square">
            <a:spAutoFit/>
          </a:bodyPr>
          <a:lstStyle/>
          <a:p>
            <a:pPr algn="l"/>
            <a:r>
              <a:rPr sz="1100" b="0" i="0">
                <a:solidFill>
                  <a:srgbClr val="FFFFFF"/>
                </a:solidFill>
              </a:rPr>
              <a:t>ML model outputs were inconsistent. Clinicians changed input forms — revenue cycle never knew. Cross-team silence made the AI unreliable.</a:t>
            </a:r>
          </a:p>
        </p:txBody>
      </p:sp>
      <p:sp>
        <p:nvSpPr>
          <p:cNvPr id="11" name="TextBox 10"/>
          <p:cNvSpPr txBox="1"/>
          <p:nvPr/>
        </p:nvSpPr>
        <p:spPr>
          <a:xfrm>
            <a:off x="594360" y="5074920"/>
            <a:ext cx="2510028" cy="411480"/>
          </a:xfrm>
          <a:prstGeom prst="rect">
            <a:avLst/>
          </a:prstGeom>
          <a:noFill/>
        </p:spPr>
        <p:txBody>
          <a:bodyPr wrap="square">
            <a:spAutoFit/>
          </a:bodyPr>
          <a:lstStyle/>
          <a:p>
            <a:pPr algn="l"/>
            <a:r>
              <a:rPr sz="1100" b="1" i="1">
                <a:solidFill>
                  <a:srgbClr val="CC0000"/>
                </a:solidFill>
              </a:rPr>
              <a:t>This was a visibility failure.</a:t>
            </a:r>
          </a:p>
        </p:txBody>
      </p:sp>
      <p:sp>
        <p:nvSpPr>
          <p:cNvPr id="12" name="Rectangle 11"/>
          <p:cNvSpPr/>
          <p:nvPr/>
        </p:nvSpPr>
        <p:spPr>
          <a:xfrm>
            <a:off x="3332988"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2988"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4428" y="1618488"/>
            <a:ext cx="2510028" cy="347472"/>
          </a:xfrm>
          <a:prstGeom prst="rect">
            <a:avLst/>
          </a:prstGeom>
          <a:noFill/>
        </p:spPr>
        <p:txBody>
          <a:bodyPr wrap="square">
            <a:spAutoFit/>
          </a:bodyPr>
          <a:lstStyle/>
          <a:p>
            <a:pPr algn="l"/>
            <a:r>
              <a:rPr sz="1200" b="1" i="0">
                <a:solidFill>
                  <a:srgbClr val="FFFFFF"/>
                </a:solidFill>
              </a:rPr>
              <a:t>ADOPTION</a:t>
            </a:r>
          </a:p>
        </p:txBody>
      </p:sp>
      <p:sp>
        <p:nvSpPr>
          <p:cNvPr id="15" name="TextBox 14"/>
          <p:cNvSpPr txBox="1"/>
          <p:nvPr/>
        </p:nvSpPr>
        <p:spPr>
          <a:xfrm>
            <a:off x="3424428" y="2084832"/>
            <a:ext cx="2510028" cy="365760"/>
          </a:xfrm>
          <a:prstGeom prst="rect">
            <a:avLst/>
          </a:prstGeom>
          <a:noFill/>
        </p:spPr>
        <p:txBody>
          <a:bodyPr wrap="square">
            <a:spAutoFit/>
          </a:bodyPr>
          <a:lstStyle/>
          <a:p>
            <a:pPr algn="l"/>
            <a:r>
              <a:rPr sz="1100" b="1" i="0">
                <a:solidFill>
                  <a:srgbClr val="CC0000"/>
                </a:solidFill>
              </a:rPr>
              <a:t>Behavior: Remind</a:t>
            </a:r>
          </a:p>
        </p:txBody>
      </p:sp>
      <p:sp>
        <p:nvSpPr>
          <p:cNvPr id="16" name="TextBox 15"/>
          <p:cNvSpPr txBox="1"/>
          <p:nvPr/>
        </p:nvSpPr>
        <p:spPr>
          <a:xfrm>
            <a:off x="3424428" y="2423160"/>
            <a:ext cx="2510028" cy="320040"/>
          </a:xfrm>
          <a:prstGeom prst="rect">
            <a:avLst/>
          </a:prstGeom>
          <a:noFill/>
        </p:spPr>
        <p:txBody>
          <a:bodyPr wrap="square">
            <a:spAutoFit/>
          </a:bodyPr>
          <a:lstStyle/>
          <a:p>
            <a:pPr algn="l"/>
            <a:r>
              <a:rPr sz="1000" b="0" i="1">
                <a:solidFill>
                  <a:srgbClr val="D0D0D0"/>
                </a:solidFill>
              </a:rPr>
              <a:t>3M Health Info Systems</a:t>
            </a:r>
          </a:p>
        </p:txBody>
      </p:sp>
      <p:sp>
        <p:nvSpPr>
          <p:cNvPr id="17" name="TextBox 16"/>
          <p:cNvSpPr txBox="1"/>
          <p:nvPr/>
        </p:nvSpPr>
        <p:spPr>
          <a:xfrm>
            <a:off x="3424428" y="2788920"/>
            <a:ext cx="2510028" cy="2194560"/>
          </a:xfrm>
          <a:prstGeom prst="rect">
            <a:avLst/>
          </a:prstGeom>
          <a:noFill/>
        </p:spPr>
        <p:txBody>
          <a:bodyPr wrap="square">
            <a:spAutoFit/>
          </a:bodyPr>
          <a:lstStyle/>
          <a:p>
            <a:pPr algn="l"/>
            <a:r>
              <a:rPr sz="1100" b="0" i="0">
                <a:solidFill>
                  <a:srgbClr val="FFFFFF"/>
                </a:solidFill>
              </a:rPr>
              <a:t>ICD-10 expanded codes 100,000x. Coders kept working from memory, then entered into the system after. The rollout took a day. The behavior change took months.</a:t>
            </a:r>
          </a:p>
        </p:txBody>
      </p:sp>
      <p:sp>
        <p:nvSpPr>
          <p:cNvPr id="18" name="TextBox 17"/>
          <p:cNvSpPr txBox="1"/>
          <p:nvPr/>
        </p:nvSpPr>
        <p:spPr>
          <a:xfrm>
            <a:off x="3424428" y="5074920"/>
            <a:ext cx="2510028" cy="411480"/>
          </a:xfrm>
          <a:prstGeom prst="rect">
            <a:avLst/>
          </a:prstGeom>
          <a:noFill/>
        </p:spPr>
        <p:txBody>
          <a:bodyPr wrap="square">
            <a:spAutoFit/>
          </a:bodyPr>
          <a:lstStyle/>
          <a:p>
            <a:pPr algn="l"/>
            <a:r>
              <a:rPr sz="1100" b="1" i="1">
                <a:solidFill>
                  <a:srgbClr val="CC0000"/>
                </a:solidFill>
              </a:rPr>
              <a:t>This was an adoption failure.</a:t>
            </a:r>
          </a:p>
        </p:txBody>
      </p:sp>
      <p:sp>
        <p:nvSpPr>
          <p:cNvPr id="19" name="Rectangle 18"/>
          <p:cNvSpPr/>
          <p:nvPr/>
        </p:nvSpPr>
        <p:spPr>
          <a:xfrm>
            <a:off x="6163056"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6"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6" y="1618488"/>
            <a:ext cx="2510028" cy="347472"/>
          </a:xfrm>
          <a:prstGeom prst="rect">
            <a:avLst/>
          </a:prstGeom>
          <a:noFill/>
        </p:spPr>
        <p:txBody>
          <a:bodyPr wrap="square">
            <a:spAutoFit/>
          </a:bodyPr>
          <a:lstStyle/>
          <a:p>
            <a:pPr algn="l"/>
            <a:r>
              <a:rPr sz="1200" b="1" i="0">
                <a:solidFill>
                  <a:srgbClr val="FFFFFF"/>
                </a:solidFill>
              </a:rPr>
              <a:t>ACCOUNTABILITY</a:t>
            </a:r>
          </a:p>
        </p:txBody>
      </p:sp>
      <p:sp>
        <p:nvSpPr>
          <p:cNvPr id="22" name="TextBox 21"/>
          <p:cNvSpPr txBox="1"/>
          <p:nvPr/>
        </p:nvSpPr>
        <p:spPr>
          <a:xfrm>
            <a:off x="6254496" y="2084832"/>
            <a:ext cx="2510028" cy="365760"/>
          </a:xfrm>
          <a:prstGeom prst="rect">
            <a:avLst/>
          </a:prstGeom>
          <a:noFill/>
        </p:spPr>
        <p:txBody>
          <a:bodyPr wrap="square">
            <a:spAutoFit/>
          </a:bodyPr>
          <a:lstStyle/>
          <a:p>
            <a:pPr algn="l"/>
            <a:r>
              <a:rPr sz="1100" b="1" i="0">
                <a:solidFill>
                  <a:srgbClr val="CC0000"/>
                </a:solidFill>
              </a:rPr>
              <a:t>Behavior: Confront</a:t>
            </a:r>
          </a:p>
        </p:txBody>
      </p:sp>
      <p:sp>
        <p:nvSpPr>
          <p:cNvPr id="23" name="TextBox 22"/>
          <p:cNvSpPr txBox="1"/>
          <p:nvPr/>
        </p:nvSpPr>
        <p:spPr>
          <a:xfrm>
            <a:off x="6254496" y="2423160"/>
            <a:ext cx="2510028" cy="320040"/>
          </a:xfrm>
          <a:prstGeom prst="rect">
            <a:avLst/>
          </a:prstGeom>
          <a:noFill/>
        </p:spPr>
        <p:txBody>
          <a:bodyPr wrap="square">
            <a:spAutoFit/>
          </a:bodyPr>
          <a:lstStyle/>
          <a:p>
            <a:pPr algn="l"/>
            <a:r>
              <a:rPr sz="1000" b="0" i="1">
                <a:solidFill>
                  <a:srgbClr val="D0D0D0"/>
                </a:solidFill>
              </a:rPr>
              <a:t>3M Health Info Systems</a:t>
            </a:r>
          </a:p>
        </p:txBody>
      </p:sp>
      <p:sp>
        <p:nvSpPr>
          <p:cNvPr id="24" name="TextBox 23"/>
          <p:cNvSpPr txBox="1"/>
          <p:nvPr/>
        </p:nvSpPr>
        <p:spPr>
          <a:xfrm>
            <a:off x="6254496" y="2788920"/>
            <a:ext cx="2510028" cy="2194560"/>
          </a:xfrm>
          <a:prstGeom prst="rect">
            <a:avLst/>
          </a:prstGeom>
          <a:noFill/>
        </p:spPr>
        <p:txBody>
          <a:bodyPr wrap="square">
            <a:spAutoFit/>
          </a:bodyPr>
          <a:lstStyle/>
          <a:p>
            <a:pPr algn="l"/>
            <a:r>
              <a:rPr sz="1100" b="0" i="0">
                <a:solidFill>
                  <a:srgbClr val="FFFFFF"/>
                </a:solidFill>
              </a:rPr>
              <a:t>Early results were uneven. Customers stayed because they trusted transparent communication — same data, same room, same story across all stakeholders.</a:t>
            </a:r>
          </a:p>
        </p:txBody>
      </p:sp>
      <p:sp>
        <p:nvSpPr>
          <p:cNvPr id="25" name="TextBox 24"/>
          <p:cNvSpPr txBox="1"/>
          <p:nvPr/>
        </p:nvSpPr>
        <p:spPr>
          <a:xfrm>
            <a:off x="6254496" y="5074920"/>
            <a:ext cx="2510028" cy="411480"/>
          </a:xfrm>
          <a:prstGeom prst="rect">
            <a:avLst/>
          </a:prstGeom>
          <a:noFill/>
        </p:spPr>
        <p:txBody>
          <a:bodyPr wrap="square">
            <a:spAutoFit/>
          </a:bodyPr>
          <a:lstStyle/>
          <a:p>
            <a:pPr algn="l"/>
            <a:r>
              <a:rPr sz="1100" b="1" i="1">
                <a:solidFill>
                  <a:srgbClr val="CC0000"/>
                </a:solidFill>
              </a:rPr>
              <a:t>This was an accountability failure.</a:t>
            </a:r>
          </a:p>
        </p:txBody>
      </p:sp>
      <p:sp>
        <p:nvSpPr>
          <p:cNvPr id="26" name="Rectangle 25"/>
          <p:cNvSpPr/>
          <p:nvPr/>
        </p:nvSpPr>
        <p:spPr>
          <a:xfrm>
            <a:off x="8993124"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93124"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4564" y="1618488"/>
            <a:ext cx="2510028" cy="347472"/>
          </a:xfrm>
          <a:prstGeom prst="rect">
            <a:avLst/>
          </a:prstGeom>
          <a:noFill/>
        </p:spPr>
        <p:txBody>
          <a:bodyPr wrap="square">
            <a:spAutoFit/>
          </a:bodyPr>
          <a:lstStyle/>
          <a:p>
            <a:pPr algn="l"/>
            <a:r>
              <a:rPr sz="1200" b="1" i="0">
                <a:solidFill>
                  <a:srgbClr val="FFFFFF"/>
                </a:solidFill>
              </a:rPr>
              <a:t>ASSUMPTIONS</a:t>
            </a:r>
          </a:p>
        </p:txBody>
      </p:sp>
      <p:sp>
        <p:nvSpPr>
          <p:cNvPr id="29" name="TextBox 28"/>
          <p:cNvSpPr txBox="1"/>
          <p:nvPr/>
        </p:nvSpPr>
        <p:spPr>
          <a:xfrm>
            <a:off x="9084564" y="2084832"/>
            <a:ext cx="2510028" cy="365760"/>
          </a:xfrm>
          <a:prstGeom prst="rect">
            <a:avLst/>
          </a:prstGeom>
          <a:noFill/>
        </p:spPr>
        <p:txBody>
          <a:bodyPr wrap="square">
            <a:spAutoFit/>
          </a:bodyPr>
          <a:lstStyle/>
          <a:p>
            <a:pPr algn="l"/>
            <a:r>
              <a:rPr sz="1100" b="1" i="0">
                <a:solidFill>
                  <a:srgbClr val="CC0000"/>
                </a:solidFill>
              </a:rPr>
              <a:t>Behavior: Challenge</a:t>
            </a:r>
          </a:p>
        </p:txBody>
      </p:sp>
      <p:sp>
        <p:nvSpPr>
          <p:cNvPr id="30" name="TextBox 29"/>
          <p:cNvSpPr txBox="1"/>
          <p:nvPr/>
        </p:nvSpPr>
        <p:spPr>
          <a:xfrm>
            <a:off x="9084564" y="2423160"/>
            <a:ext cx="2510028" cy="320040"/>
          </a:xfrm>
          <a:prstGeom prst="rect">
            <a:avLst/>
          </a:prstGeom>
          <a:noFill/>
        </p:spPr>
        <p:txBody>
          <a:bodyPr wrap="square">
            <a:spAutoFit/>
          </a:bodyPr>
          <a:lstStyle/>
          <a:p>
            <a:pPr algn="l"/>
            <a:r>
              <a:rPr sz="1000" b="0" i="1">
                <a:solidFill>
                  <a:srgbClr val="D0D0D0"/>
                </a:solidFill>
              </a:rPr>
              <a:t>Air Methods</a:t>
            </a:r>
          </a:p>
        </p:txBody>
      </p:sp>
      <p:sp>
        <p:nvSpPr>
          <p:cNvPr id="31" name="TextBox 30"/>
          <p:cNvSpPr txBox="1"/>
          <p:nvPr/>
        </p:nvSpPr>
        <p:spPr>
          <a:xfrm>
            <a:off x="9084564" y="2788920"/>
            <a:ext cx="2510028" cy="2194560"/>
          </a:xfrm>
          <a:prstGeom prst="rect">
            <a:avLst/>
          </a:prstGeom>
          <a:noFill/>
        </p:spPr>
        <p:txBody>
          <a:bodyPr wrap="square">
            <a:spAutoFit/>
          </a:bodyPr>
          <a:lstStyle/>
          <a:p>
            <a:pPr algn="l"/>
            <a:r>
              <a:rPr sz="1100" b="0" i="0">
                <a:solidFill>
                  <a:srgbClr val="FFFFFF"/>
                </a:solidFill>
              </a:rPr>
              <a:t>Routing model built on 'strong systems data.' Area managers dismissed crew resistance as change-aversion. One direct conversation surfaced the fatal flaw.</a:t>
            </a:r>
          </a:p>
        </p:txBody>
      </p:sp>
      <p:sp>
        <p:nvSpPr>
          <p:cNvPr id="32" name="TextBox 31"/>
          <p:cNvSpPr txBox="1"/>
          <p:nvPr/>
        </p:nvSpPr>
        <p:spPr>
          <a:xfrm>
            <a:off x="9084564" y="5074920"/>
            <a:ext cx="2510028" cy="411480"/>
          </a:xfrm>
          <a:prstGeom prst="rect">
            <a:avLst/>
          </a:prstGeom>
          <a:noFill/>
        </p:spPr>
        <p:txBody>
          <a:bodyPr wrap="square">
            <a:spAutoFit/>
          </a:bodyPr>
          <a:lstStyle/>
          <a:p>
            <a:pPr algn="l"/>
            <a:r>
              <a:rPr sz="1100" b="1" i="1">
                <a:solidFill>
                  <a:srgbClr val="CC0000"/>
                </a:solidFill>
              </a:rPr>
              <a:t>This was an assumption failure.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183112" cy="685800"/>
          </a:xfrm>
          <a:prstGeom prst="rect">
            <a:avLst/>
          </a:prstGeom>
          <a:noFill/>
        </p:spPr>
        <p:txBody>
          <a:bodyPr wrap="square">
            <a:spAutoFit/>
          </a:bodyPr>
          <a:lstStyle/>
          <a:p>
            <a:pPr algn="ctr"/>
            <a:r>
              <a:rPr sz="3600" b="1" i="0">
                <a:solidFill>
                  <a:srgbClr val="101010"/>
                </a:solidFill>
              </a:rPr>
              <a:t>AI EXECUTION DIAGNOSTIC™</a:t>
            </a:r>
          </a:p>
        </p:txBody>
      </p:sp>
      <p:sp>
        <p:nvSpPr>
          <p:cNvPr id="4" name="TextBox 3"/>
          <p:cNvSpPr txBox="1"/>
          <p:nvPr/>
        </p:nvSpPr>
        <p:spPr>
          <a:xfrm>
            <a:off x="502920" y="868680"/>
            <a:ext cx="11183112" cy="411480"/>
          </a:xfrm>
          <a:prstGeom prst="rect">
            <a:avLst/>
          </a:prstGeom>
          <a:noFill/>
        </p:spPr>
        <p:txBody>
          <a:bodyPr wrap="square">
            <a:spAutoFit/>
          </a:bodyPr>
          <a:lstStyle/>
          <a:p>
            <a:pPr algn="ctr"/>
            <a:r>
              <a:rPr sz="1300" b="0" i="1">
                <a:solidFill>
                  <a:srgbClr val="555555"/>
                </a:solidFill>
              </a:rPr>
              <a:t>Score your AI initiative in 60 seconds  |  0 = Red  |  1 = Mixed  |  2 = Green  (per dimension, 0–8 total)</a:t>
            </a:r>
          </a:p>
        </p:txBody>
      </p:sp>
      <p:sp>
        <p:nvSpPr>
          <p:cNvPr id="5" name="Rectangle 4"/>
          <p:cNvSpPr/>
          <p:nvPr/>
        </p:nvSpPr>
        <p:spPr>
          <a:xfrm>
            <a:off x="502920"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481328"/>
            <a:ext cx="2473452" cy="347472"/>
          </a:xfrm>
          <a:prstGeom prst="rect">
            <a:avLst/>
          </a:prstGeom>
          <a:noFill/>
        </p:spPr>
        <p:txBody>
          <a:bodyPr wrap="square">
            <a:spAutoFit/>
          </a:bodyPr>
          <a:lstStyle/>
          <a:p>
            <a:pPr algn="l"/>
            <a:r>
              <a:rPr sz="1300" b="1" i="0">
                <a:solidFill>
                  <a:srgbClr val="FFFFFF"/>
                </a:solidFill>
              </a:rPr>
              <a:t>VISIBILITY</a:t>
            </a:r>
          </a:p>
        </p:txBody>
      </p:sp>
      <p:sp>
        <p:nvSpPr>
          <p:cNvPr id="8" name="TextBox 7"/>
          <p:cNvSpPr txBox="1"/>
          <p:nvPr/>
        </p:nvSpPr>
        <p:spPr>
          <a:xfrm>
            <a:off x="612648" y="1828800"/>
            <a:ext cx="2473452" cy="320040"/>
          </a:xfrm>
          <a:prstGeom prst="rect">
            <a:avLst/>
          </a:prstGeom>
          <a:noFill/>
        </p:spPr>
        <p:txBody>
          <a:bodyPr wrap="square">
            <a:spAutoFit/>
          </a:bodyPr>
          <a:lstStyle/>
          <a:p>
            <a:pPr algn="l"/>
            <a:r>
              <a:rPr sz="1100" b="0" i="1">
                <a:solidFill>
                  <a:srgbClr val="D0D0D0"/>
                </a:solidFill>
              </a:rPr>
              <a:t>What don't we see?</a:t>
            </a:r>
          </a:p>
        </p:txBody>
      </p:sp>
      <p:sp>
        <p:nvSpPr>
          <p:cNvPr id="9" name="Rectangle 8"/>
          <p:cNvSpPr/>
          <p:nvPr/>
        </p:nvSpPr>
        <p:spPr>
          <a:xfrm>
            <a:off x="612648"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86000"/>
            <a:ext cx="2171701" cy="274320"/>
          </a:xfrm>
          <a:prstGeom prst="rect">
            <a:avLst/>
          </a:prstGeom>
          <a:noFill/>
        </p:spPr>
        <p:txBody>
          <a:bodyPr wrap="square">
            <a:spAutoFit/>
          </a:bodyPr>
          <a:lstStyle/>
          <a:p>
            <a:pPr algn="l"/>
            <a:r>
              <a:rPr sz="1000" b="1" i="0">
                <a:solidFill>
                  <a:srgbClr val="CC0000"/>
                </a:solidFill>
              </a:rPr>
              <a:t>RED LIGHT</a:t>
            </a:r>
          </a:p>
        </p:txBody>
      </p:sp>
      <p:sp>
        <p:nvSpPr>
          <p:cNvPr id="11" name="TextBox 10"/>
          <p:cNvSpPr txBox="1"/>
          <p:nvPr/>
        </p:nvSpPr>
        <p:spPr>
          <a:xfrm>
            <a:off x="612648" y="2606040"/>
            <a:ext cx="2473452" cy="822960"/>
          </a:xfrm>
          <a:prstGeom prst="rect">
            <a:avLst/>
          </a:prstGeom>
          <a:noFill/>
        </p:spPr>
        <p:txBody>
          <a:bodyPr wrap="square">
            <a:spAutoFit/>
          </a:bodyPr>
          <a:lstStyle/>
          <a:p>
            <a:pPr algn="l"/>
            <a:r>
              <a:rPr sz="1100" b="0" i="0">
                <a:solidFill>
                  <a:srgbClr val="555555"/>
                </a:solidFill>
              </a:rPr>
              <a:t>Fragmented inputs,
hidden dependencies</a:t>
            </a:r>
          </a:p>
        </p:txBody>
      </p:sp>
      <p:sp>
        <p:nvSpPr>
          <p:cNvPr id="12" name="Rectangle 11"/>
          <p:cNvSpPr/>
          <p:nvPr/>
        </p:nvSpPr>
        <p:spPr>
          <a:xfrm>
            <a:off x="612648"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66160"/>
            <a:ext cx="2171701" cy="274320"/>
          </a:xfrm>
          <a:prstGeom prst="rect">
            <a:avLst/>
          </a:prstGeom>
          <a:noFill/>
        </p:spPr>
        <p:txBody>
          <a:bodyPr wrap="square">
            <a:spAutoFit/>
          </a:bodyPr>
          <a:lstStyle/>
          <a:p>
            <a:pPr algn="l"/>
            <a:r>
              <a:rPr sz="1000" b="1" i="0">
                <a:solidFill>
                  <a:srgbClr val="2E7D32"/>
                </a:solidFill>
              </a:rPr>
              <a:t>GREEN LIGHT</a:t>
            </a:r>
          </a:p>
        </p:txBody>
      </p:sp>
      <p:sp>
        <p:nvSpPr>
          <p:cNvPr id="14" name="TextBox 13"/>
          <p:cNvSpPr txBox="1"/>
          <p:nvPr/>
        </p:nvSpPr>
        <p:spPr>
          <a:xfrm>
            <a:off x="612648" y="3886200"/>
            <a:ext cx="2473452" cy="822960"/>
          </a:xfrm>
          <a:prstGeom prst="rect">
            <a:avLst/>
          </a:prstGeom>
          <a:noFill/>
        </p:spPr>
        <p:txBody>
          <a:bodyPr wrap="square">
            <a:spAutoFit/>
          </a:bodyPr>
          <a:lstStyle/>
          <a:p>
            <a:pPr algn="l"/>
            <a:r>
              <a:rPr sz="1100" b="0" i="0">
                <a:solidFill>
                  <a:srgbClr val="555555"/>
                </a:solidFill>
              </a:rPr>
              <a:t>Same inputs,
shared visibility</a:t>
            </a:r>
          </a:p>
        </p:txBody>
      </p:sp>
      <p:sp>
        <p:nvSpPr>
          <p:cNvPr id="15" name="Rectangle 14"/>
          <p:cNvSpPr/>
          <p:nvPr/>
        </p:nvSpPr>
        <p:spPr>
          <a:xfrm>
            <a:off x="3332988"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2988"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42716" y="1481328"/>
            <a:ext cx="2473452" cy="347472"/>
          </a:xfrm>
          <a:prstGeom prst="rect">
            <a:avLst/>
          </a:prstGeom>
          <a:noFill/>
        </p:spPr>
        <p:txBody>
          <a:bodyPr wrap="square">
            <a:spAutoFit/>
          </a:bodyPr>
          <a:lstStyle/>
          <a:p>
            <a:pPr algn="l"/>
            <a:r>
              <a:rPr sz="1300" b="1" i="0">
                <a:solidFill>
                  <a:srgbClr val="FFFFFF"/>
                </a:solidFill>
              </a:rPr>
              <a:t>ADOPTION</a:t>
            </a:r>
          </a:p>
        </p:txBody>
      </p:sp>
      <p:sp>
        <p:nvSpPr>
          <p:cNvPr id="18" name="TextBox 17"/>
          <p:cNvSpPr txBox="1"/>
          <p:nvPr/>
        </p:nvSpPr>
        <p:spPr>
          <a:xfrm>
            <a:off x="3442716" y="1828800"/>
            <a:ext cx="2473452" cy="320040"/>
          </a:xfrm>
          <a:prstGeom prst="rect">
            <a:avLst/>
          </a:prstGeom>
          <a:noFill/>
        </p:spPr>
        <p:txBody>
          <a:bodyPr wrap="square">
            <a:spAutoFit/>
          </a:bodyPr>
          <a:lstStyle/>
          <a:p>
            <a:pPr algn="l"/>
            <a:r>
              <a:rPr sz="1100" b="0" i="1">
                <a:solidFill>
                  <a:srgbClr val="D0D0D0"/>
                </a:solidFill>
              </a:rPr>
              <a:t>Are people using it?</a:t>
            </a:r>
          </a:p>
        </p:txBody>
      </p:sp>
      <p:sp>
        <p:nvSpPr>
          <p:cNvPr id="19" name="Rectangle 18"/>
          <p:cNvSpPr/>
          <p:nvPr/>
        </p:nvSpPr>
        <p:spPr>
          <a:xfrm>
            <a:off x="3442716"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4468" y="2286000"/>
            <a:ext cx="2171701" cy="274320"/>
          </a:xfrm>
          <a:prstGeom prst="rect">
            <a:avLst/>
          </a:prstGeom>
          <a:noFill/>
        </p:spPr>
        <p:txBody>
          <a:bodyPr wrap="square">
            <a:spAutoFit/>
          </a:bodyPr>
          <a:lstStyle/>
          <a:p>
            <a:pPr algn="l"/>
            <a:r>
              <a:rPr sz="1000" b="1" i="0">
                <a:solidFill>
                  <a:srgbClr val="CC0000"/>
                </a:solidFill>
              </a:rPr>
              <a:t>RED LIGHT</a:t>
            </a:r>
          </a:p>
        </p:txBody>
      </p:sp>
      <p:sp>
        <p:nvSpPr>
          <p:cNvPr id="21" name="TextBox 20"/>
          <p:cNvSpPr txBox="1"/>
          <p:nvPr/>
        </p:nvSpPr>
        <p:spPr>
          <a:xfrm>
            <a:off x="3442716" y="2606040"/>
            <a:ext cx="2473452" cy="822960"/>
          </a:xfrm>
          <a:prstGeom prst="rect">
            <a:avLst/>
          </a:prstGeom>
          <a:noFill/>
        </p:spPr>
        <p:txBody>
          <a:bodyPr wrap="square">
            <a:spAutoFit/>
          </a:bodyPr>
          <a:lstStyle/>
          <a:p>
            <a:pPr algn="l"/>
            <a:r>
              <a:rPr sz="1100" b="0" i="0">
                <a:solidFill>
                  <a:srgbClr val="555555"/>
                </a:solidFill>
              </a:rPr>
              <a:t>Workarounds,
parallel workflows</a:t>
            </a:r>
          </a:p>
        </p:txBody>
      </p:sp>
      <p:sp>
        <p:nvSpPr>
          <p:cNvPr id="22" name="Rectangle 21"/>
          <p:cNvSpPr/>
          <p:nvPr/>
        </p:nvSpPr>
        <p:spPr>
          <a:xfrm>
            <a:off x="3442716"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4468" y="3566160"/>
            <a:ext cx="2171701" cy="274320"/>
          </a:xfrm>
          <a:prstGeom prst="rect">
            <a:avLst/>
          </a:prstGeom>
          <a:noFill/>
        </p:spPr>
        <p:txBody>
          <a:bodyPr wrap="square">
            <a:spAutoFit/>
          </a:bodyPr>
          <a:lstStyle/>
          <a:p>
            <a:pPr algn="l"/>
            <a:r>
              <a:rPr sz="1000" b="1" i="0">
                <a:solidFill>
                  <a:srgbClr val="2E7D32"/>
                </a:solidFill>
              </a:rPr>
              <a:t>GREEN LIGHT</a:t>
            </a:r>
          </a:p>
        </p:txBody>
      </p:sp>
      <p:sp>
        <p:nvSpPr>
          <p:cNvPr id="24" name="TextBox 23"/>
          <p:cNvSpPr txBox="1"/>
          <p:nvPr/>
        </p:nvSpPr>
        <p:spPr>
          <a:xfrm>
            <a:off x="3442716" y="3886200"/>
            <a:ext cx="2473452" cy="822960"/>
          </a:xfrm>
          <a:prstGeom prst="rect">
            <a:avLst/>
          </a:prstGeom>
          <a:noFill/>
        </p:spPr>
        <p:txBody>
          <a:bodyPr wrap="square">
            <a:spAutoFit/>
          </a:bodyPr>
          <a:lstStyle/>
          <a:p>
            <a:pPr algn="l"/>
            <a:r>
              <a:rPr sz="1100" b="0" i="0">
                <a:solidFill>
                  <a:srgbClr val="555555"/>
                </a:solidFill>
              </a:rPr>
              <a:t>Same workflow,
consistent use</a:t>
            </a:r>
          </a:p>
        </p:txBody>
      </p:sp>
      <p:sp>
        <p:nvSpPr>
          <p:cNvPr id="25" name="Rectangle 24"/>
          <p:cNvSpPr/>
          <p:nvPr/>
        </p:nvSpPr>
        <p:spPr>
          <a:xfrm>
            <a:off x="6163056"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2784" y="1481328"/>
            <a:ext cx="2473452" cy="347472"/>
          </a:xfrm>
          <a:prstGeom prst="rect">
            <a:avLst/>
          </a:prstGeom>
          <a:noFill/>
        </p:spPr>
        <p:txBody>
          <a:bodyPr wrap="square">
            <a:spAutoFit/>
          </a:bodyPr>
          <a:lstStyle/>
          <a:p>
            <a:pPr algn="l"/>
            <a:r>
              <a:rPr sz="1300" b="1" i="0">
                <a:solidFill>
                  <a:srgbClr val="FFFFFF"/>
                </a:solidFill>
              </a:rPr>
              <a:t>ACCOUNTABILITY</a:t>
            </a:r>
          </a:p>
        </p:txBody>
      </p:sp>
      <p:sp>
        <p:nvSpPr>
          <p:cNvPr id="28" name="TextBox 27"/>
          <p:cNvSpPr txBox="1"/>
          <p:nvPr/>
        </p:nvSpPr>
        <p:spPr>
          <a:xfrm>
            <a:off x="6272784" y="1828800"/>
            <a:ext cx="2473452" cy="320040"/>
          </a:xfrm>
          <a:prstGeom prst="rect">
            <a:avLst/>
          </a:prstGeom>
          <a:noFill/>
        </p:spPr>
        <p:txBody>
          <a:bodyPr wrap="square">
            <a:spAutoFit/>
          </a:bodyPr>
          <a:lstStyle/>
          <a:p>
            <a:pPr algn="l"/>
            <a:r>
              <a:rPr sz="1100" b="0" i="1">
                <a:solidFill>
                  <a:srgbClr val="D0D0D0"/>
                </a:solidFill>
              </a:rPr>
              <a:t>Is it really working?</a:t>
            </a:r>
          </a:p>
        </p:txBody>
      </p:sp>
      <p:sp>
        <p:nvSpPr>
          <p:cNvPr id="29" name="Rectangle 28"/>
          <p:cNvSpPr/>
          <p:nvPr/>
        </p:nvSpPr>
        <p:spPr>
          <a:xfrm>
            <a:off x="6272784"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74536" y="2286000"/>
            <a:ext cx="2171701" cy="274320"/>
          </a:xfrm>
          <a:prstGeom prst="rect">
            <a:avLst/>
          </a:prstGeom>
          <a:noFill/>
        </p:spPr>
        <p:txBody>
          <a:bodyPr wrap="square">
            <a:spAutoFit/>
          </a:bodyPr>
          <a:lstStyle/>
          <a:p>
            <a:pPr algn="l"/>
            <a:r>
              <a:rPr sz="1000" b="1" i="0">
                <a:solidFill>
                  <a:srgbClr val="CC0000"/>
                </a:solidFill>
              </a:rPr>
              <a:t>RED LIGHT</a:t>
            </a:r>
          </a:p>
        </p:txBody>
      </p:sp>
      <p:sp>
        <p:nvSpPr>
          <p:cNvPr id="31" name="TextBox 30"/>
          <p:cNvSpPr txBox="1"/>
          <p:nvPr/>
        </p:nvSpPr>
        <p:spPr>
          <a:xfrm>
            <a:off x="6272784" y="2606040"/>
            <a:ext cx="2473452" cy="822960"/>
          </a:xfrm>
          <a:prstGeom prst="rect">
            <a:avLst/>
          </a:prstGeom>
          <a:noFill/>
        </p:spPr>
        <p:txBody>
          <a:bodyPr wrap="square">
            <a:spAutoFit/>
          </a:bodyPr>
          <a:lstStyle/>
          <a:p>
            <a:pPr algn="l"/>
            <a:r>
              <a:rPr sz="1100" b="0" i="0">
                <a:solidFill>
                  <a:srgbClr val="555555"/>
                </a:solidFill>
              </a:rPr>
              <a:t>Different data,
different stories</a:t>
            </a:r>
          </a:p>
        </p:txBody>
      </p:sp>
      <p:sp>
        <p:nvSpPr>
          <p:cNvPr id="32" name="Rectangle 31"/>
          <p:cNvSpPr/>
          <p:nvPr/>
        </p:nvSpPr>
        <p:spPr>
          <a:xfrm>
            <a:off x="6272784"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74536" y="3566160"/>
            <a:ext cx="2171701" cy="274320"/>
          </a:xfrm>
          <a:prstGeom prst="rect">
            <a:avLst/>
          </a:prstGeom>
          <a:noFill/>
        </p:spPr>
        <p:txBody>
          <a:bodyPr wrap="square">
            <a:spAutoFit/>
          </a:bodyPr>
          <a:lstStyle/>
          <a:p>
            <a:pPr algn="l"/>
            <a:r>
              <a:rPr sz="1000" b="1" i="0">
                <a:solidFill>
                  <a:srgbClr val="2E7D32"/>
                </a:solidFill>
              </a:rPr>
              <a:t>GREEN LIGHT</a:t>
            </a:r>
          </a:p>
        </p:txBody>
      </p:sp>
      <p:sp>
        <p:nvSpPr>
          <p:cNvPr id="34" name="TextBox 33"/>
          <p:cNvSpPr txBox="1"/>
          <p:nvPr/>
        </p:nvSpPr>
        <p:spPr>
          <a:xfrm>
            <a:off x="6272784" y="3886200"/>
            <a:ext cx="2473452" cy="822960"/>
          </a:xfrm>
          <a:prstGeom prst="rect">
            <a:avLst/>
          </a:prstGeom>
          <a:noFill/>
        </p:spPr>
        <p:txBody>
          <a:bodyPr wrap="square">
            <a:spAutoFit/>
          </a:bodyPr>
          <a:lstStyle/>
          <a:p>
            <a:pPr algn="l"/>
            <a:r>
              <a:rPr sz="1100" b="0" i="0">
                <a:solidFill>
                  <a:srgbClr val="555555"/>
                </a:solidFill>
              </a:rPr>
              <a:t>Same data,
same story</a:t>
            </a:r>
          </a:p>
        </p:txBody>
      </p:sp>
      <p:sp>
        <p:nvSpPr>
          <p:cNvPr id="35" name="Rectangle 34"/>
          <p:cNvSpPr/>
          <p:nvPr/>
        </p:nvSpPr>
        <p:spPr>
          <a:xfrm>
            <a:off x="8993124"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93124"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2852" y="1481328"/>
            <a:ext cx="2473452" cy="347472"/>
          </a:xfrm>
          <a:prstGeom prst="rect">
            <a:avLst/>
          </a:prstGeom>
          <a:noFill/>
        </p:spPr>
        <p:txBody>
          <a:bodyPr wrap="square">
            <a:spAutoFit/>
          </a:bodyPr>
          <a:lstStyle/>
          <a:p>
            <a:pPr algn="l"/>
            <a:r>
              <a:rPr sz="1300" b="1" i="0">
                <a:solidFill>
                  <a:srgbClr val="FFFFFF"/>
                </a:solidFill>
              </a:rPr>
              <a:t>ASSUMPTIONS</a:t>
            </a:r>
          </a:p>
        </p:txBody>
      </p:sp>
      <p:sp>
        <p:nvSpPr>
          <p:cNvPr id="38" name="TextBox 37"/>
          <p:cNvSpPr txBox="1"/>
          <p:nvPr/>
        </p:nvSpPr>
        <p:spPr>
          <a:xfrm>
            <a:off x="9102852" y="1828800"/>
            <a:ext cx="2473452" cy="320040"/>
          </a:xfrm>
          <a:prstGeom prst="rect">
            <a:avLst/>
          </a:prstGeom>
          <a:noFill/>
        </p:spPr>
        <p:txBody>
          <a:bodyPr wrap="square">
            <a:spAutoFit/>
          </a:bodyPr>
          <a:lstStyle/>
          <a:p>
            <a:pPr algn="l"/>
            <a:r>
              <a:rPr sz="1100" b="0" i="1">
                <a:solidFill>
                  <a:srgbClr val="D0D0D0"/>
                </a:solidFill>
              </a:rPr>
              <a:t>What are we assuming?</a:t>
            </a:r>
          </a:p>
        </p:txBody>
      </p:sp>
      <p:sp>
        <p:nvSpPr>
          <p:cNvPr id="39" name="Rectangle 38"/>
          <p:cNvSpPr/>
          <p:nvPr/>
        </p:nvSpPr>
        <p:spPr>
          <a:xfrm>
            <a:off x="9102852"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04604" y="2286000"/>
            <a:ext cx="2171701" cy="274320"/>
          </a:xfrm>
          <a:prstGeom prst="rect">
            <a:avLst/>
          </a:prstGeom>
          <a:noFill/>
        </p:spPr>
        <p:txBody>
          <a:bodyPr wrap="square">
            <a:spAutoFit/>
          </a:bodyPr>
          <a:lstStyle/>
          <a:p>
            <a:pPr algn="l"/>
            <a:r>
              <a:rPr sz="1000" b="1" i="0">
                <a:solidFill>
                  <a:srgbClr val="CC0000"/>
                </a:solidFill>
              </a:rPr>
              <a:t>RED LIGHT</a:t>
            </a:r>
          </a:p>
        </p:txBody>
      </p:sp>
      <p:sp>
        <p:nvSpPr>
          <p:cNvPr id="41" name="TextBox 40"/>
          <p:cNvSpPr txBox="1"/>
          <p:nvPr/>
        </p:nvSpPr>
        <p:spPr>
          <a:xfrm>
            <a:off x="9102852" y="2606040"/>
            <a:ext cx="2473452" cy="822960"/>
          </a:xfrm>
          <a:prstGeom prst="rect">
            <a:avLst/>
          </a:prstGeom>
          <a:noFill/>
        </p:spPr>
        <p:txBody>
          <a:bodyPr wrap="square">
            <a:spAutoFit/>
          </a:bodyPr>
          <a:lstStyle/>
          <a:p>
            <a:pPr algn="l"/>
            <a:r>
              <a:rPr sz="1100" b="0" i="0">
                <a:solidFill>
                  <a:srgbClr val="555555"/>
                </a:solidFill>
              </a:rPr>
              <a:t>Model trusted
over reality</a:t>
            </a:r>
          </a:p>
        </p:txBody>
      </p:sp>
      <p:sp>
        <p:nvSpPr>
          <p:cNvPr id="42" name="Rectangle 41"/>
          <p:cNvSpPr/>
          <p:nvPr/>
        </p:nvSpPr>
        <p:spPr>
          <a:xfrm>
            <a:off x="9102852"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04604" y="3566160"/>
            <a:ext cx="2171701" cy="274320"/>
          </a:xfrm>
          <a:prstGeom prst="rect">
            <a:avLst/>
          </a:prstGeom>
          <a:noFill/>
        </p:spPr>
        <p:txBody>
          <a:bodyPr wrap="square">
            <a:spAutoFit/>
          </a:bodyPr>
          <a:lstStyle/>
          <a:p>
            <a:pPr algn="l"/>
            <a:r>
              <a:rPr sz="1000" b="1" i="0">
                <a:solidFill>
                  <a:srgbClr val="2E7D32"/>
                </a:solidFill>
              </a:rPr>
              <a:t>GREEN LIGHT</a:t>
            </a:r>
          </a:p>
        </p:txBody>
      </p:sp>
      <p:sp>
        <p:nvSpPr>
          <p:cNvPr id="44" name="TextBox 43"/>
          <p:cNvSpPr txBox="1"/>
          <p:nvPr/>
        </p:nvSpPr>
        <p:spPr>
          <a:xfrm>
            <a:off x="9102852" y="3886200"/>
            <a:ext cx="2473452" cy="822960"/>
          </a:xfrm>
          <a:prstGeom prst="rect">
            <a:avLst/>
          </a:prstGeom>
          <a:noFill/>
        </p:spPr>
        <p:txBody>
          <a:bodyPr wrap="square">
            <a:spAutoFit/>
          </a:bodyPr>
          <a:lstStyle/>
          <a:p>
            <a:pPr algn="l"/>
            <a:r>
              <a:rPr sz="1100" b="0" i="0">
                <a:solidFill>
                  <a:srgbClr val="555555"/>
                </a:solidFill>
              </a:rPr>
              <a:t>Reality tested,
assumptions exposed</a:t>
            </a:r>
          </a:p>
        </p:txBody>
      </p:sp>
      <p:sp>
        <p:nvSpPr>
          <p:cNvPr id="45" name="Rectangle 44"/>
          <p:cNvSpPr/>
          <p:nvPr/>
        </p:nvSpPr>
        <p:spPr>
          <a:xfrm>
            <a:off x="502920" y="5394960"/>
            <a:ext cx="11183112"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486400"/>
            <a:ext cx="10817352" cy="457200"/>
          </a:xfrm>
          <a:prstGeom prst="rect">
            <a:avLst/>
          </a:prstGeom>
          <a:noFill/>
        </p:spPr>
        <p:txBody>
          <a:bodyPr wrap="square">
            <a:spAutoFit/>
          </a:bodyPr>
          <a:lstStyle/>
          <a:p>
            <a:pPr algn="ctr"/>
            <a:r>
              <a:rPr sz="1400" b="1" i="0">
                <a:solidFill>
                  <a:srgbClr val="FFFFFF"/>
                </a:solidFill>
              </a:rPr>
              <a:t>START WITH YOUR LOWEST SCORE — that's your highest-leverage leadership 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1183112" cy="685800"/>
          </a:xfrm>
          <a:prstGeom prst="rect">
            <a:avLst/>
          </a:prstGeom>
          <a:noFill/>
        </p:spPr>
        <p:txBody>
          <a:bodyPr wrap="square">
            <a:spAutoFit/>
          </a:bodyPr>
          <a:lstStyle/>
          <a:p>
            <a:pPr algn="l"/>
            <a:r>
              <a:rPr sz="3400" b="1" i="0">
                <a:solidFill>
                  <a:srgbClr val="101010"/>
                </a:solidFill>
              </a:rPr>
              <a:t>IF YOU SEE THIS, DO THIS</a:t>
            </a:r>
          </a:p>
        </p:txBody>
      </p:sp>
      <p:sp>
        <p:nvSpPr>
          <p:cNvPr id="4" name="TextBox 3"/>
          <p:cNvSpPr txBox="1"/>
          <p:nvPr/>
        </p:nvSpPr>
        <p:spPr>
          <a:xfrm>
            <a:off x="502920" y="868680"/>
            <a:ext cx="11183112" cy="365760"/>
          </a:xfrm>
          <a:prstGeom prst="rect">
            <a:avLst/>
          </a:prstGeom>
          <a:noFill/>
        </p:spPr>
        <p:txBody>
          <a:bodyPr wrap="square">
            <a:spAutoFit/>
          </a:bodyPr>
          <a:lstStyle/>
          <a:p>
            <a:pPr algn="l"/>
            <a:r>
              <a:rPr sz="1500" b="0" i="1">
                <a:solidFill>
                  <a:srgbClr val="555555"/>
                </a:solidFill>
              </a:rPr>
              <a:t>Concrete actions for each execution gap</a:t>
            </a:r>
          </a:p>
        </p:txBody>
      </p:sp>
      <p:sp>
        <p:nvSpPr>
          <p:cNvPr id="5" name="Rectangle 4"/>
          <p:cNvSpPr/>
          <p:nvPr/>
        </p:nvSpPr>
        <p:spPr>
          <a:xfrm>
            <a:off x="502920" y="1371600"/>
            <a:ext cx="11183112" cy="10972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37160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2560320" cy="411480"/>
          </a:xfrm>
          <a:prstGeom prst="rect">
            <a:avLst/>
          </a:prstGeom>
          <a:noFill/>
        </p:spPr>
        <p:txBody>
          <a:bodyPr wrap="square">
            <a:spAutoFit/>
          </a:bodyPr>
          <a:lstStyle/>
          <a:p>
            <a:pPr algn="l"/>
            <a:r>
              <a:rPr sz="1300" b="1" i="0">
                <a:solidFill>
                  <a:srgbClr val="101010"/>
                </a:solidFill>
              </a:rPr>
              <a:t>VISIBILITY GAP</a:t>
            </a:r>
          </a:p>
        </p:txBody>
      </p:sp>
      <p:sp>
        <p:nvSpPr>
          <p:cNvPr id="8" name="TextBox 7"/>
          <p:cNvSpPr txBox="1"/>
          <p:nvPr/>
        </p:nvSpPr>
        <p:spPr>
          <a:xfrm>
            <a:off x="640080" y="1874520"/>
            <a:ext cx="2560320" cy="502920"/>
          </a:xfrm>
          <a:prstGeom prst="rect">
            <a:avLst/>
          </a:prstGeom>
          <a:noFill/>
        </p:spPr>
        <p:txBody>
          <a:bodyPr wrap="square">
            <a:spAutoFit/>
          </a:bodyPr>
          <a:lstStyle/>
          <a:p>
            <a:pPr algn="l"/>
            <a:r>
              <a:rPr sz="1100" b="0" i="1">
                <a:solidFill>
                  <a:srgbClr val="555555"/>
                </a:solidFill>
              </a:rPr>
              <a:t>Fragmented inputs, hidden dependencies</a:t>
            </a:r>
          </a:p>
        </p:txBody>
      </p:sp>
      <p:sp>
        <p:nvSpPr>
          <p:cNvPr id="9" name="TextBox 8"/>
          <p:cNvSpPr txBox="1"/>
          <p:nvPr/>
        </p:nvSpPr>
        <p:spPr>
          <a:xfrm>
            <a:off x="3291840" y="1508760"/>
            <a:ext cx="8348472" cy="822960"/>
          </a:xfrm>
          <a:prstGeom prst="rect">
            <a:avLst/>
          </a:prstGeom>
          <a:noFill/>
        </p:spPr>
        <p:txBody>
          <a:bodyPr wrap="square">
            <a:spAutoFit/>
          </a:bodyPr>
          <a:lstStyle/>
          <a:p>
            <a:pPr algn="l"/>
            <a:r>
              <a:rPr sz="1200" b="0" i="0">
                <a:solidFill>
                  <a:srgbClr val="101010"/>
                </a:solidFill>
              </a:rPr>
              <a:t>• Map inputs end-to-end (who creates, changes, consumes)
• Assign ownership for each dependency — no invisible handoffs</a:t>
            </a:r>
          </a:p>
        </p:txBody>
      </p:sp>
      <p:sp>
        <p:nvSpPr>
          <p:cNvPr id="10" name="Rectangle 9"/>
          <p:cNvSpPr/>
          <p:nvPr/>
        </p:nvSpPr>
        <p:spPr>
          <a:xfrm>
            <a:off x="502920" y="2560320"/>
            <a:ext cx="11183112" cy="109728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56032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51760"/>
            <a:ext cx="2560320" cy="411480"/>
          </a:xfrm>
          <a:prstGeom prst="rect">
            <a:avLst/>
          </a:prstGeom>
          <a:noFill/>
        </p:spPr>
        <p:txBody>
          <a:bodyPr wrap="square">
            <a:spAutoFit/>
          </a:bodyPr>
          <a:lstStyle/>
          <a:p>
            <a:pPr algn="l"/>
            <a:r>
              <a:rPr sz="1300" b="1" i="0">
                <a:solidFill>
                  <a:srgbClr val="101010"/>
                </a:solidFill>
              </a:rPr>
              <a:t>ADOPTION GAP</a:t>
            </a:r>
          </a:p>
        </p:txBody>
      </p:sp>
      <p:sp>
        <p:nvSpPr>
          <p:cNvPr id="13" name="TextBox 12"/>
          <p:cNvSpPr txBox="1"/>
          <p:nvPr/>
        </p:nvSpPr>
        <p:spPr>
          <a:xfrm>
            <a:off x="640080" y="3063240"/>
            <a:ext cx="2560320" cy="502920"/>
          </a:xfrm>
          <a:prstGeom prst="rect">
            <a:avLst/>
          </a:prstGeom>
          <a:noFill/>
        </p:spPr>
        <p:txBody>
          <a:bodyPr wrap="square">
            <a:spAutoFit/>
          </a:bodyPr>
          <a:lstStyle/>
          <a:p>
            <a:pPr algn="l"/>
            <a:r>
              <a:rPr sz="1100" b="0" i="1">
                <a:solidFill>
                  <a:srgbClr val="555555"/>
                </a:solidFill>
              </a:rPr>
              <a:t>Workarounds, parallel workflows</a:t>
            </a:r>
          </a:p>
        </p:txBody>
      </p:sp>
      <p:sp>
        <p:nvSpPr>
          <p:cNvPr id="14" name="TextBox 13"/>
          <p:cNvSpPr txBox="1"/>
          <p:nvPr/>
        </p:nvSpPr>
        <p:spPr>
          <a:xfrm>
            <a:off x="3291840" y="2697480"/>
            <a:ext cx="8348472" cy="822960"/>
          </a:xfrm>
          <a:prstGeom prst="rect">
            <a:avLst/>
          </a:prstGeom>
          <a:noFill/>
        </p:spPr>
        <p:txBody>
          <a:bodyPr wrap="square">
            <a:spAutoFit/>
          </a:bodyPr>
          <a:lstStyle/>
          <a:p>
            <a:pPr algn="l"/>
            <a:r>
              <a:rPr sz="1200" b="0" i="0">
                <a:solidFill>
                  <a:srgbClr val="101010"/>
                </a:solidFill>
              </a:rPr>
              <a:t>• Standardize one way of working (remove optional paths)
• Make AI outputs explainable — users understand why, not just what</a:t>
            </a:r>
          </a:p>
        </p:txBody>
      </p:sp>
      <p:sp>
        <p:nvSpPr>
          <p:cNvPr id="15" name="Rectangle 14"/>
          <p:cNvSpPr/>
          <p:nvPr/>
        </p:nvSpPr>
        <p:spPr>
          <a:xfrm>
            <a:off x="502920" y="3749040"/>
            <a:ext cx="11183112" cy="10972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74904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40480"/>
            <a:ext cx="2560320" cy="411480"/>
          </a:xfrm>
          <a:prstGeom prst="rect">
            <a:avLst/>
          </a:prstGeom>
          <a:noFill/>
        </p:spPr>
        <p:txBody>
          <a:bodyPr wrap="square">
            <a:spAutoFit/>
          </a:bodyPr>
          <a:lstStyle/>
          <a:p>
            <a:pPr algn="l"/>
            <a:r>
              <a:rPr sz="1300" b="1" i="0">
                <a:solidFill>
                  <a:srgbClr val="101010"/>
                </a:solidFill>
              </a:rPr>
              <a:t>ACCOUNTABILITY GAP</a:t>
            </a:r>
          </a:p>
        </p:txBody>
      </p:sp>
      <p:sp>
        <p:nvSpPr>
          <p:cNvPr id="18" name="TextBox 17"/>
          <p:cNvSpPr txBox="1"/>
          <p:nvPr/>
        </p:nvSpPr>
        <p:spPr>
          <a:xfrm>
            <a:off x="640080" y="4251960"/>
            <a:ext cx="2560320" cy="502920"/>
          </a:xfrm>
          <a:prstGeom prst="rect">
            <a:avLst/>
          </a:prstGeom>
          <a:noFill/>
        </p:spPr>
        <p:txBody>
          <a:bodyPr wrap="square">
            <a:spAutoFit/>
          </a:bodyPr>
          <a:lstStyle/>
          <a:p>
            <a:pPr algn="l"/>
            <a:r>
              <a:rPr sz="1100" b="0" i="1">
                <a:solidFill>
                  <a:srgbClr val="555555"/>
                </a:solidFill>
              </a:rPr>
              <a:t>Different data, different stories</a:t>
            </a:r>
          </a:p>
        </p:txBody>
      </p:sp>
      <p:sp>
        <p:nvSpPr>
          <p:cNvPr id="19" name="TextBox 18"/>
          <p:cNvSpPr txBox="1"/>
          <p:nvPr/>
        </p:nvSpPr>
        <p:spPr>
          <a:xfrm>
            <a:off x="3291840" y="3886200"/>
            <a:ext cx="8348472" cy="822960"/>
          </a:xfrm>
          <a:prstGeom prst="rect">
            <a:avLst/>
          </a:prstGeom>
          <a:noFill/>
        </p:spPr>
        <p:txBody>
          <a:bodyPr wrap="square">
            <a:spAutoFit/>
          </a:bodyPr>
          <a:lstStyle/>
          <a:p>
            <a:pPr algn="l"/>
            <a:r>
              <a:rPr sz="1200" b="0" i="0">
                <a:solidFill>
                  <a:srgbClr val="101010"/>
                </a:solidFill>
              </a:rPr>
              <a:t>• Define one shared metric of success (visible to all stakeholders)
• Review results in one forum — same data, same conversation</a:t>
            </a:r>
          </a:p>
        </p:txBody>
      </p:sp>
      <p:sp>
        <p:nvSpPr>
          <p:cNvPr id="20" name="Rectangle 19"/>
          <p:cNvSpPr/>
          <p:nvPr/>
        </p:nvSpPr>
        <p:spPr>
          <a:xfrm>
            <a:off x="502920" y="4937760"/>
            <a:ext cx="11183112" cy="109728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93776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29200"/>
            <a:ext cx="2560320" cy="411480"/>
          </a:xfrm>
          <a:prstGeom prst="rect">
            <a:avLst/>
          </a:prstGeom>
          <a:noFill/>
        </p:spPr>
        <p:txBody>
          <a:bodyPr wrap="square">
            <a:spAutoFit/>
          </a:bodyPr>
          <a:lstStyle/>
          <a:p>
            <a:pPr algn="l"/>
            <a:r>
              <a:rPr sz="1300" b="1" i="0">
                <a:solidFill>
                  <a:srgbClr val="101010"/>
                </a:solidFill>
              </a:rPr>
              <a:t>ASSUMPTION GAP</a:t>
            </a:r>
          </a:p>
        </p:txBody>
      </p:sp>
      <p:sp>
        <p:nvSpPr>
          <p:cNvPr id="23" name="TextBox 22"/>
          <p:cNvSpPr txBox="1"/>
          <p:nvPr/>
        </p:nvSpPr>
        <p:spPr>
          <a:xfrm>
            <a:off x="640080" y="5440680"/>
            <a:ext cx="2560320" cy="502920"/>
          </a:xfrm>
          <a:prstGeom prst="rect">
            <a:avLst/>
          </a:prstGeom>
          <a:noFill/>
        </p:spPr>
        <p:txBody>
          <a:bodyPr wrap="square">
            <a:spAutoFit/>
          </a:bodyPr>
          <a:lstStyle/>
          <a:p>
            <a:pPr algn="l"/>
            <a:r>
              <a:rPr sz="1100" b="0" i="1">
                <a:solidFill>
                  <a:srgbClr val="555555"/>
                </a:solidFill>
              </a:rPr>
              <a:t>Model trusted over reality</a:t>
            </a:r>
          </a:p>
        </p:txBody>
      </p:sp>
      <p:sp>
        <p:nvSpPr>
          <p:cNvPr id="24" name="TextBox 23"/>
          <p:cNvSpPr txBox="1"/>
          <p:nvPr/>
        </p:nvSpPr>
        <p:spPr>
          <a:xfrm>
            <a:off x="3291840" y="5074920"/>
            <a:ext cx="8348472" cy="822960"/>
          </a:xfrm>
          <a:prstGeom prst="rect">
            <a:avLst/>
          </a:prstGeom>
          <a:noFill/>
        </p:spPr>
        <p:txBody>
          <a:bodyPr wrap="square">
            <a:spAutoFit/>
          </a:bodyPr>
          <a:lstStyle/>
          <a:p>
            <a:pPr algn="l"/>
            <a:r>
              <a:rPr sz="1200" b="0" i="0">
                <a:solidFill>
                  <a:srgbClr val="101010"/>
                </a:solidFill>
              </a:rPr>
              <a:t>• Test outputs in real conditions, not just system data
• Create weekly feedback loop from frontline users — not ad hoc</a:t>
            </a:r>
          </a:p>
        </p:txBody>
      </p:sp>
      <p:sp>
        <p:nvSpPr>
          <p:cNvPr id="25" name="Rectangle 24"/>
          <p:cNvSpPr/>
          <p:nvPr/>
        </p:nvSpPr>
        <p:spPr>
          <a:xfrm>
            <a:off x="502920" y="6309360"/>
            <a:ext cx="11183112"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355080"/>
            <a:ext cx="11183112" cy="411480"/>
          </a:xfrm>
          <a:prstGeom prst="rect">
            <a:avLst/>
          </a:prstGeom>
          <a:noFill/>
        </p:spPr>
        <p:txBody>
          <a:bodyPr wrap="square">
            <a:spAutoFit/>
          </a:bodyPr>
          <a:lstStyle/>
          <a:p>
            <a:pPr algn="ctr"/>
            <a:r>
              <a:rPr sz="1300" b="1" i="1">
                <a:solidFill>
                  <a:srgbClr val="CC0000"/>
                </a:solidFill>
              </a:rPr>
              <a:t>AI succeeds where these conversations happen. It fails where they don't.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010"/>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57200"/>
            <a:ext cx="2743200" cy="5029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521207"/>
            <a:ext cx="2560320" cy="384048"/>
          </a:xfrm>
          <a:prstGeom prst="rect">
            <a:avLst/>
          </a:prstGeom>
          <a:noFill/>
        </p:spPr>
        <p:txBody>
          <a:bodyPr wrap="square">
            <a:spAutoFit/>
          </a:bodyPr>
          <a:lstStyle/>
          <a:p>
            <a:pPr algn="l"/>
            <a:r>
              <a:rPr sz="1200" b="1" i="0">
                <a:solidFill>
                  <a:srgbClr val="FFFFFF"/>
                </a:solidFill>
              </a:rPr>
              <a:t>OPERATOR PERSPECTIVE</a:t>
            </a:r>
          </a:p>
        </p:txBody>
      </p:sp>
      <p:sp>
        <p:nvSpPr>
          <p:cNvPr id="5" name="TextBox 4"/>
          <p:cNvSpPr txBox="1"/>
          <p:nvPr/>
        </p:nvSpPr>
        <p:spPr>
          <a:xfrm>
            <a:off x="502920" y="1188720"/>
            <a:ext cx="5029200" cy="2011680"/>
          </a:xfrm>
          <a:prstGeom prst="rect">
            <a:avLst/>
          </a:prstGeom>
          <a:noFill/>
        </p:spPr>
        <p:txBody>
          <a:bodyPr wrap="square">
            <a:spAutoFit/>
          </a:bodyPr>
          <a:lstStyle/>
          <a:p>
            <a:pPr algn="l"/>
            <a:r>
              <a:rPr sz="4400" b="1" i="0">
                <a:solidFill>
                  <a:srgbClr val="FFFFFF"/>
                </a:solidFill>
              </a:rPr>
              <a:t>WHERE IS YOUR
AI BREAKING?</a:t>
            </a:r>
          </a:p>
        </p:txBody>
      </p:sp>
      <p:sp>
        <p:nvSpPr>
          <p:cNvPr id="6" name="TextBox 5"/>
          <p:cNvSpPr txBox="1"/>
          <p:nvPr/>
        </p:nvSpPr>
        <p:spPr>
          <a:xfrm>
            <a:off x="502920" y="3200400"/>
            <a:ext cx="5029200" cy="640080"/>
          </a:xfrm>
          <a:prstGeom prst="rect">
            <a:avLst/>
          </a:prstGeom>
          <a:noFill/>
        </p:spPr>
        <p:txBody>
          <a:bodyPr wrap="square">
            <a:spAutoFit/>
          </a:bodyPr>
          <a:lstStyle/>
          <a:p>
            <a:pPr algn="l"/>
            <a:r>
              <a:rPr sz="2200" b="0" i="1">
                <a:solidFill>
                  <a:srgbClr val="CC0000"/>
                </a:solidFill>
              </a:rPr>
              <a:t>That's your leadership opportunity.</a:t>
            </a:r>
          </a:p>
        </p:txBody>
      </p:sp>
      <p:sp>
        <p:nvSpPr>
          <p:cNvPr id="7" name="Rectangle 6"/>
          <p:cNvSpPr/>
          <p:nvPr/>
        </p:nvSpPr>
        <p:spPr>
          <a:xfrm>
            <a:off x="6400800" y="457200"/>
            <a:ext cx="5303520" cy="5120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685800"/>
            <a:ext cx="4937760" cy="4663440"/>
          </a:xfrm>
          <a:prstGeom prst="rect">
            <a:avLst/>
          </a:prstGeom>
          <a:noFill/>
        </p:spPr>
        <p:txBody>
          <a:bodyPr wrap="square">
            <a:spAutoFit/>
          </a:bodyPr>
          <a:lstStyle/>
          <a:p>
            <a:pPr algn="l"/>
            <a:r>
              <a:rPr sz="1600" b="1">
                <a:solidFill>
                  <a:srgbClr val="FFFFFF"/>
                </a:solidFill>
              </a:rPr>
              <a:t>Diagnose against the four dimensions:</a:t>
            </a:r>
          </a:p>
          <a:p>
            <a:pPr algn="l"/>
            <a:r>
              <a:rPr sz="1600" b="0">
                <a:solidFill>
                  <a:srgbClr val="FFFFFF"/>
                </a:solidFill>
              </a:rPr>
              <a:t/>
            </a:r>
          </a:p>
          <a:p>
            <a:pPr algn="l"/>
            <a:r>
              <a:rPr sz="1600" b="0">
                <a:solidFill>
                  <a:srgbClr val="FFFFFF"/>
                </a:solidFill>
              </a:rPr>
              <a:t>•  Visibility — what are we not seeing?</a:t>
            </a:r>
          </a:p>
          <a:p>
            <a:pPr algn="l"/>
            <a:r>
              <a:rPr sz="1600" b="0">
                <a:solidFill>
                  <a:srgbClr val="FFFFFF"/>
                </a:solidFill>
              </a:rPr>
              <a:t>•  Adoption — are people actually using it?</a:t>
            </a:r>
          </a:p>
          <a:p>
            <a:pPr algn="l"/>
            <a:r>
              <a:rPr sz="1600" b="0">
                <a:solidFill>
                  <a:srgbClr val="FFFFFF"/>
                </a:solidFill>
              </a:rPr>
              <a:t>•  Accountability — does one shared story exist?</a:t>
            </a:r>
          </a:p>
          <a:p>
            <a:pPr algn="l"/>
            <a:r>
              <a:rPr sz="1600" b="0">
                <a:solidFill>
                  <a:srgbClr val="FFFFFF"/>
                </a:solidFill>
              </a:rPr>
              <a:t>•  Assumptions — is the model grounded in reality?</a:t>
            </a:r>
          </a:p>
          <a:p>
            <a:pPr algn="l"/>
            <a:r>
              <a:rPr sz="1600" b="0">
                <a:solidFill>
                  <a:srgbClr val="FFFFFF"/>
                </a:solidFill>
              </a:rPr>
              <a:t/>
            </a:r>
          </a:p>
          <a:p>
            <a:pPr algn="l"/>
            <a:r>
              <a:rPr sz="1600" b="1">
                <a:solidFill>
                  <a:srgbClr val="CC0000"/>
                </a:solidFill>
              </a:rPr>
              <a:t>Use this diagnostic to see it faster and fix it.</a:t>
            </a:r>
          </a:p>
        </p:txBody>
      </p:sp>
      <p:sp>
        <p:nvSpPr>
          <p:cNvPr id="9" name="Rectangle 8"/>
          <p:cNvSpPr/>
          <p:nvPr/>
        </p:nvSpPr>
        <p:spPr>
          <a:xfrm>
            <a:off x="0" y="5760720"/>
            <a:ext cx="12188952"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852160"/>
            <a:ext cx="11183112" cy="914400"/>
          </a:xfrm>
          <a:prstGeom prst="rect">
            <a:avLst/>
          </a:prstGeom>
          <a:noFill/>
        </p:spPr>
        <p:txBody>
          <a:bodyPr wrap="square">
            <a:spAutoFit/>
          </a:bodyPr>
          <a:lstStyle/>
          <a:p>
            <a:pPr algn="ctr"/>
            <a:r>
              <a:rPr sz="1600" b="1" i="0">
                <a:solidFill>
                  <a:srgbClr val="FFFFFF"/>
                </a:solidFill>
              </a:rPr>
              <a:t>AI promises unprecedented intelligence.
Your organization's agile people will turn that intelligence into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