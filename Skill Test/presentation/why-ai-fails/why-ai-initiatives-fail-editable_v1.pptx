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28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FFFFFF"/>
                </a:solidFill>
                <a:latin typeface="Helvetica Neue"/>
              </a:defRPr>
            </a:pPr>
            <a:r>
              <a:t>Why AI Initiatives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Cultural Debt Is Your Biggest AI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BBBBFF"/>
                </a:solidFill>
                <a:latin typeface="Helvetica Neue"/>
              </a:defRPr>
            </a:pPr>
            <a:r>
              <a:t>The hidden organizational drag on AI ROI — and how to unwind it | BTS-DTS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AI initiatives fail at a 95% rate — not because of technology, but because organizations deploy 2026 tools inside 2019 cultures. Cultural debt is the silent compounding force behind every stalled pilot and every missed ROI target.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239204"/>
              </p:ext>
            </p:extLst>
          </p:nvPr>
        </p:nvGraphicFramePr>
        <p:xfrm>
          <a:off x="548640" y="1737360"/>
          <a:ext cx="10972800" cy="3468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Problem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Root Cause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Fix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rPr dirty="0"/>
                        <a:t>1 in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rPr dirty="0"/>
                        <a:t>Cultural Debt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rPr dirty="0"/>
                        <a:t>Behavioral Agility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Only 25% of AI initiatives deliver expected ROI. Technology works; adoption doesn't.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Unresolved habits, unexamined processes, and unspoken assumptions silently compound — encoding inefficiency into every AI workflow.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rPr dirty="0"/>
                        <a:t>Organizations that align all six sources of behavioral influence are 10x more likely to achieve rapid change.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$Billions Wasted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Bureaucratic Antibodies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rPr dirty="0"/>
                        <a:t>Treat It Like Technical Debt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90% of organizations use AI, yet few report scaled enterprise impact. The gap is widening.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Middle managers whose authority depends on current workflows predictably sabotage pilots — not maliciously, but rationally.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rPr dirty="0"/>
                        <a:t>Audit cultural debt. Redesign incentives. Rebuild workflows from the outcome backward.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Sources: IBM Global AI Survey (2025); McKinsey State of AI (2025); HBR (2025); Shelly Palmer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508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The ROI Gap — What the Data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31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Cultural Debt — The Hidden Compounding Force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92608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154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Bureaucratic Antibodies — How Pilots Get Killed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4904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977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Six Sources of Influence — The Behavioral Lever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57200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800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Unwinding Cultural Debt — The Path Forward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39496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ROI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Only 1 in 4 AI Initiatives Deliver Expected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Helvetica Neue"/>
              </a:defRPr>
            </a:pPr>
            <a:r>
              <a:t>The technology is not the bottleneck. Organizational readiness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1 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Deliver Expected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IBM: only 25% of AI initiatives meet ROI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Fail to Deliver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HBR: failures from "technosolutionism" — assuming better tools solve org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Use AI Somewhere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McKinsey: deployed everywhere, scaled nowhere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Use GenAI 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Wharton: leaders use it regularly, orgs haven't 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The pattern: AI tools are advancing rapidly. Human systems are 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Sources: IBM/Fortune (2025); HBR, De Cremer et al. (2025); McKinsey Global Survey (2025); Wharton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Cultural Debt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Cultural Debt Compounds Silently Until It Becomes Your Biggest AI Constraint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endParaRPr/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Technical Debt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Cultural Debt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Outdated infrastructure, legacy code, integration gaps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Unresolved habits, unexamined processes, unspoken assumptions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Visibility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Visible in architecture reviews and incident reports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Invisible — masquerades as "how we do things"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Who Fixes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Engineers can measure and fix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Leadership must surface and confront it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Solution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Modernization and refactoring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Incentive redesign and behavioral change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Impact on AI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Slows deployment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Prevents adoption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4297680"/>
            <a:ext cx="10972800" cy="9144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1">
                <a:solidFill>
                  <a:srgbClr val="000050"/>
                </a:solidFill>
                <a:latin typeface="Helvetica Neue"/>
              </a:defRPr>
            </a:pPr>
            <a:r>
              <a:t>"If you are asking a 2026 technology to operate inside a 2019 culture, the culture will win every time." — Shelly Palmer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AI agents are ruthlessly literal. They encode and deepen cultural debt: the unnecessary sign-offs, the hedging language from a forgotten complaint, the approval chain no one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Bureaucratic Antibodies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Bureaucratic Antibodies Kill AI Pilots in 3 Predictable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Process owners whose authority depends on current workflows are not saboteurs — their incentives are entirely rational.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164592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Step 1: Narrow the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The pilot gets scoped so narrowly it cannot demonstrate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645920"/>
            <a:ext cx="3474720" cy="164592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Step 2: Expand the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AI is measured against standards no human employee has ever met.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645920"/>
            <a:ext cx="3474720" cy="164592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9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Step 3: Declare "Promising but Premature"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Everyone returns to the process they already know. Cultural debt compounds.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0050"/>
                </a:solidFill>
                <a:latin typeface="Helvetica Neue"/>
              </a:defRPr>
            </a:pPr>
            <a:r>
              <a:t>"It is difficult to get a man to understand something when his job depends on him not understanding it." — Upton Sinclair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The Electrification Parallel: Electric power was demonstrated in 1880. Factory productivity gains didn't materialize until the 1920s. The lag was not technological — factories had to be physically rebuilt, and the foremen retrained. We are in the same reorganization gap now, except the reorganization is cultural.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Source: Shelly Palmer, "Unwinding Cultural Debt" (2026)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Six Sources of Influence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Behavioral Agility Requires Aligning All Six Sources of Influence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Fastest adopters are 12x quicker at turning ideas into habits. The six-source approach increases odds of rapid change 10x.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endParaRPr/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Motivation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Ability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Personal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Reframe AI from "threat" to "strategic advantage" through storytelling and direct experience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Hands-on workshops: practice prompting, validating, integrating AI into real workflows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Social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Respected leaders visibly model AI use — shift from "optional innovation" to "how high performers operate"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Cross-functional AI councils: reduce fear, increase trust, accelerate responsible adoption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Structural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Tie AI adoption to promotion criteria — reward adoption, not just experimentation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Embed AI into existing workflows — make adoption automatic; require HITL eval as job function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50"/>
                </a:solidFill>
                <a:latin typeface="Helvetica Neue"/>
              </a:defRPr>
            </a:pPr>
            <a:r>
              <a:t>If even one source is misaligned, adoption stalls. If several are misaligned, it fails entirely.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Sources: Crucial Learning (2026); Grenny, Maxfield, Shimberg — MIT Sloan Management Review (2008)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Path 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Unwind Cultural Debt With the Same Rigor as Technical Debt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ROI on AI always accurately reflects what an organization's cultural debt allows.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41148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Phase 1 —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33AA"/>
                </a:solidFill>
                <a:latin typeface="Helvetica Neue"/>
              </a:defRPr>
            </a:pPr>
            <a:r>
              <a:t>Now — This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Helvetica Neue"/>
              </a:defRPr>
            </a:pPr>
            <a:r>
              <a:t>Surface hidden cultural debt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Map every process AI will touch. Identify "antibodies" — roles whose authority depends on current workflows. Ask: "Would this step exist if we built from scratch?"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Approve cultural debt audit as mandatory companion to every AI-First initiative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463040"/>
            <a:ext cx="3474720" cy="41148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Phase 2 — Redesign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33AA"/>
                </a:solidFill>
                <a:latin typeface="Helvetica Neue"/>
              </a:defRPr>
            </a:pPr>
            <a:r>
              <a:t>Months 2–3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Helvetica Neue"/>
              </a:defRPr>
            </a:pPr>
            <a:r>
              <a:t>Realign incentives and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Redesign incentive structures: reward adoption, not experimentation. Pay people to learn evals and HITL review. Rebuild workflows from outcome backward.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Success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663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Adoption rate up, antibody resistance down, delivery speed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463040"/>
            <a:ext cx="3474720" cy="41148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Phase 3 — Embed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333AA"/>
                </a:solidFill>
                <a:latin typeface="Helvetica Neue"/>
              </a:defRPr>
            </a:pPr>
            <a:r>
              <a:t>Month 4 Onwards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Helvetica Neue"/>
              </a:defRPr>
            </a:pPr>
            <a:r>
              <a:t>Make behavioral agility permanent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743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Integrate Six Sources into every AI initiative launch. Build cultural debt audits into POD operating cadence. Measure behavioral change alongside delivery.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Long-term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663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AI ROI reflects organizational capacity, not just technical 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Three Actions This Quarter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0" cy="118872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50"/>
                </a:solidFill>
                <a:latin typeface="Helvetica Neue"/>
              </a:defRPr>
            </a:pPr>
            <a:r>
              <a:t>1. Add a Cultural Debt Audit to every AI-First POD kickoff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Surface unexamined processes before encoding them into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Architecture + POD Leads  |  By: End of quarter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10972800" cy="11887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50"/>
                </a:solidFill>
                <a:latin typeface="Helvetica Neue"/>
              </a:defRPr>
            </a:pPr>
            <a:r>
              <a:t>2. Redesign one incentive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Tie responsible AI adoption to performance reviews and promotion criteria.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HR + Transformation Steering Committee  |  By: Next performance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0972800" cy="118872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50"/>
                </a:solidFill>
                <a:latin typeface="Helvetica Neue"/>
              </a:defRPr>
            </a:pPr>
            <a:r>
              <a:t>3. Run a "Future-Back" workflow design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Force one POD to design assuming AI is primary producer, humans evaluate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AI Workflow Orchestrators  |  By: Within 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000050"/>
                </a:solidFill>
                <a:latin typeface="Helvetica Neue"/>
              </a:defRPr>
            </a:pPr>
            <a:r>
              <a:t>The question is not whether you've invested in AI. The question is whether you've invested in the human system required to make it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FFFFFF"/>
                </a:solidFill>
                <a:latin typeface="Helvetica Neue"/>
              </a:defRPr>
            </a:pPr>
            <a:r>
              <a:t>Appendix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Anticipated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"Isn't this just change management?"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005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Traditional change management covers 2 of 6 influence sources. That's why it fails. Cultural debt requires all six.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"How do we measure cultural debt?"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0116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Three proxies: (1) Time from pilot to production. (2) Process steps no one can explain. (3) Gap between AI deployed vs. AI used weekly.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"Won't this slow down AI-First delivery?"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0175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The opposite. Cultural debt IS the bottleneck. Every "promising but premature" verdict costs more than an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"Are middle managers the problem?"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0233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No. Their incentives are. Redesign the incentives and the antibody response disappears.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"How does this connect to our AI-First Operating Model?"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0292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The operating model defines WHAT. Cultural debt unwinding defines WHETHER it gets adopted.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Key Statistics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Only 1 in 4 AI initiatives deliver expected ROI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IBM Global AI Survey / Fortune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95% of AI initiatives fail to deliver value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HBR — De Cremer, Schweitzer et al.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90% of orgs use AI in at least one function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McKinsey State of AI Global Survey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82% of leaders use GenAI weekly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Wharton AI Adoption Report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12x faster adoption in agile organizations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Crucial Learning (1,700+ professionals)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10x higher odds with six-source approach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MIT Sloan Management Review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2008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Electrification: 40-year reorganization gap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Economic historians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Historical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1528</Words>
  <Application>Microsoft Macintosh PowerPoint</Application>
  <PresentationFormat>Widescreen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Gundlapalli, Lalitha</cp:lastModifiedBy>
  <cp:revision>2</cp:revision>
  <dcterms:created xsi:type="dcterms:W3CDTF">2013-01-27T09:14:16Z</dcterms:created>
  <dcterms:modified xsi:type="dcterms:W3CDTF">2026-04-14T01:21:48Z</dcterms:modified>
  <cp:category/>
</cp:coreProperties>
</file>