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FFFFFF"/>
                </a:solidFill>
                <a:latin typeface="Helvetica Neue"/>
              </a:defRPr>
            </a:pPr>
            <a:r>
              <a:t>Why AI Initiatives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 i="0">
                <a:solidFill>
                  <a:srgbClr val="FFFFFF"/>
                </a:solidFill>
                <a:latin typeface="Helvetica Neue"/>
              </a:defRPr>
            </a:pPr>
            <a:r>
              <a:t>And How Cultural Debt Silently Kills Your AI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BBBBFF"/>
                </a:solidFill>
                <a:latin typeface="Helvetica Neue"/>
              </a:defRPr>
            </a:pPr>
            <a:r>
              <a:t>A Six Sources of Influence perspective on what's really blocking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999CC"/>
                </a:solidFill>
                <a:latin typeface="Helvetica Neue"/>
              </a:defRPr>
            </a:pPr>
            <a:r>
              <a:t>BTS-DTS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00050"/>
                </a:solidFill>
                <a:latin typeface="Helvetica Neue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95% of AI initiatives fail — not from bad technology, but from cultural debt: the unresolved habits, broken incentives, and silent resistance that block adoption. The Six Sources of Influence framework diagnoses exactly where adoption breaks and prescribes how to fix it.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Problem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Root Cause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Framework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1 in 4 deliver expected ROI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Cultural Debt compounds silently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Six Sources of Influence</a:t>
                      </a:r>
                    </a:p>
                  </a:txBody>
                  <a:tcPr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Technology works. Behavior doesn't change. 90% of orgs deploy AI; few see scaled impact.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Unresolved habits, misaligned incentives, and "bureaucratic antibodies" encode dysfunction into AI workflows.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Behavior is shaped by 6 forces: personal, social, and structural — each with motivation and ability. Miss one, adoption stalls.</a:t>
                      </a:r>
                    </a:p>
                  </a:txBody>
                  <a:tcPr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$Billions Wasted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Invisible Until It's Too Late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10x Higher Odds of Success</a:t>
                      </a:r>
                    </a:p>
                  </a:txBody>
                  <a:tcPr>
                    <a:noFill/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Every stalled pilot and "promising but premature" verdict is cultural debt collecting interest.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It masquerades as "how we do things" — nobody questions it until AI makes it visible.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Leaders who engage all 6 sources are 10x more likely to drive rapid behavioral change.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Sources: IBM/Fortune (2025); McKinsey (2025); HBR (2025); Crucial Learning (2026); Shelly Palmer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 i="0">
                <a:solidFill>
                  <a:srgbClr val="000050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417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The Numbers — Why 95% of AI Initiatives Fail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Cultural Debt — The Hidden Force Behind the Failures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88036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1546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The Six Sources Framework — Where Adoption Breaks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4904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402335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Diagnosing Your Cultural Debt Through Six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617719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8920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A1A1A"/>
                </a:solidFill>
                <a:latin typeface="Helvetica Neue"/>
              </a:defRPr>
            </a:pPr>
            <a:r>
              <a:t>Unwinding It — Source by 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5486400"/>
            <a:ext cx="914400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Numbers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Only 1 in 4 AI Initiatives Deliver Expected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1A"/>
                </a:solidFill>
                <a:latin typeface="Helvetica Neue"/>
              </a:defRPr>
            </a:pPr>
            <a:r>
              <a:t>The technology is not the bottleneck. Organizational readiness 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1 in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Deliver Expected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IBM: despite massive investment, 75%</a:t>
            </a:r>
            <a:br/>
            <a:r>
              <a:t>miss their ROI 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Fail to Deliver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32004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HBR: leaders default to</a:t>
            </a:r>
            <a:br/>
            <a:r>
              <a:t>"technosolutionism"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Use AI Somewhere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2004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McKinsey: deployed everywhere,</a:t>
            </a:r>
            <a:br/>
            <a:r>
              <a:t>scaled nowhere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00050"/>
                </a:solidFill>
                <a:latin typeface="Helvetica Neue"/>
              </a:defRPr>
            </a:pPr>
            <a:r>
              <a:t>82%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6517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3333AA"/>
                </a:solidFill>
                <a:latin typeface="Helvetica Neue"/>
              </a:defRPr>
            </a:pPr>
            <a:r>
              <a:t>Use GenAI Weekly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20040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Wharton: leaders use it,</a:t>
            </a:r>
            <a:br/>
            <a:r>
              <a:t>but orgs haven't changed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72000"/>
            <a:ext cx="10972800" cy="64008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00050"/>
                </a:solidFill>
                <a:latin typeface="Helvetica Neue"/>
              </a:defRPr>
            </a:pPr>
            <a:r>
              <a:t>AI tools are advancing rapidly. Human systems are not. The gap is where value dies.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Sources: IBM/Fortune (2025); HBR, De Cremer et al. (2025); McKinsey (2025); Wharton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Cultural Debt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Technical Debt Is an Engineering Problem. Cultural Debt Is a Leadership Problem.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5303520" cy="320040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50"/>
                </a:solidFill>
                <a:latin typeface="Helvetica Neue"/>
              </a:defRPr>
            </a:pPr>
            <a:r>
              <a:t>Technical Debt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Outdated infrastructure and legacy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Visible in architecture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Engineers can measure and fix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Solved by modernization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Slows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5303520" cy="32004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00050"/>
                </a:solidFill>
                <a:latin typeface="Helvetica Neue"/>
              </a:defRPr>
            </a:pPr>
            <a:r>
              <a:t>Cultural Debt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Unresolved habits and unspoken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Invisible — masquerades as "how we do things"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Leadership must surface and confront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926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Solved by incentive redesign + behavioral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37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  Prevents adoption entirely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10972800" cy="73152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1">
                <a:solidFill>
                  <a:srgbClr val="FFFFFF"/>
                </a:solidFill>
                <a:latin typeface="Helvetica Neue"/>
              </a:defRPr>
            </a:pPr>
            <a:r>
              <a:t>"If you are asking a 2026 technology to operate inside a 2019 culture, the culture will win every time." — Shelly Palmer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"Bureaucratic Antibodies" — the predictable pattern: (1) Narrow the pilot scope so it can't prove value → (2) Expand eval criteria beyond what any human meets → (3) Declare "promising but premature" → everyone returns to what they know.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The Six Sources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Behavior Is Shaped by Six Forces — Miss One, Adoption Stalls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1A"/>
                </a:solidFill>
                <a:latin typeface="Helvetica Neue"/>
              </a:defRPr>
            </a:pPr>
            <a:r>
              <a:t>The fastest organizations are 12x quicker at turning new ideas into habits. The lever is not tools — it's influence.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371600"/>
            <a:ext cx="4572000" cy="4572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Helvetica Neue"/>
              </a:defRPr>
            </a:pPr>
            <a:r>
              <a:t>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4572000" cy="4572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Helvetica Neue"/>
              </a:defRPr>
            </a:pPr>
            <a:r>
              <a:t>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645920" cy="12801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Helvetica Neue"/>
              </a:defRPr>
            </a:pPr>
            <a:r>
              <a:t>PERSONAL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1645920" cy="12801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840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Helvetica Neue"/>
              </a:defRPr>
            </a:pPr>
            <a:r>
              <a:t>SOCIAL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37760"/>
            <a:ext cx="1645920" cy="12801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Helvetica Neue"/>
              </a:defRPr>
            </a:pPr>
            <a:r>
              <a:t>STRUCTURAL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011680"/>
            <a:ext cx="4572000" cy="12801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Source 1: Personal Motivation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4688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Do people WANT to use AI?</a:t>
            </a:r>
            <a:br/>
            <a:r>
              <a:t>Fear of replacement, loss of identity, distrust of algorithms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011680"/>
            <a:ext cx="4572000" cy="12801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Source 2: Personal 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46888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Do people KNOW HOW to use AI?</a:t>
            </a:r>
            <a:br/>
            <a:r>
              <a:t>Prompting skills, output validation, workflow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474720"/>
            <a:ext cx="4572000" cy="12801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566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Source 3: Social Motivation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9319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Do peers and leaders MODEL AI use?</a:t>
            </a:r>
            <a:br/>
            <a:r>
              <a:t>Or is AI adoption seen as optional / risky?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3474720"/>
            <a:ext cx="4572000" cy="12801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5661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Source 4: Social 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319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Do teams SUPPORT each other in adoption?</a:t>
            </a:r>
            <a:br/>
            <a:r>
              <a:t>Or is everyone figuring it out alone?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4937760"/>
            <a:ext cx="4572000" cy="12801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5029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Source 5: Structural Motivation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3949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Do INCENTIVES reward AI adoption?</a:t>
            </a:r>
            <a:br/>
            <a:r>
              <a:t>Or do they reward the old way of working?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937760"/>
            <a:ext cx="4572000" cy="12801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50292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Source 6: Structural 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39496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Does the ENVIRONMENT make AI easy?</a:t>
            </a:r>
            <a:br/>
            <a:r>
              <a:t>Or is AI bolted on outside core workflows?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Diagnosing Cultural Debt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Through the Six Sources lens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Cultural Debt Shows Up in Every Source — Here's Where to Look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0584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4114800"/>
                <a:gridCol w="3017520"/>
              </a:tblGrid>
              <a:tr h="65314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The Cultural Debt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What It Looks Like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1. Personal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Motivation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Fear and distrust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"AI will replace my role" — silent resistance, no one experiments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Low voluntary usage despite tool access</a:t>
                      </a:r>
                    </a:p>
                  </a:txBody>
                  <a:tcPr>
                    <a:noFill/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2. Personal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Skill gaps disguised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as skepticism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"AI isn't reliable enough" — actually means "I don't know how to use it"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Inconsistent quality across teams</a:t>
                      </a:r>
                    </a:p>
                  </a:txBody>
                  <a:tcPr>
                    <a:noFill/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3. Social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Motivation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No visible role models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No leader publicly using AI. Adoption seen as optional or risky.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"Promising but premature" verdicts</a:t>
                      </a:r>
                    </a:p>
                  </a:txBody>
                  <a:tcPr>
                    <a:noFill/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4. Social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No peer support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structure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Everyone figures it out alone. No shared practices, no councils.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Isolated pockets of use, no scaling</a:t>
                      </a:r>
                    </a:p>
                  </a:txBody>
                  <a:tcPr>
                    <a:noFill/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5. Structural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Motivation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Incentives reward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the old way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Promotions based on old metrics. No reward for AI adoption.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Rational sabotage by process owners</a:t>
                      </a:r>
                    </a:p>
                  </a:txBody>
                  <a:tcPr>
                    <a:noFill/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6. Structural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Ability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AI bolted on,</a:t>
                      </a:r>
                    </a:p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not embedded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Tools exist outside core workflows. Using AI requires extra steps.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1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High license cost, low actual usage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00050"/>
                </a:solidFill>
                <a:latin typeface="Helvetica Neue"/>
              </a:defRPr>
            </a:pPr>
            <a:r>
              <a:t>If even one source is misaligned, adoption stalls. If several are misaligned, it fails entirely.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 i="0">
                <a:solidFill>
                  <a:srgbClr val="FFFFFF"/>
                </a:solidFill>
                <a:latin typeface="Helvetica Neue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 i="0">
                <a:solidFill>
                  <a:srgbClr val="FFFFFF"/>
                </a:solidFill>
                <a:latin typeface="Helvetica Neue"/>
              </a:defRPr>
            </a:pPr>
            <a:r>
              <a:t>Unwinding Cultural Debt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BBBBFF"/>
                </a:solidFill>
                <a:latin typeface="Helvetica Neue"/>
              </a:defRPr>
            </a:pPr>
            <a:r>
              <a:t>Source by 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000050"/>
                </a:solidFill>
                <a:latin typeface="Helvetica Neue"/>
              </a:defRPr>
            </a:pPr>
            <a:r>
              <a:t>Align All Six Sources to Unwind Cultural Debt and Drive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333AA"/>
                </a:solidFill>
                <a:latin typeface="Helvetica Neue"/>
              </a:defRPr>
            </a:pPr>
            <a:r>
              <a:t>Leaders who engage all six sources increase their odds of rapid change 10x.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1280160"/>
            <a:ext cx="4572000" cy="4572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MOTIVATION — The 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Helvetica Neue"/>
              </a:defRPr>
            </a:pPr>
            <a:r>
              <a:t>ABILITY — The 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1645920" cy="12801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Helvetica Neue"/>
              </a:defRPr>
            </a:pPr>
            <a:r>
              <a:t>PERSONAL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1645920" cy="12801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Helvetica Neue"/>
              </a:defRPr>
            </a:pPr>
            <a:r>
              <a:t>SOCIAL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1645920" cy="128016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Helvetica Neue"/>
              </a:defRPr>
            </a:pPr>
            <a:r>
              <a:t>STRUCTURAL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1920240"/>
            <a:ext cx="45720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0" y="2011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Helvetica Neue"/>
              </a:defRPr>
            </a:pPr>
            <a:r>
              <a:t>Reframe through storytelling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33172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Share stories where AI = strategic advantage, not threat. Energy firm: AI anomaly detection prevented $M in downtime — reframed from "tool" to "safeguard."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920240"/>
            <a:ext cx="45720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201168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Helvetica Neue"/>
              </a:defRPr>
            </a:pPr>
            <a:r>
              <a:t>Build skills through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33172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Hands-on workshops with real scenarios — prompting, validating, integrating. Services firm: confidence and adoption up in one quarter.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77440" y="3383280"/>
            <a:ext cx="45720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4747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Helvetica Neue"/>
              </a:defRPr>
            </a:pPr>
            <a:r>
              <a:t>Leaders must visibly model AI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9476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Respected leaders publicly demonstrate AI in decisions. Retail: regional leaders using AI forecasts shifted AI from "optional" to "how high performers operate."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3383280"/>
            <a:ext cx="45720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4747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Helvetica Neue"/>
              </a:defRPr>
            </a:pPr>
            <a:r>
              <a:t>Create cross-functional AI councils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79476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Compliance + business heads review AI applications together. Mfg org: reduced fear, increased trust, accelerated responsible adoption.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4846320"/>
            <a:ext cx="45720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9377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Helvetica Neue"/>
              </a:defRPr>
            </a:pPr>
            <a:r>
              <a:t>Tie adoption to promotion criteria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25780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Financial services firm: incorporated responsible AI use into promotion criteria. Clearly communicated adoption is a leadership expectation.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4846320"/>
            <a:ext cx="4572000" cy="1280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49377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Helvetica Neue"/>
              </a:defRPr>
            </a:pPr>
            <a:r>
              <a:t>Embed AI into core workflows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257800"/>
            <a:ext cx="4206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Healthcare: AI risk alerts embedded in EMR workflow, requiring review before chart close. Adoption became automatic, not optional.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000050"/>
                </a:solidFill>
                <a:latin typeface="Helvetica Neue"/>
              </a:defRPr>
            </a:pPr>
            <a:r>
              <a:t>We've Seen This Before — The 40-Year Reorganization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4114800" cy="22860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Electrification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Demonstrated: 1880</a:t>
            </a:r>
            <a:br/>
            <a:r>
              <a:t>Factory productivity gains: 1920s</a:t>
            </a:r>
            <a:br/>
            <a:br/>
            <a:r>
              <a:t>The lag was not technological. Factories had to be physically rebuilt. Foremen had to be retrained or replaced.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371600"/>
            <a:ext cx="4114800" cy="228600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00050"/>
                </a:solidFill>
                <a:latin typeface="Helvetica Neue"/>
              </a:defRPr>
            </a:pPr>
            <a:r>
              <a:t>AI Adoption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920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Enterprise AI: 2023-2025</a:t>
            </a:r>
            <a:br/>
            <a:r>
              <a:t>Scaled value realization: TBD</a:t>
            </a:r>
            <a:br/>
            <a:br/>
            <a:r>
              <a:t>The reorganization is cultural, not architectural. The "foremen" are your direct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000050"/>
                </a:solidFill>
                <a:latin typeface="Helvetica Neue"/>
              </a:defRPr>
            </a:pPr>
            <a:r>
              <a:t>=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Helvetica Neue"/>
              </a:defRPr>
            </a:pPr>
            <a:r>
              <a:t>Jevons' Paradox: Cheap intelligence won't reduce work. It will create more of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CCCCFF"/>
                </a:solidFill>
                <a:latin typeface="Helvetica Neue"/>
              </a:defRPr>
            </a:pPr>
            <a:r>
              <a:t>Cheap coal didn't reduce coal consumption — it democratized energy for the industrial revolution. Cheap intelligence will do the same for work. The question is whether your organization's culture will let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888888"/>
                </a:solidFill>
                <a:latin typeface="Helvetica Neue"/>
              </a:defRPr>
            </a:pPr>
            <a:r>
              <a:t>Source: Shelly Palmer, "Unwinding Cultural Debt" (2026)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000050"/>
                </a:solidFill>
                <a:latin typeface="Helvetica Neue"/>
              </a:defRPr>
            </a:pPr>
            <a:r>
              <a:t>Three Actions This Quarter — Mapped to the Six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50"/>
                </a:solidFill>
                <a:latin typeface="Helvetica Neue"/>
              </a:defRPr>
            </a:pPr>
            <a:r>
              <a:t>1. Cultural Debt Audit (Sources 5 &amp;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Add a cultural debt audit to every AI-First POD kickoff. Map processes, identify antibodies, ask: "Would this step exist if we built from scratch?"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Architecture + POD Leads  |  By: End of quarter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50"/>
                </a:solidFill>
                <a:latin typeface="Helvetica Neue"/>
              </a:defRPr>
            </a:pPr>
            <a:r>
              <a:t>2. Incentive Redesign (Sources 3 &amp;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Tie responsible AI adoption — not just experimentation — to performance reviews and promotion criteria. Make leaders visibly model AI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HR + Transformation Steering Committee  |  By: Next performance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10972800" cy="12801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00050"/>
                </a:solidFill>
                <a:latin typeface="Helvetica Neue"/>
              </a:defRPr>
            </a:pPr>
            <a:r>
              <a:t>3. "Future-Back" Workflow Session (Sources 1 &amp;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Helvetica Neue"/>
              </a:defRPr>
            </a:pPr>
            <a:r>
              <a:t>Run a design session where one POD designs assuming AI is the primary producer and humans evaluate output quality. Build skills through practice.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3333AA"/>
                </a:solidFill>
                <a:latin typeface="Helvetica Neue"/>
              </a:defRPr>
            </a:pPr>
            <a:r>
              <a:t>Owner: AI Workflow Orchestrators  |  By: Within 30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solidFill>
            <a:srgbClr val="00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FFFFFF"/>
                </a:solidFill>
                <a:latin typeface="Helvetica Neue"/>
              </a:defRPr>
            </a:pPr>
            <a:r>
              <a:t>The question is not whether you've invested in AI. The question is whether you've invested in the human system required to make it 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FFFFFF"/>
                </a:solidFill>
                <a:latin typeface="Helvetica Neue"/>
              </a:defRPr>
            </a:pPr>
            <a:r>
              <a:t>Appendix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Anticipated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45720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"Isn't this just change management?"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9601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Traditional change management covers 2 of 6 sources (training + communication). That's why it has a 70% failure rate. This framework covers all six.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4572000" cy="8229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"How do we measure cultural debt?"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9659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Three proxies: (1) Time from pilot to production — long = antibodies. (2) Process steps no one can explain. (3) Gap between "AI deployed" vs. "AI used weekly."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45720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"Won't this slow down AI-First delivery?"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9718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Cultural debt IS the bottleneck right now. Every "promising but premature" verdict costs more than an audit ever will.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931920"/>
            <a:ext cx="4572000" cy="822960"/>
          </a:xfrm>
          <a:prstGeom prst="rect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"Are middle managers the problem?"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977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No. Their incentives are (Source 5). Redesign the incentives and the antibody response disappears. It's structural, not personal.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4572000" cy="822960"/>
          </a:xfrm>
          <a:prstGeom prst="rect">
            <a:avLst/>
          </a:prstGeom>
          <a:solidFill>
            <a:srgbClr val="DDD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00050"/>
                </a:solidFill>
                <a:latin typeface="Helvetica Neue"/>
              </a:defRPr>
            </a:pPr>
            <a:r>
              <a:t>"How does this connect to our AI-First Operating Model?"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49834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Helvetica Neue"/>
              </a:defRPr>
            </a:pPr>
            <a:r>
              <a:t>The operating model defines WHAT we build (PODs, hub-spoke, Human + AI roles). Six Sources defines WHETHER it gets adopted.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Key Statistics Reference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144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4114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Statistic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 b="1">
                          <a:solidFill>
                            <a:srgbClr val="000050"/>
                          </a:solidFill>
                          <a:latin typeface="Helvetica Neue"/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DDD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Only 1 in 4 AI initiatives deliver expected ROI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IBM Global AI Survey / Fortune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95% of AI initiatives fail to deliver value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HBR — De Cremer, Schweitzer et al.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90% of orgs use AI in at least one function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McKinsey State of AI Global Survey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82% of leaders use GenAI weekly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Wharton AI Adoption Report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2025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12x faster adoption in agile organizations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Crucial Learning (1,700+ professionals)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2026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10x higher odds with six-source approach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MIT Sloan Management Review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2008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Electrification: 40-year reorganization gap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Economic historians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Historical</a:t>
                      </a:r>
                    </a:p>
                  </a:txBody>
                  <a:tcP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70% of change management efforts fail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McKinsey &amp; Company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  <a:defRPr sz="1200">
                          <a:solidFill>
                            <a:srgbClr val="1A1A1A"/>
                          </a:solidFill>
                          <a:latin typeface="Helvetica Neue"/>
                        </a:defRPr>
                      </a:pPr>
                      <a:r>
                        <a:t>2015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000050"/>
                </a:solidFill>
                <a:latin typeface="Helvetica Neue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91440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Fortune (via Yahoo Finance). "CEOs say only about one in four AI initiatives have delivered expected ROI" (2025).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9601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3333AA"/>
                </a:solidFill>
                <a:latin typeface="Helvetica Neue"/>
              </a:defRPr>
            </a:pPr>
            <a:r>
              <a:t>finance.yahoo.com/news/ceos-just-fraction-ai-initiatives-173518010.html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48132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The Wall Street Journal. "Companies are struggling to drive a return on AI investment" (2025).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5270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3333AA"/>
                </a:solidFill>
                <a:latin typeface="Helvetica Neue"/>
              </a:defRPr>
            </a:pPr>
            <a:r>
              <a:t>wsj.com/articles/companies-are-struggling-to-drive-a-return-on-ai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482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McKinsey &amp; Company. "The State of AI: Global Survey 2025."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0939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3333AA"/>
                </a:solidFill>
                <a:latin typeface="Helvetica Neue"/>
              </a:defRPr>
            </a:pPr>
            <a:r>
              <a:t>mckinsey.com/capabilities/quantumblack/our-insights/the-state-of-ai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151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1518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Knowledge at Wharton. "2025 AI Adoption Report: Gen AI Fast-Tracks Into the Enterprise."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609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3333AA"/>
                </a:solidFill>
                <a:latin typeface="Helvetica Neue"/>
              </a:defRPr>
            </a:pPr>
            <a:r>
              <a:t>knowledge.wharton.upenn.edu/special-report/2025-ai-adoption-report/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8211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OpenAI. "The State of Enterprise AI 2025."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2278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3333AA"/>
                </a:solidFill>
                <a:latin typeface="Helvetica Neue"/>
              </a:defRPr>
            </a:pPr>
            <a:r>
              <a:t>openai.com/index/the-state-of-enterprise-ai-2025-report/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7490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De Cremer, Schweitzer, McGuire &amp; Narayanan. "How Behavioral Science Can Improve the Return on AI Investments." Harvard Business Review, Nov 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159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15968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Grenny, Maxfield &amp; Shimberg. "How to Have Influence." MIT Sloan Management Review, Oct 2008.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82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82896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Crucial Learning. "Why AI Initiatives Fail: Ignoring Your Human System is the Fastest Path to Wasted AI Investment" (2026).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92861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3333AA"/>
                </a:solidFill>
                <a:latin typeface="Helvetica Neue"/>
              </a:defRPr>
            </a:pPr>
            <a:r>
              <a:t>cruciallearning.com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498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00050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449824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1A"/>
                </a:solidFill>
                <a:latin typeface="Helvetica Neue"/>
              </a:defRPr>
            </a:pPr>
            <a:r>
              <a:t>Shelly Palmer. "Unwinding Cultural Debt" (Apr 2026).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549554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3333AA"/>
                </a:solidFill>
                <a:latin typeface="Helvetica Neue"/>
              </a:defRPr>
            </a:pPr>
            <a:r>
              <a:t>shellypalmer.com/2026/04/unwinding-cultural-debt/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888888"/>
                </a:solidFill>
              </a:defRPr>
            </a:pPr>
            <a:r>
              <a:t>Proprietary and confidential — do not distribute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