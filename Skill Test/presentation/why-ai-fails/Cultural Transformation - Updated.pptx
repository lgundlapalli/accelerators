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45"/>
  </p:notesMasterIdLst>
  <p:handoutMasterIdLst>
    <p:handoutMasterId r:id="rId46"/>
  </p:handoutMasterIdLst>
  <p:sldIdLst>
    <p:sldId id="618" r:id="rId5"/>
    <p:sldId id="620" r:id="rId6"/>
    <p:sldId id="621" r:id="rId7"/>
    <p:sldId id="622" r:id="rId8"/>
    <p:sldId id="623" r:id="rId9"/>
    <p:sldId id="625" r:id="rId10"/>
    <p:sldId id="637" r:id="rId11"/>
    <p:sldId id="638" r:id="rId12"/>
    <p:sldId id="626" r:id="rId13"/>
    <p:sldId id="631" r:id="rId14"/>
    <p:sldId id="639" r:id="rId15"/>
    <p:sldId id="646" r:id="rId16"/>
    <p:sldId id="647" r:id="rId17"/>
    <p:sldId id="633" r:id="rId18"/>
    <p:sldId id="632" r:id="rId19"/>
    <p:sldId id="645" r:id="rId20"/>
    <p:sldId id="256" r:id="rId21"/>
    <p:sldId id="257" r:id="rId22"/>
    <p:sldId id="640" r:id="rId23"/>
    <p:sldId id="259" r:id="rId24"/>
    <p:sldId id="641" r:id="rId25"/>
    <p:sldId id="261" r:id="rId26"/>
    <p:sldId id="642" r:id="rId27"/>
    <p:sldId id="643" r:id="rId28"/>
    <p:sldId id="264" r:id="rId29"/>
    <p:sldId id="644" r:id="rId30"/>
    <p:sldId id="628" r:id="rId31"/>
    <p:sldId id="629" r:id="rId32"/>
    <p:sldId id="630" r:id="rId33"/>
    <p:sldId id="258" r:id="rId34"/>
    <p:sldId id="260" r:id="rId35"/>
    <p:sldId id="262" r:id="rId36"/>
    <p:sldId id="624" r:id="rId37"/>
    <p:sldId id="263" r:id="rId38"/>
    <p:sldId id="265" r:id="rId39"/>
    <p:sldId id="267" r:id="rId40"/>
    <p:sldId id="268" r:id="rId41"/>
    <p:sldId id="270" r:id="rId42"/>
    <p:sldId id="271" r:id="rId43"/>
    <p:sldId id="272" r:id="rId44"/>
  </p:sldIdLst>
  <p:sldSz cx="12192000" cy="6858000"/>
  <p:notesSz cx="6858000" cy="9144000"/>
  <p:embeddedFontLst>
    <p:embeddedFont>
      <p:font typeface="Abbott Wallace Sans" pitchFamily="2" charset="77"/>
      <p:regular r:id="rId47"/>
      <p:bold r:id="rId48"/>
      <p:italic r:id="rId49"/>
      <p:boldItalic r:id="rId50"/>
    </p:embeddedFont>
    <p:embeddedFont>
      <p:font typeface="Abbott Wallace Sans Light" pitchFamily="2" charset="77"/>
      <p:regular r:id="rId51"/>
      <p:italic r:id="rId52"/>
    </p:embeddedFont>
    <p:embeddedFont>
      <p:font typeface="Wallace Sans" pitchFamily="2" charset="0"/>
      <p:regular r:id="rId53"/>
      <p:bold r:id="rId54"/>
      <p:italic r:id="rId55"/>
      <p:boldItalic r:id="rId56"/>
    </p:embeddedFont>
    <p:embeddedFont>
      <p:font typeface="Wallace Sans BETA" pitchFamily="2" charset="0"/>
      <p:regular r:id="rId57"/>
      <p:bold r:id="rId58"/>
      <p:italic r:id="rId59"/>
      <p:boldItalic r:id="rId60"/>
    </p:embeddedFont>
    <p:embeddedFont>
      <p:font typeface="Wallace Sans BETA Light" pitchFamily="2" charset="0"/>
      <p:regular r:id="rId61"/>
      <p:bold r:id="rId62"/>
      <p:italic r:id="rId63"/>
      <p:boldItalic r:id="rId64"/>
    </p:embeddedFont>
    <p:embeddedFont>
      <p:font typeface="Wallace Sans Light" pitchFamily="2" charset="0"/>
      <p:regular r:id="rId65"/>
      <p:italic r:id="rId66"/>
    </p:embeddedFont>
    <p:embeddedFont>
      <p:font typeface="Wallace Serif" pitchFamily="2" charset="0"/>
      <p:regular r:id="rId67"/>
      <p:bold r:id="rId68"/>
      <p:italic r:id="rId69"/>
      <p:boldItalic r:id="rId70"/>
    </p:embeddedFont>
    <p:embeddedFont>
      <p:font typeface="Wallace Serif Light" pitchFamily="2" charset="0"/>
      <p:regular r:id="rId71"/>
      <p:italic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lides" id="{6BD0DAAF-956C-BE4D-8C9D-C4D717460484}">
          <p14:sldIdLst>
            <p14:sldId id="618"/>
            <p14:sldId id="620"/>
            <p14:sldId id="621"/>
            <p14:sldId id="622"/>
            <p14:sldId id="623"/>
            <p14:sldId id="625"/>
            <p14:sldId id="637"/>
            <p14:sldId id="638"/>
            <p14:sldId id="626"/>
            <p14:sldId id="631"/>
            <p14:sldId id="639"/>
            <p14:sldId id="646"/>
            <p14:sldId id="647"/>
            <p14:sldId id="633"/>
            <p14:sldId id="632"/>
            <p14:sldId id="645"/>
            <p14:sldId id="256"/>
            <p14:sldId id="257"/>
            <p14:sldId id="640"/>
            <p14:sldId id="259"/>
            <p14:sldId id="641"/>
            <p14:sldId id="261"/>
            <p14:sldId id="642"/>
            <p14:sldId id="643"/>
            <p14:sldId id="264"/>
            <p14:sldId id="644"/>
            <p14:sldId id="628"/>
            <p14:sldId id="629"/>
            <p14:sldId id="630"/>
            <p14:sldId id="258"/>
            <p14:sldId id="260"/>
            <p14:sldId id="262"/>
            <p14:sldId id="624"/>
            <p14:sldId id="263"/>
            <p14:sldId id="265"/>
            <p14:sldId id="267"/>
            <p14:sldId id="268"/>
            <p14:sldId id="270"/>
            <p14:sldId id="271"/>
            <p14:sldId id="272"/>
          </p14:sldIdLst>
        </p14:section>
      </p14:sectionLst>
    </p:ext>
    <p:ext uri="{EFAFB233-063F-42B5-8137-9DF3F51BA10A}">
      <p15:sldGuideLst xmlns:p15="http://schemas.microsoft.com/office/powerpoint/2012/main">
        <p15:guide id="3" pos="3840">
          <p15:clr>
            <a:srgbClr val="A4A3A4"/>
          </p15:clr>
        </p15:guide>
        <p15:guide id="5" orient="horz" pos="2112" userDrawn="1">
          <p15:clr>
            <a:srgbClr val="A4A3A4"/>
          </p15:clr>
        </p15:guide>
        <p15:guide id="7" orient="horz" pos="1216" userDrawn="1">
          <p15:clr>
            <a:srgbClr val="A4A3A4"/>
          </p15:clr>
        </p15:guide>
        <p15:guide id="8" orient="horz" pos="377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D362E29-1A35-D13D-0FAC-1C3D721BE1BB}" name="Luthra, Nitesh" initials="LN" userId="S::nitesh.luthra@abbott.com::e9743704-87a6-48ef-8550-b2aae39e11d9" providerId="AD"/>
  <p188:author id="{CCE0738E-AC9C-EEBD-DD4D-98C58EF7E2B8}" name="Jain, Jinesh" initials="JJ" userId="S::jinesh.jain@abbott.com::c1654fc9-5116-451d-9f06-7f11c1b814ee" providerId="AD"/>
  <p188:author id="{48689F8F-03F1-77E0-6F94-1303A9F2068D}" name="Zuffante, Margo" initials="ZM" userId="S::margo.zuffante@abbott.com::0178e267-a182-4162-bc31-d90b7fd1df93" providerId="AD"/>
  <p188:author id="{41B50CD3-5ACC-595A-249F-CF4577CE80C9}" name="Graphic Impressions" initials="GI" userId="4e7f69d7fd37ff3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9A00"/>
    <a:srgbClr val="B398F7"/>
    <a:srgbClr val="00606F"/>
    <a:srgbClr val="2663EC"/>
    <a:srgbClr val="0891B2"/>
    <a:srgbClr val="1127B4"/>
    <a:srgbClr val="008FA6"/>
    <a:srgbClr val="F9FAFC"/>
    <a:srgbClr val="4F4843"/>
    <a:srgbClr val="FCF7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812"/>
    <p:restoredTop sz="90274"/>
  </p:normalViewPr>
  <p:slideViewPr>
    <p:cSldViewPr snapToGrid="0">
      <p:cViewPr varScale="1">
        <p:scale>
          <a:sx n="114" d="100"/>
          <a:sy n="114" d="100"/>
        </p:scale>
        <p:origin x="744" y="176"/>
      </p:cViewPr>
      <p:guideLst>
        <p:guide pos="3840"/>
        <p:guide orient="horz" pos="2112"/>
        <p:guide orient="horz" pos="1216"/>
        <p:guide orient="horz" pos="3778"/>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16" Type="http://schemas.openxmlformats.org/officeDocument/2006/relationships/slide" Target="slides/slide1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font" Target="fonts/font20.fntdata"/><Relationship Id="rId74" Type="http://schemas.openxmlformats.org/officeDocument/2006/relationships/viewProps" Target="viewProps.xml"/><Relationship Id="rId5" Type="http://schemas.openxmlformats.org/officeDocument/2006/relationships/slide" Target="slides/slide1.xml"/><Relationship Id="rId61" Type="http://schemas.openxmlformats.org/officeDocument/2006/relationships/font" Target="fonts/font1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font" Target="fonts/font23.fntdata"/><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font" Target="fonts/font5.fntdata"/><Relationship Id="rId72" Type="http://schemas.openxmlformats.org/officeDocument/2006/relationships/font" Target="fonts/font26.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font" Target="fonts/font25.fntdata"/><Relationship Id="rId2" Type="http://schemas.openxmlformats.org/officeDocument/2006/relationships/customXml" Target="../customXml/item2.xml"/><Relationship Id="rId29" Type="http://schemas.openxmlformats.org/officeDocument/2006/relationships/slide" Target="slides/slide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748843-776F-2D71-E77F-B641F1D1D6B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2D588398-4139-0F1E-E69E-EE0E642557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59F3A59-21A6-403A-B510-1FC054FFF7CF}" type="datetimeFigureOut">
              <a:rPr lang="en-IN" smtClean="0"/>
              <a:t>30/04/26</a:t>
            </a:fld>
            <a:endParaRPr lang="en-IN"/>
          </a:p>
        </p:txBody>
      </p:sp>
      <p:sp>
        <p:nvSpPr>
          <p:cNvPr id="4" name="Footer Placeholder 3">
            <a:extLst>
              <a:ext uri="{FF2B5EF4-FFF2-40B4-BE49-F238E27FC236}">
                <a16:creationId xmlns:a16="http://schemas.microsoft.com/office/drawing/2014/main" id="{3FA2591A-391F-B138-BCD0-F71E9676714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B0C0D2F-7914-E294-C707-885A58BE148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81DE28-92AF-4CE2-A4B1-59A4AE6AD979}" type="slidenum">
              <a:rPr lang="en-IN" smtClean="0"/>
              <a:t>‹#›</a:t>
            </a:fld>
            <a:endParaRPr lang="en-IN"/>
          </a:p>
        </p:txBody>
      </p:sp>
    </p:spTree>
    <p:extLst>
      <p:ext uri="{BB962C8B-B14F-4D97-AF65-F5344CB8AC3E}">
        <p14:creationId xmlns:p14="http://schemas.microsoft.com/office/powerpoint/2010/main" val="42113200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38586DE-E3BA-40F6-B182-CC7054CC046F}" type="datetimeFigureOut">
              <a:rPr lang="en-IN" smtClean="0"/>
              <a:t>30/04/26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75C775-28D9-4C73-AFDA-6393E439154C}" type="slidenum">
              <a:rPr lang="en-IN" smtClean="0"/>
              <a:t>‹#›</a:t>
            </a:fld>
            <a:endParaRPr lang="en-IN"/>
          </a:p>
        </p:txBody>
      </p:sp>
    </p:spTree>
    <p:extLst>
      <p:ext uri="{BB962C8B-B14F-4D97-AF65-F5344CB8AC3E}">
        <p14:creationId xmlns:p14="http://schemas.microsoft.com/office/powerpoint/2010/main" val="8080136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PURPOSE: This is the "read only this slide" slide. If someone reads ONLY this, they get the full story.</a:t>
            </a:r>
          </a:p>
          <a:p>
            <a:endParaRPr dirty="0"/>
          </a:p>
          <a:p>
            <a:r>
              <a:rPr dirty="0"/>
              <a:t>KEY TALKING POINTS:</a:t>
            </a:r>
          </a:p>
          <a:p>
            <a:r>
              <a:rPr dirty="0"/>
              <a:t>- "Three columns: the problem is clear — 70-85% failure rate. The hidden cost is that it compounds — each failure makes the next one harder. And the path forward is counterintuitive: invest in culture before technology."</a:t>
            </a:r>
          </a:p>
          <a:p>
            <a:r>
              <a:rPr dirty="0"/>
              <a:t>- Emphasize the 3x stat: "If your first AI initiative fails and you don't address the cultural root cause, your second attempt faces roughly triple the resistance."</a:t>
            </a:r>
          </a:p>
          <a:p>
            <a:endParaRPr dirty="0"/>
          </a:p>
          <a:p>
            <a:r>
              <a:rPr dirty="0"/>
              <a:t>TRANSITION:</a:t>
            </a:r>
          </a:p>
          <a:p>
            <a:r>
              <a:rPr dirty="0"/>
              <a:t>- "Here's what we'll cover."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spend more than 15 seconds here. Simply say:</a:t>
            </a:r>
          </a:p>
          <a:p>
            <a:r>
              <a:t>"Five sections — we start with the data, define the root cause, diagnose where we're stuck, show what works, and end with three concrete actions."</a:t>
            </a:r>
          </a:p>
          <a:p>
            <a:endParaRPr/>
          </a:p>
          <a:p>
            <a:r>
              <a:t>Move quickly to the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DELIVERY: Walk left to right through each number. Let each one land.</a:t>
            </a:r>
          </a:p>
          <a:p>
            <a:endParaRPr/>
          </a:p>
          <a:p>
            <a:r>
              <a:t>70-85%: "Across every major survey — McKinsey, Gartner, BCG — the failure rate is consistent."</a:t>
            </a:r>
          </a:p>
          <a:p>
            <a:endParaRPr/>
          </a:p>
          <a:p>
            <a:r>
              <a:t>&lt;15%: "Less than 15% of failures are attributed to technology. The models work. The organization doesn’t adopt."</a:t>
            </a:r>
          </a:p>
          <a:p>
            <a:endParaRPr/>
          </a:p>
          <a:p>
            <a:r>
              <a:t>#1 Cause: "The number one reason: organizational and cultural resistance."</a:t>
            </a:r>
          </a:p>
          <a:p>
            <a:endParaRPr/>
          </a:p>
          <a:p>
            <a:r>
              <a:t>$4.6T: "Global AI investment is projected at $4.6 trillion by 2027. The majority at risk."</a:t>
            </a:r>
          </a:p>
          <a:p>
            <a:endParaRPr/>
          </a:p>
          <a:p>
            <a:r>
              <a:t>Point to the callout bar. Pause.</a:t>
            </a:r>
          </a:p>
          <a:p>
            <a:endParaRPr/>
          </a:p>
          <a:p>
            <a:r>
              <a:t>TRANSITION: "So if it’s not the technology, what is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definitional slide — it creates the vocabulary the rest of the deck builds on.</a:t>
            </a:r>
            <a:r>
              <a:rPr lang="en-US" dirty="0"/>
              <a:t> </a:t>
            </a:r>
            <a:endParaRPr dirty="0"/>
          </a:p>
          <a:p>
            <a:endParaRPr dirty="0"/>
          </a:p>
          <a:p>
            <a:r>
              <a:rPr dirty="0"/>
              <a:t>FRAMING:</a:t>
            </a:r>
          </a:p>
          <a:p>
            <a:r>
              <a:rPr dirty="0"/>
              <a:t>"Everyone in this room understands technical debt. But there’s a parallel concept that’s far more dangerous because it’s invisible: cultural debt."</a:t>
            </a:r>
          </a:p>
          <a:p>
            <a:endParaRPr dirty="0"/>
          </a:p>
          <a:p>
            <a:r>
              <a:rPr dirty="0"/>
              <a:t>Walk the comparison. Pause on row 3: "Tracked, measured, budgeted — versus untracked, unmeasured, unbudgeted."</a:t>
            </a:r>
          </a:p>
          <a:p>
            <a:endParaRPr dirty="0"/>
          </a:p>
          <a:p>
            <a:r>
              <a:rPr dirty="0"/>
              <a:t>Read the bottom bar aloud. Let it land.</a:t>
            </a:r>
          </a:p>
          <a:p>
            <a:endParaRPr dirty="0"/>
          </a:p>
          <a:p>
            <a:r>
              <a:rPr dirty="0"/>
              <a:t>TRANSITION: "And here’s why this is urgent — cultural debt compounds."</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down each row:</a:t>
            </a:r>
          </a:p>
          <a:p>
            <a:endParaRPr/>
          </a:p>
          <a:p>
            <a:r>
              <a:t>"Permission Culture — teams need approvals before experimenting. Innovation dies in committee."</a:t>
            </a:r>
          </a:p>
          <a:p>
            <a:endParaRPr/>
          </a:p>
          <a:p>
            <a:r>
              <a:t>"Metric Misalignment — the most common. We measure 'models deployed' not 'decisions improved.'"</a:t>
            </a:r>
          </a:p>
          <a:p>
            <a:endParaRPr/>
          </a:p>
          <a:p>
            <a:r>
              <a:t>"Invisible Middle — the least discussed, most lethal. Middle managers aren’t resisting — they’re rationally waiting."</a:t>
            </a:r>
          </a:p>
          <a:p>
            <a:endParaRPr/>
          </a:p>
          <a:p>
            <a:r>
              <a:t>"Skills Theater — everyone went to training. Nobody changed how they work."</a:t>
            </a:r>
          </a:p>
          <a:p>
            <a:endParaRPr/>
          </a:p>
          <a:p>
            <a:r>
              <a:t>"Trust Deficit — 'AI will replace us' goes unaddressed. Best people quietly disengage."</a:t>
            </a:r>
          </a:p>
          <a:p>
            <a:endParaRPr/>
          </a:p>
          <a:p>
            <a:r>
              <a:t>Ask: "Mentally score your organization. How many are present?"</a:t>
            </a:r>
          </a:p>
          <a:p>
            <a:endParaRPr/>
          </a:p>
          <a:p>
            <a:r>
              <a:t>TRANSITION: "The organizations that break this cycle have three things in common."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headline stat: 'The research is unambiguous — the fastest organizations adopt new technology twelve times faster than the slowest. That gap isn't explained by better tools or bigger budgets. It's explained by culture.'</a:t>
            </a:r>
          </a:p>
          <a:p>
            <a:endParaRPr lang="en-US" dirty="0"/>
          </a:p>
          <a:p>
            <a:r>
              <a:rPr lang="en-US" dirty="0"/>
              <a:t>Walk the three numbers. The 6x stat is the most important for this audience: the behaviorally agile orgs aren't just faster — they're six times more likely to achieve FULL adoption. Not pilot success. Full adoption.</a:t>
            </a:r>
          </a:p>
          <a:p>
            <a:endParaRPr lang="en-US" dirty="0"/>
          </a:p>
          <a:p>
            <a:r>
              <a:rPr lang="en-US" dirty="0"/>
              <a:t>Source: Crucial Learning surveyed 1,700 professionals across every major industry. The pattern held consistently.</a:t>
            </a:r>
          </a:p>
          <a:p>
            <a:endParaRPr lang="en-US" dirty="0"/>
          </a:p>
        </p:txBody>
      </p:sp>
      <p:sp>
        <p:nvSpPr>
          <p:cNvPr id="4" name="Slide Number Placeholder 3"/>
          <p:cNvSpPr>
            <a:spLocks noGrp="1"/>
          </p:cNvSpPr>
          <p:nvPr>
            <p:ph type="sldNum" sz="quarter" idx="5"/>
          </p:nvPr>
        </p:nvSpPr>
        <p:spPr/>
        <p:txBody>
          <a:bodyPr/>
          <a:lstStyle/>
          <a:p>
            <a:fld id="{D475C775-28D9-4C73-AFDA-6393E439154C}" type="slidenum">
              <a:rPr lang="en-IN" smtClean="0"/>
              <a:t>7</a:t>
            </a:fld>
            <a:endParaRPr lang="en-IN"/>
          </a:p>
        </p:txBody>
      </p:sp>
    </p:spTree>
    <p:extLst>
      <p:ext uri="{BB962C8B-B14F-4D97-AF65-F5344CB8AC3E}">
        <p14:creationId xmlns:p14="http://schemas.microsoft.com/office/powerpoint/2010/main" val="1669582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connects the cultural transformation argument to hard workforce economics.</a:t>
            </a:r>
          </a:p>
          <a:p>
            <a:endParaRPr lang="en-US" dirty="0"/>
          </a:p>
          <a:p>
            <a:r>
              <a:rPr lang="en-US" dirty="0"/>
              <a:t>Walk the numbers: '32 million jobs are being redesigned EVERY YEAR through 2031 — that's not a future scenario, it's happening now. 39% of your employees' core skills will need to change by 2030. The half-life of a technical skill has collapsed from 8-12 years to 2-5 years.'</a:t>
            </a:r>
          </a:p>
          <a:p>
            <a:endParaRPr lang="en-US" dirty="0"/>
          </a:p>
          <a:p>
            <a:r>
              <a:rPr lang="en-US" dirty="0"/>
              <a:t>The 30% rehire stat is the most concrete business case: 'Organizations that cut roles to replace with AI are spending the next 18 months hiring those people back — often at 30-50% higher cost — because they didn't invest in the transition. That's a cost of delay, not a cost of transformation.'</a:t>
            </a:r>
          </a:p>
          <a:p>
            <a:endParaRPr lang="en-US" dirty="0"/>
          </a:p>
          <a:p>
            <a:r>
              <a:rPr lang="en-US" dirty="0"/>
              <a:t>Close with the bottom bar: 'This is the math. Addressing cultural debt early costs a leadership conversation. Addressing it late costs a transformation program.'</a:t>
            </a:r>
          </a:p>
          <a:p>
            <a:endParaRPr lang="en-US" dirty="0"/>
          </a:p>
          <a:p>
            <a:r>
              <a:rPr lang="en-US" dirty="0"/>
              <a:t>Source: Gartner Strategic Planning Assumptions (2025); World Economic Forum Future of Jobs Report (2025).</a:t>
            </a:r>
          </a:p>
          <a:p>
            <a:endParaRPr lang="en-US" dirty="0"/>
          </a:p>
        </p:txBody>
      </p:sp>
      <p:sp>
        <p:nvSpPr>
          <p:cNvPr id="4" name="Slide Number Placeholder 3"/>
          <p:cNvSpPr>
            <a:spLocks noGrp="1"/>
          </p:cNvSpPr>
          <p:nvPr>
            <p:ph type="sldNum" sz="quarter" idx="5"/>
          </p:nvPr>
        </p:nvSpPr>
        <p:spPr/>
        <p:txBody>
          <a:bodyPr/>
          <a:lstStyle/>
          <a:p>
            <a:fld id="{D475C775-28D9-4C73-AFDA-6393E439154C}" type="slidenum">
              <a:rPr lang="en-IN" smtClean="0"/>
              <a:t>8</a:t>
            </a:fld>
            <a:endParaRPr lang="en-IN"/>
          </a:p>
        </p:txBody>
      </p:sp>
    </p:spTree>
    <p:extLst>
      <p:ext uri="{BB962C8B-B14F-4D97-AF65-F5344CB8AC3E}">
        <p14:creationId xmlns:p14="http://schemas.microsoft.com/office/powerpoint/2010/main" val="3265848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turn from problem to solution.</a:t>
            </a:r>
          </a:p>
          <a:p>
            <a:endParaRPr/>
          </a:p>
          <a:p>
            <a:r>
              <a:t>"Psychological safety sounds soft until you realize it’s the difference between teams who experiment and teams who hide."</a:t>
            </a:r>
          </a:p>
          <a:p>
            <a:endParaRPr/>
          </a:p>
          <a:p>
            <a:r>
              <a:t>"Aligned incentives sounds obvious until you audit how many AI programs measure 'models in production' rather than 'decisions improved.'"</a:t>
            </a:r>
          </a:p>
          <a:p>
            <a:endParaRPr/>
          </a:p>
          <a:p>
            <a:r>
              <a:t>"Visible leadership — not sponsorship in a steering committee, but a VP who shows the team how they used Claude this week."</a:t>
            </a:r>
          </a:p>
          <a:p>
            <a:endParaRPr/>
          </a:p>
          <a:p>
            <a:r>
              <a:t>Read the bottom bar: "They treat culture as infrastructure."</a:t>
            </a:r>
          </a:p>
          <a:p>
            <a:endParaRPr/>
          </a:p>
          <a:p>
            <a:r>
              <a:t>TRANSITION: "So what does the shift look like?"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628349-7A44-CB38-0618-8CA6B0CD25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60D2C8-E496-FEAF-A8AA-9CEFBF02D8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783F319-D343-6C94-D605-4AEC636D7028}"/>
              </a:ext>
            </a:extLst>
          </p:cNvPr>
          <p:cNvSpPr>
            <a:spLocks noGrp="1"/>
          </p:cNvSpPr>
          <p:nvPr>
            <p:ph type="body" sz="quarter" idx="3"/>
          </p:nvPr>
        </p:nvSpPr>
        <p:spPr/>
        <p:txBody>
          <a:bodyPr/>
          <a:lstStyle/>
          <a:p>
            <a:r>
              <a:t>This slide reframes the investment sequence.</a:t>
            </a:r>
          </a:p>
          <a:p>
            <a:endParaRPr/>
          </a:p>
          <a:p>
            <a:r>
              <a:t>"Almost every failed AI initiative started with technology selection. The ones that succeed start with people."</a:t>
            </a:r>
          </a:p>
          <a:p>
            <a:endParaRPr/>
          </a:p>
          <a:p>
            <a:r>
              <a:t>The From/To framing lets the audience self-diagnose.</a:t>
            </a:r>
          </a:p>
          <a:p>
            <a:endParaRPr/>
          </a:p>
          <a:p>
            <a:r>
              <a:t>Read the bottom bar: the sequence matters. People first, process, then technology.</a:t>
            </a:r>
          </a:p>
          <a:p>
            <a:endParaRPr/>
          </a:p>
          <a:p>
            <a:r>
              <a:t>TRANSITION: "And there’s urgency — because cultural debt doesn’t wait."</a:t>
            </a:r>
          </a:p>
          <a:p>
            <a:endParaRPr/>
          </a:p>
        </p:txBody>
      </p:sp>
      <p:sp>
        <p:nvSpPr>
          <p:cNvPr id="4" name="Slide Number Placeholder 3">
            <a:extLst>
              <a:ext uri="{FF2B5EF4-FFF2-40B4-BE49-F238E27FC236}">
                <a16:creationId xmlns:a16="http://schemas.microsoft.com/office/drawing/2014/main" id="{81B55EAF-7FF7-1912-677F-8EAA9EB97B29}"/>
              </a:ext>
            </a:extLst>
          </p:cNvPr>
          <p:cNvSpPr>
            <a:spLocks noGrp="1"/>
          </p:cNvSpPr>
          <p:nvPr>
            <p:ph type="sldNum" sz="quarter" idx="5"/>
          </p:nvPr>
        </p:nvSpPr>
        <p:spPr/>
      </p:sp>
    </p:spTree>
    <p:extLst>
      <p:ext uri="{BB962C8B-B14F-4D97-AF65-F5344CB8AC3E}">
        <p14:creationId xmlns:p14="http://schemas.microsoft.com/office/powerpoint/2010/main" val="131340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behaviors account for almost half the difference between the fastest and slowest cohorts in the study.</a:t>
            </a:r>
          </a:p>
          <a:p>
            <a:endParaRPr lang="en-US" dirty="0"/>
          </a:p>
          <a:p>
            <a:r>
              <a:rPr lang="en-US" dirty="0"/>
              <a:t>Ask the audience to self-score: 'Think about your own team. How many of these are present today?'</a:t>
            </a:r>
          </a:p>
          <a:p>
            <a:endParaRPr lang="en-US" dirty="0"/>
          </a:p>
          <a:p>
            <a:r>
              <a:rPr lang="en-US" dirty="0"/>
              <a:t>The key insight is that these aren't personality traits — they're learnable behaviors. Organizations can deliberately build them through training, modeling, and reinforcement.</a:t>
            </a:r>
          </a:p>
          <a:p>
            <a:endParaRPr lang="en-US" dirty="0"/>
          </a:p>
          <a:p>
            <a:r>
              <a:rPr lang="en-US" dirty="0"/>
              <a:t>Transition: 'But the window to act is narrowing. The workforce disruption is already underway.'</a:t>
            </a:r>
          </a:p>
          <a:p>
            <a:endParaRPr lang="en-US" dirty="0"/>
          </a:p>
        </p:txBody>
      </p:sp>
      <p:sp>
        <p:nvSpPr>
          <p:cNvPr id="4" name="Slide Number Placeholder 3"/>
          <p:cNvSpPr>
            <a:spLocks noGrp="1"/>
          </p:cNvSpPr>
          <p:nvPr>
            <p:ph type="sldNum" sz="quarter" idx="5"/>
          </p:nvPr>
        </p:nvSpPr>
        <p:spPr/>
        <p:txBody>
          <a:bodyPr/>
          <a:lstStyle/>
          <a:p>
            <a:fld id="{D475C775-28D9-4C73-AFDA-6393E439154C}" type="slidenum">
              <a:rPr lang="en-IN" smtClean="0"/>
              <a:t>11</a:t>
            </a:fld>
            <a:endParaRPr lang="en-IN"/>
          </a:p>
        </p:txBody>
      </p:sp>
    </p:spTree>
    <p:extLst>
      <p:ext uri="{BB962C8B-B14F-4D97-AF65-F5344CB8AC3E}">
        <p14:creationId xmlns:p14="http://schemas.microsoft.com/office/powerpoint/2010/main" val="32634427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963582-CBCA-1997-2B3F-209CCD956E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C38CC9-A36D-D58D-BF45-DAAB8EACFB7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B35EEF3-310D-0FCE-A6CC-E08580B07390}"/>
              </a:ext>
            </a:extLst>
          </p:cNvPr>
          <p:cNvSpPr>
            <a:spLocks noGrp="1"/>
          </p:cNvSpPr>
          <p:nvPr>
            <p:ph type="body" sz="quarter" idx="3"/>
          </p:nvPr>
        </p:nvSpPr>
        <p:spPr/>
        <p:txBody>
          <a:bodyPr/>
          <a:lstStyle/>
          <a:p>
            <a:r>
              <a:t>Walk each quadrant. This tool scores any AI initiative from 0–8. A score of 0-2 = serious execution risk. 3-5 = mixed, targeted intervention needed. 6-8 = healthy, maintain. The instruction: start with the lowest score, not the average.</a:t>
            </a:r>
          </a:p>
        </p:txBody>
      </p:sp>
      <p:sp>
        <p:nvSpPr>
          <p:cNvPr id="4" name="Slide Number Placeholder 3">
            <a:extLst>
              <a:ext uri="{FF2B5EF4-FFF2-40B4-BE49-F238E27FC236}">
                <a16:creationId xmlns:a16="http://schemas.microsoft.com/office/drawing/2014/main" id="{6871BF86-869F-F73E-D09C-D77F7B540626}"/>
              </a:ext>
            </a:extLst>
          </p:cNvPr>
          <p:cNvSpPr>
            <a:spLocks noGrp="1"/>
          </p:cNvSpPr>
          <p:nvPr>
            <p:ph type="sldNum" sz="quarter" idx="5"/>
          </p:nvPr>
        </p:nvSpPr>
        <p:spPr/>
      </p:sp>
    </p:spTree>
    <p:extLst>
      <p:ext uri="{BB962C8B-B14F-4D97-AF65-F5344CB8AC3E}">
        <p14:creationId xmlns:p14="http://schemas.microsoft.com/office/powerpoint/2010/main" val="13957621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5A608-A4CF-48D4-BB2E-23F2ADB3D7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A06BF3-35A9-6C69-89B0-76AABC82D5D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4E0E09C-F646-5CB5-EC4A-27955BE10754}"/>
              </a:ext>
            </a:extLst>
          </p:cNvPr>
          <p:cNvSpPr>
            <a:spLocks noGrp="1"/>
          </p:cNvSpPr>
          <p:nvPr>
            <p:ph type="body" sz="quarter" idx="3"/>
          </p:nvPr>
        </p:nvSpPr>
        <p:spPr/>
        <p:txBody>
          <a:bodyPr/>
          <a:lstStyle/>
          <a:p>
            <a:r>
              <a:t>This is the action slide. For each gap, the fix is a conversation — not a technology update. Walk through each row and ask: 'Which of these is present in your current AI initiatives?' The bottom tagline is the closing thesis of the entire session.</a:t>
            </a:r>
          </a:p>
        </p:txBody>
      </p:sp>
      <p:sp>
        <p:nvSpPr>
          <p:cNvPr id="4" name="Slide Number Placeholder 3">
            <a:extLst>
              <a:ext uri="{FF2B5EF4-FFF2-40B4-BE49-F238E27FC236}">
                <a16:creationId xmlns:a16="http://schemas.microsoft.com/office/drawing/2014/main" id="{0C10E9BC-098E-2FAF-8B66-3657FF737632}"/>
              </a:ext>
            </a:extLst>
          </p:cNvPr>
          <p:cNvSpPr>
            <a:spLocks noGrp="1"/>
          </p:cNvSpPr>
          <p:nvPr>
            <p:ph type="sldNum" sz="quarter" idx="5"/>
          </p:nvPr>
        </p:nvSpPr>
        <p:spPr/>
      </p:sp>
    </p:spTree>
    <p:extLst>
      <p:ext uri="{BB962C8B-B14F-4D97-AF65-F5344CB8AC3E}">
        <p14:creationId xmlns:p14="http://schemas.microsoft.com/office/powerpoint/2010/main" val="41105241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four things on this slide and none of them are IT problems alone — each one needs IT and HR working together, or IT and Legal.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First, adaptive learning: the old model was send people to a class once a year. That doesn't work anymore. You need systems that notice when someone's skills are drifting and push them the right content before it becomes a problem.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human-agent collaboration design: your UX and engineering teams are building products for how humans and AI work together today — but they also need to think about what happens when the AI is mostly talking to other AI systems. That's a design shift. Third, the talent remix: before you make any workforce restructuring decision, you need a clear picture of what roles you actually need in an AI-first world. Otherwise you cut the wrong people or create gaps you can't fill. Fourth, digital identity governance: if someone in your org is already building an AI model trained on employee data, do your employment contracts cover that? Probably not. Get ahead of it now. The broader point is that the CIO can't wait for HR to lead this — if you do, you'll already be behind by the time the conversation starts.</a:t>
            </a:r>
          </a:p>
          <a:p>
            <a:endParaRPr lang="en-US" dirty="0"/>
          </a:p>
        </p:txBody>
      </p:sp>
      <p:sp>
        <p:nvSpPr>
          <p:cNvPr id="4" name="Slide Number Placeholder 3"/>
          <p:cNvSpPr>
            <a:spLocks noGrp="1"/>
          </p:cNvSpPr>
          <p:nvPr>
            <p:ph type="sldNum" sz="quarter" idx="5"/>
          </p:nvPr>
        </p:nvSpPr>
        <p:spPr/>
        <p:txBody>
          <a:bodyPr/>
          <a:lstStyle/>
          <a:p>
            <a:fld id="{D475C775-28D9-4C73-AFDA-6393E439154C}" type="slidenum">
              <a:rPr lang="en-IN" smtClean="0"/>
              <a:t>14</a:t>
            </a:fld>
            <a:endParaRPr lang="en-IN"/>
          </a:p>
        </p:txBody>
      </p:sp>
    </p:spTree>
    <p:extLst>
      <p:ext uri="{BB962C8B-B14F-4D97-AF65-F5344CB8AC3E}">
        <p14:creationId xmlns:p14="http://schemas.microsoft.com/office/powerpoint/2010/main" val="29649762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D5B90-7C13-9BA7-259C-E002B5664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E6FC83-ACC8-5221-DC04-3B4DBE766FF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077A787-483B-7CF9-33BB-721D87C2D69B}"/>
              </a:ext>
            </a:extLst>
          </p:cNvPr>
          <p:cNvSpPr>
            <a:spLocks noGrp="1"/>
          </p:cNvSpPr>
          <p:nvPr>
            <p:ph type="body" sz="quarter" idx="3"/>
          </p:nvPr>
        </p:nvSpPr>
        <p:spPr/>
        <p:txBody>
          <a:bodyPr/>
          <a:lstStyle/>
          <a:p>
            <a:r>
              <a:t>Walk each column. The stats are from Crucial Learning's study of 1,700 professionals. Key point: these are learnable behaviors — not personality traits. Organizations can deliberately build them through modeling, coaching, and accountability.</a:t>
            </a:r>
          </a:p>
        </p:txBody>
      </p:sp>
      <p:sp>
        <p:nvSpPr>
          <p:cNvPr id="4" name="Slide Number Placeholder 3">
            <a:extLst>
              <a:ext uri="{FF2B5EF4-FFF2-40B4-BE49-F238E27FC236}">
                <a16:creationId xmlns:a16="http://schemas.microsoft.com/office/drawing/2014/main" id="{55BD8668-DDC2-FC37-C32A-990D948C0BE9}"/>
              </a:ext>
            </a:extLst>
          </p:cNvPr>
          <p:cNvSpPr>
            <a:spLocks noGrp="1"/>
          </p:cNvSpPr>
          <p:nvPr>
            <p:ph type="sldNum" sz="quarter" idx="5"/>
          </p:nvPr>
        </p:nvSpPr>
        <p:spPr/>
      </p:sp>
    </p:spTree>
    <p:extLst>
      <p:ext uri="{BB962C8B-B14F-4D97-AF65-F5344CB8AC3E}">
        <p14:creationId xmlns:p14="http://schemas.microsoft.com/office/powerpoint/2010/main" val="2863760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Title slide. Presenter: Joseph Grenny (Author &amp; Cofounder, Crucial Learning) and JaeLynn Williams (Advisor &amp; Former Executive).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with the headline: '95% of GenAI pilots are failing — not because the models are wrong, but because the human system around them doesn't change.' The Air Methods story is the opening case study: a routing AI that correctly identified a closer base, but crews never adopted it. One conversation could have fixed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research finding: the most behaviorally agile teams are 12x faster, 6x more consistent, and 3x more engaged than the least agile. This is the organizational capability gap that determines who wins the AI race.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loan underwriting example to make human failure modes concrete. Ask the audience: 'Which of these four happens in your organization when AI delivers a recommendation that contradicts past practice?'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pivot slide. Let the question sit. Then reframe: 'This isn't a technology question. It's a leadership question.' AI exposes the organizational habits — silence, avoidance, workarounds — that were already there.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each column. The stats are from Crucial Learning's study of 1,700 professionals. Key point: these are learnable behaviors — not personality traits. Organizations can deliberately build them through modeling, coaching, and accountability.</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of these case studies is from 3M Health Information Systems (except the last, Air Methods). Walk across: 'In every case the model worked. The failure was human.' Use the failure type label to anchor: visibility, adoption, accountability, assumptions.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each quadrant. This tool scores any AI initiative from 0–8. A score of 0-2 = serious execution risk. 3-5 = mixed, targeted intervention needed. 6-8 = healthy, maintain. The instruction: start with the lowest score, not the average.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action slide. For each gap, the fix is a conversation — not a technology update. Walk through each row and ask: 'Which of these is present in your current AI initiatives?' The bottom tagline is the closing thesis of the entire session.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by returning to the opening question: 'The model was right. The outcome was wrong. Where is that happening in your organization right now?' End with the diagnostic as the next step — something they can do today.</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urgency slide. Compounding metaphor works because leadership thinks in financial terms.</a:t>
            </a:r>
          </a:p>
          <a:p>
            <a:endParaRPr/>
          </a:p>
          <a:p>
            <a:r>
              <a:t>"Every quarter unaddressed, the cost roughly doubles — not because the problem gets harder, but because the cynicism gets deeper."</a:t>
            </a:r>
          </a:p>
          <a:p>
            <a:endParaRPr/>
          </a:p>
          <a:p>
            <a:r>
              <a:t>Walk left to right. Colors darken — visual cue for escalating severity.</a:t>
            </a:r>
          </a:p>
          <a:p>
            <a:endParaRPr/>
          </a:p>
          <a:p>
            <a:r>
              <a:t>TRANSITION: "So here are three actions we can take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action, not inspiration. Low-cost, high-signal.</a:t>
            </a:r>
          </a:p>
          <a:p>
            <a:endParaRPr/>
          </a:p>
          <a:p>
            <a:r>
              <a:t>"I’m not asking for a new program or a new budget. Three targeted actions."</a:t>
            </a:r>
          </a:p>
          <a:p>
            <a:endParaRPr/>
          </a:p>
          <a:p>
            <a:r>
              <a:t>1. Cultural audit — "Name the debt. Can’t fix what you don’t measure."</a:t>
            </a:r>
          </a:p>
          <a:p>
            <a:r>
              <a:t>2. Scorecard — "Change the metric, change the behavior."</a:t>
            </a:r>
          </a:p>
          <a:p>
            <a:r>
              <a:t>3. Visible leadership — "Until the C-suite models it, everything else is policy without practice."</a:t>
            </a:r>
          </a:p>
          <a:p>
            <a:endParaRPr/>
          </a:p>
          <a:p>
            <a:r>
              <a:t>Read the closing line. Pause. Let it land.</a:t>
            </a:r>
          </a:p>
          <a:p>
            <a:endParaRPr/>
          </a:p>
          <a:p>
            <a:r>
              <a:t>Ask: "Who in this room owns the first 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actions, not the table. The 30-day window is important.</a:t>
            </a:r>
          </a:p>
          <a:p>
            <a:endParaRPr/>
          </a:p>
          <a:p>
            <a:r>
              <a:t>If the next meeting isn’t on the calendar before people leave the room, it won’t happen.</a:t>
            </a:r>
          </a:p>
          <a:p>
            <a:endParaRPr/>
          </a:p>
          <a:p>
            <a:r>
              <a:t>Ask: "Can we get the readiness assessment scheduled before we leave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Don't spend more than 15 seconds here. Simply say:</a:t>
            </a:r>
          </a:p>
          <a:p>
            <a:r>
              <a:t>"Five sections — we start with the data, define the root cause, diagnose where we're stuck, show what works, and end with three concrete actions."</a:t>
            </a:r>
          </a:p>
          <a:p>
            <a:endParaRPr/>
          </a:p>
          <a:p>
            <a:r>
              <a:t>Move quickly to the numbers.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DELIVERY: Walk left to right through each number. Let each one land.</a:t>
            </a:r>
          </a:p>
          <a:p>
            <a:endParaRPr/>
          </a:p>
          <a:p>
            <a:r>
              <a:t>70-85%: "Across every major survey — McKinsey, Gartner, BCG — the failure rate is consistent."</a:t>
            </a:r>
          </a:p>
          <a:p>
            <a:endParaRPr/>
          </a:p>
          <a:p>
            <a:r>
              <a:t>&lt;15%: "Less than 15% of failures are attributed to technology. The models work. The organization doesn’t adopt."</a:t>
            </a:r>
          </a:p>
          <a:p>
            <a:endParaRPr/>
          </a:p>
          <a:p>
            <a:r>
              <a:t>#1 Cause: "The number one reason: organizational and cultural resistance."</a:t>
            </a:r>
          </a:p>
          <a:p>
            <a:endParaRPr/>
          </a:p>
          <a:p>
            <a:r>
              <a:t>$4.6T: "Global AI investment is projected at $4.6 trillion by 2027. The majority at risk."</a:t>
            </a:r>
          </a:p>
          <a:p>
            <a:endParaRPr/>
          </a:p>
          <a:p>
            <a:r>
              <a:t>Point to the callout bar. Pause.</a:t>
            </a:r>
          </a:p>
          <a:p>
            <a:endParaRPr/>
          </a:p>
          <a:p>
            <a:r>
              <a:t>TRANSITION: "So if it’s not the technology, what is 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definitional slide — it creates the vocabulary the rest of the deck builds on.</a:t>
            </a:r>
          </a:p>
          <a:p>
            <a:endParaRPr/>
          </a:p>
          <a:p>
            <a:r>
              <a:t>FRAMING:</a:t>
            </a:r>
          </a:p>
          <a:p>
            <a:r>
              <a:t>"Everyone in this room understands technical debt. But there’s a parallel concept that’s far more dangerous because it’s invisible: cultural debt."</a:t>
            </a:r>
          </a:p>
          <a:p>
            <a:endParaRPr/>
          </a:p>
          <a:p>
            <a:r>
              <a:t>Walk the comparison. Pause on row 3: "Tracked, measured, budgeted — versus untracked, unmeasured, unbudgeted."</a:t>
            </a:r>
          </a:p>
          <a:p>
            <a:endParaRPr/>
          </a:p>
          <a:p>
            <a:r>
              <a:t>Read the bottom bar aloud. Let it land.</a:t>
            </a:r>
          </a:p>
          <a:p>
            <a:endParaRPr/>
          </a:p>
          <a:p>
            <a:r>
              <a:t>TRANSITION: "And here’s why this is urgent — cultural debt compounds."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cycle slowly. Each loop is worse than the last.</a:t>
            </a:r>
          </a:p>
          <a:p>
            <a:endParaRPr/>
          </a:p>
          <a:p>
            <a:r>
              <a:t>"An AI initiative launches. Adoption stalls. Leadership declares failure. Cynicism deepens. Shadow processes harden. And the next initiative faces higher resistance before it even starts."</a:t>
            </a:r>
          </a:p>
          <a:p>
            <a:endParaRPr/>
          </a:p>
          <a:p>
            <a:r>
              <a:t>Then walk the four cycles:</a:t>
            </a:r>
          </a:p>
          <a:p>
            <a:r>
              <a:t>- Cycle 1: Healthy skepticism. Fine.</a:t>
            </a:r>
          </a:p>
          <a:p>
            <a:r>
              <a:t>- Cycle 2: Active resistance. Fighting institutional memory.</a:t>
            </a:r>
          </a:p>
          <a:p>
            <a:r>
              <a:t>- Cycle 3: Organizational antibodies. Resistance is unconscious.</a:t>
            </a:r>
          </a:p>
          <a:p>
            <a:r>
              <a:t>- Cycle 4: Structural inability. The best people have disengaged.</a:t>
            </a:r>
          </a:p>
          <a:p>
            <a:endParaRPr/>
          </a:p>
          <a:p>
            <a:r>
              <a:t>TRANSITION: "So what are the specific patterns that predict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through the cycle slowly. Each loop is worse than the last.</a:t>
            </a:r>
          </a:p>
          <a:p>
            <a:endParaRPr/>
          </a:p>
          <a:p>
            <a:r>
              <a:t>"An AI initiative launches. Adoption stalls. Leadership declares failure. Cynicism deepens. Shadow processes harden. And the next initiative faces higher resistance before it even starts."</a:t>
            </a:r>
          </a:p>
          <a:p>
            <a:endParaRPr/>
          </a:p>
          <a:p>
            <a:r>
              <a:t>Then walk the four cycles:</a:t>
            </a:r>
          </a:p>
          <a:p>
            <a:r>
              <a:t>- Cycle 1: Healthy skepticism. Fine.</a:t>
            </a:r>
          </a:p>
          <a:p>
            <a:r>
              <a:t>- Cycle 2: Active resistance. Fighting institutional memory.</a:t>
            </a:r>
          </a:p>
          <a:p>
            <a:r>
              <a:t>- Cycle 3: Organizational antibodies. Resistance is unconscious.</a:t>
            </a:r>
          </a:p>
          <a:p>
            <a:r>
              <a:t>- Cycle 4: Structural inability. The best people have disengaged.</a:t>
            </a:r>
          </a:p>
          <a:p>
            <a:endParaRPr/>
          </a:p>
          <a:p>
            <a:r>
              <a:t>TRANSITION: "So what are the specific patterns that predict this?"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down each row:</a:t>
            </a:r>
          </a:p>
          <a:p>
            <a:endParaRPr/>
          </a:p>
          <a:p>
            <a:r>
              <a:t>"Permission Culture — teams need approvals before experimenting. Innovation dies in committee."</a:t>
            </a:r>
          </a:p>
          <a:p>
            <a:endParaRPr/>
          </a:p>
          <a:p>
            <a:r>
              <a:t>"Metric Misalignment — the most common. We measure 'models deployed' not 'decisions improved.'"</a:t>
            </a:r>
          </a:p>
          <a:p>
            <a:endParaRPr/>
          </a:p>
          <a:p>
            <a:r>
              <a:t>"Invisible Middle — the least discussed, most lethal. Middle managers aren’t resisting — they’re rationally waiting."</a:t>
            </a:r>
          </a:p>
          <a:p>
            <a:endParaRPr/>
          </a:p>
          <a:p>
            <a:r>
              <a:t>"Skills Theater — everyone went to training. Nobody changed how they work."</a:t>
            </a:r>
          </a:p>
          <a:p>
            <a:endParaRPr/>
          </a:p>
          <a:p>
            <a:r>
              <a:t>"Trust Deficit — 'AI will replace us' goes unaddressed. Best people quietly disengage."</a:t>
            </a:r>
          </a:p>
          <a:p>
            <a:endParaRPr/>
          </a:p>
          <a:p>
            <a:r>
              <a:t>Ask: "Mentally score your organization. How many are present?"</a:t>
            </a:r>
          </a:p>
          <a:p>
            <a:endParaRPr/>
          </a:p>
          <a:p>
            <a:r>
              <a:t>TRANSITION: "The organizations that break this cycle have three things in common."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turn from problem to solution.</a:t>
            </a:r>
          </a:p>
          <a:p>
            <a:endParaRPr/>
          </a:p>
          <a:p>
            <a:r>
              <a:t>"Psychological safety sounds soft until you realize it’s the difference between teams who experiment and teams who hide."</a:t>
            </a:r>
          </a:p>
          <a:p>
            <a:endParaRPr/>
          </a:p>
          <a:p>
            <a:r>
              <a:t>"Aligned incentives sounds obvious until you audit how many AI programs measure 'models in production' rather than 'decisions improved.'"</a:t>
            </a:r>
          </a:p>
          <a:p>
            <a:endParaRPr/>
          </a:p>
          <a:p>
            <a:r>
              <a:t>"Visible leadership — not sponsorship in a steering committee, but a VP who shows the team how they used Claude this week."</a:t>
            </a:r>
          </a:p>
          <a:p>
            <a:endParaRPr/>
          </a:p>
          <a:p>
            <a:r>
              <a:t>Read the bottom bar: "They treat culture as infrastructure."</a:t>
            </a:r>
          </a:p>
          <a:p>
            <a:endParaRPr/>
          </a:p>
          <a:p>
            <a:r>
              <a:t>TRANSITION: "So what does the shift look like?"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reframes the investment sequence.</a:t>
            </a:r>
          </a:p>
          <a:p>
            <a:endParaRPr/>
          </a:p>
          <a:p>
            <a:r>
              <a:t>"Almost every failed AI initiative started with technology selection. The ones that succeed start with people."</a:t>
            </a:r>
          </a:p>
          <a:p>
            <a:endParaRPr/>
          </a:p>
          <a:p>
            <a:r>
              <a:t>The From/To framing lets the audience self-diagnose.</a:t>
            </a:r>
          </a:p>
          <a:p>
            <a:endParaRPr/>
          </a:p>
          <a:p>
            <a:r>
              <a:t>Read the bottom bar: the sequence matters. People first, process, then technology.</a:t>
            </a:r>
          </a:p>
          <a:p>
            <a:endParaRPr/>
          </a:p>
          <a:p>
            <a:r>
              <a:t>TRANSITION: "And there’s urgency — because cultural debt doesn’t wait."</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urgency slide. Compounding metaphor works because leadership thinks in financial terms.</a:t>
            </a:r>
          </a:p>
          <a:p>
            <a:endParaRPr/>
          </a:p>
          <a:p>
            <a:r>
              <a:t>"Every quarter unaddressed, the cost roughly doubles — not because the problem gets harder, but because the cynicism gets deeper."</a:t>
            </a:r>
          </a:p>
          <a:p>
            <a:endParaRPr/>
          </a:p>
          <a:p>
            <a:r>
              <a:t>Walk left to right. Colors darken — visual cue for escalating severity.</a:t>
            </a:r>
          </a:p>
          <a:p>
            <a:endParaRPr/>
          </a:p>
          <a:p>
            <a:r>
              <a:t>TRANSITION: "So here are three actions we can take today."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End with action, not inspiration. Low-cost, high-signal.</a:t>
            </a:r>
          </a:p>
          <a:p>
            <a:endParaRPr/>
          </a:p>
          <a:p>
            <a:r>
              <a:t>"I’m not asking for a new program or a new budget. Three targeted actions."</a:t>
            </a:r>
          </a:p>
          <a:p>
            <a:endParaRPr/>
          </a:p>
          <a:p>
            <a:r>
              <a:t>1. Cultural audit — "Name the debt. Can’t fix what you don’t measure."</a:t>
            </a:r>
          </a:p>
          <a:p>
            <a:r>
              <a:t>2. Scorecard — "Change the metric, change the behavior."</a:t>
            </a:r>
          </a:p>
          <a:p>
            <a:r>
              <a:t>3. Visible leadership — "Until the C-suite models it, everything else is policy without practice."</a:t>
            </a:r>
          </a:p>
          <a:p>
            <a:endParaRPr/>
          </a:p>
          <a:p>
            <a:r>
              <a:t>Read the closing line. Pause. Let it land.</a:t>
            </a:r>
          </a:p>
          <a:p>
            <a:endParaRPr/>
          </a:p>
          <a:p>
            <a:r>
              <a:t>Ask: "Who in this room owns the first one?"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actions, not the table. The 30-day window is important.</a:t>
            </a:r>
          </a:p>
          <a:p>
            <a:endParaRPr/>
          </a:p>
          <a:p>
            <a:r>
              <a:t>If the next meeting isn’t on the calendar before people leave the room, it won’t happen.</a:t>
            </a:r>
          </a:p>
          <a:p>
            <a:endParaRPr/>
          </a:p>
          <a:p>
            <a:r>
              <a:t>Ask: "Can we get the readiness assessment scheduled before we leave today?"</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6.emf"/></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8_Statement slide">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22476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slide 1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3D6BF54-C79F-8FF6-8F4F-CF241D11A9E2}"/>
              </a:ext>
            </a:extLst>
          </p:cNvPr>
          <p:cNvPicPr>
            <a:picLocks noChangeAspect="1"/>
          </p:cNvPicPr>
          <p:nvPr userDrawn="1"/>
        </p:nvPicPr>
        <p:blipFill>
          <a:blip r:embed="rId2"/>
          <a:stretch>
            <a:fillRect/>
          </a:stretch>
        </p:blipFill>
        <p:spPr>
          <a:xfrm>
            <a:off x="523184" y="4642899"/>
            <a:ext cx="11166064" cy="1726545"/>
          </a:xfrm>
          <a:prstGeom prst="rect">
            <a:avLst/>
          </a:prstGeom>
        </p:spPr>
      </p:pic>
      <p:cxnSp>
        <p:nvCxnSpPr>
          <p:cNvPr id="7" name="Straight Connector 6">
            <a:extLst>
              <a:ext uri="{FF2B5EF4-FFF2-40B4-BE49-F238E27FC236}">
                <a16:creationId xmlns:a16="http://schemas.microsoft.com/office/drawing/2014/main" id="{F1467D7F-C013-2239-FCEE-08E21A6BF35C}"/>
              </a:ext>
            </a:extLst>
          </p:cNvPr>
          <p:cNvCxnSpPr>
            <a:cxnSpLocks/>
          </p:cNvCxnSpPr>
          <p:nvPr userDrawn="1"/>
        </p:nvCxnSpPr>
        <p:spPr>
          <a:xfrm>
            <a:off x="514349" y="3910429"/>
            <a:ext cx="11155680" cy="0"/>
          </a:xfrm>
          <a:prstGeom prst="line">
            <a:avLst/>
          </a:prstGeom>
          <a:noFill/>
          <a:ln w="6350" cap="flat">
            <a:solidFill>
              <a:srgbClr val="000075"/>
            </a:solidFill>
            <a:prstDash val="solid"/>
            <a:miter lim="800000"/>
          </a:ln>
          <a:effectLst/>
          <a:sp3d/>
        </p:spPr>
      </p:cxnSp>
      <p:sp>
        <p:nvSpPr>
          <p:cNvPr id="3" name="Title 5">
            <a:extLst>
              <a:ext uri="{FF2B5EF4-FFF2-40B4-BE49-F238E27FC236}">
                <a16:creationId xmlns:a16="http://schemas.microsoft.com/office/drawing/2014/main" id="{E1599527-B5A5-911F-3013-0E40218DFB0E}"/>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Wallace Serif" pitchFamily="2" charset="0"/>
                <a:ea typeface="+mn-ea"/>
                <a:cs typeface="Wallace Serif"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Tree>
    <p:extLst>
      <p:ext uri="{BB962C8B-B14F-4D97-AF65-F5344CB8AC3E}">
        <p14:creationId xmlns:p14="http://schemas.microsoft.com/office/powerpoint/2010/main" val="7125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Cover slide 3">
    <p:bg>
      <p:bgPr>
        <a:solidFill>
          <a:schemeClr val="accent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9920550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slide 3 (with image)">
    <p:bg>
      <p:bgPr>
        <a:solidFill>
          <a:schemeClr val="accent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F07933C4-2460-FCE4-D6FF-415F72ED2928}"/>
              </a:ext>
            </a:extLst>
          </p:cNvPr>
          <p:cNvSpPr>
            <a:spLocks noGrp="1"/>
          </p:cNvSpPr>
          <p:nvPr>
            <p:ph type="pic" sz="quarter" idx="21"/>
          </p:nvPr>
        </p:nvSpPr>
        <p:spPr>
          <a:xfrm>
            <a:off x="0" y="0"/>
            <a:ext cx="12192000" cy="4892039"/>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39237540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over slide 3 (with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937A431A-AF4A-1533-D3B0-8157564DB6A4}"/>
              </a:ext>
            </a:extLst>
          </p:cNvPr>
          <p:cNvSpPr>
            <a:spLocks noGrp="1"/>
          </p:cNvSpPr>
          <p:nvPr>
            <p:ph type="pic" sz="quarter" idx="21"/>
          </p:nvPr>
        </p:nvSpPr>
        <p:spPr>
          <a:xfrm>
            <a:off x="0" y="0"/>
            <a:ext cx="12192000" cy="6858000"/>
          </a:xfrm>
          <a:solidFill>
            <a:schemeClr val="bg1">
              <a:lumMod val="95000"/>
            </a:schemeClr>
          </a:solidFill>
          <a:ln>
            <a:noFill/>
          </a:ln>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5975844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slide 3 (image)">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1927506-33E4-F8FE-92D6-7AD6771715AC}"/>
              </a:ext>
            </a:extLst>
          </p:cNvPr>
          <p:cNvSpPr>
            <a:spLocks noGrp="1"/>
          </p:cNvSpPr>
          <p:nvPr>
            <p:ph type="pic" sz="quarter" idx="21"/>
          </p:nvPr>
        </p:nvSpPr>
        <p:spPr>
          <a:xfrm>
            <a:off x="0" y="0"/>
            <a:ext cx="12192000" cy="6858000"/>
          </a:xfrm>
          <a:solidFill>
            <a:schemeClr val="bg1">
              <a:lumMod val="95000"/>
            </a:schemeClr>
          </a:solidFill>
        </p:spPr>
        <p:txBody>
          <a:bodyPr/>
          <a:lstStyle/>
          <a:p>
            <a:r>
              <a:rPr lang="en-US"/>
              <a:t>Click icon to add picture</a:t>
            </a:r>
          </a:p>
        </p:txBody>
      </p:sp>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05184"/>
          </a:xfrm>
        </p:spPr>
        <p:txBody>
          <a:bodyPr>
            <a:no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9" name="Picture 8">
            <a:extLst>
              <a:ext uri="{FF2B5EF4-FFF2-40B4-BE49-F238E27FC236}">
                <a16:creationId xmlns:a16="http://schemas.microsoft.com/office/drawing/2014/main" id="{C78E31F5-56AF-C332-0C0D-D9E121D3AFE5}"/>
              </a:ext>
            </a:extLst>
          </p:cNvPr>
          <p:cNvPicPr>
            <a:picLocks noChangeAspect="1"/>
          </p:cNvPicPr>
          <p:nvPr userDrawn="1"/>
        </p:nvPicPr>
        <p:blipFill>
          <a:blip r:embed="rId2"/>
          <a:stretch>
            <a:fillRect/>
          </a:stretch>
        </p:blipFill>
        <p:spPr>
          <a:xfrm>
            <a:off x="514350" y="5815788"/>
            <a:ext cx="11153394" cy="532926"/>
          </a:xfrm>
          <a:prstGeom prst="rect">
            <a:avLst/>
          </a:prstGeom>
        </p:spPr>
      </p:pic>
    </p:spTree>
    <p:extLst>
      <p:ext uri="{BB962C8B-B14F-4D97-AF65-F5344CB8AC3E}">
        <p14:creationId xmlns:p14="http://schemas.microsoft.com/office/powerpoint/2010/main" val="2779524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slide 4 (with image)">
    <p:bg>
      <p:bgPr>
        <a:solidFill>
          <a:schemeClr val="accent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102D183C-05EF-65F7-6F51-E13C5635FBFC}"/>
              </a:ext>
            </a:extLst>
          </p:cNvPr>
          <p:cNvSpPr>
            <a:spLocks noGrp="1"/>
          </p:cNvSpPr>
          <p:nvPr>
            <p:ph type="pic" sz="quarter" idx="21"/>
          </p:nvPr>
        </p:nvSpPr>
        <p:spPr>
          <a:xfrm>
            <a:off x="-8001" y="0"/>
            <a:ext cx="12198096" cy="4892040"/>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511587" y="2180155"/>
            <a:ext cx="5497327" cy="205184"/>
          </a:xfrm>
        </p:spPr>
        <p:txBody>
          <a:bodyPr>
            <a:no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16942382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slide 4{(with image)} (print friendly)">
    <p:bg>
      <p:bgPr>
        <a:solidFill>
          <a:schemeClr val="bg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D152CB7-E476-F828-706F-52B314A150F2}"/>
              </a:ext>
            </a:extLst>
          </p:cNvPr>
          <p:cNvSpPr>
            <a:spLocks noGrp="1"/>
          </p:cNvSpPr>
          <p:nvPr>
            <p:ph type="pic" sz="quarter" idx="21"/>
          </p:nvPr>
        </p:nvSpPr>
        <p:spPr>
          <a:xfrm>
            <a:off x="1" y="1"/>
            <a:ext cx="12198096" cy="4892040"/>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8080253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slide 8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83EB7B1-C62C-4AA8-6DFD-67C9308C48A0}"/>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5" name="Text Placeholder 13">
            <a:extLst>
              <a:ext uri="{FF2B5EF4-FFF2-40B4-BE49-F238E27FC236}">
                <a16:creationId xmlns:a16="http://schemas.microsoft.com/office/drawing/2014/main" id="{CE2CC022-0512-5662-067A-9FA9F5DD3D0E}"/>
              </a:ext>
            </a:extLst>
          </p:cNvPr>
          <p:cNvSpPr>
            <a:spLocks noGrp="1"/>
          </p:cNvSpPr>
          <p:nvPr>
            <p:ph type="body" sz="quarter" idx="21" hasCustomPrompt="1"/>
          </p:nvPr>
        </p:nvSpPr>
        <p:spPr>
          <a:xfrm>
            <a:off x="496789" y="2711537"/>
            <a:ext cx="5421427" cy="215444"/>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smtClean="0">
                <a:solidFill>
                  <a:srgbClr val="000075"/>
                </a:solidFill>
                <a:latin typeface="Wallace Sans Light" pitchFamily="2" charset="0"/>
                <a:ea typeface="+mn-ea"/>
                <a:cs typeface="Wallace Sans Light" pitchFamily="2" charset="0"/>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lvl="0"/>
            <a:r>
              <a:rPr lang="en-US"/>
              <a:t>Subtitle in Wallace Sans size 14 pt, 1 line only</a:t>
            </a:r>
          </a:p>
        </p:txBody>
      </p:sp>
      <p:sp>
        <p:nvSpPr>
          <p:cNvPr id="6" name="Title 5">
            <a:extLst>
              <a:ext uri="{FF2B5EF4-FFF2-40B4-BE49-F238E27FC236}">
                <a16:creationId xmlns:a16="http://schemas.microsoft.com/office/drawing/2014/main" id="{27C91504-D944-6BE8-058C-3299BDD869CA}"/>
              </a:ext>
            </a:extLst>
          </p:cNvPr>
          <p:cNvSpPr>
            <a:spLocks noGrp="1"/>
          </p:cNvSpPr>
          <p:nvPr>
            <p:ph type="title" hasCustomPrompt="1"/>
          </p:nvPr>
        </p:nvSpPr>
        <p:spPr>
          <a:xfrm>
            <a:off x="496789" y="430266"/>
            <a:ext cx="5421427" cy="2160591"/>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sp>
        <p:nvSpPr>
          <p:cNvPr id="4" name="Picture Placeholder 3">
            <a:extLst>
              <a:ext uri="{FF2B5EF4-FFF2-40B4-BE49-F238E27FC236}">
                <a16:creationId xmlns:a16="http://schemas.microsoft.com/office/drawing/2014/main" id="{82ABF7C4-935F-B8F3-8365-BF21A307D788}"/>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38750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slide 9 (print friendly) ">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72E7A34-D575-914A-7F7A-1F68B8E417AE}"/>
              </a:ext>
            </a:extLst>
          </p:cNvPr>
          <p:cNvCxnSpPr>
            <a:cxnSpLocks/>
          </p:cNvCxnSpPr>
          <p:nvPr userDrawn="1"/>
        </p:nvCxnSpPr>
        <p:spPr>
          <a:xfrm>
            <a:off x="514518" y="5203800"/>
            <a:ext cx="5396324"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1D5F5558-3B08-456A-B027-F0DB9DD7A221}"/>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6" name="Text Placeholder 13">
            <a:extLst>
              <a:ext uri="{FF2B5EF4-FFF2-40B4-BE49-F238E27FC236}">
                <a16:creationId xmlns:a16="http://schemas.microsoft.com/office/drawing/2014/main" id="{592F0CF0-3B5F-883A-80A6-80F9B5541CF8}"/>
              </a:ext>
            </a:extLst>
          </p:cNvPr>
          <p:cNvSpPr>
            <a:spLocks noGrp="1"/>
          </p:cNvSpPr>
          <p:nvPr>
            <p:ph type="body" sz="quarter" idx="19" hasCustomPrompt="1"/>
          </p:nvPr>
        </p:nvSpPr>
        <p:spPr>
          <a:xfrm>
            <a:off x="496789" y="4676068"/>
            <a:ext cx="5421427" cy="215444"/>
          </a:xfrm>
        </p:spPr>
        <p:txBody>
          <a:bodyPr wrap="square">
            <a:spAutoFit/>
          </a:bodyPr>
          <a:lstStyle>
            <a:lvl1pPr marL="0"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US" sz="1400" kern="1200" spc="50" dirty="0">
                <a:solidFill>
                  <a:srgbClr val="000075"/>
                </a:solidFill>
                <a:latin typeface="Wallace Sans BETA Light" pitchFamily="2" charset="77"/>
                <a:ea typeface="+mn-ea"/>
                <a:cs typeface="Wallace Sans BETA Light" pitchFamily="2" charset="77"/>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lvl="0"/>
            <a:r>
              <a:rPr lang="en-US"/>
              <a:t>Subtitle in Wallace Sans size 14 pt, 1 line only</a:t>
            </a:r>
          </a:p>
        </p:txBody>
      </p:sp>
      <p:sp>
        <p:nvSpPr>
          <p:cNvPr id="9" name="Title 5">
            <a:extLst>
              <a:ext uri="{FF2B5EF4-FFF2-40B4-BE49-F238E27FC236}">
                <a16:creationId xmlns:a16="http://schemas.microsoft.com/office/drawing/2014/main" id="{9900BF05-A328-F310-CE54-0A1D06EB5A63}"/>
              </a:ext>
            </a:extLst>
          </p:cNvPr>
          <p:cNvSpPr>
            <a:spLocks noGrp="1"/>
          </p:cNvSpPr>
          <p:nvPr>
            <p:ph type="title" hasCustomPrompt="1"/>
          </p:nvPr>
        </p:nvSpPr>
        <p:spPr>
          <a:xfrm>
            <a:off x="496789" y="430266"/>
            <a:ext cx="5421427" cy="2160591"/>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sp>
        <p:nvSpPr>
          <p:cNvPr id="4" name="Picture Placeholder 3">
            <a:extLst>
              <a:ext uri="{FF2B5EF4-FFF2-40B4-BE49-F238E27FC236}">
                <a16:creationId xmlns:a16="http://schemas.microsoft.com/office/drawing/2014/main" id="{5A32047F-FF8B-E0EC-1F71-30B6462353E1}"/>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244256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slide 10 (print friendly) ">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EC3F80B-7E7C-5B9A-8D63-6A6826177151}"/>
              </a:ext>
            </a:extLst>
          </p:cNvPr>
          <p:cNvPicPr>
            <a:picLocks noChangeAspect="1"/>
          </p:cNvPicPr>
          <p:nvPr userDrawn="1"/>
        </p:nvPicPr>
        <p:blipFill>
          <a:blip r:embed="rId2"/>
          <a:stretch>
            <a:fillRect/>
          </a:stretch>
        </p:blipFill>
        <p:spPr>
          <a:xfrm>
            <a:off x="523185" y="5524100"/>
            <a:ext cx="5387100" cy="845344"/>
          </a:xfrm>
          <a:prstGeom prst="rect">
            <a:avLst/>
          </a:prstGeom>
        </p:spPr>
      </p:pic>
      <p:sp>
        <p:nvSpPr>
          <p:cNvPr id="14" name="Text Placeholder 13">
            <a:extLst>
              <a:ext uri="{FF2B5EF4-FFF2-40B4-BE49-F238E27FC236}">
                <a16:creationId xmlns:a16="http://schemas.microsoft.com/office/drawing/2014/main" id="{2630F0A1-9AE7-7850-501F-0A147C31F293}"/>
              </a:ext>
            </a:extLst>
          </p:cNvPr>
          <p:cNvSpPr>
            <a:spLocks noGrp="1"/>
          </p:cNvSpPr>
          <p:nvPr>
            <p:ph type="body" sz="quarter" idx="19" hasCustomPrompt="1"/>
          </p:nvPr>
        </p:nvSpPr>
        <p:spPr>
          <a:xfrm>
            <a:off x="523742" y="823967"/>
            <a:ext cx="5387099" cy="205184"/>
          </a:xfrm>
        </p:spPr>
        <p:txBody>
          <a:bodyPr wrap="square">
            <a:spAutoFit/>
          </a:bodyPr>
          <a:lstStyle>
            <a:lvl1pPr marL="0" indent="0" algn="l" defTabSz="914400" rtl="0" eaLnBrk="1" latinLnBrk="0" hangingPunct="1">
              <a:lnSpc>
                <a:spcPct val="100000"/>
              </a:lnSpc>
              <a:spcBef>
                <a:spcPts val="0"/>
              </a:spcBef>
              <a:buFont typeface="Arial" panose="020B0604020202020204" pitchFamily="34" charset="0"/>
              <a:buNone/>
              <a:defRPr lang="en-US" sz="1600" b="0" i="0" kern="100" spc="-100" baseline="0" dirty="0">
                <a:solidFill>
                  <a:srgbClr val="000075"/>
                </a:solidFill>
                <a:latin typeface="Abbott Wallace Sans Light" pitchFamily="2" charset="77"/>
                <a:ea typeface="+mn-ea"/>
                <a:cs typeface="Abbott Wallace Sans Light" pitchFamily="2" charset="77"/>
              </a:defRPr>
            </a:lvl1pPr>
            <a:lvl2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ts val="2400"/>
              </a:lnSpc>
              <a:spcBef>
                <a:spcPts val="0"/>
              </a:spcBef>
              <a:buFont typeface="Arial" panose="020B0604020202020204" pitchFamily="34" charset="0"/>
              <a:buNone/>
              <a:defRPr lang="en-US" sz="2000" b="0" i="0" kern="100" spc="-100" baseline="0" dirty="0">
                <a:solidFill>
                  <a:schemeClr val="bg1"/>
                </a:solidFill>
                <a:latin typeface="Abbott Wallace Sans Light" pitchFamily="2" charset="77"/>
                <a:ea typeface="+mn-ea"/>
                <a:cs typeface="Abbott Wallace Sans Light" pitchFamily="2" charset="77"/>
              </a:defRPr>
            </a:lvl5pPr>
          </a:lstStyle>
          <a:p>
            <a:pPr marL="0" marR="0" lvl="0" indent="0" algn="l" defTabSz="914400" rtl="0" eaLnBrk="1" fontAlgn="auto" latinLnBrk="0" hangingPunct="1">
              <a:lnSpc>
                <a:spcPts val="1600"/>
              </a:lnSpc>
              <a:spcBef>
                <a:spcPts val="0"/>
              </a:spcBef>
              <a:spcAft>
                <a:spcPts val="0"/>
              </a:spcAft>
              <a:buClrTx/>
              <a:buSzTx/>
              <a:buFont typeface="Arial" panose="020B0604020202020204" pitchFamily="34" charset="0"/>
              <a:buNone/>
              <a:tabLst/>
            </a:pPr>
            <a:r>
              <a:rPr lang="en-US"/>
              <a:t>Title in Wallace Sans, size 16 pt, 1 line only</a:t>
            </a:r>
          </a:p>
        </p:txBody>
      </p:sp>
      <p:sp>
        <p:nvSpPr>
          <p:cNvPr id="4" name="Title 5">
            <a:extLst>
              <a:ext uri="{FF2B5EF4-FFF2-40B4-BE49-F238E27FC236}">
                <a16:creationId xmlns:a16="http://schemas.microsoft.com/office/drawing/2014/main" id="{B8CE7BA7-B959-522F-56CD-24760C3E72CF}"/>
              </a:ext>
            </a:extLst>
          </p:cNvPr>
          <p:cNvSpPr>
            <a:spLocks noGrp="1"/>
          </p:cNvSpPr>
          <p:nvPr>
            <p:ph type="title" hasCustomPrompt="1"/>
          </p:nvPr>
        </p:nvSpPr>
        <p:spPr>
          <a:xfrm>
            <a:off x="496789" y="1284084"/>
            <a:ext cx="5387099" cy="2160591"/>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5200" b="0" i="0" kern="1200" spc="-100" baseline="0" dirty="0">
                <a:solidFill>
                  <a:srgbClr val="000075"/>
                </a:solidFill>
                <a:latin typeface="+mj-lt"/>
                <a:ea typeface="+mn-ea"/>
                <a:cs typeface="Abbott Wallace Serif Light" pitchFamily="2" charset="77"/>
              </a:defRPr>
            </a:lvl1pPr>
          </a:lstStyle>
          <a:p>
            <a:pPr marL="0" lvl="0" indent="0" algn="l" defTabSz="914400" rtl="0" eaLnBrk="1" latinLnBrk="0" hangingPunct="1">
              <a:lnSpc>
                <a:spcPct val="90000"/>
              </a:lnSpc>
              <a:spcBef>
                <a:spcPts val="0"/>
              </a:spcBef>
              <a:buFont typeface="Arial" panose="020B0604020202020204" pitchFamily="34" charset="0"/>
              <a:buNone/>
            </a:pPr>
            <a:r>
              <a:rPr lang="en-US"/>
              <a:t>Title in Wallace Serif Light, 52 pt size, max 3 lines</a:t>
            </a:r>
          </a:p>
        </p:txBody>
      </p:sp>
      <p:cxnSp>
        <p:nvCxnSpPr>
          <p:cNvPr id="6" name="Straight Connector 5">
            <a:extLst>
              <a:ext uri="{FF2B5EF4-FFF2-40B4-BE49-F238E27FC236}">
                <a16:creationId xmlns:a16="http://schemas.microsoft.com/office/drawing/2014/main" id="{870AB698-7037-11CB-FD77-0D73C5796F48}"/>
              </a:ext>
            </a:extLst>
          </p:cNvPr>
          <p:cNvCxnSpPr>
            <a:cxnSpLocks/>
          </p:cNvCxnSpPr>
          <p:nvPr userDrawn="1"/>
        </p:nvCxnSpPr>
        <p:spPr>
          <a:xfrm>
            <a:off x="523742" y="508954"/>
            <a:ext cx="5396324"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sp>
        <p:nvSpPr>
          <p:cNvPr id="5" name="Picture Placeholder 4">
            <a:extLst>
              <a:ext uri="{FF2B5EF4-FFF2-40B4-BE49-F238E27FC236}">
                <a16:creationId xmlns:a16="http://schemas.microsoft.com/office/drawing/2014/main" id="{48648DA0-8021-A72D-FF61-D75D10F95623}"/>
              </a:ext>
            </a:extLst>
          </p:cNvPr>
          <p:cNvSpPr>
            <a:spLocks noGrp="1"/>
          </p:cNvSpPr>
          <p:nvPr>
            <p:ph type="pic" sz="quarter" idx="20"/>
          </p:nvPr>
        </p:nvSpPr>
        <p:spPr>
          <a:xfrm>
            <a:off x="6251341" y="515422"/>
            <a:ext cx="5421428" cy="5824723"/>
          </a:xfrm>
          <a:custGeom>
            <a:avLst/>
            <a:gdLst>
              <a:gd name="connsiteX0" fmla="*/ 0 w 5421428"/>
              <a:gd name="connsiteY0" fmla="*/ 0 h 5824723"/>
              <a:gd name="connsiteX1" fmla="*/ 1966224 w 5421428"/>
              <a:gd name="connsiteY1" fmla="*/ 0 h 5824723"/>
              <a:gd name="connsiteX2" fmla="*/ 1966224 w 5421428"/>
              <a:gd name="connsiteY2" fmla="*/ 1 h 5824723"/>
              <a:gd name="connsiteX3" fmla="*/ 2950375 w 5421428"/>
              <a:gd name="connsiteY3" fmla="*/ 1 h 5824723"/>
              <a:gd name="connsiteX4" fmla="*/ 2950377 w 5421428"/>
              <a:gd name="connsiteY4" fmla="*/ 1 h 5824723"/>
              <a:gd name="connsiteX5" fmla="*/ 4193959 w 5421428"/>
              <a:gd name="connsiteY5" fmla="*/ 1 h 5824723"/>
              <a:gd name="connsiteX6" fmla="*/ 4193961 w 5421428"/>
              <a:gd name="connsiteY6" fmla="*/ 2 h 5824723"/>
              <a:gd name="connsiteX7" fmla="*/ 5340006 w 5421428"/>
              <a:gd name="connsiteY7" fmla="*/ 2 h 5824723"/>
              <a:gd name="connsiteX8" fmla="*/ 5421428 w 5421428"/>
              <a:gd name="connsiteY8" fmla="*/ 81423 h 5824723"/>
              <a:gd name="connsiteX9" fmla="*/ 5421428 w 5421428"/>
              <a:gd name="connsiteY9" fmla="*/ 1410351 h 5824723"/>
              <a:gd name="connsiteX10" fmla="*/ 5421428 w 5421428"/>
              <a:gd name="connsiteY10" fmla="*/ 1884803 h 5824723"/>
              <a:gd name="connsiteX11" fmla="*/ 5421428 w 5421428"/>
              <a:gd name="connsiteY11" fmla="*/ 2446669 h 5824723"/>
              <a:gd name="connsiteX12" fmla="*/ 5421428 w 5421428"/>
              <a:gd name="connsiteY12" fmla="*/ 3213731 h 5824723"/>
              <a:gd name="connsiteX13" fmla="*/ 5421428 w 5421428"/>
              <a:gd name="connsiteY13" fmla="*/ 3275725 h 5824723"/>
              <a:gd name="connsiteX14" fmla="*/ 5421428 w 5421428"/>
              <a:gd name="connsiteY14" fmla="*/ 3939920 h 5824723"/>
              <a:gd name="connsiteX15" fmla="*/ 5421428 w 5421428"/>
              <a:gd name="connsiteY15" fmla="*/ 4250051 h 5824723"/>
              <a:gd name="connsiteX16" fmla="*/ 5421428 w 5421428"/>
              <a:gd name="connsiteY16" fmla="*/ 5079107 h 5824723"/>
              <a:gd name="connsiteX17" fmla="*/ 5421428 w 5421428"/>
              <a:gd name="connsiteY17" fmla="*/ 5743302 h 5824723"/>
              <a:gd name="connsiteX18" fmla="*/ 5340006 w 5421428"/>
              <a:gd name="connsiteY18" fmla="*/ 5824723 h 5824723"/>
              <a:gd name="connsiteX19" fmla="*/ 4193959 w 5421428"/>
              <a:gd name="connsiteY19" fmla="*/ 5824723 h 5824723"/>
              <a:gd name="connsiteX20" fmla="*/ 3536625 w 5421428"/>
              <a:gd name="connsiteY20" fmla="*/ 5824723 h 5824723"/>
              <a:gd name="connsiteX21" fmla="*/ 2950375 w 5421428"/>
              <a:gd name="connsiteY21" fmla="*/ 5824723 h 5824723"/>
              <a:gd name="connsiteX22" fmla="*/ 2390577 w 5421428"/>
              <a:gd name="connsiteY22" fmla="*/ 5824723 h 5824723"/>
              <a:gd name="connsiteX23" fmla="*/ 1884803 w 5421428"/>
              <a:gd name="connsiteY23" fmla="*/ 5824723 h 5824723"/>
              <a:gd name="connsiteX24" fmla="*/ 1146993 w 5421428"/>
              <a:gd name="connsiteY24" fmla="*/ 5824723 h 5824723"/>
              <a:gd name="connsiteX25" fmla="*/ 81421 w 5421428"/>
              <a:gd name="connsiteY25" fmla="*/ 5824723 h 5824723"/>
              <a:gd name="connsiteX26" fmla="*/ 0 w 5421428"/>
              <a:gd name="connsiteY26" fmla="*/ 5743302 h 5824723"/>
              <a:gd name="connsiteX27" fmla="*/ 0 w 5421428"/>
              <a:gd name="connsiteY27" fmla="*/ 5079107 h 5824723"/>
              <a:gd name="connsiteX28" fmla="*/ 0 w 5421428"/>
              <a:gd name="connsiteY28" fmla="*/ 4250051 h 5824723"/>
              <a:gd name="connsiteX29" fmla="*/ 0 w 5421428"/>
              <a:gd name="connsiteY29" fmla="*/ 3939920 h 5824723"/>
              <a:gd name="connsiteX30" fmla="*/ 0 w 5421428"/>
              <a:gd name="connsiteY30" fmla="*/ 3275725 h 5824723"/>
              <a:gd name="connsiteX31" fmla="*/ 0 w 5421428"/>
              <a:gd name="connsiteY31" fmla="*/ 3213731 h 5824723"/>
              <a:gd name="connsiteX32" fmla="*/ 0 w 5421428"/>
              <a:gd name="connsiteY32" fmla="*/ 2446669 h 5824723"/>
              <a:gd name="connsiteX33" fmla="*/ 0 w 5421428"/>
              <a:gd name="connsiteY33" fmla="*/ 1966224 h 5824723"/>
              <a:gd name="connsiteX34" fmla="*/ 0 w 5421428"/>
              <a:gd name="connsiteY34" fmla="*/ 1410349 h 58247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421428" h="5824723">
                <a:moveTo>
                  <a:pt x="0" y="0"/>
                </a:moveTo>
                <a:lnTo>
                  <a:pt x="1966224" y="0"/>
                </a:lnTo>
                <a:lnTo>
                  <a:pt x="1966224" y="1"/>
                </a:lnTo>
                <a:lnTo>
                  <a:pt x="2950375" y="1"/>
                </a:lnTo>
                <a:lnTo>
                  <a:pt x="2950377" y="1"/>
                </a:lnTo>
                <a:lnTo>
                  <a:pt x="4193959" y="1"/>
                </a:lnTo>
                <a:lnTo>
                  <a:pt x="4193961" y="2"/>
                </a:lnTo>
                <a:lnTo>
                  <a:pt x="5340006" y="2"/>
                </a:lnTo>
                <a:cubicBezTo>
                  <a:pt x="5384974" y="2"/>
                  <a:pt x="5421428" y="36455"/>
                  <a:pt x="5421428" y="81423"/>
                </a:cubicBezTo>
                <a:lnTo>
                  <a:pt x="5421428" y="1410351"/>
                </a:lnTo>
                <a:lnTo>
                  <a:pt x="5421428" y="1884803"/>
                </a:lnTo>
                <a:lnTo>
                  <a:pt x="5421428" y="2446669"/>
                </a:lnTo>
                <a:lnTo>
                  <a:pt x="5421428" y="3213731"/>
                </a:lnTo>
                <a:lnTo>
                  <a:pt x="5421428" y="3275725"/>
                </a:lnTo>
                <a:lnTo>
                  <a:pt x="5421428" y="3939920"/>
                </a:lnTo>
                <a:lnTo>
                  <a:pt x="5421428" y="4250051"/>
                </a:lnTo>
                <a:lnTo>
                  <a:pt x="5421428" y="5079107"/>
                </a:lnTo>
                <a:lnTo>
                  <a:pt x="5421428" y="5743302"/>
                </a:lnTo>
                <a:cubicBezTo>
                  <a:pt x="5421428" y="5788270"/>
                  <a:pt x="5384974" y="5824723"/>
                  <a:pt x="5340006" y="5824723"/>
                </a:cubicBezTo>
                <a:lnTo>
                  <a:pt x="4193959" y="5824723"/>
                </a:lnTo>
                <a:lnTo>
                  <a:pt x="3536625" y="5824723"/>
                </a:lnTo>
                <a:lnTo>
                  <a:pt x="2950375" y="5824723"/>
                </a:lnTo>
                <a:lnTo>
                  <a:pt x="2390577" y="5824723"/>
                </a:lnTo>
                <a:lnTo>
                  <a:pt x="1884803" y="5824723"/>
                </a:lnTo>
                <a:lnTo>
                  <a:pt x="1146993" y="5824723"/>
                </a:lnTo>
                <a:lnTo>
                  <a:pt x="81421" y="5824723"/>
                </a:lnTo>
                <a:cubicBezTo>
                  <a:pt x="36453" y="5824723"/>
                  <a:pt x="0" y="5788270"/>
                  <a:pt x="0" y="5743302"/>
                </a:cubicBezTo>
                <a:lnTo>
                  <a:pt x="0" y="5079107"/>
                </a:lnTo>
                <a:lnTo>
                  <a:pt x="0" y="4250051"/>
                </a:lnTo>
                <a:lnTo>
                  <a:pt x="0" y="3939920"/>
                </a:lnTo>
                <a:lnTo>
                  <a:pt x="0" y="3275725"/>
                </a:lnTo>
                <a:lnTo>
                  <a:pt x="0" y="3213731"/>
                </a:lnTo>
                <a:lnTo>
                  <a:pt x="0" y="2446669"/>
                </a:lnTo>
                <a:lnTo>
                  <a:pt x="0" y="1966224"/>
                </a:lnTo>
                <a:lnTo>
                  <a:pt x="0" y="1410349"/>
                </a:lnTo>
                <a:close/>
              </a:path>
            </a:pathLst>
          </a:custGeom>
          <a:solidFill>
            <a:schemeClr val="bg1">
              <a:lumMod val="85000"/>
            </a:schemeClr>
          </a:solidFill>
        </p:spPr>
        <p:txBody>
          <a:bodyPr wrap="square">
            <a:noAutofit/>
          </a:bodyPr>
          <a:lstStyle/>
          <a:p>
            <a:r>
              <a:rPr lang="en-US"/>
              <a:t>Click icon to add picture</a:t>
            </a:r>
          </a:p>
        </p:txBody>
      </p:sp>
    </p:spTree>
    <p:extLst>
      <p:ext uri="{BB962C8B-B14F-4D97-AF65-F5344CB8AC3E}">
        <p14:creationId xmlns:p14="http://schemas.microsoft.com/office/powerpoint/2010/main" val="36466986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1 (print friendly)">
    <p:bg>
      <p:bgPr>
        <a:solidFill>
          <a:schemeClr val="bg1"/>
        </a:solidFill>
        <a:effectLst/>
      </p:bgPr>
    </p:bg>
    <p:spTree>
      <p:nvGrpSpPr>
        <p:cNvPr id="1" name=""/>
        <p:cNvGrpSpPr/>
        <p:nvPr/>
      </p:nvGrpSpPr>
      <p:grpSpPr>
        <a:xfrm>
          <a:off x="0" y="0"/>
          <a:ext cx="0" cy="0"/>
          <a:chOff x="0" y="0"/>
          <a:chExt cx="0" cy="0"/>
        </a:xfrm>
      </p:grpSpPr>
      <p:sp>
        <p:nvSpPr>
          <p:cNvPr id="2" name="Title 5">
            <a:extLst>
              <a:ext uri="{FF2B5EF4-FFF2-40B4-BE49-F238E27FC236}">
                <a16:creationId xmlns:a16="http://schemas.microsoft.com/office/drawing/2014/main" id="{CF4667B6-799F-1B58-C55A-42A3D32B796E}"/>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accent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Tree>
    <p:extLst>
      <p:ext uri="{BB962C8B-B14F-4D97-AF65-F5344CB8AC3E}">
        <p14:creationId xmlns:p14="http://schemas.microsoft.com/office/powerpoint/2010/main" val="3465144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vider slide 2">
    <p:bg>
      <p:bgPr>
        <a:solidFill>
          <a:schemeClr val="bg1"/>
        </a:solidFill>
        <a:effectLst/>
      </p:bgPr>
    </p:bg>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54843CD5-4CE0-BD90-DF81-E2CB9B0B59DE}"/>
              </a:ext>
            </a:extLst>
          </p:cNvPr>
          <p:cNvSpPr>
            <a:spLocks noGrp="1"/>
          </p:cNvSpPr>
          <p:nvPr>
            <p:ph type="pic" sz="quarter" idx="10"/>
          </p:nvPr>
        </p:nvSpPr>
        <p:spPr>
          <a:xfrm>
            <a:off x="514348" y="515420"/>
            <a:ext cx="11155680" cy="5824728"/>
          </a:xfrm>
          <a:custGeom>
            <a:avLst/>
            <a:gdLst>
              <a:gd name="connsiteX0" fmla="*/ 1 w 11155680"/>
              <a:gd name="connsiteY0" fmla="*/ 0 h 5824728"/>
              <a:gd name="connsiteX1" fmla="*/ 81422 w 11155680"/>
              <a:gd name="connsiteY1" fmla="*/ 0 h 5824728"/>
              <a:gd name="connsiteX2" fmla="*/ 722183 w 11155680"/>
              <a:gd name="connsiteY2" fmla="*/ 0 h 5824728"/>
              <a:gd name="connsiteX3" fmla="*/ 1884805 w 11155680"/>
              <a:gd name="connsiteY3" fmla="*/ 0 h 5824728"/>
              <a:gd name="connsiteX4" fmla="*/ 1884806 w 11155680"/>
              <a:gd name="connsiteY4" fmla="*/ 0 h 5824728"/>
              <a:gd name="connsiteX5" fmla="*/ 2402900 w 11155680"/>
              <a:gd name="connsiteY5" fmla="*/ 0 h 5824728"/>
              <a:gd name="connsiteX6" fmla="*/ 2402901 w 11155680"/>
              <a:gd name="connsiteY6" fmla="*/ 0 h 5824728"/>
              <a:gd name="connsiteX7" fmla="*/ 2860100 w 11155680"/>
              <a:gd name="connsiteY7" fmla="*/ 0 h 5824728"/>
              <a:gd name="connsiteX8" fmla="*/ 3571300 w 11155680"/>
              <a:gd name="connsiteY8" fmla="*/ 0 h 5824728"/>
              <a:gd name="connsiteX9" fmla="*/ 4384100 w 11155680"/>
              <a:gd name="connsiteY9" fmla="*/ 0 h 5824728"/>
              <a:gd name="connsiteX10" fmla="*/ 5196900 w 11155680"/>
              <a:gd name="connsiteY10" fmla="*/ 0 h 5824728"/>
              <a:gd name="connsiteX11" fmla="*/ 5920800 w 11155680"/>
              <a:gd name="connsiteY11" fmla="*/ 0 h 5824728"/>
              <a:gd name="connsiteX12" fmla="*/ 5920800 w 11155680"/>
              <a:gd name="connsiteY12" fmla="*/ 1 h 5824728"/>
              <a:gd name="connsiteX13" fmla="*/ 6835200 w 11155680"/>
              <a:gd name="connsiteY13" fmla="*/ 1 h 5824728"/>
              <a:gd name="connsiteX14" fmla="*/ 7508300 w 11155680"/>
              <a:gd name="connsiteY14" fmla="*/ 1 h 5824728"/>
              <a:gd name="connsiteX15" fmla="*/ 8359200 w 11155680"/>
              <a:gd name="connsiteY15" fmla="*/ 1 h 5824728"/>
              <a:gd name="connsiteX16" fmla="*/ 8956100 w 11155680"/>
              <a:gd name="connsiteY16" fmla="*/ 1 h 5824728"/>
              <a:gd name="connsiteX17" fmla="*/ 9895900 w 11155680"/>
              <a:gd name="connsiteY17" fmla="*/ 1 h 5824728"/>
              <a:gd name="connsiteX18" fmla="*/ 11077000 w 11155680"/>
              <a:gd name="connsiteY18" fmla="*/ 1 h 5824728"/>
              <a:gd name="connsiteX19" fmla="*/ 11152022 w 11155680"/>
              <a:gd name="connsiteY19" fmla="*/ 49729 h 5824728"/>
              <a:gd name="connsiteX20" fmla="*/ 11155680 w 11155680"/>
              <a:gd name="connsiteY20" fmla="*/ 67850 h 5824728"/>
              <a:gd name="connsiteX21" fmla="*/ 11155680 w 11155680"/>
              <a:gd name="connsiteY21" fmla="*/ 5756869 h 5824728"/>
              <a:gd name="connsiteX22" fmla="*/ 11152020 w 11155680"/>
              <a:gd name="connsiteY22" fmla="*/ 5775000 h 5824728"/>
              <a:gd name="connsiteX23" fmla="*/ 11076996 w 11155680"/>
              <a:gd name="connsiteY23" fmla="*/ 5824728 h 5824728"/>
              <a:gd name="connsiteX24" fmla="*/ 9756196 w 11155680"/>
              <a:gd name="connsiteY24" fmla="*/ 5824728 h 5824728"/>
              <a:gd name="connsiteX25" fmla="*/ 9273616 w 11155680"/>
              <a:gd name="connsiteY25" fmla="*/ 5824728 h 5824728"/>
              <a:gd name="connsiteX26" fmla="*/ 8384596 w 11155680"/>
              <a:gd name="connsiteY26" fmla="*/ 5824728 h 5824728"/>
              <a:gd name="connsiteX27" fmla="*/ 7952816 w 11155680"/>
              <a:gd name="connsiteY27" fmla="*/ 5824728 h 5824728"/>
              <a:gd name="connsiteX28" fmla="*/ 7317796 w 11155680"/>
              <a:gd name="connsiteY28" fmla="*/ 5824728 h 5824728"/>
              <a:gd name="connsiteX29" fmla="*/ 6581216 w 11155680"/>
              <a:gd name="connsiteY29" fmla="*/ 5824728 h 5824728"/>
              <a:gd name="connsiteX30" fmla="*/ 6060496 w 11155680"/>
              <a:gd name="connsiteY30" fmla="*/ 5824728 h 5824728"/>
              <a:gd name="connsiteX31" fmla="*/ 5514416 w 11155680"/>
              <a:gd name="connsiteY31" fmla="*/ 5824728 h 5824728"/>
              <a:gd name="connsiteX32" fmla="*/ 4917496 w 11155680"/>
              <a:gd name="connsiteY32" fmla="*/ 5824728 h 5824728"/>
              <a:gd name="connsiteX33" fmla="*/ 4257116 w 11155680"/>
              <a:gd name="connsiteY33" fmla="*/ 5824728 h 5824728"/>
              <a:gd name="connsiteX34" fmla="*/ 3571298 w 11155680"/>
              <a:gd name="connsiteY34" fmla="*/ 5824728 h 5824728"/>
              <a:gd name="connsiteX35" fmla="*/ 3114116 w 11155680"/>
              <a:gd name="connsiteY35" fmla="*/ 5824728 h 5824728"/>
              <a:gd name="connsiteX36" fmla="*/ 2796598 w 11155680"/>
              <a:gd name="connsiteY36" fmla="*/ 5824728 h 5824728"/>
              <a:gd name="connsiteX37" fmla="*/ 1884803 w 11155680"/>
              <a:gd name="connsiteY37" fmla="*/ 5824728 h 5824728"/>
              <a:gd name="connsiteX38" fmla="*/ 1767915 w 11155680"/>
              <a:gd name="connsiteY38" fmla="*/ 5824728 h 5824728"/>
              <a:gd name="connsiteX39" fmla="*/ 993216 w 11155680"/>
              <a:gd name="connsiteY39" fmla="*/ 5824728 h 5824728"/>
              <a:gd name="connsiteX40" fmla="*/ 81421 w 11155680"/>
              <a:gd name="connsiteY40" fmla="*/ 5824728 h 5824728"/>
              <a:gd name="connsiteX41" fmla="*/ 0 w 11155680"/>
              <a:gd name="connsiteY41" fmla="*/ 5743307 h 5824728"/>
              <a:gd name="connsiteX42" fmla="*/ 0 w 11155680"/>
              <a:gd name="connsiteY42" fmla="*/ 4379976 h 5824728"/>
              <a:gd name="connsiteX43" fmla="*/ 0 w 11155680"/>
              <a:gd name="connsiteY43" fmla="*/ 2311884 h 5824728"/>
              <a:gd name="connsiteX44" fmla="*/ 3 w 11155680"/>
              <a:gd name="connsiteY44" fmla="*/ 2311884 h 5824728"/>
              <a:gd name="connsiteX45" fmla="*/ 3 w 11155680"/>
              <a:gd name="connsiteY45" fmla="*/ 1884813 h 5824728"/>
              <a:gd name="connsiteX46" fmla="*/ 1 w 11155680"/>
              <a:gd name="connsiteY46" fmla="*/ 1884803 h 5824728"/>
              <a:gd name="connsiteX47" fmla="*/ 1 w 11155680"/>
              <a:gd name="connsiteY47" fmla="*/ 867508 h 5824728"/>
              <a:gd name="connsiteX48" fmla="*/ 1 w 11155680"/>
              <a:gd name="connsiteY48" fmla="*/ 81421 h 582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155680" h="5824728">
                <a:moveTo>
                  <a:pt x="1" y="0"/>
                </a:moveTo>
                <a:lnTo>
                  <a:pt x="81422" y="0"/>
                </a:lnTo>
                <a:lnTo>
                  <a:pt x="722183" y="0"/>
                </a:lnTo>
                <a:lnTo>
                  <a:pt x="1884805" y="0"/>
                </a:lnTo>
                <a:lnTo>
                  <a:pt x="1884806" y="0"/>
                </a:lnTo>
                <a:lnTo>
                  <a:pt x="2402900" y="0"/>
                </a:lnTo>
                <a:lnTo>
                  <a:pt x="2402901" y="0"/>
                </a:lnTo>
                <a:lnTo>
                  <a:pt x="2860100" y="0"/>
                </a:lnTo>
                <a:lnTo>
                  <a:pt x="3571300" y="0"/>
                </a:lnTo>
                <a:lnTo>
                  <a:pt x="4384100" y="0"/>
                </a:lnTo>
                <a:lnTo>
                  <a:pt x="5196900" y="0"/>
                </a:lnTo>
                <a:lnTo>
                  <a:pt x="5920800" y="0"/>
                </a:lnTo>
                <a:lnTo>
                  <a:pt x="5920800" y="1"/>
                </a:lnTo>
                <a:lnTo>
                  <a:pt x="6835200" y="1"/>
                </a:lnTo>
                <a:lnTo>
                  <a:pt x="7508300" y="1"/>
                </a:lnTo>
                <a:lnTo>
                  <a:pt x="8359200" y="1"/>
                </a:lnTo>
                <a:lnTo>
                  <a:pt x="8956100" y="1"/>
                </a:lnTo>
                <a:lnTo>
                  <a:pt x="9895900" y="1"/>
                </a:lnTo>
                <a:lnTo>
                  <a:pt x="11077000" y="1"/>
                </a:lnTo>
                <a:cubicBezTo>
                  <a:pt x="11110726" y="1"/>
                  <a:pt x="11139662" y="20506"/>
                  <a:pt x="11152022" y="49729"/>
                </a:cubicBezTo>
                <a:lnTo>
                  <a:pt x="11155680" y="67850"/>
                </a:lnTo>
                <a:lnTo>
                  <a:pt x="11155680" y="5756869"/>
                </a:lnTo>
                <a:lnTo>
                  <a:pt x="11152020" y="5775000"/>
                </a:lnTo>
                <a:cubicBezTo>
                  <a:pt x="11139658" y="5804223"/>
                  <a:pt x="11110722" y="5824728"/>
                  <a:pt x="11076996" y="5824728"/>
                </a:cubicBezTo>
                <a:lnTo>
                  <a:pt x="9756196" y="5824728"/>
                </a:lnTo>
                <a:lnTo>
                  <a:pt x="9273616" y="5824728"/>
                </a:lnTo>
                <a:lnTo>
                  <a:pt x="8384596" y="5824728"/>
                </a:lnTo>
                <a:lnTo>
                  <a:pt x="7952816" y="5824728"/>
                </a:lnTo>
                <a:lnTo>
                  <a:pt x="7317796" y="5824728"/>
                </a:lnTo>
                <a:lnTo>
                  <a:pt x="6581216" y="5824728"/>
                </a:lnTo>
                <a:lnTo>
                  <a:pt x="6060496" y="5824728"/>
                </a:lnTo>
                <a:lnTo>
                  <a:pt x="5514416" y="5824728"/>
                </a:lnTo>
                <a:lnTo>
                  <a:pt x="4917496" y="5824728"/>
                </a:lnTo>
                <a:lnTo>
                  <a:pt x="4257116" y="5824728"/>
                </a:lnTo>
                <a:lnTo>
                  <a:pt x="3571298" y="5824728"/>
                </a:lnTo>
                <a:lnTo>
                  <a:pt x="3114116" y="5824728"/>
                </a:lnTo>
                <a:lnTo>
                  <a:pt x="2796598" y="5824728"/>
                </a:lnTo>
                <a:lnTo>
                  <a:pt x="1884803" y="5824728"/>
                </a:lnTo>
                <a:lnTo>
                  <a:pt x="1767915" y="5824728"/>
                </a:lnTo>
                <a:lnTo>
                  <a:pt x="993216" y="5824728"/>
                </a:lnTo>
                <a:lnTo>
                  <a:pt x="81421" y="5824728"/>
                </a:lnTo>
                <a:cubicBezTo>
                  <a:pt x="36453" y="5824728"/>
                  <a:pt x="0" y="5788275"/>
                  <a:pt x="0" y="5743307"/>
                </a:cubicBezTo>
                <a:lnTo>
                  <a:pt x="0" y="4379976"/>
                </a:lnTo>
                <a:lnTo>
                  <a:pt x="0" y="2311884"/>
                </a:lnTo>
                <a:lnTo>
                  <a:pt x="3" y="2311884"/>
                </a:lnTo>
                <a:lnTo>
                  <a:pt x="3" y="1884813"/>
                </a:lnTo>
                <a:lnTo>
                  <a:pt x="1" y="1884803"/>
                </a:lnTo>
                <a:lnTo>
                  <a:pt x="1" y="867508"/>
                </a:lnTo>
                <a:lnTo>
                  <a:pt x="1" y="81421"/>
                </a:lnTo>
                <a:close/>
              </a:path>
            </a:pathLst>
          </a:custGeom>
          <a:solidFill>
            <a:schemeClr val="bg1">
              <a:lumMod val="85000"/>
            </a:schemeClr>
          </a:solidFill>
        </p:spPr>
        <p:txBody>
          <a:bodyPr wrap="square">
            <a:noAutofit/>
          </a:bodyPr>
          <a:lstStyle/>
          <a:p>
            <a:r>
              <a:rPr lang="en-US"/>
              <a:t>Click icon to add picture</a:t>
            </a:r>
          </a:p>
        </p:txBody>
      </p:sp>
      <p:sp>
        <p:nvSpPr>
          <p:cNvPr id="2" name="Title 5">
            <a:extLst>
              <a:ext uri="{FF2B5EF4-FFF2-40B4-BE49-F238E27FC236}">
                <a16:creationId xmlns:a16="http://schemas.microsoft.com/office/drawing/2014/main" id="{0D99F163-621B-7B50-FA9C-CF666FBE2F71}"/>
              </a:ext>
            </a:extLst>
          </p:cNvPr>
          <p:cNvSpPr>
            <a:spLocks noGrp="1"/>
          </p:cNvSpPr>
          <p:nvPr>
            <p:ph type="title" hasCustomPrompt="1"/>
          </p:nvPr>
        </p:nvSpPr>
        <p:spPr>
          <a:xfrm>
            <a:off x="843700" y="797858"/>
            <a:ext cx="8061190" cy="1410643"/>
          </a:xfrm>
        </p:spPr>
        <p:txBody>
          <a:bodyPr vert="horz" wrap="square" lIns="0" tIns="0" rIns="0" bIns="0" rtlCol="0">
            <a:spAutoFit/>
          </a:bodyPr>
          <a:lstStyle>
            <a:lvl1pPr marL="0" indent="0" algn="l" defTabSz="914400" rtl="0" eaLnBrk="1" latinLnBrk="0" hangingPunct="1">
              <a:lnSpc>
                <a:spcPts val="5500"/>
              </a:lnSpc>
              <a:spcBef>
                <a:spcPct val="0"/>
              </a:spcBef>
              <a:buFont typeface="Arial" panose="020B0604020202020204" pitchFamily="34" charset="0"/>
              <a:buNone/>
              <a:defRPr lang="en-IN" sz="5200" kern="1200" spc="-100" baseline="0" dirty="0">
                <a:solidFill>
                  <a:schemeClr val="bg1"/>
                </a:solidFill>
                <a:latin typeface="Wallace Serif Light" pitchFamily="2" charset="0"/>
                <a:ea typeface="+mj-ea"/>
                <a:cs typeface="Wallace Serif Light" pitchFamily="2" charset="0"/>
              </a:defRPr>
            </a:lvl1pPr>
          </a:lstStyle>
          <a:p>
            <a:r>
              <a:rPr lang="en-IN" sz="4800">
                <a:solidFill>
                  <a:schemeClr val="bg1"/>
                </a:solidFill>
              </a:rPr>
              <a:t>Title in Wallace Serif Light, </a:t>
            </a:r>
            <a:br>
              <a:rPr lang="en-IN" sz="4800">
                <a:solidFill>
                  <a:schemeClr val="bg1"/>
                </a:solidFill>
              </a:rPr>
            </a:br>
            <a:r>
              <a:rPr lang="en-IN" sz="4800">
                <a:solidFill>
                  <a:schemeClr val="bg1"/>
                </a:solidFill>
              </a:rPr>
              <a:t>52 point size, 2 lines max</a:t>
            </a:r>
          </a:p>
        </p:txBody>
      </p:sp>
    </p:spTree>
    <p:extLst>
      <p:ext uri="{BB962C8B-B14F-4D97-AF65-F5344CB8AC3E}">
        <p14:creationId xmlns:p14="http://schemas.microsoft.com/office/powerpoint/2010/main" val="31739334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1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8256608"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8256607" cy="3729944"/>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Tree>
    <p:extLst>
      <p:ext uri="{BB962C8B-B14F-4D97-AF65-F5344CB8AC3E}">
        <p14:creationId xmlns:p14="http://schemas.microsoft.com/office/powerpoint/2010/main" val="7756361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1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3" name="Text Placeholder 14">
            <a:extLst>
              <a:ext uri="{FF2B5EF4-FFF2-40B4-BE49-F238E27FC236}">
                <a16:creationId xmlns:a16="http://schemas.microsoft.com/office/drawing/2014/main" id="{7D8EF943-2E71-3C78-7B8C-767D1A59E8CF}"/>
              </a:ext>
            </a:extLst>
          </p:cNvPr>
          <p:cNvSpPr>
            <a:spLocks noGrp="1"/>
          </p:cNvSpPr>
          <p:nvPr>
            <p:ph type="body" sz="quarter" idx="17" hasCustomPrompt="1"/>
          </p:nvPr>
        </p:nvSpPr>
        <p:spPr>
          <a:xfrm>
            <a:off x="510789" y="1904402"/>
            <a:ext cx="7362549"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4" name="Text Placeholder 16">
            <a:extLst>
              <a:ext uri="{FF2B5EF4-FFF2-40B4-BE49-F238E27FC236}">
                <a16:creationId xmlns:a16="http://schemas.microsoft.com/office/drawing/2014/main" id="{EF2DA017-4030-F18E-6BCD-5C2172F6861A}"/>
              </a:ext>
            </a:extLst>
          </p:cNvPr>
          <p:cNvSpPr>
            <a:spLocks noGrp="1"/>
          </p:cNvSpPr>
          <p:nvPr>
            <p:ph type="body" sz="quarter" idx="18" hasCustomPrompt="1"/>
          </p:nvPr>
        </p:nvSpPr>
        <p:spPr>
          <a:xfrm>
            <a:off x="510789" y="2249723"/>
            <a:ext cx="7362549" cy="53604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200" dirty="0">
                <a:solidFill>
                  <a:schemeClr val="tx1"/>
                </a:solidFill>
                <a:latin typeface="Wallace Sans BETA Light" pitchFamily="2" charset="77"/>
                <a:ea typeface="+mn-ea"/>
                <a:cs typeface="Wallace Sans BETA Light" pitchFamily="2" charset="77"/>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lgn="l" defTabSz="914400" rtl="0" eaLnBrk="1" latinLnBrk="0" hangingPunct="1">
              <a:lnSpc>
                <a:spcPct val="100000"/>
              </a:lnSpc>
              <a:spcBef>
                <a:spcPts val="600"/>
              </a:spcBef>
              <a:buFont typeface="Arial" panose="020B0604020202020204" pitchFamily="34" charset="0"/>
              <a:buChar char="•"/>
            </a:pPr>
            <a:r>
              <a:rPr lang="en-US">
                <a:latin typeface="Wallace Sans BETA Light" pitchFamily="2" charset="77"/>
                <a:cs typeface="Wallace Sans BETA Light" pitchFamily="2" charset="77"/>
              </a:rPr>
              <a:t>Increase list 2 levels for next indent level; text formatting and line spacing are automatic</a:t>
            </a:r>
          </a:p>
        </p:txBody>
      </p:sp>
      <p:sp>
        <p:nvSpPr>
          <p:cNvPr id="19" name="Text Placeholder 14">
            <a:extLst>
              <a:ext uri="{FF2B5EF4-FFF2-40B4-BE49-F238E27FC236}">
                <a16:creationId xmlns:a16="http://schemas.microsoft.com/office/drawing/2014/main" id="{50A1646B-D5E1-4251-745A-2AA5E112AB4B}"/>
              </a:ext>
            </a:extLst>
          </p:cNvPr>
          <p:cNvSpPr>
            <a:spLocks noGrp="1"/>
          </p:cNvSpPr>
          <p:nvPr>
            <p:ph type="body" sz="quarter" idx="19" hasCustomPrompt="1"/>
          </p:nvPr>
        </p:nvSpPr>
        <p:spPr>
          <a:xfrm>
            <a:off x="510789" y="3228943"/>
            <a:ext cx="7362549"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20" name="Text Placeholder 16">
            <a:extLst>
              <a:ext uri="{FF2B5EF4-FFF2-40B4-BE49-F238E27FC236}">
                <a16:creationId xmlns:a16="http://schemas.microsoft.com/office/drawing/2014/main" id="{7077EB4D-C95E-B2B5-838A-C1CEDBF26791}"/>
              </a:ext>
            </a:extLst>
          </p:cNvPr>
          <p:cNvSpPr>
            <a:spLocks noGrp="1"/>
          </p:cNvSpPr>
          <p:nvPr>
            <p:ph type="body" sz="quarter" idx="20" hasCustomPrompt="1"/>
          </p:nvPr>
        </p:nvSpPr>
        <p:spPr>
          <a:xfrm>
            <a:off x="510789" y="3587456"/>
            <a:ext cx="7362549" cy="1225977"/>
          </a:xfrm>
        </p:spPr>
        <p:txBody>
          <a:bodyPr wrap="square">
            <a:spAutoFit/>
          </a:bodyPr>
          <a:lstStyle>
            <a:lvl1pPr marL="9525" marR="0" indent="-9525"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chemeClr val="tx1"/>
                </a:solidFill>
                <a:latin typeface="Wallace Sans BETA Light" pitchFamily="2" charset="77"/>
                <a:ea typeface="+mn-ea"/>
                <a:cs typeface="Wallace Sans BETA Light" pitchFamily="2" charset="77"/>
              </a:defRPr>
            </a:lvl1pPr>
            <a:lvl2pPr marL="468313" marR="0" indent="-22542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lang="en-IN" sz="1200" b="0" i="0" kern="1200" dirty="0" smtClean="0">
                <a:solidFill>
                  <a:schemeClr val="tx1"/>
                </a:solidFill>
                <a:latin typeface="Wallace Sans Light" pitchFamily="2" charset="0"/>
                <a:ea typeface="+mn-ea"/>
                <a:cs typeface="Wallace Sans Light" pitchFamily="2" charset="0"/>
              </a:defRPr>
            </a:lvl2pPr>
            <a:lvl3pPr marL="412750" indent="-61913">
              <a:tabLst>
                <a:tab pos="357188" algn="l"/>
              </a:tabLst>
              <a:defRPr/>
            </a:lvl3pPr>
          </a:lstStyle>
          <a:p>
            <a:pPr marL="233363" indent="-233363">
              <a:spcBef>
                <a:spcPts val="1200"/>
              </a:spcBef>
              <a:buFont typeface="+mj-lt"/>
              <a:buAutoNum type="arabicPeriod"/>
            </a:pPr>
            <a:r>
              <a:rPr lang="en-IN"/>
              <a:t>Increase list 1 level for bulleted copy; text formatting and line spacing are automatic</a:t>
            </a:r>
          </a:p>
          <a:p>
            <a:pPr lvl="1">
              <a:buFont typeface="Arial" panose="020B0604020202020204" pitchFamily="34" charset="0"/>
              <a:buChar char="•"/>
            </a:pPr>
            <a:r>
              <a:rPr lang="en-IN"/>
              <a:t>Increase list 2 levels for next indent level; text formatting and line spacing are automatic</a:t>
            </a:r>
          </a:p>
          <a:p>
            <a:pPr marL="746125" lvl="2" indent="-287338">
              <a:tabLst/>
              <a:defRPr/>
            </a:pPr>
            <a:r>
              <a:rPr lang="en-IN"/>
              <a:t>Increase list 2 levels for next indent level; text formatting and line spacing are automatic</a:t>
            </a:r>
          </a:p>
          <a:p>
            <a:pPr marL="233363" indent="-233363">
              <a:spcBef>
                <a:spcPts val="1200"/>
              </a:spcBef>
              <a:buFont typeface="+mj-lt"/>
              <a:buAutoNum type="arabicPeriod"/>
            </a:pPr>
            <a:r>
              <a:rPr lang="en-IN"/>
              <a:t>Decrease list level as needed to get back to desired indent level</a:t>
            </a:r>
          </a:p>
        </p:txBody>
      </p:sp>
    </p:spTree>
    <p:extLst>
      <p:ext uri="{BB962C8B-B14F-4D97-AF65-F5344CB8AC3E}">
        <p14:creationId xmlns:p14="http://schemas.microsoft.com/office/powerpoint/2010/main" val="1071843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5394960" cy="3733089"/>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4" name="Text Placeholder 14">
            <a:extLst>
              <a:ext uri="{FF2B5EF4-FFF2-40B4-BE49-F238E27FC236}">
                <a16:creationId xmlns:a16="http://schemas.microsoft.com/office/drawing/2014/main" id="{9459AD9E-4EAB-959F-843F-F7EEF2045C5A}"/>
              </a:ext>
            </a:extLst>
          </p:cNvPr>
          <p:cNvSpPr>
            <a:spLocks noGrp="1"/>
          </p:cNvSpPr>
          <p:nvPr>
            <p:ph type="body" sz="quarter" idx="13" hasCustomPrompt="1"/>
          </p:nvPr>
        </p:nvSpPr>
        <p:spPr>
          <a:xfrm>
            <a:off x="6281103"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5" name="Text Placeholder 16">
            <a:extLst>
              <a:ext uri="{FF2B5EF4-FFF2-40B4-BE49-F238E27FC236}">
                <a16:creationId xmlns:a16="http://schemas.microsoft.com/office/drawing/2014/main" id="{0A1D4634-E545-609C-DDE8-3DBE7BF6B8D4}"/>
              </a:ext>
            </a:extLst>
          </p:cNvPr>
          <p:cNvSpPr>
            <a:spLocks noGrp="1"/>
          </p:cNvSpPr>
          <p:nvPr>
            <p:ph type="body" sz="quarter" idx="14" hasCustomPrompt="1"/>
          </p:nvPr>
        </p:nvSpPr>
        <p:spPr>
          <a:xfrm>
            <a:off x="6281103" y="2275948"/>
            <a:ext cx="5394960" cy="3733089"/>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FE4D78A7-A572-AFE2-5565-57B4676059C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14601425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2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A8D7829C-E97D-76EF-6A8C-752B1AC7E923}"/>
              </a:ext>
            </a:extLst>
          </p:cNvPr>
          <p:cNvSpPr/>
          <p:nvPr userDrawn="1"/>
        </p:nvSpPr>
        <p:spPr>
          <a:xfrm>
            <a:off x="514348" y="1933574"/>
            <a:ext cx="5403925" cy="4415597"/>
          </a:xfrm>
          <a:custGeom>
            <a:avLst/>
            <a:gdLst>
              <a:gd name="csX0" fmla="*/ 0 w 5403925"/>
              <a:gd name="csY0" fmla="*/ 0 h 4415597"/>
              <a:gd name="csX1" fmla="*/ 1385522 w 5403925"/>
              <a:gd name="csY1" fmla="*/ 0 h 4415597"/>
              <a:gd name="csX2" fmla="*/ 1763915 w 5403925"/>
              <a:gd name="csY2" fmla="*/ 0 h 4415597"/>
              <a:gd name="csX3" fmla="*/ 2299922 w 5403925"/>
              <a:gd name="csY3" fmla="*/ 0 h 4415597"/>
              <a:gd name="csX4" fmla="*/ 3188904 w 5403925"/>
              <a:gd name="csY4" fmla="*/ 0 h 4415597"/>
              <a:gd name="csX5" fmla="*/ 3519122 w 5403925"/>
              <a:gd name="csY5" fmla="*/ 0 h 4415597"/>
              <a:gd name="csX6" fmla="*/ 4103304 w 5403925"/>
              <a:gd name="csY6" fmla="*/ 0 h 4415597"/>
              <a:gd name="csX7" fmla="*/ 5322504 w 5403925"/>
              <a:gd name="csY7" fmla="*/ 0 h 4415597"/>
              <a:gd name="csX8" fmla="*/ 5403925 w 5403925"/>
              <a:gd name="csY8" fmla="*/ 81421 h 4415597"/>
              <a:gd name="csX9" fmla="*/ 5403925 w 5403925"/>
              <a:gd name="csY9" fmla="*/ 1601743 h 4415597"/>
              <a:gd name="csX10" fmla="*/ 5403925 w 5403925"/>
              <a:gd name="csY10" fmla="*/ 1884803 h 4415597"/>
              <a:gd name="csX11" fmla="*/ 5403925 w 5403925"/>
              <a:gd name="csY11" fmla="*/ 2200833 h 4415597"/>
              <a:gd name="csX12" fmla="*/ 5403925 w 5403925"/>
              <a:gd name="csY12" fmla="*/ 2530794 h 4415597"/>
              <a:gd name="csX13" fmla="*/ 5403925 w 5403925"/>
              <a:gd name="csY13" fmla="*/ 3405125 h 4415597"/>
              <a:gd name="csX14" fmla="*/ 5403925 w 5403925"/>
              <a:gd name="csY14" fmla="*/ 4004215 h 4415597"/>
              <a:gd name="csX15" fmla="*/ 5403925 w 5403925"/>
              <a:gd name="csY15" fmla="*/ 4334176 h 4415597"/>
              <a:gd name="csX16" fmla="*/ 5322504 w 5403925"/>
              <a:gd name="csY16" fmla="*/ 4415597 h 4415597"/>
              <a:gd name="csX17" fmla="*/ 3985527 w 5403925"/>
              <a:gd name="csY17" fmla="*/ 4415597 h 4415597"/>
              <a:gd name="csX18" fmla="*/ 3519122 w 5403925"/>
              <a:gd name="csY18" fmla="*/ 4415597 h 4415597"/>
              <a:gd name="csX19" fmla="*/ 2931427 w 5403925"/>
              <a:gd name="csY19" fmla="*/ 4415597 h 4415597"/>
              <a:gd name="csX20" fmla="*/ 2182145 w 5403925"/>
              <a:gd name="csY20" fmla="*/ 4415597 h 4415597"/>
              <a:gd name="csX21" fmla="*/ 1884803 w 5403925"/>
              <a:gd name="csY21" fmla="*/ 4415597 h 4415597"/>
              <a:gd name="csX22" fmla="*/ 1128045 w 5403925"/>
              <a:gd name="csY22" fmla="*/ 4415597 h 4415597"/>
              <a:gd name="csX23" fmla="*/ 81421 w 5403925"/>
              <a:gd name="csY23" fmla="*/ 4415597 h 4415597"/>
              <a:gd name="csX24" fmla="*/ 0 w 5403925"/>
              <a:gd name="csY24" fmla="*/ 4334176 h 4415597"/>
              <a:gd name="csX25" fmla="*/ 0 w 5403925"/>
              <a:gd name="csY25" fmla="*/ 2551921 h 4415597"/>
              <a:gd name="csX26" fmla="*/ 0 w 5403925"/>
              <a:gd name="csY26" fmla="*/ 253079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403925" h="4415597">
                <a:moveTo>
                  <a:pt x="0" y="0"/>
                </a:moveTo>
                <a:lnTo>
                  <a:pt x="1385522" y="0"/>
                </a:lnTo>
                <a:lnTo>
                  <a:pt x="1763915" y="0"/>
                </a:lnTo>
                <a:lnTo>
                  <a:pt x="2299922" y="0"/>
                </a:lnTo>
                <a:lnTo>
                  <a:pt x="3188904" y="0"/>
                </a:lnTo>
                <a:lnTo>
                  <a:pt x="3519122" y="0"/>
                </a:lnTo>
                <a:lnTo>
                  <a:pt x="4103304" y="0"/>
                </a:lnTo>
                <a:lnTo>
                  <a:pt x="5322504" y="0"/>
                </a:lnTo>
                <a:cubicBezTo>
                  <a:pt x="5367472" y="0"/>
                  <a:pt x="5403925" y="36453"/>
                  <a:pt x="5403925" y="81421"/>
                </a:cubicBezTo>
                <a:lnTo>
                  <a:pt x="5403925" y="1601743"/>
                </a:lnTo>
                <a:lnTo>
                  <a:pt x="5403925" y="1884803"/>
                </a:lnTo>
                <a:lnTo>
                  <a:pt x="5403925" y="2200833"/>
                </a:lnTo>
                <a:lnTo>
                  <a:pt x="5403925" y="2530794"/>
                </a:lnTo>
                <a:lnTo>
                  <a:pt x="5403925" y="3405125"/>
                </a:lnTo>
                <a:lnTo>
                  <a:pt x="5403925" y="4004215"/>
                </a:lnTo>
                <a:lnTo>
                  <a:pt x="5403925" y="4334176"/>
                </a:lnTo>
                <a:cubicBezTo>
                  <a:pt x="5403925" y="4379144"/>
                  <a:pt x="5367472" y="4415597"/>
                  <a:pt x="5322504" y="4415597"/>
                </a:cubicBezTo>
                <a:lnTo>
                  <a:pt x="3985527" y="4415597"/>
                </a:lnTo>
                <a:lnTo>
                  <a:pt x="3519122" y="4415597"/>
                </a:lnTo>
                <a:lnTo>
                  <a:pt x="2931427" y="4415597"/>
                </a:lnTo>
                <a:lnTo>
                  <a:pt x="2182145" y="4415597"/>
                </a:lnTo>
                <a:lnTo>
                  <a:pt x="1884803" y="4415597"/>
                </a:lnTo>
                <a:lnTo>
                  <a:pt x="1128045" y="4415597"/>
                </a:lnTo>
                <a:lnTo>
                  <a:pt x="81421" y="4415597"/>
                </a:lnTo>
                <a:cubicBezTo>
                  <a:pt x="36453" y="4415597"/>
                  <a:pt x="0" y="4379144"/>
                  <a:pt x="0" y="4334176"/>
                </a:cubicBezTo>
                <a:lnTo>
                  <a:pt x="0" y="2551921"/>
                </a:lnTo>
                <a:lnTo>
                  <a:pt x="0" y="25307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A8662A85-8CD5-E72A-433E-EDFB997BCBFA}"/>
              </a:ext>
            </a:extLst>
          </p:cNvPr>
          <p:cNvSpPr/>
          <p:nvPr userDrawn="1"/>
        </p:nvSpPr>
        <p:spPr>
          <a:xfrm>
            <a:off x="6272138" y="1933574"/>
            <a:ext cx="5403925" cy="4415597"/>
          </a:xfrm>
          <a:custGeom>
            <a:avLst/>
            <a:gdLst>
              <a:gd name="csX0" fmla="*/ 0 w 5403925"/>
              <a:gd name="csY0" fmla="*/ 0 h 4415597"/>
              <a:gd name="csX1" fmla="*/ 1385522 w 5403925"/>
              <a:gd name="csY1" fmla="*/ 0 h 4415597"/>
              <a:gd name="csX2" fmla="*/ 1763915 w 5403925"/>
              <a:gd name="csY2" fmla="*/ 0 h 4415597"/>
              <a:gd name="csX3" fmla="*/ 2299922 w 5403925"/>
              <a:gd name="csY3" fmla="*/ 0 h 4415597"/>
              <a:gd name="csX4" fmla="*/ 3188904 w 5403925"/>
              <a:gd name="csY4" fmla="*/ 0 h 4415597"/>
              <a:gd name="csX5" fmla="*/ 3519122 w 5403925"/>
              <a:gd name="csY5" fmla="*/ 0 h 4415597"/>
              <a:gd name="csX6" fmla="*/ 4103304 w 5403925"/>
              <a:gd name="csY6" fmla="*/ 0 h 4415597"/>
              <a:gd name="csX7" fmla="*/ 5322504 w 5403925"/>
              <a:gd name="csY7" fmla="*/ 0 h 4415597"/>
              <a:gd name="csX8" fmla="*/ 5403925 w 5403925"/>
              <a:gd name="csY8" fmla="*/ 81421 h 4415597"/>
              <a:gd name="csX9" fmla="*/ 5403925 w 5403925"/>
              <a:gd name="csY9" fmla="*/ 1601743 h 4415597"/>
              <a:gd name="csX10" fmla="*/ 5403925 w 5403925"/>
              <a:gd name="csY10" fmla="*/ 1884803 h 4415597"/>
              <a:gd name="csX11" fmla="*/ 5403925 w 5403925"/>
              <a:gd name="csY11" fmla="*/ 2200833 h 4415597"/>
              <a:gd name="csX12" fmla="*/ 5403925 w 5403925"/>
              <a:gd name="csY12" fmla="*/ 2530794 h 4415597"/>
              <a:gd name="csX13" fmla="*/ 5403925 w 5403925"/>
              <a:gd name="csY13" fmla="*/ 3405125 h 4415597"/>
              <a:gd name="csX14" fmla="*/ 5403925 w 5403925"/>
              <a:gd name="csY14" fmla="*/ 4004215 h 4415597"/>
              <a:gd name="csX15" fmla="*/ 5403925 w 5403925"/>
              <a:gd name="csY15" fmla="*/ 4334176 h 4415597"/>
              <a:gd name="csX16" fmla="*/ 5322504 w 5403925"/>
              <a:gd name="csY16" fmla="*/ 4415597 h 4415597"/>
              <a:gd name="csX17" fmla="*/ 3985527 w 5403925"/>
              <a:gd name="csY17" fmla="*/ 4415597 h 4415597"/>
              <a:gd name="csX18" fmla="*/ 3519122 w 5403925"/>
              <a:gd name="csY18" fmla="*/ 4415597 h 4415597"/>
              <a:gd name="csX19" fmla="*/ 2931427 w 5403925"/>
              <a:gd name="csY19" fmla="*/ 4415597 h 4415597"/>
              <a:gd name="csX20" fmla="*/ 2182145 w 5403925"/>
              <a:gd name="csY20" fmla="*/ 4415597 h 4415597"/>
              <a:gd name="csX21" fmla="*/ 1884803 w 5403925"/>
              <a:gd name="csY21" fmla="*/ 4415597 h 4415597"/>
              <a:gd name="csX22" fmla="*/ 1128045 w 5403925"/>
              <a:gd name="csY22" fmla="*/ 4415597 h 4415597"/>
              <a:gd name="csX23" fmla="*/ 81421 w 5403925"/>
              <a:gd name="csY23" fmla="*/ 4415597 h 4415597"/>
              <a:gd name="csX24" fmla="*/ 0 w 5403925"/>
              <a:gd name="csY24" fmla="*/ 4334176 h 4415597"/>
              <a:gd name="csX25" fmla="*/ 0 w 5403925"/>
              <a:gd name="csY25" fmla="*/ 2551921 h 4415597"/>
              <a:gd name="csX26" fmla="*/ 0 w 5403925"/>
              <a:gd name="csY26" fmla="*/ 253079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403925" h="4415597">
                <a:moveTo>
                  <a:pt x="0" y="0"/>
                </a:moveTo>
                <a:lnTo>
                  <a:pt x="1385522" y="0"/>
                </a:lnTo>
                <a:lnTo>
                  <a:pt x="1763915" y="0"/>
                </a:lnTo>
                <a:lnTo>
                  <a:pt x="2299922" y="0"/>
                </a:lnTo>
                <a:lnTo>
                  <a:pt x="3188904" y="0"/>
                </a:lnTo>
                <a:lnTo>
                  <a:pt x="3519122" y="0"/>
                </a:lnTo>
                <a:lnTo>
                  <a:pt x="4103304" y="0"/>
                </a:lnTo>
                <a:lnTo>
                  <a:pt x="5322504" y="0"/>
                </a:lnTo>
                <a:cubicBezTo>
                  <a:pt x="5367472" y="0"/>
                  <a:pt x="5403925" y="36453"/>
                  <a:pt x="5403925" y="81421"/>
                </a:cubicBezTo>
                <a:lnTo>
                  <a:pt x="5403925" y="1601743"/>
                </a:lnTo>
                <a:lnTo>
                  <a:pt x="5403925" y="1884803"/>
                </a:lnTo>
                <a:lnTo>
                  <a:pt x="5403925" y="2200833"/>
                </a:lnTo>
                <a:lnTo>
                  <a:pt x="5403925" y="2530794"/>
                </a:lnTo>
                <a:lnTo>
                  <a:pt x="5403925" y="3405125"/>
                </a:lnTo>
                <a:lnTo>
                  <a:pt x="5403925" y="4004215"/>
                </a:lnTo>
                <a:lnTo>
                  <a:pt x="5403925" y="4334176"/>
                </a:lnTo>
                <a:cubicBezTo>
                  <a:pt x="5403925" y="4379144"/>
                  <a:pt x="5367472" y="4415597"/>
                  <a:pt x="5322504" y="4415597"/>
                </a:cubicBezTo>
                <a:lnTo>
                  <a:pt x="3985527" y="4415597"/>
                </a:lnTo>
                <a:lnTo>
                  <a:pt x="3519122" y="4415597"/>
                </a:lnTo>
                <a:lnTo>
                  <a:pt x="2931427" y="4415597"/>
                </a:lnTo>
                <a:lnTo>
                  <a:pt x="2182145" y="4415597"/>
                </a:lnTo>
                <a:lnTo>
                  <a:pt x="1884803" y="4415597"/>
                </a:lnTo>
                <a:lnTo>
                  <a:pt x="1128045" y="4415597"/>
                </a:lnTo>
                <a:lnTo>
                  <a:pt x="81421" y="4415597"/>
                </a:lnTo>
                <a:cubicBezTo>
                  <a:pt x="36453" y="4415597"/>
                  <a:pt x="0" y="4379144"/>
                  <a:pt x="0" y="4334176"/>
                </a:cubicBezTo>
                <a:lnTo>
                  <a:pt x="0" y="2551921"/>
                </a:lnTo>
                <a:lnTo>
                  <a:pt x="0" y="25307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714201" y="2130946"/>
            <a:ext cx="498813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7">
            <a:extLst>
              <a:ext uri="{FF2B5EF4-FFF2-40B4-BE49-F238E27FC236}">
                <a16:creationId xmlns:a16="http://schemas.microsoft.com/office/drawing/2014/main" id="{CBBF4E58-4B65-80EA-EAC0-84FC9702F59D}"/>
              </a:ext>
            </a:extLst>
          </p:cNvPr>
          <p:cNvSpPr>
            <a:spLocks noGrp="1"/>
          </p:cNvSpPr>
          <p:nvPr>
            <p:ph type="body" sz="quarter" idx="15" hasCustomPrompt="1"/>
          </p:nvPr>
        </p:nvSpPr>
        <p:spPr>
          <a:xfrm>
            <a:off x="714201" y="2454943"/>
            <a:ext cx="4988136" cy="3351894"/>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a:spcBef>
                <a:spcPts val="1200"/>
              </a:spcBef>
            </a:pPr>
            <a:endParaRPr lang="en-US">
              <a:solidFill>
                <a:srgbClr val="000075"/>
              </a:solidFill>
              <a:latin typeface="Wallace Sans BETA Light" pitchFamily="2" charset="77"/>
              <a:cs typeface="Wallace Sans BETA Light" pitchFamily="2" charset="77"/>
            </a:endParaRP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5" name="Text Placeholder 12">
            <a:extLst>
              <a:ext uri="{FF2B5EF4-FFF2-40B4-BE49-F238E27FC236}">
                <a16:creationId xmlns:a16="http://schemas.microsoft.com/office/drawing/2014/main" id="{2DF6D71C-3127-9225-E19B-B8C549A3ADE9}"/>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14">
            <a:extLst>
              <a:ext uri="{FF2B5EF4-FFF2-40B4-BE49-F238E27FC236}">
                <a16:creationId xmlns:a16="http://schemas.microsoft.com/office/drawing/2014/main" id="{4EC1DFD3-DAEA-CE15-85EF-C91755AA7A15}"/>
              </a:ext>
            </a:extLst>
          </p:cNvPr>
          <p:cNvSpPr>
            <a:spLocks noGrp="1"/>
          </p:cNvSpPr>
          <p:nvPr>
            <p:ph type="body" sz="quarter" idx="16" hasCustomPrompt="1"/>
          </p:nvPr>
        </p:nvSpPr>
        <p:spPr>
          <a:xfrm>
            <a:off x="6484515" y="2130946"/>
            <a:ext cx="498813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23" name="Text Placeholder 17">
            <a:extLst>
              <a:ext uri="{FF2B5EF4-FFF2-40B4-BE49-F238E27FC236}">
                <a16:creationId xmlns:a16="http://schemas.microsoft.com/office/drawing/2014/main" id="{42DDB55D-40BB-34EE-D058-23774E6B2F96}"/>
              </a:ext>
            </a:extLst>
          </p:cNvPr>
          <p:cNvSpPr>
            <a:spLocks noGrp="1"/>
          </p:cNvSpPr>
          <p:nvPr>
            <p:ph type="body" sz="quarter" idx="17" hasCustomPrompt="1"/>
          </p:nvPr>
        </p:nvSpPr>
        <p:spPr>
          <a:xfrm>
            <a:off x="6484515" y="2454943"/>
            <a:ext cx="4988136" cy="3351894"/>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a:spcBef>
                <a:spcPts val="1200"/>
              </a:spcBef>
            </a:pPr>
            <a:endParaRPr lang="en-US">
              <a:solidFill>
                <a:srgbClr val="000075"/>
              </a:solidFill>
              <a:latin typeface="Wallace Sans BETA Light" pitchFamily="2" charset="77"/>
              <a:cs typeface="Wallace Sans BETA Light" pitchFamily="2" charset="77"/>
            </a:endParaRP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36102628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slid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6" name="Text Placeholder 22">
            <a:extLst>
              <a:ext uri="{FF2B5EF4-FFF2-40B4-BE49-F238E27FC236}">
                <a16:creationId xmlns:a16="http://schemas.microsoft.com/office/drawing/2014/main" id="{49F05E3A-EE26-EB3E-8983-223B54DCCFCF}"/>
              </a:ext>
            </a:extLst>
          </p:cNvPr>
          <p:cNvSpPr>
            <a:spLocks noGrp="1"/>
          </p:cNvSpPr>
          <p:nvPr>
            <p:ph type="body" sz="quarter" idx="11" hasCustomPrompt="1"/>
          </p:nvPr>
        </p:nvSpPr>
        <p:spPr>
          <a:xfrm>
            <a:off x="505994" y="2152324"/>
            <a:ext cx="149080"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1</a:t>
            </a:r>
          </a:p>
        </p:txBody>
      </p:sp>
      <p:sp>
        <p:nvSpPr>
          <p:cNvPr id="21" name="Text Placeholder 26">
            <a:extLst>
              <a:ext uri="{FF2B5EF4-FFF2-40B4-BE49-F238E27FC236}">
                <a16:creationId xmlns:a16="http://schemas.microsoft.com/office/drawing/2014/main" id="{F20A4283-1976-59BD-77FC-A8E9571D4FBE}"/>
              </a:ext>
            </a:extLst>
          </p:cNvPr>
          <p:cNvSpPr>
            <a:spLocks noGrp="1"/>
          </p:cNvSpPr>
          <p:nvPr>
            <p:ph type="body" sz="quarter" idx="14" hasCustomPrompt="1"/>
          </p:nvPr>
        </p:nvSpPr>
        <p:spPr>
          <a:xfrm>
            <a:off x="3378386"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2" name="Text Placeholder 26">
            <a:extLst>
              <a:ext uri="{FF2B5EF4-FFF2-40B4-BE49-F238E27FC236}">
                <a16:creationId xmlns:a16="http://schemas.microsoft.com/office/drawing/2014/main" id="{CDE29AC1-6E9B-4B5B-1A3F-05F145502D5D}"/>
              </a:ext>
            </a:extLst>
          </p:cNvPr>
          <p:cNvSpPr>
            <a:spLocks noGrp="1"/>
          </p:cNvSpPr>
          <p:nvPr>
            <p:ph type="body" sz="quarter" idx="15" hasCustomPrompt="1"/>
          </p:nvPr>
        </p:nvSpPr>
        <p:spPr>
          <a:xfrm>
            <a:off x="6250778"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3" name="Text Placeholder 26">
            <a:extLst>
              <a:ext uri="{FF2B5EF4-FFF2-40B4-BE49-F238E27FC236}">
                <a16:creationId xmlns:a16="http://schemas.microsoft.com/office/drawing/2014/main" id="{7B119D9B-0605-0E08-ED07-FF6757369D89}"/>
              </a:ext>
            </a:extLst>
          </p:cNvPr>
          <p:cNvSpPr>
            <a:spLocks noGrp="1"/>
          </p:cNvSpPr>
          <p:nvPr>
            <p:ph type="body" sz="quarter" idx="16" hasCustomPrompt="1"/>
          </p:nvPr>
        </p:nvSpPr>
        <p:spPr>
          <a:xfrm>
            <a:off x="9123169" y="3110832"/>
            <a:ext cx="2545816" cy="2893168"/>
          </a:xfrm>
        </p:spPr>
        <p:txBody>
          <a:bodyPr>
            <a:no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b="0" i="0" kern="1200" dirty="0" smtClean="0">
                <a:solidFill>
                  <a:schemeClr val="tx1"/>
                </a:solidFill>
                <a:latin typeface="Wallace Sans Light" pitchFamily="2" charset="0"/>
                <a:ea typeface="+mn-ea"/>
                <a:cs typeface="Wallace Sans Light" pitchFamily="2" charset="0"/>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lvl="0"/>
            <a:endParaRPr lang="en-US"/>
          </a:p>
        </p:txBody>
      </p:sp>
      <p:sp>
        <p:nvSpPr>
          <p:cNvPr id="24" name="Text Placeholder 22">
            <a:extLst>
              <a:ext uri="{FF2B5EF4-FFF2-40B4-BE49-F238E27FC236}">
                <a16:creationId xmlns:a16="http://schemas.microsoft.com/office/drawing/2014/main" id="{AD0646E9-57A6-F8F9-5435-C7550A12663A}"/>
              </a:ext>
            </a:extLst>
          </p:cNvPr>
          <p:cNvSpPr>
            <a:spLocks noGrp="1"/>
          </p:cNvSpPr>
          <p:nvPr>
            <p:ph type="body" sz="quarter" idx="17" hasCustomPrompt="1"/>
          </p:nvPr>
        </p:nvSpPr>
        <p:spPr>
          <a:xfrm>
            <a:off x="3378386" y="2152324"/>
            <a:ext cx="246862"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2</a:t>
            </a:r>
          </a:p>
        </p:txBody>
      </p:sp>
      <p:sp>
        <p:nvSpPr>
          <p:cNvPr id="25" name="Text Placeholder 22">
            <a:extLst>
              <a:ext uri="{FF2B5EF4-FFF2-40B4-BE49-F238E27FC236}">
                <a16:creationId xmlns:a16="http://schemas.microsoft.com/office/drawing/2014/main" id="{BD9526E7-05A0-642F-FEFF-7D31042CF546}"/>
              </a:ext>
            </a:extLst>
          </p:cNvPr>
          <p:cNvSpPr>
            <a:spLocks noGrp="1"/>
          </p:cNvSpPr>
          <p:nvPr>
            <p:ph type="body" sz="quarter" idx="18" hasCustomPrompt="1"/>
          </p:nvPr>
        </p:nvSpPr>
        <p:spPr>
          <a:xfrm>
            <a:off x="6250778" y="2152324"/>
            <a:ext cx="242054"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3</a:t>
            </a:r>
          </a:p>
        </p:txBody>
      </p:sp>
      <p:sp>
        <p:nvSpPr>
          <p:cNvPr id="26" name="Text Placeholder 22">
            <a:extLst>
              <a:ext uri="{FF2B5EF4-FFF2-40B4-BE49-F238E27FC236}">
                <a16:creationId xmlns:a16="http://schemas.microsoft.com/office/drawing/2014/main" id="{481F0BD5-4F93-FC59-1559-68DC71A39E8D}"/>
              </a:ext>
            </a:extLst>
          </p:cNvPr>
          <p:cNvSpPr>
            <a:spLocks noGrp="1"/>
          </p:cNvSpPr>
          <p:nvPr>
            <p:ph type="body" sz="quarter" idx="19" hasCustomPrompt="1"/>
          </p:nvPr>
        </p:nvSpPr>
        <p:spPr>
          <a:xfrm>
            <a:off x="9123169" y="2152324"/>
            <a:ext cx="272510" cy="553998"/>
          </a:xfrm>
        </p:spPr>
        <p:txBody>
          <a:bodyPr wrap="none">
            <a:spAutoFit/>
          </a:bodyPr>
          <a:lstStyle>
            <a:lvl1pPr>
              <a:defRPr sz="3600" b="0" i="0">
                <a:solidFill>
                  <a:schemeClr val="accent2"/>
                </a:solidFill>
                <a:latin typeface="Wallace Sans Light" pitchFamily="2" charset="0"/>
                <a:cs typeface="Wallace Sans Light" pitchFamily="2" charset="0"/>
              </a:defRPr>
            </a:lvl1pPr>
          </a:lstStyle>
          <a:p>
            <a:pPr lvl="0"/>
            <a:r>
              <a:rPr lang="en-US"/>
              <a:t>4</a:t>
            </a:r>
          </a:p>
        </p:txBody>
      </p:sp>
      <p:sp>
        <p:nvSpPr>
          <p:cNvPr id="2" name="Text Placeholder 12">
            <a:extLst>
              <a:ext uri="{FF2B5EF4-FFF2-40B4-BE49-F238E27FC236}">
                <a16:creationId xmlns:a16="http://schemas.microsoft.com/office/drawing/2014/main" id="{E699FED2-2943-5EC0-51AF-E04D81888785}"/>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0" name="Text Placeholder 3">
            <a:extLst>
              <a:ext uri="{FF2B5EF4-FFF2-40B4-BE49-F238E27FC236}">
                <a16:creationId xmlns:a16="http://schemas.microsoft.com/office/drawing/2014/main" id="{68B43156-D991-339F-8042-A3388BC43E2F}"/>
              </a:ext>
            </a:extLst>
          </p:cNvPr>
          <p:cNvSpPr>
            <a:spLocks noGrp="1"/>
          </p:cNvSpPr>
          <p:nvPr>
            <p:ph type="body" sz="quarter" idx="20" hasCustomPrompt="1"/>
          </p:nvPr>
        </p:nvSpPr>
        <p:spPr>
          <a:xfrm>
            <a:off x="505994" y="3110832"/>
            <a:ext cx="2545816" cy="2892404"/>
          </a:xfrm>
        </p:spPr>
        <p:txBody>
          <a:bodyPr>
            <a:normAutofit/>
          </a:bodyPr>
          <a:lstStyle>
            <a:lvl1pPr>
              <a:defRPr lang="en-US" sz="1400" b="0" i="0" kern="1200" dirty="0">
                <a:solidFill>
                  <a:schemeClr val="tx1"/>
                </a:solidFill>
                <a:latin typeface="Wallace Sans Light" pitchFamily="2" charset="0"/>
                <a:ea typeface="+mn-ea"/>
                <a:cs typeface="Wallace Sans Light" pitchFamily="2" charset="0"/>
              </a:defRPr>
            </a:lvl1pPr>
          </a:lstStyle>
          <a:p>
            <a:pPr marL="0" marR="0" lvl="0" indent="0" algn="l" defTabSz="914400" rtl="0" eaLnBrk="1" fontAlgn="auto" latinLnBrk="0" hangingPunct="1">
              <a:lnSpc>
                <a:spcPts val="1900"/>
              </a:lnSpc>
              <a:spcBef>
                <a:spcPts val="600"/>
              </a:spcBef>
              <a:spcAft>
                <a:spcPts val="0"/>
              </a:spcAft>
              <a:buClrTx/>
              <a:buSzTx/>
              <a:buFont typeface="Abbott Wallace Sans Light" pitchFamily="50" charset="0"/>
              <a:buNone/>
              <a:tabLst/>
            </a:pPr>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a:t>
            </a:r>
          </a:p>
          <a:p>
            <a:pPr marL="0" marR="0" lvl="0" indent="0" algn="l" defTabSz="914400" rtl="0" eaLnBrk="1" fontAlgn="auto" latinLnBrk="0" hangingPunct="1">
              <a:lnSpc>
                <a:spcPts val="1900"/>
              </a:lnSpc>
              <a:spcBef>
                <a:spcPts val="600"/>
              </a:spcBef>
              <a:spcAft>
                <a:spcPts val="0"/>
              </a:spcAft>
              <a:buClrTx/>
              <a:buSzTx/>
              <a:buFont typeface="Abbott Wallace Sans Light" pitchFamily="50" charset="0"/>
              <a:buNone/>
              <a:tabLst/>
            </a:pPr>
            <a:endParaRPr lang="en-US"/>
          </a:p>
        </p:txBody>
      </p:sp>
    </p:spTree>
    <p:extLst>
      <p:ext uri="{BB962C8B-B14F-4D97-AF65-F5344CB8AC3E}">
        <p14:creationId xmlns:p14="http://schemas.microsoft.com/office/powerpoint/2010/main" val="3516418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slide (3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 name="Text Placeholder 14">
            <a:extLst>
              <a:ext uri="{FF2B5EF4-FFF2-40B4-BE49-F238E27FC236}">
                <a16:creationId xmlns:a16="http://schemas.microsoft.com/office/drawing/2014/main" id="{4AB513A6-1F22-6E3D-4314-7EB234E0B70E}"/>
              </a:ext>
            </a:extLst>
          </p:cNvPr>
          <p:cNvSpPr>
            <a:spLocks noGrp="1"/>
          </p:cNvSpPr>
          <p:nvPr>
            <p:ph type="body" sz="quarter" idx="13" hasCustomPrompt="1"/>
          </p:nvPr>
        </p:nvSpPr>
        <p:spPr>
          <a:xfrm>
            <a:off x="4342732"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359EBFA9-464E-6426-FB7C-A80CCF9B9DE0}"/>
              </a:ext>
            </a:extLst>
          </p:cNvPr>
          <p:cNvSpPr>
            <a:spLocks noGrp="1"/>
          </p:cNvSpPr>
          <p:nvPr>
            <p:ph type="body" sz="quarter" idx="14" hasCustomPrompt="1"/>
          </p:nvPr>
        </p:nvSpPr>
        <p:spPr>
          <a:xfrm>
            <a:off x="4342731"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0" name="Text Placeholder 14">
            <a:extLst>
              <a:ext uri="{FF2B5EF4-FFF2-40B4-BE49-F238E27FC236}">
                <a16:creationId xmlns:a16="http://schemas.microsoft.com/office/drawing/2014/main" id="{CC71E150-8EBD-3D30-92E0-46C2C92E561E}"/>
              </a:ext>
            </a:extLst>
          </p:cNvPr>
          <p:cNvSpPr>
            <a:spLocks noGrp="1"/>
          </p:cNvSpPr>
          <p:nvPr>
            <p:ph type="body" sz="quarter" idx="15" hasCustomPrompt="1"/>
          </p:nvPr>
        </p:nvSpPr>
        <p:spPr>
          <a:xfrm>
            <a:off x="8174673"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1" name="Text Placeholder 16">
            <a:extLst>
              <a:ext uri="{FF2B5EF4-FFF2-40B4-BE49-F238E27FC236}">
                <a16:creationId xmlns:a16="http://schemas.microsoft.com/office/drawing/2014/main" id="{E22D93B6-FC2E-EA17-3A2F-3CC4C381573D}"/>
              </a:ext>
            </a:extLst>
          </p:cNvPr>
          <p:cNvSpPr>
            <a:spLocks noGrp="1"/>
          </p:cNvSpPr>
          <p:nvPr>
            <p:ph type="body" sz="quarter" idx="16" hasCustomPrompt="1"/>
          </p:nvPr>
        </p:nvSpPr>
        <p:spPr>
          <a:xfrm>
            <a:off x="8174672" y="2275948"/>
            <a:ext cx="3501391"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0217BB01-96E3-FECE-C81C-4714A94A4682}"/>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736829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slide (3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A8244CB-A485-2F83-F74B-A348BCDC702F}"/>
              </a:ext>
            </a:extLst>
          </p:cNvPr>
          <p:cNvSpPr/>
          <p:nvPr userDrawn="1"/>
        </p:nvSpPr>
        <p:spPr>
          <a:xfrm>
            <a:off x="8174673"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4CEB4BF4-1143-BD1C-1790-31029B54535D}"/>
              </a:ext>
            </a:extLst>
          </p:cNvPr>
          <p:cNvSpPr/>
          <p:nvPr userDrawn="1"/>
        </p:nvSpPr>
        <p:spPr>
          <a:xfrm>
            <a:off x="4342732"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3528D1D3-B3C2-70F7-D0DB-F7F38F71E277}"/>
              </a:ext>
            </a:extLst>
          </p:cNvPr>
          <p:cNvSpPr/>
          <p:nvPr userDrawn="1"/>
        </p:nvSpPr>
        <p:spPr>
          <a:xfrm>
            <a:off x="514348"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8" name="Text Placeholder 17">
            <a:extLst>
              <a:ext uri="{FF2B5EF4-FFF2-40B4-BE49-F238E27FC236}">
                <a16:creationId xmlns:a16="http://schemas.microsoft.com/office/drawing/2014/main" id="{CBBF4E58-4B65-80EA-EAC0-84FC9702F59D}"/>
              </a:ext>
            </a:extLst>
          </p:cNvPr>
          <p:cNvSpPr>
            <a:spLocks noGrp="1"/>
          </p:cNvSpPr>
          <p:nvPr>
            <p:ph type="body" sz="quarter" idx="15" hasCustomPrompt="1"/>
          </p:nvPr>
        </p:nvSpPr>
        <p:spPr>
          <a:xfrm>
            <a:off x="710522"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0" name="Text Placeholder 14">
            <a:extLst>
              <a:ext uri="{FF2B5EF4-FFF2-40B4-BE49-F238E27FC236}">
                <a16:creationId xmlns:a16="http://schemas.microsoft.com/office/drawing/2014/main" id="{9D07ED68-3162-9C58-43BC-21BA2CF61D53}"/>
              </a:ext>
            </a:extLst>
          </p:cNvPr>
          <p:cNvSpPr>
            <a:spLocks noGrp="1"/>
          </p:cNvSpPr>
          <p:nvPr>
            <p:ph type="body" sz="quarter" idx="16" hasCustomPrompt="1"/>
          </p:nvPr>
        </p:nvSpPr>
        <p:spPr>
          <a:xfrm>
            <a:off x="710522"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2">
            <a:extLst>
              <a:ext uri="{FF2B5EF4-FFF2-40B4-BE49-F238E27FC236}">
                <a16:creationId xmlns:a16="http://schemas.microsoft.com/office/drawing/2014/main" id="{A601C22B-37A6-3B83-5034-02DDCE2ED12C}"/>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9" name="Text Placeholder 17">
            <a:extLst>
              <a:ext uri="{FF2B5EF4-FFF2-40B4-BE49-F238E27FC236}">
                <a16:creationId xmlns:a16="http://schemas.microsoft.com/office/drawing/2014/main" id="{5CF1B447-C7AF-6420-8C3C-4853EE66AAB8}"/>
              </a:ext>
            </a:extLst>
          </p:cNvPr>
          <p:cNvSpPr>
            <a:spLocks noGrp="1"/>
          </p:cNvSpPr>
          <p:nvPr>
            <p:ph type="body" sz="quarter" idx="17" hasCustomPrompt="1"/>
          </p:nvPr>
        </p:nvSpPr>
        <p:spPr>
          <a:xfrm>
            <a:off x="4543825"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5" name="Text Placeholder 14">
            <a:extLst>
              <a:ext uri="{FF2B5EF4-FFF2-40B4-BE49-F238E27FC236}">
                <a16:creationId xmlns:a16="http://schemas.microsoft.com/office/drawing/2014/main" id="{F3BB1991-2F57-4180-01BC-F9CAC4979789}"/>
              </a:ext>
            </a:extLst>
          </p:cNvPr>
          <p:cNvSpPr>
            <a:spLocks noGrp="1"/>
          </p:cNvSpPr>
          <p:nvPr>
            <p:ph type="body" sz="quarter" idx="18" hasCustomPrompt="1"/>
          </p:nvPr>
        </p:nvSpPr>
        <p:spPr>
          <a:xfrm>
            <a:off x="4543825"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
        <p:nvSpPr>
          <p:cNvPr id="26" name="Text Placeholder 17">
            <a:extLst>
              <a:ext uri="{FF2B5EF4-FFF2-40B4-BE49-F238E27FC236}">
                <a16:creationId xmlns:a16="http://schemas.microsoft.com/office/drawing/2014/main" id="{5AAE3EE2-1598-1B69-F150-CF70D7B8543B}"/>
              </a:ext>
            </a:extLst>
          </p:cNvPr>
          <p:cNvSpPr>
            <a:spLocks noGrp="1"/>
          </p:cNvSpPr>
          <p:nvPr>
            <p:ph type="body" sz="quarter" idx="19" hasCustomPrompt="1"/>
          </p:nvPr>
        </p:nvSpPr>
        <p:spPr>
          <a:xfrm>
            <a:off x="8375766" y="2518606"/>
            <a:ext cx="3099966" cy="3309312"/>
          </a:xfrm>
        </p:spPr>
        <p:txBody>
          <a:bodyPr/>
          <a:lstStyle>
            <a:lvl1pPr>
              <a:defRPr b="0" i="0">
                <a:solidFill>
                  <a:schemeClr val="accent1"/>
                </a:solidFill>
                <a:latin typeface="Wallace Sans Light" pitchFamily="2" charset="0"/>
                <a:cs typeface="Wallace Sans Light" pitchFamily="2" charset="0"/>
              </a:defRPr>
            </a:lvl1pPr>
            <a:lvl2pPr>
              <a:defRPr b="0" i="0">
                <a:solidFill>
                  <a:schemeClr val="accent1"/>
                </a:solidFill>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000075"/>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000075"/>
                </a:solidFill>
                <a:latin typeface="Wallace Sans BETA Light" pitchFamily="2" charset="77"/>
                <a:cs typeface="Wallace Sans BETA Light" pitchFamily="2" charset="77"/>
              </a:rPr>
              <a:t>Decrease list level as needed to get back to desired indent level</a:t>
            </a:r>
          </a:p>
          <a:p>
            <a:pPr marL="468313" lvl="1" indent="-225425">
              <a:spcBef>
                <a:spcPts val="600"/>
              </a:spcBef>
            </a:pPr>
            <a:endParaRPr lang="en-US" sz="1400">
              <a:solidFill>
                <a:srgbClr val="000075"/>
              </a:solidFill>
              <a:latin typeface="Wallace Sans BETA Light" pitchFamily="2" charset="77"/>
              <a:cs typeface="Wallace Sans BETA Light" pitchFamily="2" charset="77"/>
            </a:endParaRPr>
          </a:p>
        </p:txBody>
      </p:sp>
      <p:sp>
        <p:nvSpPr>
          <p:cNvPr id="27" name="Text Placeholder 14">
            <a:extLst>
              <a:ext uri="{FF2B5EF4-FFF2-40B4-BE49-F238E27FC236}">
                <a16:creationId xmlns:a16="http://schemas.microsoft.com/office/drawing/2014/main" id="{47255BB4-2729-B41D-857D-A94F646E741C}"/>
              </a:ext>
            </a:extLst>
          </p:cNvPr>
          <p:cNvSpPr>
            <a:spLocks noGrp="1"/>
          </p:cNvSpPr>
          <p:nvPr>
            <p:ph type="body" sz="quarter" idx="20" hasCustomPrompt="1"/>
          </p:nvPr>
        </p:nvSpPr>
        <p:spPr>
          <a:xfrm>
            <a:off x="8375766" y="2124982"/>
            <a:ext cx="309996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 1 line only</a:t>
            </a:r>
          </a:p>
        </p:txBody>
      </p:sp>
    </p:spTree>
    <p:extLst>
      <p:ext uri="{BB962C8B-B14F-4D97-AF65-F5344CB8AC3E}">
        <p14:creationId xmlns:p14="http://schemas.microsoft.com/office/powerpoint/2010/main" val="41094422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slide (4 column)">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5" name="Text Placeholder 14">
            <a:extLst>
              <a:ext uri="{FF2B5EF4-FFF2-40B4-BE49-F238E27FC236}">
                <a16:creationId xmlns:a16="http://schemas.microsoft.com/office/drawing/2014/main" id="{68A74B4D-D3D7-0CE7-62D0-5DDF27AE20C7}"/>
              </a:ext>
            </a:extLst>
          </p:cNvPr>
          <p:cNvSpPr>
            <a:spLocks noGrp="1"/>
          </p:cNvSpPr>
          <p:nvPr>
            <p:ph type="body" sz="quarter" idx="13" hasCustomPrompt="1"/>
          </p:nvPr>
        </p:nvSpPr>
        <p:spPr>
          <a:xfrm>
            <a:off x="3396210"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2" name="Text Placeholder 16">
            <a:extLst>
              <a:ext uri="{FF2B5EF4-FFF2-40B4-BE49-F238E27FC236}">
                <a16:creationId xmlns:a16="http://schemas.microsoft.com/office/drawing/2014/main" id="{5FAC3979-9EC3-E1B0-EDFB-665232A1BC2D}"/>
              </a:ext>
            </a:extLst>
          </p:cNvPr>
          <p:cNvSpPr>
            <a:spLocks noGrp="1"/>
          </p:cNvSpPr>
          <p:nvPr>
            <p:ph type="body" sz="quarter" idx="14" hasCustomPrompt="1"/>
          </p:nvPr>
        </p:nvSpPr>
        <p:spPr>
          <a:xfrm>
            <a:off x="3396209"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14" name="Text Placeholder 14">
            <a:extLst>
              <a:ext uri="{FF2B5EF4-FFF2-40B4-BE49-F238E27FC236}">
                <a16:creationId xmlns:a16="http://schemas.microsoft.com/office/drawing/2014/main" id="{ADE8DE9A-0ECE-A800-9EFD-6FB27A077169}"/>
              </a:ext>
            </a:extLst>
          </p:cNvPr>
          <p:cNvSpPr>
            <a:spLocks noGrp="1"/>
          </p:cNvSpPr>
          <p:nvPr>
            <p:ph type="body" sz="quarter" idx="15" hasCustomPrompt="1"/>
          </p:nvPr>
        </p:nvSpPr>
        <p:spPr>
          <a:xfrm>
            <a:off x="6281628"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6" name="Text Placeholder 16">
            <a:extLst>
              <a:ext uri="{FF2B5EF4-FFF2-40B4-BE49-F238E27FC236}">
                <a16:creationId xmlns:a16="http://schemas.microsoft.com/office/drawing/2014/main" id="{E14C59BF-37D6-EE25-EFBA-BE8814D6A57B}"/>
              </a:ext>
            </a:extLst>
          </p:cNvPr>
          <p:cNvSpPr>
            <a:spLocks noGrp="1"/>
          </p:cNvSpPr>
          <p:nvPr>
            <p:ph type="body" sz="quarter" idx="16" hasCustomPrompt="1"/>
          </p:nvPr>
        </p:nvSpPr>
        <p:spPr>
          <a:xfrm>
            <a:off x="6281628"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18" name="Text Placeholder 14">
            <a:extLst>
              <a:ext uri="{FF2B5EF4-FFF2-40B4-BE49-F238E27FC236}">
                <a16:creationId xmlns:a16="http://schemas.microsoft.com/office/drawing/2014/main" id="{1D77BD87-3439-355A-A525-DCC22FC17B3F}"/>
              </a:ext>
            </a:extLst>
          </p:cNvPr>
          <p:cNvSpPr>
            <a:spLocks noGrp="1"/>
          </p:cNvSpPr>
          <p:nvPr>
            <p:ph type="body" sz="quarter" idx="17" hasCustomPrompt="1"/>
          </p:nvPr>
        </p:nvSpPr>
        <p:spPr>
          <a:xfrm>
            <a:off x="9167047" y="1904402"/>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a:t>
            </a:r>
          </a:p>
        </p:txBody>
      </p:sp>
      <p:sp>
        <p:nvSpPr>
          <p:cNvPr id="19" name="Text Placeholder 16">
            <a:extLst>
              <a:ext uri="{FF2B5EF4-FFF2-40B4-BE49-F238E27FC236}">
                <a16:creationId xmlns:a16="http://schemas.microsoft.com/office/drawing/2014/main" id="{D4A70A97-FFBE-A387-5221-E25AADAD0D47}"/>
              </a:ext>
            </a:extLst>
          </p:cNvPr>
          <p:cNvSpPr>
            <a:spLocks noGrp="1"/>
          </p:cNvSpPr>
          <p:nvPr>
            <p:ph type="body" sz="quarter" idx="18" hasCustomPrompt="1"/>
          </p:nvPr>
        </p:nvSpPr>
        <p:spPr>
          <a:xfrm>
            <a:off x="9167046" y="2275948"/>
            <a:ext cx="2509017" cy="3733091"/>
          </a:xfrm>
        </p:spPr>
        <p:txBody>
          <a:bodyPr wrap="square">
            <a:noAutofit/>
          </a:bodyPr>
          <a:lstStyle>
            <a:lvl1pPr>
              <a:defRPr b="0" i="0">
                <a:latin typeface="Wallace Sans Light" pitchFamily="2" charset="0"/>
                <a:cs typeface="Wallace Sans Light" pitchFamily="2" charset="0"/>
              </a:defRPr>
            </a:lvl1pPr>
            <a:lvl2pPr>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2" name="Text Placeholder 12">
            <a:extLst>
              <a:ext uri="{FF2B5EF4-FFF2-40B4-BE49-F238E27FC236}">
                <a16:creationId xmlns:a16="http://schemas.microsoft.com/office/drawing/2014/main" id="{91FCFDE0-710F-73F1-648A-17E8CE230859}"/>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104523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slide (4 column/cell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374FB9ED-6EA0-FBFC-33B8-AE04EAD46C1B}"/>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C94092FA-C1AD-A85B-A228-14DEA33F14F7}"/>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44A42314-3A95-3668-DC94-014379C3AFD9}"/>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5643FBFC-03E3-E53C-BC63-0DCDCCA94859}"/>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Text Placeholder 25">
            <a:extLst>
              <a:ext uri="{FF2B5EF4-FFF2-40B4-BE49-F238E27FC236}">
                <a16:creationId xmlns:a16="http://schemas.microsoft.com/office/drawing/2014/main" id="{8AFC90A4-AA53-F558-9984-FD9B19A75761}"/>
              </a:ext>
            </a:extLst>
          </p:cNvPr>
          <p:cNvSpPr>
            <a:spLocks noGrp="1"/>
          </p:cNvSpPr>
          <p:nvPr>
            <p:ph type="body" sz="quarter" idx="17" hasCustomPrompt="1"/>
          </p:nvPr>
        </p:nvSpPr>
        <p:spPr>
          <a:xfrm>
            <a:off x="710522"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0" name="Text Placeholder 14">
            <a:extLst>
              <a:ext uri="{FF2B5EF4-FFF2-40B4-BE49-F238E27FC236}">
                <a16:creationId xmlns:a16="http://schemas.microsoft.com/office/drawing/2014/main" id="{9D07ED68-3162-9C58-43BC-21BA2CF61D53}"/>
              </a:ext>
            </a:extLst>
          </p:cNvPr>
          <p:cNvSpPr>
            <a:spLocks noGrp="1"/>
          </p:cNvSpPr>
          <p:nvPr>
            <p:ph type="body" sz="quarter" idx="16" hasCustomPrompt="1"/>
          </p:nvPr>
        </p:nvSpPr>
        <p:spPr>
          <a:xfrm>
            <a:off x="710581"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5" name="Text Placeholder 12">
            <a:extLst>
              <a:ext uri="{FF2B5EF4-FFF2-40B4-BE49-F238E27FC236}">
                <a16:creationId xmlns:a16="http://schemas.microsoft.com/office/drawing/2014/main" id="{F34FFF75-E1E0-DE21-17F4-DC995AAF100A}"/>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25">
            <a:extLst>
              <a:ext uri="{FF2B5EF4-FFF2-40B4-BE49-F238E27FC236}">
                <a16:creationId xmlns:a16="http://schemas.microsoft.com/office/drawing/2014/main" id="{60F55F4C-EE7F-FD22-0824-34FE5021C030}"/>
              </a:ext>
            </a:extLst>
          </p:cNvPr>
          <p:cNvSpPr>
            <a:spLocks noGrp="1"/>
          </p:cNvSpPr>
          <p:nvPr>
            <p:ph type="body" sz="quarter" idx="18" hasCustomPrompt="1"/>
          </p:nvPr>
        </p:nvSpPr>
        <p:spPr>
          <a:xfrm>
            <a:off x="3581130"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18" name="Text Placeholder 14">
            <a:extLst>
              <a:ext uri="{FF2B5EF4-FFF2-40B4-BE49-F238E27FC236}">
                <a16:creationId xmlns:a16="http://schemas.microsoft.com/office/drawing/2014/main" id="{5B203DAD-D8E5-9619-21A5-E7057221A757}"/>
              </a:ext>
            </a:extLst>
          </p:cNvPr>
          <p:cNvSpPr>
            <a:spLocks noGrp="1"/>
          </p:cNvSpPr>
          <p:nvPr>
            <p:ph type="body" sz="quarter" idx="19" hasCustomPrompt="1"/>
          </p:nvPr>
        </p:nvSpPr>
        <p:spPr>
          <a:xfrm>
            <a:off x="3581190"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19" name="Text Placeholder 25">
            <a:extLst>
              <a:ext uri="{FF2B5EF4-FFF2-40B4-BE49-F238E27FC236}">
                <a16:creationId xmlns:a16="http://schemas.microsoft.com/office/drawing/2014/main" id="{E35DF84B-CBD3-ABAF-714E-6FBE3B6748B6}"/>
              </a:ext>
            </a:extLst>
          </p:cNvPr>
          <p:cNvSpPr>
            <a:spLocks noGrp="1"/>
          </p:cNvSpPr>
          <p:nvPr>
            <p:ph type="body" sz="quarter" idx="20" hasCustomPrompt="1"/>
          </p:nvPr>
        </p:nvSpPr>
        <p:spPr>
          <a:xfrm>
            <a:off x="6455174"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1" name="Text Placeholder 14">
            <a:extLst>
              <a:ext uri="{FF2B5EF4-FFF2-40B4-BE49-F238E27FC236}">
                <a16:creationId xmlns:a16="http://schemas.microsoft.com/office/drawing/2014/main" id="{17BB107A-444D-7EC1-E231-1793B40A71F5}"/>
              </a:ext>
            </a:extLst>
          </p:cNvPr>
          <p:cNvSpPr>
            <a:spLocks noGrp="1"/>
          </p:cNvSpPr>
          <p:nvPr>
            <p:ph type="body" sz="quarter" idx="21" hasCustomPrompt="1"/>
          </p:nvPr>
        </p:nvSpPr>
        <p:spPr>
          <a:xfrm>
            <a:off x="6455234"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
        <p:nvSpPr>
          <p:cNvPr id="22" name="Text Placeholder 25">
            <a:extLst>
              <a:ext uri="{FF2B5EF4-FFF2-40B4-BE49-F238E27FC236}">
                <a16:creationId xmlns:a16="http://schemas.microsoft.com/office/drawing/2014/main" id="{567362D4-E179-EE18-FD3C-F00A6ADD00DD}"/>
              </a:ext>
            </a:extLst>
          </p:cNvPr>
          <p:cNvSpPr>
            <a:spLocks noGrp="1"/>
          </p:cNvSpPr>
          <p:nvPr>
            <p:ph type="body" sz="quarter" idx="22" hasCustomPrompt="1"/>
          </p:nvPr>
        </p:nvSpPr>
        <p:spPr>
          <a:xfrm>
            <a:off x="9329218" y="2464068"/>
            <a:ext cx="2146511" cy="2773126"/>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endParaRPr lang="en-US"/>
          </a:p>
          <a:p>
            <a:pPr lvl="0"/>
            <a:endParaRPr lang="en-US"/>
          </a:p>
        </p:txBody>
      </p:sp>
      <p:sp>
        <p:nvSpPr>
          <p:cNvPr id="23" name="Text Placeholder 14">
            <a:extLst>
              <a:ext uri="{FF2B5EF4-FFF2-40B4-BE49-F238E27FC236}">
                <a16:creationId xmlns:a16="http://schemas.microsoft.com/office/drawing/2014/main" id="{EC835CC0-56E9-69E3-D780-5586C70E28CC}"/>
              </a:ext>
            </a:extLst>
          </p:cNvPr>
          <p:cNvSpPr>
            <a:spLocks noGrp="1"/>
          </p:cNvSpPr>
          <p:nvPr>
            <p:ph type="body" sz="quarter" idx="23" hasCustomPrompt="1"/>
          </p:nvPr>
        </p:nvSpPr>
        <p:spPr>
          <a:xfrm>
            <a:off x="9329278" y="2127081"/>
            <a:ext cx="214639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accent1"/>
                </a:solidFill>
                <a:latin typeface="Wallace Sans BETA" pitchFamily="2" charset="77"/>
                <a:ea typeface="+mn-ea"/>
                <a:cs typeface="Wallace Sans BETA" pitchFamily="2" charset="77"/>
              </a:defRPr>
            </a:lvl1pPr>
          </a:lstStyle>
          <a:p>
            <a:pPr lvl="0"/>
            <a:r>
              <a:rPr lang="en-US"/>
              <a:t>Subhead 18 pt size</a:t>
            </a:r>
          </a:p>
        </p:txBody>
      </p:sp>
    </p:spTree>
    <p:extLst>
      <p:ext uri="{BB962C8B-B14F-4D97-AF65-F5344CB8AC3E}">
        <p14:creationId xmlns:p14="http://schemas.microsoft.com/office/powerpoint/2010/main" val="39254834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slide (4 column cells/Big subheader)">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E9477B01-914B-884C-FEB1-073EA7DE122E}"/>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D19D1CB1-3874-52FF-F8C1-145927727283}"/>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AAFAA2DF-094B-BD62-9E60-371A681759A9}"/>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A2925437-0939-1CF8-3774-1E2DF82B1229}"/>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Text Placeholder 25">
            <a:extLst>
              <a:ext uri="{FF2B5EF4-FFF2-40B4-BE49-F238E27FC236}">
                <a16:creationId xmlns:a16="http://schemas.microsoft.com/office/drawing/2014/main" id="{8AFC90A4-AA53-F558-9984-FD9B19A75761}"/>
              </a:ext>
            </a:extLst>
          </p:cNvPr>
          <p:cNvSpPr>
            <a:spLocks noGrp="1"/>
          </p:cNvSpPr>
          <p:nvPr>
            <p:ph type="body" sz="quarter" idx="17" hasCustomPrompt="1"/>
          </p:nvPr>
        </p:nvSpPr>
        <p:spPr>
          <a:xfrm>
            <a:off x="710522"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5" name="Text Placeholder 22">
            <a:extLst>
              <a:ext uri="{FF2B5EF4-FFF2-40B4-BE49-F238E27FC236}">
                <a16:creationId xmlns:a16="http://schemas.microsoft.com/office/drawing/2014/main" id="{9D65313B-E3A5-40CE-F409-0272D34BE62C}"/>
              </a:ext>
            </a:extLst>
          </p:cNvPr>
          <p:cNvSpPr>
            <a:spLocks noGrp="1"/>
          </p:cNvSpPr>
          <p:nvPr>
            <p:ph type="body" sz="quarter" idx="11" hasCustomPrompt="1"/>
          </p:nvPr>
        </p:nvSpPr>
        <p:spPr>
          <a:xfrm>
            <a:off x="710522" y="2083781"/>
            <a:ext cx="14908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1</a:t>
            </a:r>
          </a:p>
        </p:txBody>
      </p:sp>
      <p:sp>
        <p:nvSpPr>
          <p:cNvPr id="14" name="Text Placeholder 12">
            <a:extLst>
              <a:ext uri="{FF2B5EF4-FFF2-40B4-BE49-F238E27FC236}">
                <a16:creationId xmlns:a16="http://schemas.microsoft.com/office/drawing/2014/main" id="{D3F4D126-5FA2-942B-1136-863C21090655}"/>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1" name="Text Placeholder 25">
            <a:extLst>
              <a:ext uri="{FF2B5EF4-FFF2-40B4-BE49-F238E27FC236}">
                <a16:creationId xmlns:a16="http://schemas.microsoft.com/office/drawing/2014/main" id="{7C191D19-9F40-667B-D1D2-97B6550A331A}"/>
              </a:ext>
            </a:extLst>
          </p:cNvPr>
          <p:cNvSpPr>
            <a:spLocks noGrp="1"/>
          </p:cNvSpPr>
          <p:nvPr>
            <p:ph type="body" sz="quarter" idx="18" hasCustomPrompt="1"/>
          </p:nvPr>
        </p:nvSpPr>
        <p:spPr>
          <a:xfrm>
            <a:off x="3579573"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27" name="Text Placeholder 22">
            <a:extLst>
              <a:ext uri="{FF2B5EF4-FFF2-40B4-BE49-F238E27FC236}">
                <a16:creationId xmlns:a16="http://schemas.microsoft.com/office/drawing/2014/main" id="{D549DE97-F24D-902C-A6B7-5EE2FAE3002E}"/>
              </a:ext>
            </a:extLst>
          </p:cNvPr>
          <p:cNvSpPr>
            <a:spLocks noGrp="1"/>
          </p:cNvSpPr>
          <p:nvPr>
            <p:ph type="body" sz="quarter" idx="19" hasCustomPrompt="1"/>
          </p:nvPr>
        </p:nvSpPr>
        <p:spPr>
          <a:xfrm>
            <a:off x="3579573" y="2083781"/>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2</a:t>
            </a:r>
          </a:p>
        </p:txBody>
      </p:sp>
      <p:sp>
        <p:nvSpPr>
          <p:cNvPr id="28" name="Text Placeholder 25">
            <a:extLst>
              <a:ext uri="{FF2B5EF4-FFF2-40B4-BE49-F238E27FC236}">
                <a16:creationId xmlns:a16="http://schemas.microsoft.com/office/drawing/2014/main" id="{362C28BF-BABC-CAD9-70E1-8CF7D2EAFA4D}"/>
              </a:ext>
            </a:extLst>
          </p:cNvPr>
          <p:cNvSpPr>
            <a:spLocks noGrp="1"/>
          </p:cNvSpPr>
          <p:nvPr>
            <p:ph type="body" sz="quarter" idx="20" hasCustomPrompt="1"/>
          </p:nvPr>
        </p:nvSpPr>
        <p:spPr>
          <a:xfrm>
            <a:off x="6453617"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29" name="Text Placeholder 22">
            <a:extLst>
              <a:ext uri="{FF2B5EF4-FFF2-40B4-BE49-F238E27FC236}">
                <a16:creationId xmlns:a16="http://schemas.microsoft.com/office/drawing/2014/main" id="{973C7CE7-6F5A-1376-7DCD-3B2D12584E7D}"/>
              </a:ext>
            </a:extLst>
          </p:cNvPr>
          <p:cNvSpPr>
            <a:spLocks noGrp="1"/>
          </p:cNvSpPr>
          <p:nvPr>
            <p:ph type="body" sz="quarter" idx="21" hasCustomPrompt="1"/>
          </p:nvPr>
        </p:nvSpPr>
        <p:spPr>
          <a:xfrm>
            <a:off x="6453617" y="2083781"/>
            <a:ext cx="242054"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3</a:t>
            </a:r>
          </a:p>
        </p:txBody>
      </p:sp>
      <p:sp>
        <p:nvSpPr>
          <p:cNvPr id="31" name="Text Placeholder 25">
            <a:extLst>
              <a:ext uri="{FF2B5EF4-FFF2-40B4-BE49-F238E27FC236}">
                <a16:creationId xmlns:a16="http://schemas.microsoft.com/office/drawing/2014/main" id="{ACE20D7A-2815-B3AA-972F-BB44E4E804BE}"/>
              </a:ext>
            </a:extLst>
          </p:cNvPr>
          <p:cNvSpPr>
            <a:spLocks noGrp="1"/>
          </p:cNvSpPr>
          <p:nvPr>
            <p:ph type="body" sz="quarter" idx="22" hasCustomPrompt="1"/>
          </p:nvPr>
        </p:nvSpPr>
        <p:spPr>
          <a:xfrm>
            <a:off x="9327661"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p:txBody>
      </p:sp>
      <p:sp>
        <p:nvSpPr>
          <p:cNvPr id="33" name="Text Placeholder 22">
            <a:extLst>
              <a:ext uri="{FF2B5EF4-FFF2-40B4-BE49-F238E27FC236}">
                <a16:creationId xmlns:a16="http://schemas.microsoft.com/office/drawing/2014/main" id="{A8080169-604A-6686-4FAC-81E0BD065052}"/>
              </a:ext>
            </a:extLst>
          </p:cNvPr>
          <p:cNvSpPr>
            <a:spLocks noGrp="1"/>
          </p:cNvSpPr>
          <p:nvPr>
            <p:ph type="body" sz="quarter" idx="23" hasCustomPrompt="1"/>
          </p:nvPr>
        </p:nvSpPr>
        <p:spPr>
          <a:xfrm>
            <a:off x="9327661" y="2083781"/>
            <a:ext cx="27251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4</a:t>
            </a:r>
          </a:p>
        </p:txBody>
      </p:sp>
    </p:spTree>
    <p:extLst>
      <p:ext uri="{BB962C8B-B14F-4D97-AF65-F5344CB8AC3E}">
        <p14:creationId xmlns:p14="http://schemas.microsoft.com/office/powerpoint/2010/main" val="33330645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slide (4 column cell / Icons)">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937B5771-D0FB-2D5A-7A42-BAFCEA59D3B9}"/>
              </a:ext>
            </a:extLst>
          </p:cNvPr>
          <p:cNvSpPr/>
          <p:nvPr userDrawn="1"/>
        </p:nvSpPr>
        <p:spPr>
          <a:xfrm>
            <a:off x="9128122"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6370BE13-5533-444A-6D66-28D5436AC945}"/>
              </a:ext>
            </a:extLst>
          </p:cNvPr>
          <p:cNvSpPr/>
          <p:nvPr userDrawn="1"/>
        </p:nvSpPr>
        <p:spPr>
          <a:xfrm>
            <a:off x="625407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6B4519A0-E437-297F-AB28-9BC145D5FFFF}"/>
              </a:ext>
            </a:extLst>
          </p:cNvPr>
          <p:cNvSpPr/>
          <p:nvPr userDrawn="1"/>
        </p:nvSpPr>
        <p:spPr>
          <a:xfrm>
            <a:off x="3380034"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868AF52D-10AD-6146-871C-BF137C256494}"/>
              </a:ext>
            </a:extLst>
          </p:cNvPr>
          <p:cNvSpPr/>
          <p:nvPr userDrawn="1"/>
        </p:nvSpPr>
        <p:spPr>
          <a:xfrm>
            <a:off x="514348" y="1933574"/>
            <a:ext cx="2544646" cy="4415597"/>
          </a:xfrm>
          <a:custGeom>
            <a:avLst/>
            <a:gdLst>
              <a:gd name="csX0" fmla="*/ 0 w 2544646"/>
              <a:gd name="csY0" fmla="*/ 0 h 4415597"/>
              <a:gd name="csX1" fmla="*/ 659843 w 2544646"/>
              <a:gd name="csY1" fmla="*/ 0 h 4415597"/>
              <a:gd name="csX2" fmla="*/ 1966224 w 2544646"/>
              <a:gd name="csY2" fmla="*/ 0 h 4415597"/>
              <a:gd name="csX3" fmla="*/ 2463225 w 2544646"/>
              <a:gd name="csY3" fmla="*/ 0 h 4415597"/>
              <a:gd name="csX4" fmla="*/ 2544646 w 2544646"/>
              <a:gd name="csY4" fmla="*/ 81421 h 4415597"/>
              <a:gd name="csX5" fmla="*/ 2544646 w 2544646"/>
              <a:gd name="csY5" fmla="*/ 1606918 h 4415597"/>
              <a:gd name="csX6" fmla="*/ 2544646 w 2544646"/>
              <a:gd name="csY6" fmla="*/ 1884803 h 4415597"/>
              <a:gd name="csX7" fmla="*/ 2544646 w 2544646"/>
              <a:gd name="csY7" fmla="*/ 2530794 h 4415597"/>
              <a:gd name="csX8" fmla="*/ 2544646 w 2544646"/>
              <a:gd name="csY8" fmla="*/ 3410300 h 4415597"/>
              <a:gd name="csX9" fmla="*/ 2544646 w 2544646"/>
              <a:gd name="csY9" fmla="*/ 4334176 h 4415597"/>
              <a:gd name="csX10" fmla="*/ 2463225 w 2544646"/>
              <a:gd name="csY10" fmla="*/ 4415597 h 4415597"/>
              <a:gd name="csX11" fmla="*/ 1884803 w 2544646"/>
              <a:gd name="csY11" fmla="*/ 4415597 h 4415597"/>
              <a:gd name="csX12" fmla="*/ 659843 w 2544646"/>
              <a:gd name="csY12" fmla="*/ 4415597 h 4415597"/>
              <a:gd name="csX13" fmla="*/ 81421 w 2544646"/>
              <a:gd name="csY13" fmla="*/ 4415597 h 4415597"/>
              <a:gd name="csX14" fmla="*/ 0 w 2544646"/>
              <a:gd name="csY14" fmla="*/ 4334176 h 4415597"/>
              <a:gd name="csX15" fmla="*/ 0 w 2544646"/>
              <a:gd name="csY15" fmla="*/ 3410300 h 4415597"/>
              <a:gd name="csX16" fmla="*/ 0 w 2544646"/>
              <a:gd name="csY16" fmla="*/ 2530794 h 4415597"/>
              <a:gd name="csX17" fmla="*/ 0 w 2544646"/>
              <a:gd name="csY17" fmla="*/ 1966224 h 4415597"/>
              <a:gd name="csX18" fmla="*/ 0 w 2544646"/>
              <a:gd name="csY18" fmla="*/ 1606918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544646" h="4415597">
                <a:moveTo>
                  <a:pt x="0" y="0"/>
                </a:moveTo>
                <a:lnTo>
                  <a:pt x="659843" y="0"/>
                </a:lnTo>
                <a:lnTo>
                  <a:pt x="1966224" y="0"/>
                </a:lnTo>
                <a:lnTo>
                  <a:pt x="2463225" y="0"/>
                </a:lnTo>
                <a:cubicBezTo>
                  <a:pt x="2508193" y="0"/>
                  <a:pt x="2544646" y="36453"/>
                  <a:pt x="2544646" y="81421"/>
                </a:cubicBezTo>
                <a:lnTo>
                  <a:pt x="2544646" y="1606918"/>
                </a:lnTo>
                <a:lnTo>
                  <a:pt x="2544646" y="1884803"/>
                </a:lnTo>
                <a:lnTo>
                  <a:pt x="2544646" y="2530794"/>
                </a:lnTo>
                <a:lnTo>
                  <a:pt x="2544646" y="3410300"/>
                </a:lnTo>
                <a:lnTo>
                  <a:pt x="2544646" y="4334176"/>
                </a:lnTo>
                <a:cubicBezTo>
                  <a:pt x="2544646" y="4379144"/>
                  <a:pt x="2508193" y="4415597"/>
                  <a:pt x="2463225" y="4415597"/>
                </a:cubicBezTo>
                <a:lnTo>
                  <a:pt x="1884803" y="4415597"/>
                </a:lnTo>
                <a:lnTo>
                  <a:pt x="659843" y="4415597"/>
                </a:lnTo>
                <a:lnTo>
                  <a:pt x="81421" y="4415597"/>
                </a:lnTo>
                <a:cubicBezTo>
                  <a:pt x="36453" y="4415597"/>
                  <a:pt x="0" y="4379144"/>
                  <a:pt x="0" y="4334176"/>
                </a:cubicBezTo>
                <a:lnTo>
                  <a:pt x="0" y="3410300"/>
                </a:lnTo>
                <a:lnTo>
                  <a:pt x="0" y="2530794"/>
                </a:lnTo>
                <a:lnTo>
                  <a:pt x="0" y="1966224"/>
                </a:lnTo>
                <a:lnTo>
                  <a:pt x="0" y="1606918"/>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12">
            <a:extLst>
              <a:ext uri="{FF2B5EF4-FFF2-40B4-BE49-F238E27FC236}">
                <a16:creationId xmlns:a16="http://schemas.microsoft.com/office/drawing/2014/main" id="{66182BBF-9785-422A-F2DA-ADBEF26370FC}"/>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9" name="Text Placeholder 25">
            <a:extLst>
              <a:ext uri="{FF2B5EF4-FFF2-40B4-BE49-F238E27FC236}">
                <a16:creationId xmlns:a16="http://schemas.microsoft.com/office/drawing/2014/main" id="{6C52696F-0B42-A597-969B-F22E71B39654}"/>
              </a:ext>
            </a:extLst>
          </p:cNvPr>
          <p:cNvSpPr>
            <a:spLocks noGrp="1"/>
          </p:cNvSpPr>
          <p:nvPr>
            <p:ph type="body" sz="quarter" idx="17" hasCustomPrompt="1"/>
          </p:nvPr>
        </p:nvSpPr>
        <p:spPr>
          <a:xfrm>
            <a:off x="710522"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0" name="Text Placeholder 25">
            <a:extLst>
              <a:ext uri="{FF2B5EF4-FFF2-40B4-BE49-F238E27FC236}">
                <a16:creationId xmlns:a16="http://schemas.microsoft.com/office/drawing/2014/main" id="{3CC98254-4A48-63CB-AF18-86841B4B2C46}"/>
              </a:ext>
            </a:extLst>
          </p:cNvPr>
          <p:cNvSpPr>
            <a:spLocks noGrp="1"/>
          </p:cNvSpPr>
          <p:nvPr>
            <p:ph type="body" sz="quarter" idx="18" hasCustomPrompt="1"/>
          </p:nvPr>
        </p:nvSpPr>
        <p:spPr>
          <a:xfrm>
            <a:off x="3579573"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1" name="Text Placeholder 25">
            <a:extLst>
              <a:ext uri="{FF2B5EF4-FFF2-40B4-BE49-F238E27FC236}">
                <a16:creationId xmlns:a16="http://schemas.microsoft.com/office/drawing/2014/main" id="{76BEF28D-D915-80DE-7A2E-7DAF37A5FEE1}"/>
              </a:ext>
            </a:extLst>
          </p:cNvPr>
          <p:cNvSpPr>
            <a:spLocks noGrp="1"/>
          </p:cNvSpPr>
          <p:nvPr>
            <p:ph type="body" sz="quarter" idx="20" hasCustomPrompt="1"/>
          </p:nvPr>
        </p:nvSpPr>
        <p:spPr>
          <a:xfrm>
            <a:off x="6453617"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
        <p:nvSpPr>
          <p:cNvPr id="12" name="Text Placeholder 25">
            <a:extLst>
              <a:ext uri="{FF2B5EF4-FFF2-40B4-BE49-F238E27FC236}">
                <a16:creationId xmlns:a16="http://schemas.microsoft.com/office/drawing/2014/main" id="{913DCD11-C4FB-F964-4827-69D5A5D767CD}"/>
              </a:ext>
            </a:extLst>
          </p:cNvPr>
          <p:cNvSpPr>
            <a:spLocks noGrp="1"/>
          </p:cNvSpPr>
          <p:nvPr>
            <p:ph type="body" sz="quarter" idx="22" hasCustomPrompt="1"/>
          </p:nvPr>
        </p:nvSpPr>
        <p:spPr>
          <a:xfrm>
            <a:off x="9327661" y="2848328"/>
            <a:ext cx="2149625" cy="2388865"/>
          </a:xfrm>
        </p:spPr>
        <p:txBody>
          <a:bodyPr>
            <a:noAutofit/>
          </a:bodyPr>
          <a:lstStyle>
            <a:lvl1pPr>
              <a:defRPr sz="1400" b="0" i="0">
                <a:solidFill>
                  <a:schemeClr val="accent1"/>
                </a:solidFill>
                <a:latin typeface="Wallace Sans Light" pitchFamily="2" charset="0"/>
                <a:cs typeface="Wallace Sans Light" pitchFamily="2" charset="0"/>
              </a:defRPr>
            </a:lvl1pPr>
            <a:lvl2pPr>
              <a:defRPr sz="1400" b="0" i="0">
                <a:solidFill>
                  <a:schemeClr val="accent1"/>
                </a:solidFill>
                <a:latin typeface="Wallace Sans Light" pitchFamily="2" charset="0"/>
                <a:cs typeface="Wallace Sans Light" pitchFamily="2" charset="0"/>
              </a:defRPr>
            </a:lvl2pPr>
            <a:lvl3pPr>
              <a:defRPr sz="1400" b="0" i="0">
                <a:solidFill>
                  <a:schemeClr val="accent1"/>
                </a:solidFill>
                <a:latin typeface="Wallace Sans Light" pitchFamily="2" charset="0"/>
                <a:cs typeface="Wallace Sans Light" pitchFamily="2" charset="0"/>
              </a:defRPr>
            </a:lvl3pPr>
            <a:lvl4pPr>
              <a:defRPr sz="1400" b="0" i="0">
                <a:solidFill>
                  <a:schemeClr val="accent1"/>
                </a:solidFill>
                <a:latin typeface="Wallace Sans Light" pitchFamily="2" charset="0"/>
                <a:cs typeface="Wallace Sans Light" pitchFamily="2" charset="0"/>
              </a:defRPr>
            </a:lvl4pPr>
            <a:lvl5pPr>
              <a:defRPr sz="1400" b="0" i="0">
                <a:solidFill>
                  <a:schemeClr val="accent1"/>
                </a:solidFill>
                <a:latin typeface="Wallace Sans Light" pitchFamily="2" charset="0"/>
                <a:cs typeface="Wallace Sans Light" pitchFamily="2" charset="0"/>
              </a:defRPr>
            </a:lvl5pPr>
          </a:lstStyle>
          <a:p>
            <a:pPr lvl="0"/>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a:t>
            </a:r>
            <a:br>
              <a:rPr lang="en-US"/>
            </a:br>
            <a:r>
              <a:rPr lang="en-US"/>
              <a:t>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 </a:t>
            </a:r>
            <a:r>
              <a:rPr lang="en-US" err="1"/>
              <a:t>consectetuer</a:t>
            </a:r>
            <a:r>
              <a:rPr lang="en-US"/>
              <a:t> </a:t>
            </a:r>
            <a:r>
              <a:rPr lang="en-US" err="1"/>
              <a:t>adipiscing</a:t>
            </a:r>
            <a:r>
              <a:rPr lang="en-US"/>
              <a:t>.</a:t>
            </a:r>
          </a:p>
          <a:p>
            <a:pPr lvl="0"/>
            <a:endParaRPr lang="en-US"/>
          </a:p>
        </p:txBody>
      </p:sp>
    </p:spTree>
    <p:extLst>
      <p:ext uri="{BB962C8B-B14F-4D97-AF65-F5344CB8AC3E}">
        <p14:creationId xmlns:p14="http://schemas.microsoft.com/office/powerpoint/2010/main" val="39412142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slide (2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4" name="Text Placeholder 14">
            <a:extLst>
              <a:ext uri="{FF2B5EF4-FFF2-40B4-BE49-F238E27FC236}">
                <a16:creationId xmlns:a16="http://schemas.microsoft.com/office/drawing/2014/main" id="{0F20DDD9-BF31-D12A-332D-740BFD488649}"/>
              </a:ext>
            </a:extLst>
          </p:cNvPr>
          <p:cNvSpPr>
            <a:spLocks noGrp="1"/>
          </p:cNvSpPr>
          <p:nvPr>
            <p:ph type="body" sz="quarter" idx="15" hasCustomPrompt="1"/>
          </p:nvPr>
        </p:nvSpPr>
        <p:spPr>
          <a:xfrm>
            <a:off x="625882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5" name="Text Placeholder 16">
            <a:extLst>
              <a:ext uri="{FF2B5EF4-FFF2-40B4-BE49-F238E27FC236}">
                <a16:creationId xmlns:a16="http://schemas.microsoft.com/office/drawing/2014/main" id="{0680F992-D440-5AF8-F287-CE0895EA2C79}"/>
              </a:ext>
            </a:extLst>
          </p:cNvPr>
          <p:cNvSpPr>
            <a:spLocks noGrp="1"/>
          </p:cNvSpPr>
          <p:nvPr>
            <p:ph type="body" sz="quarter" idx="16" hasCustomPrompt="1"/>
          </p:nvPr>
        </p:nvSpPr>
        <p:spPr>
          <a:xfrm>
            <a:off x="625882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6" name="Text Placeholder 14">
            <a:extLst>
              <a:ext uri="{FF2B5EF4-FFF2-40B4-BE49-F238E27FC236}">
                <a16:creationId xmlns:a16="http://schemas.microsoft.com/office/drawing/2014/main" id="{874B9511-FA86-33AC-5187-E7CC31E74596}"/>
              </a:ext>
            </a:extLst>
          </p:cNvPr>
          <p:cNvSpPr>
            <a:spLocks noGrp="1"/>
          </p:cNvSpPr>
          <p:nvPr>
            <p:ph type="body" sz="quarter" idx="17" hasCustomPrompt="1"/>
          </p:nvPr>
        </p:nvSpPr>
        <p:spPr>
          <a:xfrm>
            <a:off x="51079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7" name="Text Placeholder 16">
            <a:extLst>
              <a:ext uri="{FF2B5EF4-FFF2-40B4-BE49-F238E27FC236}">
                <a16:creationId xmlns:a16="http://schemas.microsoft.com/office/drawing/2014/main" id="{375139D7-DBE0-6187-8F25-613D8B020B15}"/>
              </a:ext>
            </a:extLst>
          </p:cNvPr>
          <p:cNvSpPr>
            <a:spLocks noGrp="1"/>
          </p:cNvSpPr>
          <p:nvPr>
            <p:ph type="body" sz="quarter" idx="18" hasCustomPrompt="1"/>
          </p:nvPr>
        </p:nvSpPr>
        <p:spPr>
          <a:xfrm>
            <a:off x="51079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8" name="Text Placeholder 14">
            <a:extLst>
              <a:ext uri="{FF2B5EF4-FFF2-40B4-BE49-F238E27FC236}">
                <a16:creationId xmlns:a16="http://schemas.microsoft.com/office/drawing/2014/main" id="{C9BC4AEC-D211-A149-202D-0F72DC5AB290}"/>
              </a:ext>
            </a:extLst>
          </p:cNvPr>
          <p:cNvSpPr>
            <a:spLocks noGrp="1"/>
          </p:cNvSpPr>
          <p:nvPr>
            <p:ph type="body" sz="quarter" idx="19" hasCustomPrompt="1"/>
          </p:nvPr>
        </p:nvSpPr>
        <p:spPr>
          <a:xfrm>
            <a:off x="625882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9" name="Text Placeholder 16">
            <a:extLst>
              <a:ext uri="{FF2B5EF4-FFF2-40B4-BE49-F238E27FC236}">
                <a16:creationId xmlns:a16="http://schemas.microsoft.com/office/drawing/2014/main" id="{B001BD70-F1AE-B2F1-CB6E-625A254AA0D1}"/>
              </a:ext>
            </a:extLst>
          </p:cNvPr>
          <p:cNvSpPr>
            <a:spLocks noGrp="1"/>
          </p:cNvSpPr>
          <p:nvPr>
            <p:ph type="body" sz="quarter" idx="20" hasCustomPrompt="1"/>
          </p:nvPr>
        </p:nvSpPr>
        <p:spPr>
          <a:xfrm>
            <a:off x="625882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43EF3EA2-8FEA-A2DC-F92A-92E50D755ADF}"/>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5300563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Content slide (2 column, 2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4" name="Text Placeholder 14">
            <a:extLst>
              <a:ext uri="{FF2B5EF4-FFF2-40B4-BE49-F238E27FC236}">
                <a16:creationId xmlns:a16="http://schemas.microsoft.com/office/drawing/2014/main" id="{0F20DDD9-BF31-D12A-332D-740BFD488649}"/>
              </a:ext>
            </a:extLst>
          </p:cNvPr>
          <p:cNvSpPr>
            <a:spLocks noGrp="1"/>
          </p:cNvSpPr>
          <p:nvPr>
            <p:ph type="body" sz="quarter" idx="15" hasCustomPrompt="1"/>
          </p:nvPr>
        </p:nvSpPr>
        <p:spPr>
          <a:xfrm>
            <a:off x="6258820" y="189121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5" name="Text Placeholder 16">
            <a:extLst>
              <a:ext uri="{FF2B5EF4-FFF2-40B4-BE49-F238E27FC236}">
                <a16:creationId xmlns:a16="http://schemas.microsoft.com/office/drawing/2014/main" id="{0680F992-D440-5AF8-F287-CE0895EA2C79}"/>
              </a:ext>
            </a:extLst>
          </p:cNvPr>
          <p:cNvSpPr>
            <a:spLocks noGrp="1"/>
          </p:cNvSpPr>
          <p:nvPr>
            <p:ph type="body" sz="quarter" idx="16" hasCustomPrompt="1"/>
          </p:nvPr>
        </p:nvSpPr>
        <p:spPr>
          <a:xfrm>
            <a:off x="6258820" y="2249723"/>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6" name="Text Placeholder 14">
            <a:extLst>
              <a:ext uri="{FF2B5EF4-FFF2-40B4-BE49-F238E27FC236}">
                <a16:creationId xmlns:a16="http://schemas.microsoft.com/office/drawing/2014/main" id="{874B9511-FA86-33AC-5187-E7CC31E74596}"/>
              </a:ext>
            </a:extLst>
          </p:cNvPr>
          <p:cNvSpPr>
            <a:spLocks noGrp="1"/>
          </p:cNvSpPr>
          <p:nvPr>
            <p:ph type="body" sz="quarter" idx="17" hasCustomPrompt="1"/>
          </p:nvPr>
        </p:nvSpPr>
        <p:spPr>
          <a:xfrm>
            <a:off x="51079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7" name="Text Placeholder 16">
            <a:extLst>
              <a:ext uri="{FF2B5EF4-FFF2-40B4-BE49-F238E27FC236}">
                <a16:creationId xmlns:a16="http://schemas.microsoft.com/office/drawing/2014/main" id="{375139D7-DBE0-6187-8F25-613D8B020B15}"/>
              </a:ext>
            </a:extLst>
          </p:cNvPr>
          <p:cNvSpPr>
            <a:spLocks noGrp="1"/>
          </p:cNvSpPr>
          <p:nvPr>
            <p:ph type="body" sz="quarter" idx="18" hasCustomPrompt="1"/>
          </p:nvPr>
        </p:nvSpPr>
        <p:spPr>
          <a:xfrm>
            <a:off x="51079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38" name="Text Placeholder 14">
            <a:extLst>
              <a:ext uri="{FF2B5EF4-FFF2-40B4-BE49-F238E27FC236}">
                <a16:creationId xmlns:a16="http://schemas.microsoft.com/office/drawing/2014/main" id="{C9BC4AEC-D211-A149-202D-0F72DC5AB290}"/>
              </a:ext>
            </a:extLst>
          </p:cNvPr>
          <p:cNvSpPr>
            <a:spLocks noGrp="1"/>
          </p:cNvSpPr>
          <p:nvPr>
            <p:ph type="body" sz="quarter" idx="19" hasCustomPrompt="1"/>
          </p:nvPr>
        </p:nvSpPr>
        <p:spPr>
          <a:xfrm>
            <a:off x="6258820" y="3601966"/>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9" name="Text Placeholder 16">
            <a:extLst>
              <a:ext uri="{FF2B5EF4-FFF2-40B4-BE49-F238E27FC236}">
                <a16:creationId xmlns:a16="http://schemas.microsoft.com/office/drawing/2014/main" id="{B001BD70-F1AE-B2F1-CB6E-625A254AA0D1}"/>
              </a:ext>
            </a:extLst>
          </p:cNvPr>
          <p:cNvSpPr>
            <a:spLocks noGrp="1"/>
          </p:cNvSpPr>
          <p:nvPr>
            <p:ph type="body" sz="quarter" idx="20" hasCustomPrompt="1"/>
          </p:nvPr>
        </p:nvSpPr>
        <p:spPr>
          <a:xfrm>
            <a:off x="6258820" y="3960479"/>
            <a:ext cx="5422392" cy="978408"/>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exerci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tation</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ullamcorper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suscipit</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43EF3EA2-8FEA-A2DC-F92A-92E50D755ADF}"/>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5517316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slide (2 column, 2 rows, cells)">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65AF7325-CD2C-6106-ABA4-7DCBC8EA2AD0}"/>
              </a:ext>
            </a:extLst>
          </p:cNvPr>
          <p:cNvSpPr/>
          <p:nvPr userDrawn="1"/>
        </p:nvSpPr>
        <p:spPr>
          <a:xfrm>
            <a:off x="6272138" y="1933572"/>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13">
            <a:extLst>
              <a:ext uri="{FF2B5EF4-FFF2-40B4-BE49-F238E27FC236}">
                <a16:creationId xmlns:a16="http://schemas.microsoft.com/office/drawing/2014/main" id="{F8205AB5-A480-82A2-2135-5A8A7E9424AC}"/>
              </a:ext>
            </a:extLst>
          </p:cNvPr>
          <p:cNvSpPr/>
          <p:nvPr userDrawn="1"/>
        </p:nvSpPr>
        <p:spPr>
          <a:xfrm>
            <a:off x="6272138" y="3933061"/>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6AEDA893-9E40-C4FE-B269-27C5E7607797}"/>
              </a:ext>
            </a:extLst>
          </p:cNvPr>
          <p:cNvSpPr/>
          <p:nvPr userDrawn="1"/>
        </p:nvSpPr>
        <p:spPr>
          <a:xfrm>
            <a:off x="514348" y="1933572"/>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B9BFA13D-47A3-8984-7743-92B597F7D5F3}"/>
              </a:ext>
            </a:extLst>
          </p:cNvPr>
          <p:cNvSpPr/>
          <p:nvPr userDrawn="1"/>
        </p:nvSpPr>
        <p:spPr>
          <a:xfrm>
            <a:off x="514348" y="3933061"/>
            <a:ext cx="5400630" cy="1636788"/>
          </a:xfrm>
          <a:custGeom>
            <a:avLst/>
            <a:gdLst>
              <a:gd name="connsiteX0" fmla="*/ 0 w 5400630"/>
              <a:gd name="connsiteY0" fmla="*/ 0 h 1636788"/>
              <a:gd name="connsiteX1" fmla="*/ 1419550 w 5400630"/>
              <a:gd name="connsiteY1" fmla="*/ 0 h 1636788"/>
              <a:gd name="connsiteX2" fmla="*/ 1419550 w 5400630"/>
              <a:gd name="connsiteY2" fmla="*/ 1 h 1636788"/>
              <a:gd name="connsiteX3" fmla="*/ 1529371 w 5400630"/>
              <a:gd name="connsiteY3" fmla="*/ 1 h 1636788"/>
              <a:gd name="connsiteX4" fmla="*/ 2391220 w 5400630"/>
              <a:gd name="connsiteY4" fmla="*/ 1 h 1636788"/>
              <a:gd name="connsiteX5" fmla="*/ 2849278 w 5400630"/>
              <a:gd name="connsiteY5" fmla="*/ 1 h 1636788"/>
              <a:gd name="connsiteX6" fmla="*/ 3332753 w 5400630"/>
              <a:gd name="connsiteY6" fmla="*/ 1 h 1636788"/>
              <a:gd name="connsiteX7" fmla="*/ 3515827 w 5400630"/>
              <a:gd name="connsiteY7" fmla="*/ 1 h 1636788"/>
              <a:gd name="connsiteX8" fmla="*/ 4194602 w 5400630"/>
              <a:gd name="connsiteY8" fmla="*/ 1 h 1636788"/>
              <a:gd name="connsiteX9" fmla="*/ 5319209 w 5400630"/>
              <a:gd name="connsiteY9" fmla="*/ 1 h 1636788"/>
              <a:gd name="connsiteX10" fmla="*/ 5400630 w 5400630"/>
              <a:gd name="connsiteY10" fmla="*/ 81422 h 1636788"/>
              <a:gd name="connsiteX11" fmla="*/ 5400630 w 5400630"/>
              <a:gd name="connsiteY11" fmla="*/ 334644 h 1636788"/>
              <a:gd name="connsiteX12" fmla="*/ 5400630 w 5400630"/>
              <a:gd name="connsiteY12" fmla="*/ 545133 h 1636788"/>
              <a:gd name="connsiteX13" fmla="*/ 5400630 w 5400630"/>
              <a:gd name="connsiteY13" fmla="*/ 798355 h 1636788"/>
              <a:gd name="connsiteX14" fmla="*/ 5400630 w 5400630"/>
              <a:gd name="connsiteY14" fmla="*/ 838434 h 1636788"/>
              <a:gd name="connsiteX15" fmla="*/ 5400630 w 5400630"/>
              <a:gd name="connsiteY15" fmla="*/ 1091656 h 1636788"/>
              <a:gd name="connsiteX16" fmla="*/ 5400630 w 5400630"/>
              <a:gd name="connsiteY16" fmla="*/ 1302145 h 1636788"/>
              <a:gd name="connsiteX17" fmla="*/ 5400630 w 5400630"/>
              <a:gd name="connsiteY17" fmla="*/ 1555367 h 1636788"/>
              <a:gd name="connsiteX18" fmla="*/ 5319209 w 5400630"/>
              <a:gd name="connsiteY18" fmla="*/ 1636788 h 1636788"/>
              <a:gd name="connsiteX19" fmla="*/ 4194602 w 5400630"/>
              <a:gd name="connsiteY19" fmla="*/ 1636788 h 1636788"/>
              <a:gd name="connsiteX20" fmla="*/ 3515827 w 5400630"/>
              <a:gd name="connsiteY20" fmla="*/ 1636788 h 1636788"/>
              <a:gd name="connsiteX21" fmla="*/ 3332753 w 5400630"/>
              <a:gd name="connsiteY21" fmla="*/ 1636788 h 1636788"/>
              <a:gd name="connsiteX22" fmla="*/ 2849278 w 5400630"/>
              <a:gd name="connsiteY22" fmla="*/ 1636788 h 1636788"/>
              <a:gd name="connsiteX23" fmla="*/ 2391220 w 5400630"/>
              <a:gd name="connsiteY23" fmla="*/ 1636788 h 1636788"/>
              <a:gd name="connsiteX24" fmla="*/ 1884803 w 5400630"/>
              <a:gd name="connsiteY24" fmla="*/ 1636788 h 1636788"/>
              <a:gd name="connsiteX25" fmla="*/ 1529371 w 5400630"/>
              <a:gd name="connsiteY25" fmla="*/ 1636788 h 1636788"/>
              <a:gd name="connsiteX26" fmla="*/ 1045896 w 5400630"/>
              <a:gd name="connsiteY26" fmla="*/ 1636788 h 1636788"/>
              <a:gd name="connsiteX27" fmla="*/ 81421 w 5400630"/>
              <a:gd name="connsiteY27" fmla="*/ 1636788 h 1636788"/>
              <a:gd name="connsiteX28" fmla="*/ 0 w 5400630"/>
              <a:gd name="connsiteY28" fmla="*/ 1555367 h 1636788"/>
              <a:gd name="connsiteX29" fmla="*/ 0 w 5400630"/>
              <a:gd name="connsiteY29" fmla="*/ 1302145 h 1636788"/>
              <a:gd name="connsiteX30" fmla="*/ 0 w 5400630"/>
              <a:gd name="connsiteY30" fmla="*/ 798355 h 1636788"/>
              <a:gd name="connsiteX31" fmla="*/ 0 w 5400630"/>
              <a:gd name="connsiteY31" fmla="*/ 647689 h 1636788"/>
              <a:gd name="connsiteX32" fmla="*/ 0 w 5400630"/>
              <a:gd name="connsiteY32" fmla="*/ 545133 h 1636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5400630" h="1636788">
                <a:moveTo>
                  <a:pt x="0" y="0"/>
                </a:moveTo>
                <a:lnTo>
                  <a:pt x="1419550" y="0"/>
                </a:lnTo>
                <a:lnTo>
                  <a:pt x="1419550" y="1"/>
                </a:lnTo>
                <a:lnTo>
                  <a:pt x="1529371" y="1"/>
                </a:lnTo>
                <a:lnTo>
                  <a:pt x="2391220" y="1"/>
                </a:lnTo>
                <a:lnTo>
                  <a:pt x="2849278" y="1"/>
                </a:lnTo>
                <a:lnTo>
                  <a:pt x="3332753" y="1"/>
                </a:lnTo>
                <a:lnTo>
                  <a:pt x="3515827" y="1"/>
                </a:lnTo>
                <a:lnTo>
                  <a:pt x="4194602" y="1"/>
                </a:lnTo>
                <a:lnTo>
                  <a:pt x="5319209" y="1"/>
                </a:lnTo>
                <a:cubicBezTo>
                  <a:pt x="5364177" y="1"/>
                  <a:pt x="5400630" y="36454"/>
                  <a:pt x="5400630" y="81422"/>
                </a:cubicBezTo>
                <a:lnTo>
                  <a:pt x="5400630" y="334644"/>
                </a:lnTo>
                <a:lnTo>
                  <a:pt x="5400630" y="545133"/>
                </a:lnTo>
                <a:lnTo>
                  <a:pt x="5400630" y="798355"/>
                </a:lnTo>
                <a:lnTo>
                  <a:pt x="5400630" y="838434"/>
                </a:lnTo>
                <a:lnTo>
                  <a:pt x="5400630" y="1091656"/>
                </a:lnTo>
                <a:lnTo>
                  <a:pt x="5400630" y="1302145"/>
                </a:lnTo>
                <a:lnTo>
                  <a:pt x="5400630" y="1555367"/>
                </a:lnTo>
                <a:cubicBezTo>
                  <a:pt x="5400630" y="1600335"/>
                  <a:pt x="5364177" y="1636788"/>
                  <a:pt x="5319209" y="1636788"/>
                </a:cubicBezTo>
                <a:lnTo>
                  <a:pt x="4194602" y="1636788"/>
                </a:lnTo>
                <a:lnTo>
                  <a:pt x="3515827" y="1636788"/>
                </a:lnTo>
                <a:lnTo>
                  <a:pt x="3332753" y="1636788"/>
                </a:lnTo>
                <a:lnTo>
                  <a:pt x="2849278" y="1636788"/>
                </a:lnTo>
                <a:lnTo>
                  <a:pt x="2391220" y="1636788"/>
                </a:lnTo>
                <a:lnTo>
                  <a:pt x="1884803" y="1636788"/>
                </a:lnTo>
                <a:lnTo>
                  <a:pt x="1529371" y="1636788"/>
                </a:lnTo>
                <a:lnTo>
                  <a:pt x="1045896" y="1636788"/>
                </a:lnTo>
                <a:lnTo>
                  <a:pt x="81421" y="1636788"/>
                </a:lnTo>
                <a:cubicBezTo>
                  <a:pt x="36453" y="1636788"/>
                  <a:pt x="0" y="1600335"/>
                  <a:pt x="0" y="1555367"/>
                </a:cubicBezTo>
                <a:lnTo>
                  <a:pt x="0" y="1302145"/>
                </a:lnTo>
                <a:lnTo>
                  <a:pt x="0" y="798355"/>
                </a:lnTo>
                <a:lnTo>
                  <a:pt x="0" y="647689"/>
                </a:lnTo>
                <a:lnTo>
                  <a:pt x="0" y="54513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715846" y="2130946"/>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5540" y="2369620"/>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10" name="Text Placeholder 12">
            <a:extLst>
              <a:ext uri="{FF2B5EF4-FFF2-40B4-BE49-F238E27FC236}">
                <a16:creationId xmlns:a16="http://schemas.microsoft.com/office/drawing/2014/main" id="{819A2F45-741B-DDE3-75BE-692E4716B990}"/>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4" name="Text Placeholder 14">
            <a:extLst>
              <a:ext uri="{FF2B5EF4-FFF2-40B4-BE49-F238E27FC236}">
                <a16:creationId xmlns:a16="http://schemas.microsoft.com/office/drawing/2014/main" id="{23FDC932-25B9-6504-6669-64D5188BC109}"/>
              </a:ext>
            </a:extLst>
          </p:cNvPr>
          <p:cNvSpPr>
            <a:spLocks noGrp="1"/>
          </p:cNvSpPr>
          <p:nvPr>
            <p:ph type="body" sz="quarter" idx="15" hasCustomPrompt="1"/>
          </p:nvPr>
        </p:nvSpPr>
        <p:spPr>
          <a:xfrm>
            <a:off x="6474567" y="2130946"/>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5" name="Text Placeholder 16">
            <a:extLst>
              <a:ext uri="{FF2B5EF4-FFF2-40B4-BE49-F238E27FC236}">
                <a16:creationId xmlns:a16="http://schemas.microsoft.com/office/drawing/2014/main" id="{26B946E2-E4B3-1ACF-FBA8-A6E79B823877}"/>
              </a:ext>
            </a:extLst>
          </p:cNvPr>
          <p:cNvSpPr>
            <a:spLocks noGrp="1"/>
          </p:cNvSpPr>
          <p:nvPr>
            <p:ph type="body" sz="quarter" idx="16" hasCustomPrompt="1"/>
          </p:nvPr>
        </p:nvSpPr>
        <p:spPr>
          <a:xfrm>
            <a:off x="6474261" y="2369620"/>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29" name="Text Placeholder 14">
            <a:extLst>
              <a:ext uri="{FF2B5EF4-FFF2-40B4-BE49-F238E27FC236}">
                <a16:creationId xmlns:a16="http://schemas.microsoft.com/office/drawing/2014/main" id="{2695E9E4-2E3B-ECFB-8769-765FA9473030}"/>
              </a:ext>
            </a:extLst>
          </p:cNvPr>
          <p:cNvSpPr>
            <a:spLocks noGrp="1"/>
          </p:cNvSpPr>
          <p:nvPr userDrawn="1">
            <p:ph type="body" sz="quarter" idx="17" hasCustomPrompt="1"/>
          </p:nvPr>
        </p:nvSpPr>
        <p:spPr>
          <a:xfrm>
            <a:off x="715846" y="4130432"/>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0" name="Text Placeholder 16">
            <a:extLst>
              <a:ext uri="{FF2B5EF4-FFF2-40B4-BE49-F238E27FC236}">
                <a16:creationId xmlns:a16="http://schemas.microsoft.com/office/drawing/2014/main" id="{337744EF-EB1B-5E05-CF50-C0223658DC21}"/>
              </a:ext>
            </a:extLst>
          </p:cNvPr>
          <p:cNvSpPr>
            <a:spLocks noGrp="1"/>
          </p:cNvSpPr>
          <p:nvPr userDrawn="1">
            <p:ph type="body" sz="quarter" idx="18" hasCustomPrompt="1"/>
          </p:nvPr>
        </p:nvSpPr>
        <p:spPr>
          <a:xfrm>
            <a:off x="715540" y="4369106"/>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
        <p:nvSpPr>
          <p:cNvPr id="31" name="Text Placeholder 14">
            <a:extLst>
              <a:ext uri="{FF2B5EF4-FFF2-40B4-BE49-F238E27FC236}">
                <a16:creationId xmlns:a16="http://schemas.microsoft.com/office/drawing/2014/main" id="{F015AF8B-1A93-7F20-8174-86583D334FF9}"/>
              </a:ext>
            </a:extLst>
          </p:cNvPr>
          <p:cNvSpPr>
            <a:spLocks noGrp="1"/>
          </p:cNvSpPr>
          <p:nvPr userDrawn="1">
            <p:ph type="body" sz="quarter" idx="19" hasCustomPrompt="1"/>
          </p:nvPr>
        </p:nvSpPr>
        <p:spPr>
          <a:xfrm>
            <a:off x="6474567" y="4130432"/>
            <a:ext cx="4992012"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4" name="Text Placeholder 16">
            <a:extLst>
              <a:ext uri="{FF2B5EF4-FFF2-40B4-BE49-F238E27FC236}">
                <a16:creationId xmlns:a16="http://schemas.microsoft.com/office/drawing/2014/main" id="{3026A166-0B6F-E481-393E-47857B89FCE7}"/>
              </a:ext>
            </a:extLst>
          </p:cNvPr>
          <p:cNvSpPr>
            <a:spLocks noGrp="1"/>
          </p:cNvSpPr>
          <p:nvPr userDrawn="1">
            <p:ph type="body" sz="quarter" idx="20" hasCustomPrompt="1"/>
          </p:nvPr>
        </p:nvSpPr>
        <p:spPr>
          <a:xfrm>
            <a:off x="6474261" y="4369106"/>
            <a:ext cx="4992624"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 Ut </a:t>
            </a:r>
            <a:r>
              <a:rPr lang="en-IN" sz="1400" spc="0" err="1">
                <a:latin typeface="Wallace Sans BETA Light" pitchFamily="2" charset="77"/>
                <a:cs typeface="Wallace Sans BETA Light" pitchFamily="2" charset="77"/>
              </a:rPr>
              <a:t>wisi</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enim</a:t>
            </a:r>
            <a:r>
              <a:rPr lang="en-IN" sz="1400" spc="0">
                <a:latin typeface="Wallace Sans BETA Light" pitchFamily="2" charset="77"/>
                <a:cs typeface="Wallace Sans BETA Light" pitchFamily="2" charset="77"/>
              </a:rPr>
              <a:t> ad minim </a:t>
            </a:r>
            <a:r>
              <a:rPr lang="en-IN" sz="1400" spc="0" err="1">
                <a:latin typeface="Wallace Sans BETA Light" pitchFamily="2" charset="77"/>
                <a:cs typeface="Wallace Sans BETA Light" pitchFamily="2" charset="77"/>
              </a:rPr>
              <a:t>veniam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quis</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nostrud</a:t>
            </a:r>
            <a:r>
              <a:rPr lang="en-IN" sz="1400" spc="0">
                <a:latin typeface="Wallace Sans BETA Light" pitchFamily="2" charset="77"/>
                <a:cs typeface="Wallace Sans BETA Light" pitchFamily="2" charset="77"/>
              </a:rPr>
              <a:t>.</a:t>
            </a:r>
          </a:p>
        </p:txBody>
      </p:sp>
    </p:spTree>
    <p:extLst>
      <p:ext uri="{BB962C8B-B14F-4D97-AF65-F5344CB8AC3E}">
        <p14:creationId xmlns:p14="http://schemas.microsoft.com/office/powerpoint/2010/main" val="186435532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slide (2 column, 2 rows,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0" name="Text Placeholder 12">
            <a:extLst>
              <a:ext uri="{FF2B5EF4-FFF2-40B4-BE49-F238E27FC236}">
                <a16:creationId xmlns:a16="http://schemas.microsoft.com/office/drawing/2014/main" id="{819A2F45-741B-DDE3-75BE-692E4716B990}"/>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 name="Freeform 1">
            <a:extLst>
              <a:ext uri="{FF2B5EF4-FFF2-40B4-BE49-F238E27FC236}">
                <a16:creationId xmlns:a16="http://schemas.microsoft.com/office/drawing/2014/main" id="{E6ABEB9B-EF7A-EE9F-27E5-C75E2BBEE9CD}"/>
              </a:ext>
            </a:extLst>
          </p:cNvPr>
          <p:cNvSpPr/>
          <p:nvPr userDrawn="1"/>
        </p:nvSpPr>
        <p:spPr>
          <a:xfrm>
            <a:off x="6272139" y="4301474"/>
            <a:ext cx="5400629" cy="2047697"/>
          </a:xfrm>
          <a:custGeom>
            <a:avLst/>
            <a:gdLst>
              <a:gd name="csX0" fmla="*/ 0 w 5400629"/>
              <a:gd name="csY0" fmla="*/ 0 h 2047697"/>
              <a:gd name="csX1" fmla="*/ 924383 w 5400629"/>
              <a:gd name="csY1" fmla="*/ 0 h 2047697"/>
              <a:gd name="csX2" fmla="*/ 1966224 w 5400629"/>
              <a:gd name="csY2" fmla="*/ 0 h 2047697"/>
              <a:gd name="csX3" fmla="*/ 2053096 w 5400629"/>
              <a:gd name="csY3" fmla="*/ 0 h 2047697"/>
              <a:gd name="csX4" fmla="*/ 2727765 w 5400629"/>
              <a:gd name="csY4" fmla="*/ 0 h 2047697"/>
              <a:gd name="csX5" fmla="*/ 2896058 w 5400629"/>
              <a:gd name="csY5" fmla="*/ 0 h 2047697"/>
              <a:gd name="csX6" fmla="*/ 3515826 w 5400629"/>
              <a:gd name="csY6" fmla="*/ 0 h 2047697"/>
              <a:gd name="csX7" fmla="*/ 3856478 w 5400629"/>
              <a:gd name="csY7" fmla="*/ 0 h 2047697"/>
              <a:gd name="csX8" fmla="*/ 4699440 w 5400629"/>
              <a:gd name="csY8" fmla="*/ 0 h 2047697"/>
              <a:gd name="csX9" fmla="*/ 5319208 w 5400629"/>
              <a:gd name="csY9" fmla="*/ 0 h 2047697"/>
              <a:gd name="csX10" fmla="*/ 5400629 w 5400629"/>
              <a:gd name="csY10" fmla="*/ 81421 h 2047697"/>
              <a:gd name="csX11" fmla="*/ 5400629 w 5400629"/>
              <a:gd name="csY11" fmla="*/ 162894 h 2047697"/>
              <a:gd name="csX12" fmla="*/ 5400629 w 5400629"/>
              <a:gd name="csY12" fmla="*/ 1884803 h 2047697"/>
              <a:gd name="csX13" fmla="*/ 5400629 w 5400629"/>
              <a:gd name="csY13" fmla="*/ 1966276 h 2047697"/>
              <a:gd name="csX14" fmla="*/ 5319208 w 5400629"/>
              <a:gd name="csY14" fmla="*/ 2047697 h 2047697"/>
              <a:gd name="csX15" fmla="*/ 4699440 w 5400629"/>
              <a:gd name="csY15" fmla="*/ 2047697 h 2047697"/>
              <a:gd name="csX16" fmla="*/ 3856478 w 5400629"/>
              <a:gd name="csY16" fmla="*/ 2047697 h 2047697"/>
              <a:gd name="csX17" fmla="*/ 3515826 w 5400629"/>
              <a:gd name="csY17" fmla="*/ 2047697 h 2047697"/>
              <a:gd name="csX18" fmla="*/ 2896058 w 5400629"/>
              <a:gd name="csY18" fmla="*/ 2047697 h 2047697"/>
              <a:gd name="csX19" fmla="*/ 2727765 w 5400629"/>
              <a:gd name="csY19" fmla="*/ 2047697 h 2047697"/>
              <a:gd name="csX20" fmla="*/ 2053096 w 5400629"/>
              <a:gd name="csY20" fmla="*/ 2047697 h 2047697"/>
              <a:gd name="csX21" fmla="*/ 1966224 w 5400629"/>
              <a:gd name="csY21" fmla="*/ 2047697 h 2047697"/>
              <a:gd name="csX22" fmla="*/ 924383 w 5400629"/>
              <a:gd name="csY22" fmla="*/ 2047697 h 2047697"/>
              <a:gd name="csX23" fmla="*/ 0 w 5400629"/>
              <a:gd name="csY23" fmla="*/ 2047697 h 2047697"/>
              <a:gd name="csX24" fmla="*/ 0 w 5400629"/>
              <a:gd name="csY24" fmla="*/ 1966224 h 2047697"/>
              <a:gd name="csX25" fmla="*/ 0 w 5400629"/>
              <a:gd name="csY25" fmla="*/ 81473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400629" h="2047697">
                <a:moveTo>
                  <a:pt x="0" y="0"/>
                </a:moveTo>
                <a:lnTo>
                  <a:pt x="924383" y="0"/>
                </a:lnTo>
                <a:lnTo>
                  <a:pt x="1966224" y="0"/>
                </a:lnTo>
                <a:lnTo>
                  <a:pt x="2053096" y="0"/>
                </a:lnTo>
                <a:lnTo>
                  <a:pt x="2727765" y="0"/>
                </a:lnTo>
                <a:lnTo>
                  <a:pt x="2896058" y="0"/>
                </a:lnTo>
                <a:lnTo>
                  <a:pt x="3515826" y="0"/>
                </a:lnTo>
                <a:lnTo>
                  <a:pt x="3856478" y="0"/>
                </a:lnTo>
                <a:lnTo>
                  <a:pt x="4699440" y="0"/>
                </a:lnTo>
                <a:lnTo>
                  <a:pt x="5319208" y="0"/>
                </a:lnTo>
                <a:cubicBezTo>
                  <a:pt x="5364176" y="0"/>
                  <a:pt x="5400629" y="36453"/>
                  <a:pt x="5400629" y="81421"/>
                </a:cubicBezTo>
                <a:lnTo>
                  <a:pt x="5400629" y="162894"/>
                </a:lnTo>
                <a:lnTo>
                  <a:pt x="5400629" y="1884803"/>
                </a:lnTo>
                <a:lnTo>
                  <a:pt x="5400629" y="1966276"/>
                </a:lnTo>
                <a:cubicBezTo>
                  <a:pt x="5400629" y="2011244"/>
                  <a:pt x="5364176" y="2047697"/>
                  <a:pt x="5319208" y="2047697"/>
                </a:cubicBezTo>
                <a:lnTo>
                  <a:pt x="4699440" y="2047697"/>
                </a:lnTo>
                <a:lnTo>
                  <a:pt x="3856478" y="2047697"/>
                </a:lnTo>
                <a:lnTo>
                  <a:pt x="3515826" y="2047697"/>
                </a:lnTo>
                <a:lnTo>
                  <a:pt x="2896058" y="2047697"/>
                </a:lnTo>
                <a:lnTo>
                  <a:pt x="2727765" y="2047697"/>
                </a:lnTo>
                <a:lnTo>
                  <a:pt x="2053096" y="2047697"/>
                </a:lnTo>
                <a:lnTo>
                  <a:pt x="1966224" y="2047697"/>
                </a:lnTo>
                <a:lnTo>
                  <a:pt x="924383" y="2047697"/>
                </a:lnTo>
                <a:lnTo>
                  <a:pt x="0" y="2047697"/>
                </a:lnTo>
                <a:lnTo>
                  <a:pt x="0" y="1966224"/>
                </a:lnTo>
                <a:lnTo>
                  <a:pt x="0" y="8147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Freeform 2">
            <a:extLst>
              <a:ext uri="{FF2B5EF4-FFF2-40B4-BE49-F238E27FC236}">
                <a16:creationId xmlns:a16="http://schemas.microsoft.com/office/drawing/2014/main" id="{A3518DA7-015A-D0C3-5772-8A630C66EF3A}"/>
              </a:ext>
            </a:extLst>
          </p:cNvPr>
          <p:cNvSpPr/>
          <p:nvPr userDrawn="1"/>
        </p:nvSpPr>
        <p:spPr>
          <a:xfrm>
            <a:off x="514347" y="4301474"/>
            <a:ext cx="5400629" cy="2047697"/>
          </a:xfrm>
          <a:custGeom>
            <a:avLst/>
            <a:gdLst>
              <a:gd name="csX0" fmla="*/ 0 w 5400629"/>
              <a:gd name="csY0" fmla="*/ 0 h 2047697"/>
              <a:gd name="csX1" fmla="*/ 924383 w 5400629"/>
              <a:gd name="csY1" fmla="*/ 0 h 2047697"/>
              <a:gd name="csX2" fmla="*/ 1966224 w 5400629"/>
              <a:gd name="csY2" fmla="*/ 0 h 2047697"/>
              <a:gd name="csX3" fmla="*/ 2053096 w 5400629"/>
              <a:gd name="csY3" fmla="*/ 0 h 2047697"/>
              <a:gd name="csX4" fmla="*/ 2727765 w 5400629"/>
              <a:gd name="csY4" fmla="*/ 0 h 2047697"/>
              <a:gd name="csX5" fmla="*/ 2896058 w 5400629"/>
              <a:gd name="csY5" fmla="*/ 0 h 2047697"/>
              <a:gd name="csX6" fmla="*/ 3515826 w 5400629"/>
              <a:gd name="csY6" fmla="*/ 0 h 2047697"/>
              <a:gd name="csX7" fmla="*/ 3856478 w 5400629"/>
              <a:gd name="csY7" fmla="*/ 0 h 2047697"/>
              <a:gd name="csX8" fmla="*/ 4699440 w 5400629"/>
              <a:gd name="csY8" fmla="*/ 0 h 2047697"/>
              <a:gd name="csX9" fmla="*/ 5319208 w 5400629"/>
              <a:gd name="csY9" fmla="*/ 0 h 2047697"/>
              <a:gd name="csX10" fmla="*/ 5400629 w 5400629"/>
              <a:gd name="csY10" fmla="*/ 81421 h 2047697"/>
              <a:gd name="csX11" fmla="*/ 5400629 w 5400629"/>
              <a:gd name="csY11" fmla="*/ 162894 h 2047697"/>
              <a:gd name="csX12" fmla="*/ 5400629 w 5400629"/>
              <a:gd name="csY12" fmla="*/ 1884803 h 2047697"/>
              <a:gd name="csX13" fmla="*/ 5400629 w 5400629"/>
              <a:gd name="csY13" fmla="*/ 1966276 h 2047697"/>
              <a:gd name="csX14" fmla="*/ 5319208 w 5400629"/>
              <a:gd name="csY14" fmla="*/ 2047697 h 2047697"/>
              <a:gd name="csX15" fmla="*/ 4699440 w 5400629"/>
              <a:gd name="csY15" fmla="*/ 2047697 h 2047697"/>
              <a:gd name="csX16" fmla="*/ 3856478 w 5400629"/>
              <a:gd name="csY16" fmla="*/ 2047697 h 2047697"/>
              <a:gd name="csX17" fmla="*/ 3515826 w 5400629"/>
              <a:gd name="csY17" fmla="*/ 2047697 h 2047697"/>
              <a:gd name="csX18" fmla="*/ 2896058 w 5400629"/>
              <a:gd name="csY18" fmla="*/ 2047697 h 2047697"/>
              <a:gd name="csX19" fmla="*/ 2727765 w 5400629"/>
              <a:gd name="csY19" fmla="*/ 2047697 h 2047697"/>
              <a:gd name="csX20" fmla="*/ 2053096 w 5400629"/>
              <a:gd name="csY20" fmla="*/ 2047697 h 2047697"/>
              <a:gd name="csX21" fmla="*/ 1966224 w 5400629"/>
              <a:gd name="csY21" fmla="*/ 2047697 h 2047697"/>
              <a:gd name="csX22" fmla="*/ 924383 w 5400629"/>
              <a:gd name="csY22" fmla="*/ 2047697 h 2047697"/>
              <a:gd name="csX23" fmla="*/ 0 w 5400629"/>
              <a:gd name="csY23" fmla="*/ 2047697 h 2047697"/>
              <a:gd name="csX24" fmla="*/ 0 w 5400629"/>
              <a:gd name="csY24" fmla="*/ 1966224 h 2047697"/>
              <a:gd name="csX25" fmla="*/ 0 w 5400629"/>
              <a:gd name="csY25" fmla="*/ 81473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5400629" h="2047697">
                <a:moveTo>
                  <a:pt x="0" y="0"/>
                </a:moveTo>
                <a:lnTo>
                  <a:pt x="924383" y="0"/>
                </a:lnTo>
                <a:lnTo>
                  <a:pt x="1966224" y="0"/>
                </a:lnTo>
                <a:lnTo>
                  <a:pt x="2053096" y="0"/>
                </a:lnTo>
                <a:lnTo>
                  <a:pt x="2727765" y="0"/>
                </a:lnTo>
                <a:lnTo>
                  <a:pt x="2896058" y="0"/>
                </a:lnTo>
                <a:lnTo>
                  <a:pt x="3515826" y="0"/>
                </a:lnTo>
                <a:lnTo>
                  <a:pt x="3856478" y="0"/>
                </a:lnTo>
                <a:lnTo>
                  <a:pt x="4699440" y="0"/>
                </a:lnTo>
                <a:lnTo>
                  <a:pt x="5319208" y="0"/>
                </a:lnTo>
                <a:cubicBezTo>
                  <a:pt x="5364176" y="0"/>
                  <a:pt x="5400629" y="36453"/>
                  <a:pt x="5400629" y="81421"/>
                </a:cubicBezTo>
                <a:lnTo>
                  <a:pt x="5400629" y="162894"/>
                </a:lnTo>
                <a:lnTo>
                  <a:pt x="5400629" y="1884803"/>
                </a:lnTo>
                <a:lnTo>
                  <a:pt x="5400629" y="1966276"/>
                </a:lnTo>
                <a:cubicBezTo>
                  <a:pt x="5400629" y="2011244"/>
                  <a:pt x="5364176" y="2047697"/>
                  <a:pt x="5319208" y="2047697"/>
                </a:cubicBezTo>
                <a:lnTo>
                  <a:pt x="4699440" y="2047697"/>
                </a:lnTo>
                <a:lnTo>
                  <a:pt x="3856478" y="2047697"/>
                </a:lnTo>
                <a:lnTo>
                  <a:pt x="3515826" y="2047697"/>
                </a:lnTo>
                <a:lnTo>
                  <a:pt x="2896058" y="2047697"/>
                </a:lnTo>
                <a:lnTo>
                  <a:pt x="2727765" y="2047697"/>
                </a:lnTo>
                <a:lnTo>
                  <a:pt x="2053096" y="2047697"/>
                </a:lnTo>
                <a:lnTo>
                  <a:pt x="1966224" y="2047697"/>
                </a:lnTo>
                <a:lnTo>
                  <a:pt x="924383" y="2047697"/>
                </a:lnTo>
                <a:lnTo>
                  <a:pt x="0" y="2047697"/>
                </a:lnTo>
                <a:lnTo>
                  <a:pt x="0" y="1966224"/>
                </a:lnTo>
                <a:lnTo>
                  <a:pt x="0" y="81473"/>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524765E6-3B91-1E55-E0CE-29359A9B1A23}"/>
              </a:ext>
            </a:extLst>
          </p:cNvPr>
          <p:cNvSpPr/>
          <p:nvPr userDrawn="1"/>
        </p:nvSpPr>
        <p:spPr>
          <a:xfrm>
            <a:off x="514347" y="1933574"/>
            <a:ext cx="5400629"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5B184062-C021-D176-2644-40F9143B0B7F}"/>
              </a:ext>
            </a:extLst>
          </p:cNvPr>
          <p:cNvSpPr/>
          <p:nvPr userDrawn="1"/>
        </p:nvSpPr>
        <p:spPr>
          <a:xfrm>
            <a:off x="6272139" y="1933574"/>
            <a:ext cx="5400629"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715846" y="2130946"/>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5846" y="2369620"/>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21" name="Text Placeholder 14">
            <a:extLst>
              <a:ext uri="{FF2B5EF4-FFF2-40B4-BE49-F238E27FC236}">
                <a16:creationId xmlns:a16="http://schemas.microsoft.com/office/drawing/2014/main" id="{480468D0-268B-AFF1-BB33-454EF584F24E}"/>
              </a:ext>
            </a:extLst>
          </p:cNvPr>
          <p:cNvSpPr>
            <a:spLocks noGrp="1"/>
          </p:cNvSpPr>
          <p:nvPr>
            <p:ph type="body" sz="quarter" idx="15" hasCustomPrompt="1"/>
          </p:nvPr>
        </p:nvSpPr>
        <p:spPr>
          <a:xfrm>
            <a:off x="6474556" y="2130946"/>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2" name="Text Placeholder 16">
            <a:extLst>
              <a:ext uri="{FF2B5EF4-FFF2-40B4-BE49-F238E27FC236}">
                <a16:creationId xmlns:a16="http://schemas.microsoft.com/office/drawing/2014/main" id="{8E2C4FED-CA7A-63E4-C78A-115A6FA747A6}"/>
              </a:ext>
            </a:extLst>
          </p:cNvPr>
          <p:cNvSpPr>
            <a:spLocks noGrp="1"/>
          </p:cNvSpPr>
          <p:nvPr>
            <p:ph type="body" sz="quarter" idx="16" hasCustomPrompt="1"/>
          </p:nvPr>
        </p:nvSpPr>
        <p:spPr>
          <a:xfrm>
            <a:off x="6473944" y="2369620"/>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27" name="Text Placeholder 14">
            <a:extLst>
              <a:ext uri="{FF2B5EF4-FFF2-40B4-BE49-F238E27FC236}">
                <a16:creationId xmlns:a16="http://schemas.microsoft.com/office/drawing/2014/main" id="{6EF2CCD5-7B7D-D463-8777-D22BB5920730}"/>
              </a:ext>
            </a:extLst>
          </p:cNvPr>
          <p:cNvSpPr>
            <a:spLocks noGrp="1"/>
          </p:cNvSpPr>
          <p:nvPr>
            <p:ph type="body" sz="quarter" idx="17" hasCustomPrompt="1"/>
          </p:nvPr>
        </p:nvSpPr>
        <p:spPr>
          <a:xfrm>
            <a:off x="715846" y="4499784"/>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28" name="Text Placeholder 16">
            <a:extLst>
              <a:ext uri="{FF2B5EF4-FFF2-40B4-BE49-F238E27FC236}">
                <a16:creationId xmlns:a16="http://schemas.microsoft.com/office/drawing/2014/main" id="{9A78F3DC-27B1-5BB4-B17B-656907E400C9}"/>
              </a:ext>
            </a:extLst>
          </p:cNvPr>
          <p:cNvSpPr>
            <a:spLocks noGrp="1"/>
          </p:cNvSpPr>
          <p:nvPr>
            <p:ph type="body" sz="quarter" idx="18" hasCustomPrompt="1"/>
          </p:nvPr>
        </p:nvSpPr>
        <p:spPr>
          <a:xfrm>
            <a:off x="715846" y="4738458"/>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
        <p:nvSpPr>
          <p:cNvPr id="35" name="Text Placeholder 14">
            <a:extLst>
              <a:ext uri="{FF2B5EF4-FFF2-40B4-BE49-F238E27FC236}">
                <a16:creationId xmlns:a16="http://schemas.microsoft.com/office/drawing/2014/main" id="{85DB69AF-B174-81E3-7024-347D55BBDC4F}"/>
              </a:ext>
            </a:extLst>
          </p:cNvPr>
          <p:cNvSpPr>
            <a:spLocks noGrp="1"/>
          </p:cNvSpPr>
          <p:nvPr>
            <p:ph type="body" sz="quarter" idx="19" hasCustomPrompt="1"/>
          </p:nvPr>
        </p:nvSpPr>
        <p:spPr>
          <a:xfrm>
            <a:off x="6474556" y="4499784"/>
            <a:ext cx="499140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pitchFamily="2" charset="77"/>
                <a:ea typeface="+mn-ea"/>
                <a:cs typeface="Wallace Sans BETA" pitchFamily="2" charset="77"/>
              </a:defRPr>
            </a:lvl1pPr>
          </a:lstStyle>
          <a:p>
            <a:pPr lvl="0"/>
            <a:r>
              <a:rPr lang="en-US"/>
              <a:t>Subhead 14 pt size, 1 line only</a:t>
            </a:r>
          </a:p>
        </p:txBody>
      </p:sp>
      <p:sp>
        <p:nvSpPr>
          <p:cNvPr id="36" name="Text Placeholder 16">
            <a:extLst>
              <a:ext uri="{FF2B5EF4-FFF2-40B4-BE49-F238E27FC236}">
                <a16:creationId xmlns:a16="http://schemas.microsoft.com/office/drawing/2014/main" id="{6CE25EC2-4D6E-240A-B85D-D7EF1E8C41D0}"/>
              </a:ext>
            </a:extLst>
          </p:cNvPr>
          <p:cNvSpPr>
            <a:spLocks noGrp="1"/>
          </p:cNvSpPr>
          <p:nvPr>
            <p:ph type="body" sz="quarter" idx="20" hasCustomPrompt="1"/>
          </p:nvPr>
        </p:nvSpPr>
        <p:spPr>
          <a:xfrm>
            <a:off x="6473944" y="4738458"/>
            <a:ext cx="4992012" cy="1009332"/>
          </a:xfrm>
        </p:spPr>
        <p:txBody>
          <a:bodyPr wrap="square">
            <a:no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accent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US"/>
              <a:t>Body copy in Wallace Sans, size 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Ut </a:t>
            </a:r>
            <a:r>
              <a:rPr lang="en-US" err="1"/>
              <a:t>wisi</a:t>
            </a:r>
            <a:r>
              <a:rPr lang="en-US"/>
              <a:t> </a:t>
            </a:r>
            <a:r>
              <a:rPr lang="en-US" err="1"/>
              <a:t>enim</a:t>
            </a:r>
            <a:r>
              <a:rPr lang="en-US"/>
              <a:t> ad minim </a:t>
            </a:r>
            <a:r>
              <a:rPr lang="en-US" err="1"/>
              <a:t>veniam</a:t>
            </a:r>
            <a:r>
              <a:rPr lang="en-US"/>
              <a:t>, </a:t>
            </a:r>
            <a:r>
              <a:rPr lang="en-US" err="1"/>
              <a:t>quis</a:t>
            </a:r>
            <a:r>
              <a:rPr lang="en-US"/>
              <a:t> </a:t>
            </a:r>
            <a:r>
              <a:rPr lang="en-US" err="1"/>
              <a:t>nostrud</a:t>
            </a:r>
            <a:r>
              <a:rPr lang="en-US"/>
              <a:t>.</a:t>
            </a:r>
          </a:p>
        </p:txBody>
      </p:sp>
    </p:spTree>
    <p:extLst>
      <p:ext uri="{BB962C8B-B14F-4D97-AF65-F5344CB8AC3E}">
        <p14:creationId xmlns:p14="http://schemas.microsoft.com/office/powerpoint/2010/main" val="3730097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slide (2 column, 3 row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510791" y="1930120"/>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510791" y="2251873"/>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6" name="Text Placeholder 14">
            <a:extLst>
              <a:ext uri="{FF2B5EF4-FFF2-40B4-BE49-F238E27FC236}">
                <a16:creationId xmlns:a16="http://schemas.microsoft.com/office/drawing/2014/main" id="{427924D3-C995-B0DC-8121-A74AAF8A8678}"/>
              </a:ext>
            </a:extLst>
          </p:cNvPr>
          <p:cNvSpPr>
            <a:spLocks noGrp="1"/>
          </p:cNvSpPr>
          <p:nvPr>
            <p:ph type="body" sz="quarter" idx="15" hasCustomPrompt="1"/>
          </p:nvPr>
        </p:nvSpPr>
        <p:spPr>
          <a:xfrm>
            <a:off x="510791" y="3417726"/>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7" name="Text Placeholder 16">
            <a:extLst>
              <a:ext uri="{FF2B5EF4-FFF2-40B4-BE49-F238E27FC236}">
                <a16:creationId xmlns:a16="http://schemas.microsoft.com/office/drawing/2014/main" id="{9995969B-AAFD-2504-3838-ED7E606ED3F0}"/>
              </a:ext>
            </a:extLst>
          </p:cNvPr>
          <p:cNvSpPr>
            <a:spLocks noGrp="1"/>
          </p:cNvSpPr>
          <p:nvPr>
            <p:ph type="body" sz="quarter" idx="16" hasCustomPrompt="1"/>
          </p:nvPr>
        </p:nvSpPr>
        <p:spPr>
          <a:xfrm>
            <a:off x="510791" y="3739479"/>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8" name="Text Placeholder 14">
            <a:extLst>
              <a:ext uri="{FF2B5EF4-FFF2-40B4-BE49-F238E27FC236}">
                <a16:creationId xmlns:a16="http://schemas.microsoft.com/office/drawing/2014/main" id="{E3646594-128A-9315-DD88-8632726CB555}"/>
              </a:ext>
            </a:extLst>
          </p:cNvPr>
          <p:cNvSpPr>
            <a:spLocks noGrp="1"/>
          </p:cNvSpPr>
          <p:nvPr>
            <p:ph type="body" sz="quarter" idx="17" hasCustomPrompt="1"/>
          </p:nvPr>
        </p:nvSpPr>
        <p:spPr>
          <a:xfrm>
            <a:off x="510791" y="4864395"/>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9" name="Text Placeholder 16">
            <a:extLst>
              <a:ext uri="{FF2B5EF4-FFF2-40B4-BE49-F238E27FC236}">
                <a16:creationId xmlns:a16="http://schemas.microsoft.com/office/drawing/2014/main" id="{2ECA7C6A-3F75-FD65-8FF7-7CE482E2BC91}"/>
              </a:ext>
            </a:extLst>
          </p:cNvPr>
          <p:cNvSpPr>
            <a:spLocks noGrp="1"/>
          </p:cNvSpPr>
          <p:nvPr>
            <p:ph type="body" sz="quarter" idx="18" hasCustomPrompt="1"/>
          </p:nvPr>
        </p:nvSpPr>
        <p:spPr>
          <a:xfrm>
            <a:off x="510791" y="5186148"/>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30" name="Text Placeholder 14">
            <a:extLst>
              <a:ext uri="{FF2B5EF4-FFF2-40B4-BE49-F238E27FC236}">
                <a16:creationId xmlns:a16="http://schemas.microsoft.com/office/drawing/2014/main" id="{CBDCAD5F-3A63-3B77-3AFB-FD619FB692E7}"/>
              </a:ext>
            </a:extLst>
          </p:cNvPr>
          <p:cNvSpPr>
            <a:spLocks noGrp="1"/>
          </p:cNvSpPr>
          <p:nvPr>
            <p:ph type="body" sz="quarter" idx="19" hasCustomPrompt="1"/>
          </p:nvPr>
        </p:nvSpPr>
        <p:spPr>
          <a:xfrm>
            <a:off x="6281103" y="1930120"/>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1" name="Text Placeholder 16">
            <a:extLst>
              <a:ext uri="{FF2B5EF4-FFF2-40B4-BE49-F238E27FC236}">
                <a16:creationId xmlns:a16="http://schemas.microsoft.com/office/drawing/2014/main" id="{2C1BE0E5-0AB1-2E1F-7899-35F7755F5FAD}"/>
              </a:ext>
            </a:extLst>
          </p:cNvPr>
          <p:cNvSpPr>
            <a:spLocks noGrp="1"/>
          </p:cNvSpPr>
          <p:nvPr>
            <p:ph type="body" sz="quarter" idx="20" hasCustomPrompt="1"/>
          </p:nvPr>
        </p:nvSpPr>
        <p:spPr>
          <a:xfrm>
            <a:off x="6281103" y="2251873"/>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40" name="Text Placeholder 14">
            <a:extLst>
              <a:ext uri="{FF2B5EF4-FFF2-40B4-BE49-F238E27FC236}">
                <a16:creationId xmlns:a16="http://schemas.microsoft.com/office/drawing/2014/main" id="{645223BF-D897-EB3A-54A0-2E7DB42BF254}"/>
              </a:ext>
            </a:extLst>
          </p:cNvPr>
          <p:cNvSpPr>
            <a:spLocks noGrp="1"/>
          </p:cNvSpPr>
          <p:nvPr>
            <p:ph type="body" sz="quarter" idx="21" hasCustomPrompt="1"/>
          </p:nvPr>
        </p:nvSpPr>
        <p:spPr>
          <a:xfrm>
            <a:off x="6281103" y="3417726"/>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41" name="Text Placeholder 16">
            <a:extLst>
              <a:ext uri="{FF2B5EF4-FFF2-40B4-BE49-F238E27FC236}">
                <a16:creationId xmlns:a16="http://schemas.microsoft.com/office/drawing/2014/main" id="{8E221EA3-8707-AEDA-D7CD-4A9B8750B6C0}"/>
              </a:ext>
            </a:extLst>
          </p:cNvPr>
          <p:cNvSpPr>
            <a:spLocks noGrp="1"/>
          </p:cNvSpPr>
          <p:nvPr>
            <p:ph type="body" sz="quarter" idx="22" hasCustomPrompt="1"/>
          </p:nvPr>
        </p:nvSpPr>
        <p:spPr>
          <a:xfrm>
            <a:off x="6281103" y="3739479"/>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42" name="Text Placeholder 14">
            <a:extLst>
              <a:ext uri="{FF2B5EF4-FFF2-40B4-BE49-F238E27FC236}">
                <a16:creationId xmlns:a16="http://schemas.microsoft.com/office/drawing/2014/main" id="{CD6B4054-F662-593E-5629-02EDCCD875C3}"/>
              </a:ext>
            </a:extLst>
          </p:cNvPr>
          <p:cNvSpPr>
            <a:spLocks noGrp="1"/>
          </p:cNvSpPr>
          <p:nvPr>
            <p:ph type="body" sz="quarter" idx="23" hasCustomPrompt="1"/>
          </p:nvPr>
        </p:nvSpPr>
        <p:spPr>
          <a:xfrm>
            <a:off x="6281103" y="4864395"/>
            <a:ext cx="5394960"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43" name="Text Placeholder 16">
            <a:extLst>
              <a:ext uri="{FF2B5EF4-FFF2-40B4-BE49-F238E27FC236}">
                <a16:creationId xmlns:a16="http://schemas.microsoft.com/office/drawing/2014/main" id="{B4628CD5-8543-DE60-B0DA-E98C80285212}"/>
              </a:ext>
            </a:extLst>
          </p:cNvPr>
          <p:cNvSpPr>
            <a:spLocks noGrp="1"/>
          </p:cNvSpPr>
          <p:nvPr>
            <p:ph type="body" sz="quarter" idx="24" hasCustomPrompt="1"/>
          </p:nvPr>
        </p:nvSpPr>
        <p:spPr>
          <a:xfrm>
            <a:off x="6281103" y="5186148"/>
            <a:ext cx="539496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a:t>
            </a: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Tree>
    <p:extLst>
      <p:ext uri="{BB962C8B-B14F-4D97-AF65-F5344CB8AC3E}">
        <p14:creationId xmlns:p14="http://schemas.microsoft.com/office/powerpoint/2010/main" val="32233849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slide (5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 name="Freeform 2">
            <a:extLst>
              <a:ext uri="{FF2B5EF4-FFF2-40B4-BE49-F238E27FC236}">
                <a16:creationId xmlns:a16="http://schemas.microsoft.com/office/drawing/2014/main" id="{2A124330-26F2-C643-D816-76A961A4DC8D}"/>
              </a:ext>
            </a:extLst>
          </p:cNvPr>
          <p:cNvSpPr/>
          <p:nvPr userDrawn="1"/>
        </p:nvSpPr>
        <p:spPr>
          <a:xfrm>
            <a:off x="4340225"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Freeform 3">
            <a:extLst>
              <a:ext uri="{FF2B5EF4-FFF2-40B4-BE49-F238E27FC236}">
                <a16:creationId xmlns:a16="http://schemas.microsoft.com/office/drawing/2014/main" id="{C9BB8F13-6A19-61AB-2B34-F3374E67EDEA}"/>
              </a:ext>
            </a:extLst>
          </p:cNvPr>
          <p:cNvSpPr/>
          <p:nvPr userDrawn="1"/>
        </p:nvSpPr>
        <p:spPr>
          <a:xfrm>
            <a:off x="4340225"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1A3A8261-07F0-318E-7BBA-55F260CF13E1}"/>
              </a:ext>
            </a:extLst>
          </p:cNvPr>
          <p:cNvSpPr/>
          <p:nvPr userDrawn="1"/>
        </p:nvSpPr>
        <p:spPr>
          <a:xfrm>
            <a:off x="514348"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7" name="Freeform 6">
            <a:extLst>
              <a:ext uri="{FF2B5EF4-FFF2-40B4-BE49-F238E27FC236}">
                <a16:creationId xmlns:a16="http://schemas.microsoft.com/office/drawing/2014/main" id="{13F92FD8-E0A4-A8C5-7667-3A308BF04E29}"/>
              </a:ext>
            </a:extLst>
          </p:cNvPr>
          <p:cNvSpPr/>
          <p:nvPr userDrawn="1"/>
        </p:nvSpPr>
        <p:spPr>
          <a:xfrm>
            <a:off x="514348"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97422726-1134-3153-65EA-7946F2A26D00}"/>
              </a:ext>
            </a:extLst>
          </p:cNvPr>
          <p:cNvSpPr/>
          <p:nvPr userDrawn="1"/>
        </p:nvSpPr>
        <p:spPr>
          <a:xfrm>
            <a:off x="8174673"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Text Placeholder 6">
            <a:extLst>
              <a:ext uri="{FF2B5EF4-FFF2-40B4-BE49-F238E27FC236}">
                <a16:creationId xmlns:a16="http://schemas.microsoft.com/office/drawing/2014/main" id="{35CA211E-A654-6E41-AC66-D337870D10CE}"/>
              </a:ext>
            </a:extLst>
          </p:cNvPr>
          <p:cNvSpPr>
            <a:spLocks noGrp="1"/>
          </p:cNvSpPr>
          <p:nvPr>
            <p:ph type="body" sz="quarter" idx="4294967295" hasCustomPrompt="1"/>
          </p:nvPr>
        </p:nvSpPr>
        <p:spPr>
          <a:xfrm>
            <a:off x="8380412" y="5944990"/>
            <a:ext cx="3090672" cy="215444"/>
          </a:xfrm>
        </p:spPr>
        <p:txBody>
          <a:bodyPr anchor="b">
            <a:normAutofit fontScale="92500" lnSpcReduction="10000"/>
          </a:bodyPr>
          <a:lstStyle>
            <a:lvl1pPr>
              <a:defRPr lang="en-US" sz="1400" b="0" i="0" kern="900" dirty="0">
                <a:solidFill>
                  <a:schemeClr val="accent1"/>
                </a:solidFill>
                <a:latin typeface="Wallace Sans BETA" pitchFamily="2" charset="77"/>
                <a:ea typeface="+mn-ea"/>
                <a:cs typeface="Wallace Sans BETA" pitchFamily="2" charset="77"/>
              </a:defRPr>
            </a:lvl1pPr>
          </a:lstStyle>
          <a:p>
            <a:pPr>
              <a:lnSpc>
                <a:spcPct val="100000"/>
              </a:lnSpc>
              <a:spcBef>
                <a:spcPts val="600"/>
              </a:spcBef>
            </a:pPr>
            <a:r>
              <a:rPr lang="en-US" kern="900">
                <a:solidFill>
                  <a:schemeClr val="accent1"/>
                </a:solidFill>
              </a:rPr>
              <a:t>Footnote</a:t>
            </a:r>
          </a:p>
        </p:txBody>
      </p:sp>
      <p:sp>
        <p:nvSpPr>
          <p:cNvPr id="16" name="Text Placeholder 16">
            <a:extLst>
              <a:ext uri="{FF2B5EF4-FFF2-40B4-BE49-F238E27FC236}">
                <a16:creationId xmlns:a16="http://schemas.microsoft.com/office/drawing/2014/main" id="{7046A0D5-ABC2-C11A-4707-64B5ED198B90}"/>
              </a:ext>
            </a:extLst>
          </p:cNvPr>
          <p:cNvSpPr>
            <a:spLocks noGrp="1"/>
          </p:cNvSpPr>
          <p:nvPr>
            <p:ph type="body" sz="quarter" idx="14" hasCustomPrompt="1"/>
          </p:nvPr>
        </p:nvSpPr>
        <p:spPr>
          <a:xfrm>
            <a:off x="719646"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7" name="Text Placeholder 16">
            <a:extLst>
              <a:ext uri="{FF2B5EF4-FFF2-40B4-BE49-F238E27FC236}">
                <a16:creationId xmlns:a16="http://schemas.microsoft.com/office/drawing/2014/main" id="{74B6C3C6-2C39-494E-3B8C-04D968EFD4DE}"/>
              </a:ext>
            </a:extLst>
          </p:cNvPr>
          <p:cNvSpPr>
            <a:spLocks noGrp="1"/>
          </p:cNvSpPr>
          <p:nvPr>
            <p:ph type="body" sz="quarter" idx="15" hasCustomPrompt="1"/>
          </p:nvPr>
        </p:nvSpPr>
        <p:spPr>
          <a:xfrm>
            <a:off x="4545523"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8" name="Text Placeholder 16">
            <a:extLst>
              <a:ext uri="{FF2B5EF4-FFF2-40B4-BE49-F238E27FC236}">
                <a16:creationId xmlns:a16="http://schemas.microsoft.com/office/drawing/2014/main" id="{BFD5BA51-CF57-0FEF-0805-E901039B9E09}"/>
              </a:ext>
            </a:extLst>
          </p:cNvPr>
          <p:cNvSpPr>
            <a:spLocks noGrp="1"/>
          </p:cNvSpPr>
          <p:nvPr>
            <p:ph type="body" sz="quarter" idx="16" hasCustomPrompt="1"/>
          </p:nvPr>
        </p:nvSpPr>
        <p:spPr>
          <a:xfrm>
            <a:off x="8376798"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19" name="Text Placeholder 16">
            <a:extLst>
              <a:ext uri="{FF2B5EF4-FFF2-40B4-BE49-F238E27FC236}">
                <a16:creationId xmlns:a16="http://schemas.microsoft.com/office/drawing/2014/main" id="{174319A8-1BD7-8A7A-37EF-D840D3333F84}"/>
              </a:ext>
            </a:extLst>
          </p:cNvPr>
          <p:cNvSpPr>
            <a:spLocks noGrp="1"/>
          </p:cNvSpPr>
          <p:nvPr>
            <p:ph type="body" sz="quarter" idx="17" hasCustomPrompt="1"/>
          </p:nvPr>
        </p:nvSpPr>
        <p:spPr>
          <a:xfrm>
            <a:off x="719646"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20" name="Text Placeholder 16">
            <a:extLst>
              <a:ext uri="{FF2B5EF4-FFF2-40B4-BE49-F238E27FC236}">
                <a16:creationId xmlns:a16="http://schemas.microsoft.com/office/drawing/2014/main" id="{9A16B3FD-11CB-8677-E43A-83CA101057FE}"/>
              </a:ext>
            </a:extLst>
          </p:cNvPr>
          <p:cNvSpPr>
            <a:spLocks noGrp="1"/>
          </p:cNvSpPr>
          <p:nvPr>
            <p:ph type="body" sz="quarter" idx="18" hasCustomPrompt="1"/>
          </p:nvPr>
        </p:nvSpPr>
        <p:spPr>
          <a:xfrm>
            <a:off x="4545523"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Tree>
    <p:extLst>
      <p:ext uri="{BB962C8B-B14F-4D97-AF65-F5344CB8AC3E}">
        <p14:creationId xmlns:p14="http://schemas.microsoft.com/office/powerpoint/2010/main" val="5494454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slide (6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9" name="Freeform 18">
            <a:extLst>
              <a:ext uri="{FF2B5EF4-FFF2-40B4-BE49-F238E27FC236}">
                <a16:creationId xmlns:a16="http://schemas.microsoft.com/office/drawing/2014/main" id="{BFB627B9-EC5F-C18A-0093-0F9036B26760}"/>
              </a:ext>
            </a:extLst>
          </p:cNvPr>
          <p:cNvSpPr/>
          <p:nvPr userDrawn="1"/>
        </p:nvSpPr>
        <p:spPr>
          <a:xfrm>
            <a:off x="514348"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719646"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37" name="Freeform 36">
            <a:extLst>
              <a:ext uri="{FF2B5EF4-FFF2-40B4-BE49-F238E27FC236}">
                <a16:creationId xmlns:a16="http://schemas.microsoft.com/office/drawing/2014/main" id="{DAB3399C-8287-B90F-0D62-A1DA3C8D7FC4}"/>
              </a:ext>
            </a:extLst>
          </p:cNvPr>
          <p:cNvSpPr/>
          <p:nvPr userDrawn="1"/>
        </p:nvSpPr>
        <p:spPr>
          <a:xfrm>
            <a:off x="4340225"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8" name="Text Placeholder 16">
            <a:extLst>
              <a:ext uri="{FF2B5EF4-FFF2-40B4-BE49-F238E27FC236}">
                <a16:creationId xmlns:a16="http://schemas.microsoft.com/office/drawing/2014/main" id="{48938AEB-3E52-FC0C-5A24-D25A06DC7DAA}"/>
              </a:ext>
            </a:extLst>
          </p:cNvPr>
          <p:cNvSpPr>
            <a:spLocks noGrp="1"/>
          </p:cNvSpPr>
          <p:nvPr>
            <p:ph type="body" sz="quarter" idx="15" hasCustomPrompt="1"/>
          </p:nvPr>
        </p:nvSpPr>
        <p:spPr>
          <a:xfrm>
            <a:off x="4545523"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39" name="Freeform 38">
            <a:extLst>
              <a:ext uri="{FF2B5EF4-FFF2-40B4-BE49-F238E27FC236}">
                <a16:creationId xmlns:a16="http://schemas.microsoft.com/office/drawing/2014/main" id="{522ED615-32E7-C4D1-6C1F-066D2D27D837}"/>
              </a:ext>
            </a:extLst>
          </p:cNvPr>
          <p:cNvSpPr/>
          <p:nvPr userDrawn="1"/>
        </p:nvSpPr>
        <p:spPr>
          <a:xfrm>
            <a:off x="8171500" y="19335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4" name="Text Placeholder 16">
            <a:extLst>
              <a:ext uri="{FF2B5EF4-FFF2-40B4-BE49-F238E27FC236}">
                <a16:creationId xmlns:a16="http://schemas.microsoft.com/office/drawing/2014/main" id="{FA4185E7-E895-B336-51D1-571F852EF341}"/>
              </a:ext>
            </a:extLst>
          </p:cNvPr>
          <p:cNvSpPr>
            <a:spLocks noGrp="1"/>
          </p:cNvSpPr>
          <p:nvPr>
            <p:ph type="body" sz="quarter" idx="16" hasCustomPrompt="1"/>
          </p:nvPr>
        </p:nvSpPr>
        <p:spPr>
          <a:xfrm>
            <a:off x="8376798" y="21427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46" name="Freeform 45">
            <a:extLst>
              <a:ext uri="{FF2B5EF4-FFF2-40B4-BE49-F238E27FC236}">
                <a16:creationId xmlns:a16="http://schemas.microsoft.com/office/drawing/2014/main" id="{37E51AF5-0DF8-5525-48D6-D8046AB3F608}"/>
              </a:ext>
            </a:extLst>
          </p:cNvPr>
          <p:cNvSpPr/>
          <p:nvPr userDrawn="1"/>
        </p:nvSpPr>
        <p:spPr>
          <a:xfrm>
            <a:off x="514348"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Text Placeholder 16">
            <a:extLst>
              <a:ext uri="{FF2B5EF4-FFF2-40B4-BE49-F238E27FC236}">
                <a16:creationId xmlns:a16="http://schemas.microsoft.com/office/drawing/2014/main" id="{BCBF4F5C-2250-1157-CBC4-D12698565114}"/>
              </a:ext>
            </a:extLst>
          </p:cNvPr>
          <p:cNvSpPr>
            <a:spLocks noGrp="1"/>
          </p:cNvSpPr>
          <p:nvPr>
            <p:ph type="body" sz="quarter" idx="17" hasCustomPrompt="1"/>
          </p:nvPr>
        </p:nvSpPr>
        <p:spPr>
          <a:xfrm>
            <a:off x="719646"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48" name="Freeform 47">
            <a:extLst>
              <a:ext uri="{FF2B5EF4-FFF2-40B4-BE49-F238E27FC236}">
                <a16:creationId xmlns:a16="http://schemas.microsoft.com/office/drawing/2014/main" id="{8C71FA80-2F5E-FFF3-2280-6129686618F7}"/>
              </a:ext>
            </a:extLst>
          </p:cNvPr>
          <p:cNvSpPr/>
          <p:nvPr userDrawn="1"/>
        </p:nvSpPr>
        <p:spPr>
          <a:xfrm>
            <a:off x="4340225"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9" name="Text Placeholder 16">
            <a:extLst>
              <a:ext uri="{FF2B5EF4-FFF2-40B4-BE49-F238E27FC236}">
                <a16:creationId xmlns:a16="http://schemas.microsoft.com/office/drawing/2014/main" id="{448CC2C4-C861-531C-4C43-E3AC08F20373}"/>
              </a:ext>
            </a:extLst>
          </p:cNvPr>
          <p:cNvSpPr>
            <a:spLocks noGrp="1"/>
          </p:cNvSpPr>
          <p:nvPr>
            <p:ph type="body" sz="quarter" idx="18" hasCustomPrompt="1"/>
          </p:nvPr>
        </p:nvSpPr>
        <p:spPr>
          <a:xfrm>
            <a:off x="4545523"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
        <p:nvSpPr>
          <p:cNvPr id="50" name="Freeform 49">
            <a:extLst>
              <a:ext uri="{FF2B5EF4-FFF2-40B4-BE49-F238E27FC236}">
                <a16:creationId xmlns:a16="http://schemas.microsoft.com/office/drawing/2014/main" id="{72816219-DDE4-117F-8790-F4F8F66D9413}"/>
              </a:ext>
            </a:extLst>
          </p:cNvPr>
          <p:cNvSpPr/>
          <p:nvPr userDrawn="1"/>
        </p:nvSpPr>
        <p:spPr>
          <a:xfrm>
            <a:off x="8171500" y="4301474"/>
            <a:ext cx="3501268" cy="2047697"/>
          </a:xfrm>
          <a:custGeom>
            <a:avLst/>
            <a:gdLst>
              <a:gd name="csX0" fmla="*/ 0 w 3501268"/>
              <a:gd name="csY0" fmla="*/ 0 h 2047697"/>
              <a:gd name="csX1" fmla="*/ 793505 w 3501268"/>
              <a:gd name="csY1" fmla="*/ 0 h 2047697"/>
              <a:gd name="csX2" fmla="*/ 1616465 w 3501268"/>
              <a:gd name="csY2" fmla="*/ 0 h 2047697"/>
              <a:gd name="csX3" fmla="*/ 1966224 w 3501268"/>
              <a:gd name="csY3" fmla="*/ 0 h 2047697"/>
              <a:gd name="csX4" fmla="*/ 2596887 w 3501268"/>
              <a:gd name="csY4" fmla="*/ 0 h 2047697"/>
              <a:gd name="csX5" fmla="*/ 3419847 w 3501268"/>
              <a:gd name="csY5" fmla="*/ 0 h 2047697"/>
              <a:gd name="csX6" fmla="*/ 3501268 w 3501268"/>
              <a:gd name="csY6" fmla="*/ 81421 h 2047697"/>
              <a:gd name="csX7" fmla="*/ 3501268 w 3501268"/>
              <a:gd name="csY7" fmla="*/ 162894 h 2047697"/>
              <a:gd name="csX8" fmla="*/ 3501268 w 3501268"/>
              <a:gd name="csY8" fmla="*/ 1884803 h 2047697"/>
              <a:gd name="csX9" fmla="*/ 3501268 w 3501268"/>
              <a:gd name="csY9" fmla="*/ 1966276 h 2047697"/>
              <a:gd name="csX10" fmla="*/ 3419847 w 3501268"/>
              <a:gd name="csY10" fmla="*/ 2047697 h 2047697"/>
              <a:gd name="csX11" fmla="*/ 2596887 w 3501268"/>
              <a:gd name="csY11" fmla="*/ 2047697 h 2047697"/>
              <a:gd name="csX12" fmla="*/ 1884803 w 3501268"/>
              <a:gd name="csY12" fmla="*/ 2047697 h 2047697"/>
              <a:gd name="csX13" fmla="*/ 1616465 w 3501268"/>
              <a:gd name="csY13" fmla="*/ 2047697 h 2047697"/>
              <a:gd name="csX14" fmla="*/ 793505 w 3501268"/>
              <a:gd name="csY14" fmla="*/ 2047697 h 2047697"/>
              <a:gd name="csX15" fmla="*/ 81421 w 3501268"/>
              <a:gd name="csY15" fmla="*/ 2047697 h 2047697"/>
              <a:gd name="csX16" fmla="*/ 0 w 3501268"/>
              <a:gd name="csY16" fmla="*/ 1966276 h 2047697"/>
              <a:gd name="csX17" fmla="*/ 0 w 3501268"/>
              <a:gd name="csY17" fmla="*/ 1966224 h 2047697"/>
              <a:gd name="csX18" fmla="*/ 0 w 3501268"/>
              <a:gd name="csY18"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501268" h="2047697">
                <a:moveTo>
                  <a:pt x="0" y="0"/>
                </a:moveTo>
                <a:lnTo>
                  <a:pt x="793505" y="0"/>
                </a:lnTo>
                <a:lnTo>
                  <a:pt x="1616465" y="0"/>
                </a:lnTo>
                <a:lnTo>
                  <a:pt x="1966224" y="0"/>
                </a:lnTo>
                <a:lnTo>
                  <a:pt x="2596887" y="0"/>
                </a:lnTo>
                <a:lnTo>
                  <a:pt x="3419847" y="0"/>
                </a:lnTo>
                <a:cubicBezTo>
                  <a:pt x="3464815" y="0"/>
                  <a:pt x="3501268" y="36453"/>
                  <a:pt x="3501268" y="81421"/>
                </a:cubicBezTo>
                <a:lnTo>
                  <a:pt x="3501268" y="162894"/>
                </a:lnTo>
                <a:lnTo>
                  <a:pt x="3501268" y="1884803"/>
                </a:lnTo>
                <a:lnTo>
                  <a:pt x="3501268" y="1966276"/>
                </a:lnTo>
                <a:cubicBezTo>
                  <a:pt x="3501268" y="2011244"/>
                  <a:pt x="3464815" y="2047697"/>
                  <a:pt x="3419847" y="2047697"/>
                </a:cubicBezTo>
                <a:lnTo>
                  <a:pt x="2596887" y="2047697"/>
                </a:lnTo>
                <a:lnTo>
                  <a:pt x="1884803" y="2047697"/>
                </a:lnTo>
                <a:lnTo>
                  <a:pt x="1616465" y="2047697"/>
                </a:lnTo>
                <a:lnTo>
                  <a:pt x="793505"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1" name="Text Placeholder 16">
            <a:extLst>
              <a:ext uri="{FF2B5EF4-FFF2-40B4-BE49-F238E27FC236}">
                <a16:creationId xmlns:a16="http://schemas.microsoft.com/office/drawing/2014/main" id="{66FEAAB4-B2B7-E51E-36E1-2F97ED86E611}"/>
              </a:ext>
            </a:extLst>
          </p:cNvPr>
          <p:cNvSpPr>
            <a:spLocks noGrp="1"/>
          </p:cNvSpPr>
          <p:nvPr>
            <p:ph type="body" sz="quarter" idx="19" hasCustomPrompt="1"/>
          </p:nvPr>
        </p:nvSpPr>
        <p:spPr>
          <a:xfrm>
            <a:off x="8376798" y="4510640"/>
            <a:ext cx="3090672" cy="1197864"/>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14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r>
              <a:rPr lang="en-IN">
                <a:solidFill>
                  <a:srgbClr val="000075"/>
                </a:solidFill>
              </a:rPr>
              <a:t> </a:t>
            </a:r>
            <a:r>
              <a:rPr lang="en-IN" err="1">
                <a:solidFill>
                  <a:srgbClr val="000075"/>
                </a:solidFill>
              </a:rPr>
              <a:t>tincidunt</a:t>
            </a:r>
            <a:r>
              <a:rPr lang="en-IN">
                <a:solidFill>
                  <a:srgbClr val="000075"/>
                </a:solidFill>
              </a:rPr>
              <a:t> </a:t>
            </a:r>
            <a:r>
              <a:rPr lang="en-IN" err="1">
                <a:solidFill>
                  <a:srgbClr val="000075"/>
                </a:solidFill>
              </a:rPr>
              <a:t>ut</a:t>
            </a:r>
            <a:r>
              <a:rPr lang="en-IN">
                <a:solidFill>
                  <a:srgbClr val="000075"/>
                </a:solidFill>
              </a:rPr>
              <a:t> </a:t>
            </a:r>
            <a:r>
              <a:rPr lang="en-IN" err="1">
                <a:solidFill>
                  <a:srgbClr val="000075"/>
                </a:solidFill>
              </a:rPr>
              <a:t>laoreet</a:t>
            </a:r>
            <a:r>
              <a:rPr lang="en-IN">
                <a:solidFill>
                  <a:srgbClr val="000075"/>
                </a:solidFill>
              </a:rPr>
              <a:t> dolore magna </a:t>
            </a:r>
            <a:r>
              <a:rPr lang="en-IN" err="1">
                <a:solidFill>
                  <a:srgbClr val="000075"/>
                </a:solidFill>
              </a:rPr>
              <a:t>aliquam</a:t>
            </a:r>
            <a:r>
              <a:rPr lang="en-IN">
                <a:solidFill>
                  <a:srgbClr val="000075"/>
                </a:solidFill>
              </a:rPr>
              <a:t> </a:t>
            </a:r>
            <a:r>
              <a:rPr lang="en-IN" err="1">
                <a:solidFill>
                  <a:srgbClr val="000075"/>
                </a:solidFill>
              </a:rPr>
              <a:t>erat</a:t>
            </a:r>
            <a:endParaRPr lang="en-IN">
              <a:solidFill>
                <a:srgbClr val="000075"/>
              </a:solidFill>
            </a:endParaRPr>
          </a:p>
        </p:txBody>
      </p:sp>
    </p:spTree>
    <p:extLst>
      <p:ext uri="{BB962C8B-B14F-4D97-AF65-F5344CB8AC3E}">
        <p14:creationId xmlns:p14="http://schemas.microsoft.com/office/powerpoint/2010/main" val="159986221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slide (8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2" name="Freeform 11">
            <a:extLst>
              <a:ext uri="{FF2B5EF4-FFF2-40B4-BE49-F238E27FC236}">
                <a16:creationId xmlns:a16="http://schemas.microsoft.com/office/drawing/2014/main" id="{DD0FBFB4-5797-1DC6-2153-80DB1BDE3D53}"/>
              </a:ext>
            </a:extLst>
          </p:cNvPr>
          <p:cNvSpPr/>
          <p:nvPr userDrawn="1"/>
        </p:nvSpPr>
        <p:spPr>
          <a:xfrm>
            <a:off x="514348"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 name="Text Placeholder 16">
            <a:extLst>
              <a:ext uri="{FF2B5EF4-FFF2-40B4-BE49-F238E27FC236}">
                <a16:creationId xmlns:a16="http://schemas.microsoft.com/office/drawing/2014/main" id="{2ECA7C6A-3F75-FD65-8FF7-7CE482E2BC91}"/>
              </a:ext>
            </a:extLst>
          </p:cNvPr>
          <p:cNvSpPr>
            <a:spLocks noGrp="1"/>
          </p:cNvSpPr>
          <p:nvPr>
            <p:ph type="body" sz="quarter" idx="18" hasCustomPrompt="1"/>
          </p:nvPr>
        </p:nvSpPr>
        <p:spPr>
          <a:xfrm>
            <a:off x="718693"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1" name="Freeform 20">
            <a:extLst>
              <a:ext uri="{FF2B5EF4-FFF2-40B4-BE49-F238E27FC236}">
                <a16:creationId xmlns:a16="http://schemas.microsoft.com/office/drawing/2014/main" id="{BF270BE2-2812-C271-716A-68C84952B367}"/>
              </a:ext>
            </a:extLst>
          </p:cNvPr>
          <p:cNvSpPr/>
          <p:nvPr userDrawn="1"/>
        </p:nvSpPr>
        <p:spPr>
          <a:xfrm>
            <a:off x="3362863"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2" name="Text Placeholder 16">
            <a:extLst>
              <a:ext uri="{FF2B5EF4-FFF2-40B4-BE49-F238E27FC236}">
                <a16:creationId xmlns:a16="http://schemas.microsoft.com/office/drawing/2014/main" id="{12D30C37-FCEE-A8A0-200F-87E24A44725E}"/>
              </a:ext>
            </a:extLst>
          </p:cNvPr>
          <p:cNvSpPr>
            <a:spLocks noGrp="1"/>
          </p:cNvSpPr>
          <p:nvPr>
            <p:ph type="body" sz="quarter" idx="19" hasCustomPrompt="1"/>
          </p:nvPr>
        </p:nvSpPr>
        <p:spPr>
          <a:xfrm>
            <a:off x="3566924"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3" name="Freeform 22">
            <a:extLst>
              <a:ext uri="{FF2B5EF4-FFF2-40B4-BE49-F238E27FC236}">
                <a16:creationId xmlns:a16="http://schemas.microsoft.com/office/drawing/2014/main" id="{B3FA0B79-9F22-8449-27F7-CDCE82C3B659}"/>
              </a:ext>
            </a:extLst>
          </p:cNvPr>
          <p:cNvSpPr/>
          <p:nvPr userDrawn="1"/>
        </p:nvSpPr>
        <p:spPr>
          <a:xfrm>
            <a:off x="6245547"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Text Placeholder 16">
            <a:extLst>
              <a:ext uri="{FF2B5EF4-FFF2-40B4-BE49-F238E27FC236}">
                <a16:creationId xmlns:a16="http://schemas.microsoft.com/office/drawing/2014/main" id="{06C64F15-6517-AAE9-7D1F-67F4C0CF22A2}"/>
              </a:ext>
            </a:extLst>
          </p:cNvPr>
          <p:cNvSpPr>
            <a:spLocks noGrp="1"/>
          </p:cNvSpPr>
          <p:nvPr>
            <p:ph type="body" sz="quarter" idx="20" hasCustomPrompt="1"/>
          </p:nvPr>
        </p:nvSpPr>
        <p:spPr>
          <a:xfrm>
            <a:off x="6449608"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25" name="Freeform 24">
            <a:extLst>
              <a:ext uri="{FF2B5EF4-FFF2-40B4-BE49-F238E27FC236}">
                <a16:creationId xmlns:a16="http://schemas.microsoft.com/office/drawing/2014/main" id="{C104021F-1903-056A-4525-A8A77A507AC6}"/>
              </a:ext>
            </a:extLst>
          </p:cNvPr>
          <p:cNvSpPr/>
          <p:nvPr userDrawn="1"/>
        </p:nvSpPr>
        <p:spPr>
          <a:xfrm>
            <a:off x="9124949" y="19335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4" name="Text Placeholder 16">
            <a:extLst>
              <a:ext uri="{FF2B5EF4-FFF2-40B4-BE49-F238E27FC236}">
                <a16:creationId xmlns:a16="http://schemas.microsoft.com/office/drawing/2014/main" id="{26C20303-ED32-F41B-B2CB-F03ABE132FF8}"/>
              </a:ext>
            </a:extLst>
          </p:cNvPr>
          <p:cNvSpPr>
            <a:spLocks noGrp="1"/>
          </p:cNvSpPr>
          <p:nvPr>
            <p:ph type="body" sz="quarter" idx="21" hasCustomPrompt="1"/>
          </p:nvPr>
        </p:nvSpPr>
        <p:spPr>
          <a:xfrm>
            <a:off x="9329010" y="21427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36" name="Freeform 35">
            <a:extLst>
              <a:ext uri="{FF2B5EF4-FFF2-40B4-BE49-F238E27FC236}">
                <a16:creationId xmlns:a16="http://schemas.microsoft.com/office/drawing/2014/main" id="{BB7DDE0E-F7EC-898B-0DB8-1C657FC04CBB}"/>
              </a:ext>
            </a:extLst>
          </p:cNvPr>
          <p:cNvSpPr/>
          <p:nvPr userDrawn="1"/>
        </p:nvSpPr>
        <p:spPr>
          <a:xfrm>
            <a:off x="514348"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7" name="Text Placeholder 16">
            <a:extLst>
              <a:ext uri="{FF2B5EF4-FFF2-40B4-BE49-F238E27FC236}">
                <a16:creationId xmlns:a16="http://schemas.microsoft.com/office/drawing/2014/main" id="{E68DC136-3CE8-F55F-4799-9398F201A8E5}"/>
              </a:ext>
            </a:extLst>
          </p:cNvPr>
          <p:cNvSpPr>
            <a:spLocks noGrp="1"/>
          </p:cNvSpPr>
          <p:nvPr>
            <p:ph type="body" sz="quarter" idx="22" hasCustomPrompt="1"/>
          </p:nvPr>
        </p:nvSpPr>
        <p:spPr>
          <a:xfrm>
            <a:off x="718693"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38" name="Freeform 37">
            <a:extLst>
              <a:ext uri="{FF2B5EF4-FFF2-40B4-BE49-F238E27FC236}">
                <a16:creationId xmlns:a16="http://schemas.microsoft.com/office/drawing/2014/main" id="{F9A88785-D099-E7AE-3909-79A43E686DC2}"/>
              </a:ext>
            </a:extLst>
          </p:cNvPr>
          <p:cNvSpPr/>
          <p:nvPr userDrawn="1"/>
        </p:nvSpPr>
        <p:spPr>
          <a:xfrm>
            <a:off x="3362863"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9" name="Text Placeholder 16">
            <a:extLst>
              <a:ext uri="{FF2B5EF4-FFF2-40B4-BE49-F238E27FC236}">
                <a16:creationId xmlns:a16="http://schemas.microsoft.com/office/drawing/2014/main" id="{E870A7C7-DBF6-3075-528A-05396AA7381D}"/>
              </a:ext>
            </a:extLst>
          </p:cNvPr>
          <p:cNvSpPr>
            <a:spLocks noGrp="1"/>
          </p:cNvSpPr>
          <p:nvPr>
            <p:ph type="body" sz="quarter" idx="23" hasCustomPrompt="1"/>
          </p:nvPr>
        </p:nvSpPr>
        <p:spPr>
          <a:xfrm>
            <a:off x="3566924"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44" name="Freeform 43">
            <a:extLst>
              <a:ext uri="{FF2B5EF4-FFF2-40B4-BE49-F238E27FC236}">
                <a16:creationId xmlns:a16="http://schemas.microsoft.com/office/drawing/2014/main" id="{EB05CCB9-1531-8474-14D7-B8B77BD4C398}"/>
              </a:ext>
            </a:extLst>
          </p:cNvPr>
          <p:cNvSpPr/>
          <p:nvPr userDrawn="1"/>
        </p:nvSpPr>
        <p:spPr>
          <a:xfrm>
            <a:off x="6245547"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5" name="Text Placeholder 16">
            <a:extLst>
              <a:ext uri="{FF2B5EF4-FFF2-40B4-BE49-F238E27FC236}">
                <a16:creationId xmlns:a16="http://schemas.microsoft.com/office/drawing/2014/main" id="{52F6FD64-20FD-EA95-93E4-20601743BFDC}"/>
              </a:ext>
            </a:extLst>
          </p:cNvPr>
          <p:cNvSpPr>
            <a:spLocks noGrp="1"/>
          </p:cNvSpPr>
          <p:nvPr>
            <p:ph type="body" sz="quarter" idx="24" hasCustomPrompt="1"/>
          </p:nvPr>
        </p:nvSpPr>
        <p:spPr>
          <a:xfrm>
            <a:off x="6449608"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
        <p:nvSpPr>
          <p:cNvPr id="46" name="Freeform 45">
            <a:extLst>
              <a:ext uri="{FF2B5EF4-FFF2-40B4-BE49-F238E27FC236}">
                <a16:creationId xmlns:a16="http://schemas.microsoft.com/office/drawing/2014/main" id="{35F703ED-A219-4A92-DF34-22CBDB32D1A5}"/>
              </a:ext>
            </a:extLst>
          </p:cNvPr>
          <p:cNvSpPr/>
          <p:nvPr userDrawn="1"/>
        </p:nvSpPr>
        <p:spPr>
          <a:xfrm>
            <a:off x="9124949" y="4301474"/>
            <a:ext cx="2547819" cy="2047697"/>
          </a:xfrm>
          <a:custGeom>
            <a:avLst/>
            <a:gdLst>
              <a:gd name="csX0" fmla="*/ 0 w 2547819"/>
              <a:gd name="csY0" fmla="*/ 0 h 2047697"/>
              <a:gd name="csX1" fmla="*/ 663016 w 2547819"/>
              <a:gd name="csY1" fmla="*/ 0 h 2047697"/>
              <a:gd name="csX2" fmla="*/ 1966224 w 2547819"/>
              <a:gd name="csY2" fmla="*/ 0 h 2047697"/>
              <a:gd name="csX3" fmla="*/ 2466398 w 2547819"/>
              <a:gd name="csY3" fmla="*/ 0 h 2047697"/>
              <a:gd name="csX4" fmla="*/ 2547819 w 2547819"/>
              <a:gd name="csY4" fmla="*/ 81421 h 2047697"/>
              <a:gd name="csX5" fmla="*/ 2547819 w 2547819"/>
              <a:gd name="csY5" fmla="*/ 162894 h 2047697"/>
              <a:gd name="csX6" fmla="*/ 2547819 w 2547819"/>
              <a:gd name="csY6" fmla="*/ 1884803 h 2047697"/>
              <a:gd name="csX7" fmla="*/ 2547819 w 2547819"/>
              <a:gd name="csY7" fmla="*/ 1966276 h 2047697"/>
              <a:gd name="csX8" fmla="*/ 2466398 w 2547819"/>
              <a:gd name="csY8" fmla="*/ 2047697 h 2047697"/>
              <a:gd name="csX9" fmla="*/ 1884803 w 2547819"/>
              <a:gd name="csY9" fmla="*/ 2047697 h 2047697"/>
              <a:gd name="csX10" fmla="*/ 663016 w 2547819"/>
              <a:gd name="csY10" fmla="*/ 2047697 h 2047697"/>
              <a:gd name="csX11" fmla="*/ 81421 w 2547819"/>
              <a:gd name="csY11" fmla="*/ 2047697 h 2047697"/>
              <a:gd name="csX12" fmla="*/ 0 w 2547819"/>
              <a:gd name="csY12" fmla="*/ 1966276 h 2047697"/>
              <a:gd name="csX13" fmla="*/ 0 w 2547819"/>
              <a:gd name="csY13" fmla="*/ 1966224 h 2047697"/>
              <a:gd name="csX14" fmla="*/ 0 w 2547819"/>
              <a:gd name="csY14" fmla="*/ 162894 h 20476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547819" h="2047697">
                <a:moveTo>
                  <a:pt x="0" y="0"/>
                </a:moveTo>
                <a:lnTo>
                  <a:pt x="663016" y="0"/>
                </a:lnTo>
                <a:lnTo>
                  <a:pt x="1966224" y="0"/>
                </a:lnTo>
                <a:lnTo>
                  <a:pt x="2466398" y="0"/>
                </a:lnTo>
                <a:cubicBezTo>
                  <a:pt x="2511366" y="0"/>
                  <a:pt x="2547819" y="36453"/>
                  <a:pt x="2547819" y="81421"/>
                </a:cubicBezTo>
                <a:lnTo>
                  <a:pt x="2547819" y="162894"/>
                </a:lnTo>
                <a:lnTo>
                  <a:pt x="2547819" y="1884803"/>
                </a:lnTo>
                <a:lnTo>
                  <a:pt x="2547819" y="1966276"/>
                </a:lnTo>
                <a:cubicBezTo>
                  <a:pt x="2547819" y="2011244"/>
                  <a:pt x="2511366" y="2047697"/>
                  <a:pt x="2466398" y="2047697"/>
                </a:cubicBezTo>
                <a:lnTo>
                  <a:pt x="1884803" y="2047697"/>
                </a:lnTo>
                <a:lnTo>
                  <a:pt x="663016" y="2047697"/>
                </a:lnTo>
                <a:lnTo>
                  <a:pt x="81421" y="2047697"/>
                </a:lnTo>
                <a:cubicBezTo>
                  <a:pt x="36453" y="2047697"/>
                  <a:pt x="0" y="2011244"/>
                  <a:pt x="0" y="1966276"/>
                </a:cubicBezTo>
                <a:lnTo>
                  <a:pt x="0" y="1966224"/>
                </a:lnTo>
                <a:lnTo>
                  <a:pt x="0" y="16289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7" name="Text Placeholder 16">
            <a:extLst>
              <a:ext uri="{FF2B5EF4-FFF2-40B4-BE49-F238E27FC236}">
                <a16:creationId xmlns:a16="http://schemas.microsoft.com/office/drawing/2014/main" id="{CBC40553-6404-6ECA-BD5D-C7B5290C4C11}"/>
              </a:ext>
            </a:extLst>
          </p:cNvPr>
          <p:cNvSpPr>
            <a:spLocks noGrp="1"/>
          </p:cNvSpPr>
          <p:nvPr>
            <p:ph type="body" sz="quarter" idx="25" hasCustomPrompt="1"/>
          </p:nvPr>
        </p:nvSpPr>
        <p:spPr>
          <a:xfrm>
            <a:off x="9329010" y="4510640"/>
            <a:ext cx="2139696" cy="146193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solidFill>
                  <a:srgbClr val="000075"/>
                </a:solidFill>
              </a:rPr>
              <a:t>Body copy in Wallace Sans,  18 pt size, Lorem ipsum </a:t>
            </a:r>
            <a:r>
              <a:rPr lang="en-IN" err="1">
                <a:solidFill>
                  <a:srgbClr val="000075"/>
                </a:solidFill>
              </a:rPr>
              <a:t>dolor</a:t>
            </a:r>
            <a:r>
              <a:rPr lang="en-IN">
                <a:solidFill>
                  <a:srgbClr val="000075"/>
                </a:solidFill>
              </a:rPr>
              <a:t> sit </a:t>
            </a:r>
            <a:r>
              <a:rPr lang="en-IN" err="1">
                <a:solidFill>
                  <a:srgbClr val="000075"/>
                </a:solidFill>
              </a:rPr>
              <a:t>amet</a:t>
            </a:r>
            <a:r>
              <a:rPr lang="en-IN">
                <a:solidFill>
                  <a:srgbClr val="000075"/>
                </a:solidFill>
              </a:rPr>
              <a:t>, </a:t>
            </a:r>
            <a:r>
              <a:rPr lang="en-IN" err="1">
                <a:solidFill>
                  <a:srgbClr val="000075"/>
                </a:solidFill>
              </a:rPr>
              <a:t>consectetuer</a:t>
            </a:r>
            <a:r>
              <a:rPr lang="en-IN">
                <a:solidFill>
                  <a:srgbClr val="000075"/>
                </a:solidFill>
              </a:rPr>
              <a:t> </a:t>
            </a:r>
            <a:r>
              <a:rPr lang="en-IN" err="1">
                <a:solidFill>
                  <a:srgbClr val="000075"/>
                </a:solidFill>
              </a:rPr>
              <a:t>adipiscing</a:t>
            </a:r>
            <a:r>
              <a:rPr lang="en-IN">
                <a:solidFill>
                  <a:srgbClr val="000075"/>
                </a:solidFill>
              </a:rPr>
              <a:t> </a:t>
            </a:r>
            <a:r>
              <a:rPr lang="en-IN" err="1">
                <a:solidFill>
                  <a:srgbClr val="000075"/>
                </a:solidFill>
              </a:rPr>
              <a:t>elit</a:t>
            </a:r>
            <a:r>
              <a:rPr lang="en-IN">
                <a:solidFill>
                  <a:srgbClr val="000075"/>
                </a:solidFill>
              </a:rPr>
              <a:t>, </a:t>
            </a:r>
            <a:r>
              <a:rPr lang="en-IN" err="1">
                <a:solidFill>
                  <a:srgbClr val="000075"/>
                </a:solidFill>
              </a:rPr>
              <a:t>sed</a:t>
            </a:r>
            <a:r>
              <a:rPr lang="en-IN">
                <a:solidFill>
                  <a:srgbClr val="000075"/>
                </a:solidFill>
              </a:rPr>
              <a:t> </a:t>
            </a:r>
            <a:r>
              <a:rPr lang="en-IN" err="1">
                <a:solidFill>
                  <a:srgbClr val="000075"/>
                </a:solidFill>
              </a:rPr>
              <a:t>diam</a:t>
            </a:r>
            <a:r>
              <a:rPr lang="en-IN">
                <a:solidFill>
                  <a:srgbClr val="000075"/>
                </a:solidFill>
              </a:rPr>
              <a:t> </a:t>
            </a:r>
            <a:r>
              <a:rPr lang="en-IN" err="1">
                <a:solidFill>
                  <a:srgbClr val="000075"/>
                </a:solidFill>
              </a:rPr>
              <a:t>nonummy</a:t>
            </a:r>
            <a:r>
              <a:rPr lang="en-IN">
                <a:solidFill>
                  <a:srgbClr val="000075"/>
                </a:solidFill>
              </a:rPr>
              <a:t> </a:t>
            </a:r>
            <a:r>
              <a:rPr lang="en-IN" err="1">
                <a:solidFill>
                  <a:srgbClr val="000075"/>
                </a:solidFill>
              </a:rPr>
              <a:t>nibh</a:t>
            </a:r>
            <a:r>
              <a:rPr lang="en-IN">
                <a:solidFill>
                  <a:srgbClr val="000075"/>
                </a:solidFill>
              </a:rPr>
              <a:t> </a:t>
            </a:r>
            <a:r>
              <a:rPr lang="en-IN" err="1">
                <a:solidFill>
                  <a:srgbClr val="000075"/>
                </a:solidFill>
              </a:rPr>
              <a:t>euismod</a:t>
            </a:r>
            <a:endParaRPr lang="en-IN">
              <a:solidFill>
                <a:srgbClr val="000075"/>
              </a:solidFill>
            </a:endParaRPr>
          </a:p>
        </p:txBody>
      </p:sp>
    </p:spTree>
    <p:extLst>
      <p:ext uri="{BB962C8B-B14F-4D97-AF65-F5344CB8AC3E}">
        <p14:creationId xmlns:p14="http://schemas.microsoft.com/office/powerpoint/2010/main" val="14480849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slide (2 column, 2 rows + cell_LH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F0D49AAE-FCDE-09BB-FBB2-EC06CF0F25CA}"/>
              </a:ext>
            </a:extLst>
          </p:cNvPr>
          <p:cNvSpPr>
            <a:spLocks noGrp="1"/>
          </p:cNvSpPr>
          <p:nvPr>
            <p:ph type="body" sz="quarter" idx="13" hasCustomPrompt="1"/>
          </p:nvPr>
        </p:nvSpPr>
        <p:spPr>
          <a:xfrm>
            <a:off x="4345304" y="1921689"/>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0" name="Text Placeholder 14">
            <a:extLst>
              <a:ext uri="{FF2B5EF4-FFF2-40B4-BE49-F238E27FC236}">
                <a16:creationId xmlns:a16="http://schemas.microsoft.com/office/drawing/2014/main" id="{CBDCAD5F-3A63-3B77-3AFB-FD619FB692E7}"/>
              </a:ext>
            </a:extLst>
          </p:cNvPr>
          <p:cNvSpPr>
            <a:spLocks noGrp="1"/>
          </p:cNvSpPr>
          <p:nvPr>
            <p:ph type="body" sz="quarter" idx="19" hasCustomPrompt="1"/>
          </p:nvPr>
        </p:nvSpPr>
        <p:spPr>
          <a:xfrm>
            <a:off x="8172721" y="1921689"/>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 name="Text Placeholder 12">
            <a:extLst>
              <a:ext uri="{FF2B5EF4-FFF2-40B4-BE49-F238E27FC236}">
                <a16:creationId xmlns:a16="http://schemas.microsoft.com/office/drawing/2014/main" id="{682D80AF-07CC-5406-E3C1-5D9499AA83D8}"/>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 name="Freeform 2">
            <a:extLst>
              <a:ext uri="{FF2B5EF4-FFF2-40B4-BE49-F238E27FC236}">
                <a16:creationId xmlns:a16="http://schemas.microsoft.com/office/drawing/2014/main" id="{72B22DDD-4783-01ED-FFD3-4CC6C2E39BBC}"/>
              </a:ext>
            </a:extLst>
          </p:cNvPr>
          <p:cNvSpPr/>
          <p:nvPr userDrawn="1"/>
        </p:nvSpPr>
        <p:spPr>
          <a:xfrm>
            <a:off x="514348" y="1933574"/>
            <a:ext cx="3498095" cy="4415597"/>
          </a:xfrm>
          <a:custGeom>
            <a:avLst/>
            <a:gdLst>
              <a:gd name="csX0" fmla="*/ 0 w 3498095"/>
              <a:gd name="csY0" fmla="*/ 0 h 4415597"/>
              <a:gd name="csX1" fmla="*/ 1613292 w 3498095"/>
              <a:gd name="csY1" fmla="*/ 0 h 4415597"/>
              <a:gd name="csX2" fmla="*/ 1966224 w 3498095"/>
              <a:gd name="csY2" fmla="*/ 0 h 4415597"/>
              <a:gd name="csX3" fmla="*/ 3416674 w 3498095"/>
              <a:gd name="csY3" fmla="*/ 0 h 4415597"/>
              <a:gd name="csX4" fmla="*/ 3498095 w 3498095"/>
              <a:gd name="csY4" fmla="*/ 81421 h 4415597"/>
              <a:gd name="csX5" fmla="*/ 3498095 w 3498095"/>
              <a:gd name="csY5" fmla="*/ 1280634 h 4415597"/>
              <a:gd name="csX6" fmla="*/ 3498095 w 3498095"/>
              <a:gd name="csY6" fmla="*/ 1884803 h 4415597"/>
              <a:gd name="csX7" fmla="*/ 3498095 w 3498095"/>
              <a:gd name="csY7" fmla="*/ 2200833 h 4415597"/>
              <a:gd name="csX8" fmla="*/ 3498095 w 3498095"/>
              <a:gd name="csY8" fmla="*/ 2530794 h 4415597"/>
              <a:gd name="csX9" fmla="*/ 3498095 w 3498095"/>
              <a:gd name="csY9" fmla="*/ 3084016 h 4415597"/>
              <a:gd name="csX10" fmla="*/ 3498095 w 3498095"/>
              <a:gd name="csY10" fmla="*/ 4004215 h 4415597"/>
              <a:gd name="csX11" fmla="*/ 3498095 w 3498095"/>
              <a:gd name="csY11" fmla="*/ 4334176 h 4415597"/>
              <a:gd name="csX12" fmla="*/ 3416674 w 3498095"/>
              <a:gd name="csY12" fmla="*/ 4415597 h 4415597"/>
              <a:gd name="csX13" fmla="*/ 1884803 w 3498095"/>
              <a:gd name="csY13" fmla="*/ 4415597 h 4415597"/>
              <a:gd name="csX14" fmla="*/ 1613292 w 3498095"/>
              <a:gd name="csY14" fmla="*/ 4415597 h 4415597"/>
              <a:gd name="csX15" fmla="*/ 81421 w 3498095"/>
              <a:gd name="csY15" fmla="*/ 4415597 h 4415597"/>
              <a:gd name="csX16" fmla="*/ 0 w 3498095"/>
              <a:gd name="csY16" fmla="*/ 4334176 h 4415597"/>
              <a:gd name="csX17" fmla="*/ 0 w 3498095"/>
              <a:gd name="csY17" fmla="*/ 4004215 h 4415597"/>
              <a:gd name="csX18" fmla="*/ 0 w 3498095"/>
              <a:gd name="csY18" fmla="*/ 3084016 h 4415597"/>
              <a:gd name="csX19" fmla="*/ 0 w 3498095"/>
              <a:gd name="csY19" fmla="*/ 2530794 h 4415597"/>
              <a:gd name="csX20" fmla="*/ 0 w 3498095"/>
              <a:gd name="csY20" fmla="*/ 2200833 h 4415597"/>
              <a:gd name="csX21" fmla="*/ 0 w 3498095"/>
              <a:gd name="csY21" fmla="*/ 1966224 h 4415597"/>
              <a:gd name="csX22" fmla="*/ 0 w 3498095"/>
              <a:gd name="csY22" fmla="*/ 1280634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498095" h="4415597">
                <a:moveTo>
                  <a:pt x="0" y="0"/>
                </a:moveTo>
                <a:lnTo>
                  <a:pt x="1613292" y="0"/>
                </a:lnTo>
                <a:lnTo>
                  <a:pt x="1966224" y="0"/>
                </a:lnTo>
                <a:lnTo>
                  <a:pt x="3416674" y="0"/>
                </a:lnTo>
                <a:cubicBezTo>
                  <a:pt x="3461642" y="0"/>
                  <a:pt x="3498095" y="36453"/>
                  <a:pt x="3498095" y="81421"/>
                </a:cubicBezTo>
                <a:lnTo>
                  <a:pt x="3498095" y="1280634"/>
                </a:lnTo>
                <a:lnTo>
                  <a:pt x="3498095" y="1884803"/>
                </a:lnTo>
                <a:lnTo>
                  <a:pt x="3498095" y="2200833"/>
                </a:lnTo>
                <a:lnTo>
                  <a:pt x="3498095" y="2530794"/>
                </a:lnTo>
                <a:lnTo>
                  <a:pt x="3498095" y="3084016"/>
                </a:lnTo>
                <a:lnTo>
                  <a:pt x="3498095" y="4004215"/>
                </a:lnTo>
                <a:lnTo>
                  <a:pt x="3498095" y="4334176"/>
                </a:lnTo>
                <a:cubicBezTo>
                  <a:pt x="3498095" y="4379144"/>
                  <a:pt x="3461642" y="4415597"/>
                  <a:pt x="3416674" y="4415597"/>
                </a:cubicBezTo>
                <a:lnTo>
                  <a:pt x="1884803" y="4415597"/>
                </a:lnTo>
                <a:lnTo>
                  <a:pt x="1613292" y="4415597"/>
                </a:lnTo>
                <a:lnTo>
                  <a:pt x="81421" y="4415597"/>
                </a:lnTo>
                <a:cubicBezTo>
                  <a:pt x="36453" y="4415597"/>
                  <a:pt x="0" y="4379144"/>
                  <a:pt x="0" y="4334176"/>
                </a:cubicBezTo>
                <a:lnTo>
                  <a:pt x="0" y="4004215"/>
                </a:lnTo>
                <a:lnTo>
                  <a:pt x="0" y="3084016"/>
                </a:lnTo>
                <a:lnTo>
                  <a:pt x="0" y="2530794"/>
                </a:lnTo>
                <a:lnTo>
                  <a:pt x="0" y="2200833"/>
                </a:lnTo>
                <a:lnTo>
                  <a:pt x="0" y="1966224"/>
                </a:lnTo>
                <a:lnTo>
                  <a:pt x="0" y="1280634"/>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Text Placeholder 14">
            <a:extLst>
              <a:ext uri="{FF2B5EF4-FFF2-40B4-BE49-F238E27FC236}">
                <a16:creationId xmlns:a16="http://schemas.microsoft.com/office/drawing/2014/main" id="{A9053C55-203B-A3BD-3C99-3106FC7B0B56}"/>
              </a:ext>
            </a:extLst>
          </p:cNvPr>
          <p:cNvSpPr>
            <a:spLocks noGrp="1"/>
          </p:cNvSpPr>
          <p:nvPr>
            <p:ph type="body" sz="quarter" idx="25" hasCustomPrompt="1"/>
          </p:nvPr>
        </p:nvSpPr>
        <p:spPr>
          <a:xfrm>
            <a:off x="4345304" y="4329621"/>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19" name="Text Placeholder 14">
            <a:extLst>
              <a:ext uri="{FF2B5EF4-FFF2-40B4-BE49-F238E27FC236}">
                <a16:creationId xmlns:a16="http://schemas.microsoft.com/office/drawing/2014/main" id="{4717F615-7060-D6E2-E38F-29868526A1B3}"/>
              </a:ext>
            </a:extLst>
          </p:cNvPr>
          <p:cNvSpPr>
            <a:spLocks noGrp="1"/>
          </p:cNvSpPr>
          <p:nvPr>
            <p:ph type="body" sz="quarter" idx="26" hasCustomPrompt="1"/>
          </p:nvPr>
        </p:nvSpPr>
        <p:spPr>
          <a:xfrm>
            <a:off x="8172721" y="4329621"/>
            <a:ext cx="3502152" cy="228600"/>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2" name="Text Placeholder 16">
            <a:extLst>
              <a:ext uri="{FF2B5EF4-FFF2-40B4-BE49-F238E27FC236}">
                <a16:creationId xmlns:a16="http://schemas.microsoft.com/office/drawing/2014/main" id="{F1E91B35-BE8A-E14A-31C6-08ABACF15DAD}"/>
              </a:ext>
            </a:extLst>
          </p:cNvPr>
          <p:cNvSpPr>
            <a:spLocks noGrp="1"/>
          </p:cNvSpPr>
          <p:nvPr>
            <p:ph type="body" sz="quarter" idx="29" hasCustomPrompt="1"/>
          </p:nvPr>
        </p:nvSpPr>
        <p:spPr>
          <a:xfrm>
            <a:off x="711772" y="2142740"/>
            <a:ext cx="3090672" cy="1218282"/>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IN" sz="14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33" name="Text Placeholder 16">
            <a:extLst>
              <a:ext uri="{FF2B5EF4-FFF2-40B4-BE49-F238E27FC236}">
                <a16:creationId xmlns:a16="http://schemas.microsoft.com/office/drawing/2014/main" id="{A1BCD46B-2CF9-48C2-562F-6750E0B625A1}"/>
              </a:ext>
            </a:extLst>
          </p:cNvPr>
          <p:cNvSpPr>
            <a:spLocks noGrp="1"/>
          </p:cNvSpPr>
          <p:nvPr>
            <p:ph type="body" sz="quarter" idx="14" hasCustomPrompt="1"/>
          </p:nvPr>
        </p:nvSpPr>
        <p:spPr>
          <a:xfrm>
            <a:off x="4345304" y="21652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31" name="Text Placeholder 16">
            <a:extLst>
              <a:ext uri="{FF2B5EF4-FFF2-40B4-BE49-F238E27FC236}">
                <a16:creationId xmlns:a16="http://schemas.microsoft.com/office/drawing/2014/main" id="{2C1BE0E5-0AB1-2E1F-7899-35F7755F5FAD}"/>
              </a:ext>
            </a:extLst>
          </p:cNvPr>
          <p:cNvSpPr>
            <a:spLocks noGrp="1"/>
          </p:cNvSpPr>
          <p:nvPr>
            <p:ph type="body" sz="quarter" idx="20" hasCustomPrompt="1"/>
          </p:nvPr>
        </p:nvSpPr>
        <p:spPr>
          <a:xfrm>
            <a:off x="8172721" y="21652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20" name="Text Placeholder 16">
            <a:extLst>
              <a:ext uri="{FF2B5EF4-FFF2-40B4-BE49-F238E27FC236}">
                <a16:creationId xmlns:a16="http://schemas.microsoft.com/office/drawing/2014/main" id="{A1A0851D-8FF9-BBA7-96B6-678C3E702ADB}"/>
              </a:ext>
            </a:extLst>
          </p:cNvPr>
          <p:cNvSpPr>
            <a:spLocks noGrp="1"/>
          </p:cNvSpPr>
          <p:nvPr>
            <p:ph type="body" sz="quarter" idx="27" hasCustomPrompt="1"/>
          </p:nvPr>
        </p:nvSpPr>
        <p:spPr>
          <a:xfrm>
            <a:off x="4345304" y="45759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
        <p:nvSpPr>
          <p:cNvPr id="21" name="Text Placeholder 16">
            <a:extLst>
              <a:ext uri="{FF2B5EF4-FFF2-40B4-BE49-F238E27FC236}">
                <a16:creationId xmlns:a16="http://schemas.microsoft.com/office/drawing/2014/main" id="{EB66FDC2-E44A-2C89-4479-62FD4502E7AA}"/>
              </a:ext>
            </a:extLst>
          </p:cNvPr>
          <p:cNvSpPr>
            <a:spLocks noGrp="1"/>
          </p:cNvSpPr>
          <p:nvPr>
            <p:ph type="body" sz="quarter" idx="28" hasCustomPrompt="1"/>
          </p:nvPr>
        </p:nvSpPr>
        <p:spPr>
          <a:xfrm>
            <a:off x="8172721" y="4575948"/>
            <a:ext cx="3502152" cy="1077218"/>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r>
              <a:rPr lang="en-IN">
                <a:latin typeface="Wallace Sans Light" pitchFamily="2" charset="0"/>
                <a:cs typeface="Wallace Sans Light" pitchFamily="2" charset="0"/>
              </a:rPr>
              <a:t>Body copy in Wallace Sans, size 14 pt, Lorem ipsum </a:t>
            </a:r>
            <a:r>
              <a:rPr lang="en-IN" err="1">
                <a:latin typeface="Wallace Sans Light" pitchFamily="2" charset="0"/>
                <a:cs typeface="Wallace Sans Light" pitchFamily="2" charset="0"/>
              </a:rPr>
              <a:t>dolor</a:t>
            </a:r>
            <a:r>
              <a:rPr lang="en-IN">
                <a:latin typeface="Wallace Sans Light" pitchFamily="2" charset="0"/>
                <a:cs typeface="Wallace Sans Light" pitchFamily="2" charset="0"/>
              </a:rPr>
              <a:t> sit </a:t>
            </a:r>
            <a:r>
              <a:rPr lang="en-IN" err="1">
                <a:latin typeface="Wallace Sans Light" pitchFamily="2" charset="0"/>
                <a:cs typeface="Wallace Sans Light" pitchFamily="2" charset="0"/>
              </a:rPr>
              <a:t>amet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consectetuer</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adipiscing</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elit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sed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diam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nonummy</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nibh</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euismod</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tincidunt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ut</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laoreet</a:t>
            </a:r>
            <a:r>
              <a:rPr lang="en-IN">
                <a:latin typeface="Wallace Sans Light" pitchFamily="2" charset="0"/>
                <a:cs typeface="Wallace Sans Light" pitchFamily="2" charset="0"/>
              </a:rPr>
              <a:t> dolore magna </a:t>
            </a:r>
            <a:r>
              <a:rPr lang="en-IN" err="1">
                <a:latin typeface="Wallace Sans Light" pitchFamily="2" charset="0"/>
                <a:cs typeface="Wallace Sans Light" pitchFamily="2" charset="0"/>
              </a:rPr>
              <a:t>aliquam</a:t>
            </a:r>
            <a:r>
              <a:rPr lang="en-IN">
                <a:latin typeface="Wallace Sans Light" pitchFamily="2" charset="0"/>
                <a:cs typeface="Wallace Sans Light" pitchFamily="2" charset="0"/>
              </a:rPr>
              <a:t> </a:t>
            </a:r>
            <a:r>
              <a:rPr lang="en-IN" err="1">
                <a:latin typeface="Wallace Sans Light" pitchFamily="2" charset="0"/>
                <a:cs typeface="Wallace Sans Light" pitchFamily="2" charset="0"/>
              </a:rPr>
              <a:t>erat</a:t>
            </a:r>
            <a:r>
              <a:rPr lang="en-IN">
                <a:latin typeface="Wallace Sans Light" pitchFamily="2" charset="0"/>
                <a:cs typeface="Wallace Sans Light" pitchFamily="2" charset="0"/>
              </a:rPr>
              <a:t>.</a:t>
            </a:r>
          </a:p>
        </p:txBody>
      </p:sp>
    </p:spTree>
    <p:extLst>
      <p:ext uri="{BB962C8B-B14F-4D97-AF65-F5344CB8AC3E}">
        <p14:creationId xmlns:p14="http://schemas.microsoft.com/office/powerpoint/2010/main" val="14924655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column cell">
    <p:bg>
      <p:bgPr>
        <a:solidFill>
          <a:schemeClr val="bg1"/>
        </a:solidFill>
        <a:effectLst/>
      </p:bgPr>
    </p:bg>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93B83D5A-A1EA-9405-2630-710D5E779B01}"/>
              </a:ext>
            </a:extLst>
          </p:cNvPr>
          <p:cNvSpPr/>
          <p:nvPr userDrawn="1"/>
        </p:nvSpPr>
        <p:spPr>
          <a:xfrm>
            <a:off x="8174672"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8">
            <a:extLst>
              <a:ext uri="{FF2B5EF4-FFF2-40B4-BE49-F238E27FC236}">
                <a16:creationId xmlns:a16="http://schemas.microsoft.com/office/drawing/2014/main" id="{49E2105B-EF39-AFD2-26A3-4543DC267084}"/>
              </a:ext>
            </a:extLst>
          </p:cNvPr>
          <p:cNvSpPr/>
          <p:nvPr userDrawn="1"/>
        </p:nvSpPr>
        <p:spPr>
          <a:xfrm>
            <a:off x="4342731"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 name="Freeform 9">
            <a:extLst>
              <a:ext uri="{FF2B5EF4-FFF2-40B4-BE49-F238E27FC236}">
                <a16:creationId xmlns:a16="http://schemas.microsoft.com/office/drawing/2014/main" id="{9EDE87E2-230A-E78B-D971-DE0E5EBD3A72}"/>
              </a:ext>
            </a:extLst>
          </p:cNvPr>
          <p:cNvSpPr/>
          <p:nvPr userDrawn="1"/>
        </p:nvSpPr>
        <p:spPr>
          <a:xfrm>
            <a:off x="514348" y="1038814"/>
            <a:ext cx="3498096" cy="5310357"/>
          </a:xfrm>
          <a:custGeom>
            <a:avLst/>
            <a:gdLst>
              <a:gd name="csX0" fmla="*/ 0 w 3498096"/>
              <a:gd name="csY0" fmla="*/ 0 h 5310357"/>
              <a:gd name="csX1" fmla="*/ 1613293 w 3498096"/>
              <a:gd name="csY1" fmla="*/ 0 h 5310357"/>
              <a:gd name="csX2" fmla="*/ 1966224 w 3498096"/>
              <a:gd name="csY2" fmla="*/ 0 h 5310357"/>
              <a:gd name="csX3" fmla="*/ 3416675 w 3498096"/>
              <a:gd name="csY3" fmla="*/ 0 h 5310357"/>
              <a:gd name="csX4" fmla="*/ 3498096 w 3498096"/>
              <a:gd name="csY4" fmla="*/ 81422 h 5310357"/>
              <a:gd name="csX5" fmla="*/ 3498096 w 3498096"/>
              <a:gd name="csY5" fmla="*/ 1453021 h 5310357"/>
              <a:gd name="csX6" fmla="*/ 3498096 w 3498096"/>
              <a:gd name="csY6" fmla="*/ 1884803 h 5310357"/>
              <a:gd name="csX7" fmla="*/ 3498096 w 3498096"/>
              <a:gd name="csY7" fmla="*/ 2524583 h 5310357"/>
              <a:gd name="csX8" fmla="*/ 3498096 w 3498096"/>
              <a:gd name="csY8" fmla="*/ 3082885 h 5310357"/>
              <a:gd name="csX9" fmla="*/ 3498096 w 3498096"/>
              <a:gd name="csY9" fmla="*/ 3256403 h 5310357"/>
              <a:gd name="csX10" fmla="*/ 3498096 w 3498096"/>
              <a:gd name="csY10" fmla="*/ 3425554 h 5310357"/>
              <a:gd name="csX11" fmla="*/ 3498096 w 3498096"/>
              <a:gd name="csY11" fmla="*/ 4327965 h 5310357"/>
              <a:gd name="csX12" fmla="*/ 3498096 w 3498096"/>
              <a:gd name="csY12" fmla="*/ 4886267 h 5310357"/>
              <a:gd name="csX13" fmla="*/ 3498096 w 3498096"/>
              <a:gd name="csY13" fmla="*/ 5228936 h 5310357"/>
              <a:gd name="csX14" fmla="*/ 3416675 w 3498096"/>
              <a:gd name="csY14" fmla="*/ 5310357 h 5310357"/>
              <a:gd name="csX15" fmla="*/ 1884803 w 3498096"/>
              <a:gd name="csY15" fmla="*/ 5310357 h 5310357"/>
              <a:gd name="csX16" fmla="*/ 1613293 w 3498096"/>
              <a:gd name="csY16" fmla="*/ 5310357 h 5310357"/>
              <a:gd name="csX17" fmla="*/ 81421 w 3498096"/>
              <a:gd name="csY17" fmla="*/ 5310357 h 5310357"/>
              <a:gd name="csX18" fmla="*/ 0 w 3498096"/>
              <a:gd name="csY18" fmla="*/ 5228936 h 5310357"/>
              <a:gd name="csX19" fmla="*/ 0 w 3498096"/>
              <a:gd name="csY19" fmla="*/ 4886267 h 5310357"/>
              <a:gd name="csX20" fmla="*/ 0 w 3498096"/>
              <a:gd name="csY20" fmla="*/ 4327965 h 5310357"/>
              <a:gd name="csX21" fmla="*/ 0 w 3498096"/>
              <a:gd name="csY21" fmla="*/ 3425554 h 5310357"/>
              <a:gd name="csX22" fmla="*/ 0 w 3498096"/>
              <a:gd name="csY22" fmla="*/ 3256403 h 5310357"/>
              <a:gd name="csX23" fmla="*/ 0 w 3498096"/>
              <a:gd name="csY23" fmla="*/ 3082885 h 5310357"/>
              <a:gd name="csX24" fmla="*/ 0 w 3498096"/>
              <a:gd name="csY24" fmla="*/ 2524583 h 5310357"/>
              <a:gd name="csX25" fmla="*/ 0 w 3498096"/>
              <a:gd name="csY25" fmla="*/ 1966224 h 5310357"/>
              <a:gd name="csX26" fmla="*/ 0 w 3498096"/>
              <a:gd name="csY26" fmla="*/ 1453021 h 53103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6" h="5310357">
                <a:moveTo>
                  <a:pt x="0" y="0"/>
                </a:moveTo>
                <a:lnTo>
                  <a:pt x="1613293" y="0"/>
                </a:lnTo>
                <a:lnTo>
                  <a:pt x="1966224" y="0"/>
                </a:lnTo>
                <a:lnTo>
                  <a:pt x="3416675" y="0"/>
                </a:lnTo>
                <a:cubicBezTo>
                  <a:pt x="3461643" y="0"/>
                  <a:pt x="3498096" y="36453"/>
                  <a:pt x="3498096" y="81422"/>
                </a:cubicBezTo>
                <a:lnTo>
                  <a:pt x="3498096" y="1453021"/>
                </a:lnTo>
                <a:lnTo>
                  <a:pt x="3498096" y="1884803"/>
                </a:lnTo>
                <a:lnTo>
                  <a:pt x="3498096" y="2524583"/>
                </a:lnTo>
                <a:lnTo>
                  <a:pt x="3498096" y="3082885"/>
                </a:lnTo>
                <a:lnTo>
                  <a:pt x="3498096" y="3256403"/>
                </a:lnTo>
                <a:lnTo>
                  <a:pt x="3498096" y="3425554"/>
                </a:lnTo>
                <a:lnTo>
                  <a:pt x="3498096" y="4327965"/>
                </a:lnTo>
                <a:lnTo>
                  <a:pt x="3498096" y="4886267"/>
                </a:lnTo>
                <a:lnTo>
                  <a:pt x="3498096" y="5228936"/>
                </a:lnTo>
                <a:cubicBezTo>
                  <a:pt x="3498096" y="5273904"/>
                  <a:pt x="3461643" y="5310357"/>
                  <a:pt x="3416675" y="5310357"/>
                </a:cubicBezTo>
                <a:lnTo>
                  <a:pt x="1884803" y="5310357"/>
                </a:lnTo>
                <a:lnTo>
                  <a:pt x="1613293" y="5310357"/>
                </a:lnTo>
                <a:lnTo>
                  <a:pt x="81421" y="5310357"/>
                </a:lnTo>
                <a:cubicBezTo>
                  <a:pt x="36453" y="5310357"/>
                  <a:pt x="0" y="5273904"/>
                  <a:pt x="0" y="5228936"/>
                </a:cubicBezTo>
                <a:lnTo>
                  <a:pt x="0" y="4886267"/>
                </a:lnTo>
                <a:lnTo>
                  <a:pt x="0" y="4327965"/>
                </a:lnTo>
                <a:lnTo>
                  <a:pt x="0" y="3425554"/>
                </a:lnTo>
                <a:lnTo>
                  <a:pt x="0" y="3256403"/>
                </a:lnTo>
                <a:lnTo>
                  <a:pt x="0" y="3082885"/>
                </a:lnTo>
                <a:lnTo>
                  <a:pt x="0" y="2524583"/>
                </a:lnTo>
                <a:lnTo>
                  <a:pt x="0" y="1966224"/>
                </a:lnTo>
                <a:lnTo>
                  <a:pt x="0" y="145302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7CE9D837-70E2-A3FB-99F1-E3BD43D5A3C0}"/>
              </a:ext>
            </a:extLst>
          </p:cNvPr>
          <p:cNvSpPr>
            <a:spLocks noGrp="1"/>
          </p:cNvSpPr>
          <p:nvPr>
            <p:ph type="body" sz="quarter" idx="11" hasCustomPrompt="1"/>
          </p:nvPr>
        </p:nvSpPr>
        <p:spPr>
          <a:xfrm>
            <a:off x="517490" y="492543"/>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b="0" i="0" kern="900" dirty="0" smtClean="0">
                <a:solidFill>
                  <a:schemeClr val="tx1"/>
                </a:solidFill>
                <a:latin typeface="Wallace Sans" pitchFamily="2" charset="0"/>
                <a:ea typeface="+mn-ea"/>
                <a:cs typeface="Wallace Sans" pitchFamily="2" charset="0"/>
              </a:defRPr>
            </a:lvl1pPr>
          </a:lstStyle>
          <a:p>
            <a:pPr lvl="0"/>
            <a:r>
              <a:rPr lang="en-US"/>
              <a:t>Subhead 18 pt size</a:t>
            </a:r>
          </a:p>
        </p:txBody>
      </p:sp>
      <p:sp>
        <p:nvSpPr>
          <p:cNvPr id="33" name="Text Placeholder 14">
            <a:extLst>
              <a:ext uri="{FF2B5EF4-FFF2-40B4-BE49-F238E27FC236}">
                <a16:creationId xmlns:a16="http://schemas.microsoft.com/office/drawing/2014/main" id="{51C24340-89FB-25CE-91C7-EAD822C32843}"/>
              </a:ext>
            </a:extLst>
          </p:cNvPr>
          <p:cNvSpPr>
            <a:spLocks noGrp="1"/>
          </p:cNvSpPr>
          <p:nvPr>
            <p:ph type="body" sz="quarter" idx="16" hasCustomPrompt="1"/>
          </p:nvPr>
        </p:nvSpPr>
        <p:spPr>
          <a:xfrm>
            <a:off x="716994" y="5597911"/>
            <a:ext cx="3089744"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36" name="Text Placeholder 16">
            <a:extLst>
              <a:ext uri="{FF2B5EF4-FFF2-40B4-BE49-F238E27FC236}">
                <a16:creationId xmlns:a16="http://schemas.microsoft.com/office/drawing/2014/main" id="{942C4A46-21B3-2D34-1267-92B2B01D4102}"/>
              </a:ext>
            </a:extLst>
          </p:cNvPr>
          <p:cNvSpPr>
            <a:spLocks noGrp="1"/>
          </p:cNvSpPr>
          <p:nvPr>
            <p:ph type="body" sz="quarter" idx="14" hasCustomPrompt="1"/>
          </p:nvPr>
        </p:nvSpPr>
        <p:spPr>
          <a:xfrm>
            <a:off x="717695" y="1247980"/>
            <a:ext cx="308834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
        <p:nvSpPr>
          <p:cNvPr id="40" name="Text Placeholder 14">
            <a:extLst>
              <a:ext uri="{FF2B5EF4-FFF2-40B4-BE49-F238E27FC236}">
                <a16:creationId xmlns:a16="http://schemas.microsoft.com/office/drawing/2014/main" id="{657B0A0B-6B20-AC24-67E8-E583FF7A3D41}"/>
              </a:ext>
            </a:extLst>
          </p:cNvPr>
          <p:cNvSpPr>
            <a:spLocks noGrp="1"/>
          </p:cNvSpPr>
          <p:nvPr>
            <p:ph type="body" sz="quarter" idx="17" hasCustomPrompt="1"/>
          </p:nvPr>
        </p:nvSpPr>
        <p:spPr>
          <a:xfrm>
            <a:off x="4548471" y="5597911"/>
            <a:ext cx="3090672"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41" name="Text Placeholder 16">
            <a:extLst>
              <a:ext uri="{FF2B5EF4-FFF2-40B4-BE49-F238E27FC236}">
                <a16:creationId xmlns:a16="http://schemas.microsoft.com/office/drawing/2014/main" id="{62046EBD-9769-CDA2-6BCD-4C94B8C82782}"/>
              </a:ext>
            </a:extLst>
          </p:cNvPr>
          <p:cNvSpPr>
            <a:spLocks noGrp="1"/>
          </p:cNvSpPr>
          <p:nvPr>
            <p:ph type="body" sz="quarter" idx="18" hasCustomPrompt="1"/>
          </p:nvPr>
        </p:nvSpPr>
        <p:spPr>
          <a:xfrm>
            <a:off x="4548471" y="1247980"/>
            <a:ext cx="309067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
        <p:nvSpPr>
          <p:cNvPr id="42" name="Text Placeholder 14">
            <a:extLst>
              <a:ext uri="{FF2B5EF4-FFF2-40B4-BE49-F238E27FC236}">
                <a16:creationId xmlns:a16="http://schemas.microsoft.com/office/drawing/2014/main" id="{1CBDA023-563E-09A3-5291-1325AE8B4396}"/>
              </a:ext>
            </a:extLst>
          </p:cNvPr>
          <p:cNvSpPr>
            <a:spLocks noGrp="1"/>
          </p:cNvSpPr>
          <p:nvPr>
            <p:ph type="body" sz="quarter" idx="19" hasCustomPrompt="1"/>
          </p:nvPr>
        </p:nvSpPr>
        <p:spPr>
          <a:xfrm>
            <a:off x="8380412" y="5597911"/>
            <a:ext cx="3090672"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
        <p:nvSpPr>
          <p:cNvPr id="43" name="Text Placeholder 16">
            <a:extLst>
              <a:ext uri="{FF2B5EF4-FFF2-40B4-BE49-F238E27FC236}">
                <a16:creationId xmlns:a16="http://schemas.microsoft.com/office/drawing/2014/main" id="{344DACF2-D190-2F03-8F08-AC079BFFC6DB}"/>
              </a:ext>
            </a:extLst>
          </p:cNvPr>
          <p:cNvSpPr>
            <a:spLocks noGrp="1"/>
          </p:cNvSpPr>
          <p:nvPr>
            <p:ph type="body" sz="quarter" idx="20" hasCustomPrompt="1"/>
          </p:nvPr>
        </p:nvSpPr>
        <p:spPr>
          <a:xfrm>
            <a:off x="8380412" y="1247980"/>
            <a:ext cx="3090672" cy="2154436"/>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tincidunt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ut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laoreet</a:t>
            </a:r>
            <a:r>
              <a:rPr lang="en-IN" spc="0">
                <a:solidFill>
                  <a:srgbClr val="000075"/>
                </a:solidFill>
                <a:latin typeface="Wallace Sans BETA Light" pitchFamily="2" charset="77"/>
                <a:cs typeface="Wallace Sans BETA Light" pitchFamily="2" charset="77"/>
              </a:rPr>
              <a:t> dolore magna </a:t>
            </a:r>
            <a:r>
              <a:rPr lang="en-IN" spc="0" err="1">
                <a:solidFill>
                  <a:srgbClr val="000075"/>
                </a:solidFill>
                <a:latin typeface="Wallace Sans BETA Light" pitchFamily="2" charset="77"/>
                <a:cs typeface="Wallace Sans BETA Light" pitchFamily="2" charset="77"/>
              </a:rPr>
              <a:t>aliquam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erat</a:t>
            </a:r>
            <a:endParaRPr lang="en-IN" spc="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251381237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slide (2 column + cell)">
    <p:bg>
      <p:bgPr>
        <a:solidFill>
          <a:schemeClr val="bg1"/>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EBBAE617-6812-282D-C55D-752597839210}"/>
              </a:ext>
            </a:extLst>
          </p:cNvPr>
          <p:cNvSpPr/>
          <p:nvPr userDrawn="1"/>
        </p:nvSpPr>
        <p:spPr>
          <a:xfrm>
            <a:off x="8174673" y="515420"/>
            <a:ext cx="3498095" cy="5833751"/>
          </a:xfrm>
          <a:custGeom>
            <a:avLst/>
            <a:gdLst>
              <a:gd name="csX0" fmla="*/ 0 w 3498095"/>
              <a:gd name="csY0" fmla="*/ 0 h 5833751"/>
              <a:gd name="csX1" fmla="*/ 1613292 w 3498095"/>
              <a:gd name="csY1" fmla="*/ 0 h 5833751"/>
              <a:gd name="csX2" fmla="*/ 1966224 w 3498095"/>
              <a:gd name="csY2" fmla="*/ 0 h 5833751"/>
              <a:gd name="csX3" fmla="*/ 3416674 w 3498095"/>
              <a:gd name="csY3" fmla="*/ 0 h 5833751"/>
              <a:gd name="csX4" fmla="*/ 3498095 w 3498095"/>
              <a:gd name="csY4" fmla="*/ 81421 h 5833751"/>
              <a:gd name="csX5" fmla="*/ 3498095 w 3498095"/>
              <a:gd name="csY5" fmla="*/ 1144411 h 5833751"/>
              <a:gd name="csX6" fmla="*/ 3498095 w 3498095"/>
              <a:gd name="csY6" fmla="*/ 1884803 h 5833751"/>
              <a:gd name="csX7" fmla="*/ 3498095 w 3498095"/>
              <a:gd name="csY7" fmla="*/ 2081671 h 5833751"/>
              <a:gd name="csX8" fmla="*/ 3498095 w 3498095"/>
              <a:gd name="csY8" fmla="*/ 2947793 h 5833751"/>
              <a:gd name="csX9" fmla="*/ 3498095 w 3498095"/>
              <a:gd name="csY9" fmla="*/ 3606279 h 5833751"/>
              <a:gd name="csX10" fmla="*/ 3498095 w 3498095"/>
              <a:gd name="csY10" fmla="*/ 3885053 h 5833751"/>
              <a:gd name="csX11" fmla="*/ 3498095 w 3498095"/>
              <a:gd name="csY11" fmla="*/ 3948948 h 5833751"/>
              <a:gd name="csX12" fmla="*/ 3498095 w 3498095"/>
              <a:gd name="csY12" fmla="*/ 5409661 h 5833751"/>
              <a:gd name="csX13" fmla="*/ 3498095 w 3498095"/>
              <a:gd name="csY13" fmla="*/ 5752330 h 5833751"/>
              <a:gd name="csX14" fmla="*/ 3416674 w 3498095"/>
              <a:gd name="csY14" fmla="*/ 5833751 h 5833751"/>
              <a:gd name="csX15" fmla="*/ 1884803 w 3498095"/>
              <a:gd name="csY15" fmla="*/ 5833751 h 5833751"/>
              <a:gd name="csX16" fmla="*/ 1613292 w 3498095"/>
              <a:gd name="csY16" fmla="*/ 5833751 h 5833751"/>
              <a:gd name="csX17" fmla="*/ 81421 w 3498095"/>
              <a:gd name="csY17" fmla="*/ 5833751 h 5833751"/>
              <a:gd name="csX18" fmla="*/ 0 w 3498095"/>
              <a:gd name="csY18" fmla="*/ 5752330 h 5833751"/>
              <a:gd name="csX19" fmla="*/ 0 w 3498095"/>
              <a:gd name="csY19" fmla="*/ 5409661 h 5833751"/>
              <a:gd name="csX20" fmla="*/ 0 w 3498095"/>
              <a:gd name="csY20" fmla="*/ 3948948 h 5833751"/>
              <a:gd name="csX21" fmla="*/ 0 w 3498095"/>
              <a:gd name="csY21" fmla="*/ 3885053 h 5833751"/>
              <a:gd name="csX22" fmla="*/ 0 w 3498095"/>
              <a:gd name="csY22" fmla="*/ 3606279 h 5833751"/>
              <a:gd name="csX23" fmla="*/ 0 w 3498095"/>
              <a:gd name="csY23" fmla="*/ 2947793 h 5833751"/>
              <a:gd name="csX24" fmla="*/ 0 w 3498095"/>
              <a:gd name="csY24" fmla="*/ 2081671 h 5833751"/>
              <a:gd name="csX25" fmla="*/ 0 w 3498095"/>
              <a:gd name="csY25" fmla="*/ 1966224 h 5833751"/>
              <a:gd name="csX26" fmla="*/ 0 w 3498095"/>
              <a:gd name="csY26" fmla="*/ 1144411 h 5833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5" h="5833751">
                <a:moveTo>
                  <a:pt x="0" y="0"/>
                </a:moveTo>
                <a:lnTo>
                  <a:pt x="1613292" y="0"/>
                </a:lnTo>
                <a:lnTo>
                  <a:pt x="1966224" y="0"/>
                </a:lnTo>
                <a:lnTo>
                  <a:pt x="3416674" y="0"/>
                </a:lnTo>
                <a:cubicBezTo>
                  <a:pt x="3461642" y="0"/>
                  <a:pt x="3498095" y="36453"/>
                  <a:pt x="3498095" y="81421"/>
                </a:cubicBezTo>
                <a:lnTo>
                  <a:pt x="3498095" y="1144411"/>
                </a:lnTo>
                <a:lnTo>
                  <a:pt x="3498095" y="1884803"/>
                </a:lnTo>
                <a:lnTo>
                  <a:pt x="3498095" y="2081671"/>
                </a:lnTo>
                <a:lnTo>
                  <a:pt x="3498095" y="2947793"/>
                </a:lnTo>
                <a:lnTo>
                  <a:pt x="3498095" y="3606279"/>
                </a:lnTo>
                <a:lnTo>
                  <a:pt x="3498095" y="3885053"/>
                </a:lnTo>
                <a:lnTo>
                  <a:pt x="3498095" y="3948948"/>
                </a:lnTo>
                <a:lnTo>
                  <a:pt x="3498095" y="5409661"/>
                </a:lnTo>
                <a:lnTo>
                  <a:pt x="3498095" y="5752330"/>
                </a:lnTo>
                <a:cubicBezTo>
                  <a:pt x="3498095" y="5797298"/>
                  <a:pt x="3461642" y="5833751"/>
                  <a:pt x="3416674" y="5833751"/>
                </a:cubicBezTo>
                <a:lnTo>
                  <a:pt x="1884803" y="5833751"/>
                </a:lnTo>
                <a:lnTo>
                  <a:pt x="1613292" y="5833751"/>
                </a:lnTo>
                <a:lnTo>
                  <a:pt x="81421" y="5833751"/>
                </a:lnTo>
                <a:cubicBezTo>
                  <a:pt x="36453" y="5833751"/>
                  <a:pt x="0" y="5797298"/>
                  <a:pt x="0" y="5752330"/>
                </a:cubicBezTo>
                <a:lnTo>
                  <a:pt x="0" y="5409661"/>
                </a:lnTo>
                <a:lnTo>
                  <a:pt x="0" y="3948948"/>
                </a:lnTo>
                <a:lnTo>
                  <a:pt x="0" y="3885053"/>
                </a:lnTo>
                <a:lnTo>
                  <a:pt x="0" y="3606279"/>
                </a:lnTo>
                <a:lnTo>
                  <a:pt x="0" y="2947793"/>
                </a:lnTo>
                <a:lnTo>
                  <a:pt x="0" y="2081671"/>
                </a:lnTo>
                <a:lnTo>
                  <a:pt x="0" y="1966224"/>
                </a:lnTo>
                <a:lnTo>
                  <a:pt x="0" y="114441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82600"/>
            <a:ext cx="7333332"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2152"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89" y="2275948"/>
            <a:ext cx="3502152" cy="3741881"/>
          </a:xfrm>
        </p:spPr>
        <p:txBody>
          <a:bodyPr wrap="square">
            <a:noAutofit/>
          </a:bodyPr>
          <a:lstStyle>
            <a:lvl1pPr>
              <a:defRPr>
                <a:latin typeface="+mn-lt"/>
              </a:defRPr>
            </a:lvl1pPr>
            <a:lvl2pPr>
              <a:defRPr>
                <a:latin typeface="+mn-lt"/>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 name="Text Placeholder 14">
            <a:extLst>
              <a:ext uri="{FF2B5EF4-FFF2-40B4-BE49-F238E27FC236}">
                <a16:creationId xmlns:a16="http://schemas.microsoft.com/office/drawing/2014/main" id="{4AB513A6-1F22-6E3D-4314-7EB234E0B70E}"/>
              </a:ext>
            </a:extLst>
          </p:cNvPr>
          <p:cNvSpPr>
            <a:spLocks noGrp="1"/>
          </p:cNvSpPr>
          <p:nvPr>
            <p:ph type="body" sz="quarter" idx="13" hasCustomPrompt="1"/>
          </p:nvPr>
        </p:nvSpPr>
        <p:spPr>
          <a:xfrm>
            <a:off x="4342732" y="1904402"/>
            <a:ext cx="3502152"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359EBFA9-464E-6426-FB7C-A80CCF9B9DE0}"/>
              </a:ext>
            </a:extLst>
          </p:cNvPr>
          <p:cNvSpPr>
            <a:spLocks noGrp="1"/>
          </p:cNvSpPr>
          <p:nvPr>
            <p:ph type="body" sz="quarter" idx="14" hasCustomPrompt="1"/>
          </p:nvPr>
        </p:nvSpPr>
        <p:spPr>
          <a:xfrm>
            <a:off x="4342730" y="2275948"/>
            <a:ext cx="3502152" cy="3741881"/>
          </a:xfrm>
        </p:spPr>
        <p:txBody>
          <a:bodyPr wrap="square">
            <a:noAutofit/>
          </a:bodyPr>
          <a:lstStyle>
            <a:lvl1pPr>
              <a:defRPr>
                <a:latin typeface="+mn-lt"/>
              </a:defRPr>
            </a:lvl1pPr>
            <a:lvl2pPr>
              <a:defRPr>
                <a:latin typeface="+mn-lt"/>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4" name="Text Placeholder 16">
            <a:extLst>
              <a:ext uri="{FF2B5EF4-FFF2-40B4-BE49-F238E27FC236}">
                <a16:creationId xmlns:a16="http://schemas.microsoft.com/office/drawing/2014/main" id="{56C0491B-30B0-9477-E098-65CD92CEB8FF}"/>
              </a:ext>
            </a:extLst>
          </p:cNvPr>
          <p:cNvSpPr>
            <a:spLocks noGrp="1"/>
          </p:cNvSpPr>
          <p:nvPr>
            <p:ph type="body" sz="quarter" idx="20" hasCustomPrompt="1"/>
          </p:nvPr>
        </p:nvSpPr>
        <p:spPr>
          <a:xfrm>
            <a:off x="8503920" y="723316"/>
            <a:ext cx="2964856" cy="1538883"/>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p>
        </p:txBody>
      </p:sp>
      <p:sp>
        <p:nvSpPr>
          <p:cNvPr id="16" name="Text Placeholder 16">
            <a:extLst>
              <a:ext uri="{FF2B5EF4-FFF2-40B4-BE49-F238E27FC236}">
                <a16:creationId xmlns:a16="http://schemas.microsoft.com/office/drawing/2014/main" id="{F2E58F89-2CCB-2A37-8BCF-91F672566BB2}"/>
              </a:ext>
            </a:extLst>
          </p:cNvPr>
          <p:cNvSpPr>
            <a:spLocks noGrp="1"/>
          </p:cNvSpPr>
          <p:nvPr>
            <p:ph type="body" sz="quarter" idx="21" hasCustomPrompt="1"/>
          </p:nvPr>
        </p:nvSpPr>
        <p:spPr>
          <a:xfrm>
            <a:off x="8377323" y="698264"/>
            <a:ext cx="83356" cy="615553"/>
          </a:xfrm>
        </p:spPr>
        <p:txBody>
          <a:bodyPr wrap="non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a:t>
            </a:r>
          </a:p>
          <a:p>
            <a:pPr>
              <a:lnSpc>
                <a:spcPts val="2400"/>
              </a:lnSpc>
            </a:pPr>
            <a:endParaRPr lang="en-IN" spc="0">
              <a:solidFill>
                <a:srgbClr val="000075"/>
              </a:solidFill>
              <a:latin typeface="Wallace Sans BETA Light" pitchFamily="2" charset="77"/>
              <a:cs typeface="Wallace Sans BETA Light" pitchFamily="2" charset="77"/>
            </a:endParaRPr>
          </a:p>
        </p:txBody>
      </p:sp>
      <p:sp>
        <p:nvSpPr>
          <p:cNvPr id="19" name="Text Placeholder 14">
            <a:extLst>
              <a:ext uri="{FF2B5EF4-FFF2-40B4-BE49-F238E27FC236}">
                <a16:creationId xmlns:a16="http://schemas.microsoft.com/office/drawing/2014/main" id="{66DF6B4A-04DD-E5BA-012C-ACC4F428D93C}"/>
              </a:ext>
            </a:extLst>
          </p:cNvPr>
          <p:cNvSpPr>
            <a:spLocks noGrp="1"/>
          </p:cNvSpPr>
          <p:nvPr>
            <p:ph type="body" sz="quarter" idx="19" hasCustomPrompt="1"/>
          </p:nvPr>
        </p:nvSpPr>
        <p:spPr>
          <a:xfrm>
            <a:off x="8373447" y="5600726"/>
            <a:ext cx="3099206" cy="215444"/>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400" kern="900" dirty="0" smtClean="0">
                <a:solidFill>
                  <a:schemeClr val="accent1"/>
                </a:solidFill>
                <a:latin typeface="Wallace Sans BETA" pitchFamily="2" charset="77"/>
                <a:ea typeface="+mn-ea"/>
                <a:cs typeface="Wallace Sans BETA" pitchFamily="2" charset="77"/>
              </a:defRPr>
            </a:lvl1pPr>
          </a:lstStyle>
          <a:p>
            <a:pPr lvl="0"/>
            <a:r>
              <a:rPr lang="en-US"/>
              <a:t>Footnote</a:t>
            </a:r>
          </a:p>
        </p:txBody>
      </p:sp>
    </p:spTree>
    <p:extLst>
      <p:ext uri="{BB962C8B-B14F-4D97-AF65-F5344CB8AC3E}">
        <p14:creationId xmlns:p14="http://schemas.microsoft.com/office/powerpoint/2010/main" val="3014286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slide (2 column, 2 rows + cell)">
    <p:bg>
      <p:bgPr>
        <a:solidFill>
          <a:schemeClr val="bg1"/>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29DF6EBA-3073-C3CE-203B-D717152A334A}"/>
              </a:ext>
            </a:extLst>
          </p:cNvPr>
          <p:cNvSpPr/>
          <p:nvPr userDrawn="1"/>
        </p:nvSpPr>
        <p:spPr>
          <a:xfrm>
            <a:off x="8174673" y="515420"/>
            <a:ext cx="3498095" cy="5833751"/>
          </a:xfrm>
          <a:custGeom>
            <a:avLst/>
            <a:gdLst>
              <a:gd name="csX0" fmla="*/ 0 w 3498095"/>
              <a:gd name="csY0" fmla="*/ 0 h 5833751"/>
              <a:gd name="csX1" fmla="*/ 1613292 w 3498095"/>
              <a:gd name="csY1" fmla="*/ 0 h 5833751"/>
              <a:gd name="csX2" fmla="*/ 1966224 w 3498095"/>
              <a:gd name="csY2" fmla="*/ 0 h 5833751"/>
              <a:gd name="csX3" fmla="*/ 3416674 w 3498095"/>
              <a:gd name="csY3" fmla="*/ 0 h 5833751"/>
              <a:gd name="csX4" fmla="*/ 3498095 w 3498095"/>
              <a:gd name="csY4" fmla="*/ 81421 h 5833751"/>
              <a:gd name="csX5" fmla="*/ 3498095 w 3498095"/>
              <a:gd name="csY5" fmla="*/ 1144411 h 5833751"/>
              <a:gd name="csX6" fmla="*/ 3498095 w 3498095"/>
              <a:gd name="csY6" fmla="*/ 1884803 h 5833751"/>
              <a:gd name="csX7" fmla="*/ 3498095 w 3498095"/>
              <a:gd name="csY7" fmla="*/ 2081671 h 5833751"/>
              <a:gd name="csX8" fmla="*/ 3498095 w 3498095"/>
              <a:gd name="csY8" fmla="*/ 2947793 h 5833751"/>
              <a:gd name="csX9" fmla="*/ 3498095 w 3498095"/>
              <a:gd name="csY9" fmla="*/ 3606279 h 5833751"/>
              <a:gd name="csX10" fmla="*/ 3498095 w 3498095"/>
              <a:gd name="csY10" fmla="*/ 3885053 h 5833751"/>
              <a:gd name="csX11" fmla="*/ 3498095 w 3498095"/>
              <a:gd name="csY11" fmla="*/ 3948948 h 5833751"/>
              <a:gd name="csX12" fmla="*/ 3498095 w 3498095"/>
              <a:gd name="csY12" fmla="*/ 5409661 h 5833751"/>
              <a:gd name="csX13" fmla="*/ 3498095 w 3498095"/>
              <a:gd name="csY13" fmla="*/ 5752330 h 5833751"/>
              <a:gd name="csX14" fmla="*/ 3416674 w 3498095"/>
              <a:gd name="csY14" fmla="*/ 5833751 h 5833751"/>
              <a:gd name="csX15" fmla="*/ 1884803 w 3498095"/>
              <a:gd name="csY15" fmla="*/ 5833751 h 5833751"/>
              <a:gd name="csX16" fmla="*/ 1613292 w 3498095"/>
              <a:gd name="csY16" fmla="*/ 5833751 h 5833751"/>
              <a:gd name="csX17" fmla="*/ 81421 w 3498095"/>
              <a:gd name="csY17" fmla="*/ 5833751 h 5833751"/>
              <a:gd name="csX18" fmla="*/ 0 w 3498095"/>
              <a:gd name="csY18" fmla="*/ 5752330 h 5833751"/>
              <a:gd name="csX19" fmla="*/ 0 w 3498095"/>
              <a:gd name="csY19" fmla="*/ 5409661 h 5833751"/>
              <a:gd name="csX20" fmla="*/ 0 w 3498095"/>
              <a:gd name="csY20" fmla="*/ 3948948 h 5833751"/>
              <a:gd name="csX21" fmla="*/ 0 w 3498095"/>
              <a:gd name="csY21" fmla="*/ 3885053 h 5833751"/>
              <a:gd name="csX22" fmla="*/ 0 w 3498095"/>
              <a:gd name="csY22" fmla="*/ 3606279 h 5833751"/>
              <a:gd name="csX23" fmla="*/ 0 w 3498095"/>
              <a:gd name="csY23" fmla="*/ 2947793 h 5833751"/>
              <a:gd name="csX24" fmla="*/ 0 w 3498095"/>
              <a:gd name="csY24" fmla="*/ 2081671 h 5833751"/>
              <a:gd name="csX25" fmla="*/ 0 w 3498095"/>
              <a:gd name="csY25" fmla="*/ 1966224 h 5833751"/>
              <a:gd name="csX26" fmla="*/ 0 w 3498095"/>
              <a:gd name="csY26" fmla="*/ 1144411 h 5833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3498095" h="5833751">
                <a:moveTo>
                  <a:pt x="0" y="0"/>
                </a:moveTo>
                <a:lnTo>
                  <a:pt x="1613292" y="0"/>
                </a:lnTo>
                <a:lnTo>
                  <a:pt x="1966224" y="0"/>
                </a:lnTo>
                <a:lnTo>
                  <a:pt x="3416674" y="0"/>
                </a:lnTo>
                <a:cubicBezTo>
                  <a:pt x="3461642" y="0"/>
                  <a:pt x="3498095" y="36453"/>
                  <a:pt x="3498095" y="81421"/>
                </a:cubicBezTo>
                <a:lnTo>
                  <a:pt x="3498095" y="1144411"/>
                </a:lnTo>
                <a:lnTo>
                  <a:pt x="3498095" y="1884803"/>
                </a:lnTo>
                <a:lnTo>
                  <a:pt x="3498095" y="2081671"/>
                </a:lnTo>
                <a:lnTo>
                  <a:pt x="3498095" y="2947793"/>
                </a:lnTo>
                <a:lnTo>
                  <a:pt x="3498095" y="3606279"/>
                </a:lnTo>
                <a:lnTo>
                  <a:pt x="3498095" y="3885053"/>
                </a:lnTo>
                <a:lnTo>
                  <a:pt x="3498095" y="3948948"/>
                </a:lnTo>
                <a:lnTo>
                  <a:pt x="3498095" y="5409661"/>
                </a:lnTo>
                <a:lnTo>
                  <a:pt x="3498095" y="5752330"/>
                </a:lnTo>
                <a:cubicBezTo>
                  <a:pt x="3498095" y="5797298"/>
                  <a:pt x="3461642" y="5833751"/>
                  <a:pt x="3416674" y="5833751"/>
                </a:cubicBezTo>
                <a:lnTo>
                  <a:pt x="1884803" y="5833751"/>
                </a:lnTo>
                <a:lnTo>
                  <a:pt x="1613292" y="5833751"/>
                </a:lnTo>
                <a:lnTo>
                  <a:pt x="81421" y="5833751"/>
                </a:lnTo>
                <a:cubicBezTo>
                  <a:pt x="36453" y="5833751"/>
                  <a:pt x="0" y="5797298"/>
                  <a:pt x="0" y="5752330"/>
                </a:cubicBezTo>
                <a:lnTo>
                  <a:pt x="0" y="5409661"/>
                </a:lnTo>
                <a:lnTo>
                  <a:pt x="0" y="3948948"/>
                </a:lnTo>
                <a:lnTo>
                  <a:pt x="0" y="3885053"/>
                </a:lnTo>
                <a:lnTo>
                  <a:pt x="0" y="3606279"/>
                </a:lnTo>
                <a:lnTo>
                  <a:pt x="0" y="2947793"/>
                </a:lnTo>
                <a:lnTo>
                  <a:pt x="0" y="2081671"/>
                </a:lnTo>
                <a:lnTo>
                  <a:pt x="0" y="1966224"/>
                </a:lnTo>
                <a:lnTo>
                  <a:pt x="0" y="114441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82600"/>
            <a:ext cx="7333332"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14">
            <a:extLst>
              <a:ext uri="{FF2B5EF4-FFF2-40B4-BE49-F238E27FC236}">
                <a16:creationId xmlns:a16="http://schemas.microsoft.com/office/drawing/2014/main" id="{D761BEFF-C1FC-2459-6BF4-981CCC7D789C}"/>
              </a:ext>
            </a:extLst>
          </p:cNvPr>
          <p:cNvSpPr>
            <a:spLocks noGrp="1"/>
          </p:cNvSpPr>
          <p:nvPr>
            <p:ph type="body" sz="quarter" idx="22" hasCustomPrompt="1"/>
          </p:nvPr>
        </p:nvSpPr>
        <p:spPr>
          <a:xfrm>
            <a:off x="510790" y="1921690"/>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3" name="Text Placeholder 16">
            <a:extLst>
              <a:ext uri="{FF2B5EF4-FFF2-40B4-BE49-F238E27FC236}">
                <a16:creationId xmlns:a16="http://schemas.microsoft.com/office/drawing/2014/main" id="{46657C11-7CEA-24A3-57B2-E47A9A1B992F}"/>
              </a:ext>
            </a:extLst>
          </p:cNvPr>
          <p:cNvSpPr>
            <a:spLocks noGrp="1"/>
          </p:cNvSpPr>
          <p:nvPr>
            <p:ph type="body" sz="quarter" idx="23" hasCustomPrompt="1"/>
          </p:nvPr>
        </p:nvSpPr>
        <p:spPr>
          <a:xfrm>
            <a:off x="510790" y="2164503"/>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28" name="Text Placeholder 14">
            <a:extLst>
              <a:ext uri="{FF2B5EF4-FFF2-40B4-BE49-F238E27FC236}">
                <a16:creationId xmlns:a16="http://schemas.microsoft.com/office/drawing/2014/main" id="{95D38922-AFDD-4B5F-52EA-E58C2388EDA3}"/>
              </a:ext>
            </a:extLst>
          </p:cNvPr>
          <p:cNvSpPr>
            <a:spLocks noGrp="1"/>
          </p:cNvSpPr>
          <p:nvPr>
            <p:ph type="body" sz="quarter" idx="24" hasCustomPrompt="1"/>
          </p:nvPr>
        </p:nvSpPr>
        <p:spPr>
          <a:xfrm>
            <a:off x="510790" y="3784356"/>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29" name="Text Placeholder 16">
            <a:extLst>
              <a:ext uri="{FF2B5EF4-FFF2-40B4-BE49-F238E27FC236}">
                <a16:creationId xmlns:a16="http://schemas.microsoft.com/office/drawing/2014/main" id="{3BEF8F58-DA1D-1F7F-069C-FE4A7F724281}"/>
              </a:ext>
            </a:extLst>
          </p:cNvPr>
          <p:cNvSpPr>
            <a:spLocks noGrp="1"/>
          </p:cNvSpPr>
          <p:nvPr>
            <p:ph type="body" sz="quarter" idx="25" hasCustomPrompt="1"/>
          </p:nvPr>
        </p:nvSpPr>
        <p:spPr>
          <a:xfrm>
            <a:off x="510790" y="4027169"/>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33" name="Text Placeholder 14">
            <a:extLst>
              <a:ext uri="{FF2B5EF4-FFF2-40B4-BE49-F238E27FC236}">
                <a16:creationId xmlns:a16="http://schemas.microsoft.com/office/drawing/2014/main" id="{83C41863-8D7F-A838-A8A3-3DB09CF5A1BA}"/>
              </a:ext>
            </a:extLst>
          </p:cNvPr>
          <p:cNvSpPr>
            <a:spLocks noGrp="1"/>
          </p:cNvSpPr>
          <p:nvPr>
            <p:ph type="body" sz="quarter" idx="26" hasCustomPrompt="1"/>
          </p:nvPr>
        </p:nvSpPr>
        <p:spPr>
          <a:xfrm>
            <a:off x="4342731" y="1921690"/>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4" name="Text Placeholder 16">
            <a:extLst>
              <a:ext uri="{FF2B5EF4-FFF2-40B4-BE49-F238E27FC236}">
                <a16:creationId xmlns:a16="http://schemas.microsoft.com/office/drawing/2014/main" id="{B2611A3D-D947-BB82-F7B3-EC26086500E4}"/>
              </a:ext>
            </a:extLst>
          </p:cNvPr>
          <p:cNvSpPr>
            <a:spLocks noGrp="1"/>
          </p:cNvSpPr>
          <p:nvPr>
            <p:ph type="body" sz="quarter" idx="27" hasCustomPrompt="1"/>
          </p:nvPr>
        </p:nvSpPr>
        <p:spPr>
          <a:xfrm>
            <a:off x="4342731" y="2164503"/>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35" name="Text Placeholder 14">
            <a:extLst>
              <a:ext uri="{FF2B5EF4-FFF2-40B4-BE49-F238E27FC236}">
                <a16:creationId xmlns:a16="http://schemas.microsoft.com/office/drawing/2014/main" id="{C237F1D5-3313-4F51-AB7B-79A4764D8B61}"/>
              </a:ext>
            </a:extLst>
          </p:cNvPr>
          <p:cNvSpPr>
            <a:spLocks noGrp="1"/>
          </p:cNvSpPr>
          <p:nvPr>
            <p:ph type="body" sz="quarter" idx="28" hasCustomPrompt="1"/>
          </p:nvPr>
        </p:nvSpPr>
        <p:spPr>
          <a:xfrm>
            <a:off x="4342731" y="3784356"/>
            <a:ext cx="3501391" cy="207749"/>
          </a:xfrm>
        </p:spPr>
        <p:txBody>
          <a:bodyPr wrap="square">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pitchFamily="2" charset="77"/>
                <a:ea typeface="+mn-ea"/>
                <a:cs typeface="Wallace Sans BETA" pitchFamily="2" charset="77"/>
              </a:defRPr>
            </a:lvl1pPr>
          </a:lstStyle>
          <a:p>
            <a:pPr lvl="0"/>
            <a:r>
              <a:rPr lang="en-US"/>
              <a:t>Subhead 14 pt size, 1 line only</a:t>
            </a:r>
          </a:p>
        </p:txBody>
      </p:sp>
      <p:sp>
        <p:nvSpPr>
          <p:cNvPr id="36" name="Text Placeholder 16">
            <a:extLst>
              <a:ext uri="{FF2B5EF4-FFF2-40B4-BE49-F238E27FC236}">
                <a16:creationId xmlns:a16="http://schemas.microsoft.com/office/drawing/2014/main" id="{68113E73-FC0C-5E92-A40E-B8A64812447F}"/>
              </a:ext>
            </a:extLst>
          </p:cNvPr>
          <p:cNvSpPr>
            <a:spLocks noGrp="1"/>
          </p:cNvSpPr>
          <p:nvPr>
            <p:ph type="body" sz="quarter" idx="29" hasCustomPrompt="1"/>
          </p:nvPr>
        </p:nvSpPr>
        <p:spPr>
          <a:xfrm>
            <a:off x="4342731" y="4027169"/>
            <a:ext cx="3501391" cy="1218282"/>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br>
              <a:rPr lang="en-IN" sz="1400" spc="0">
                <a:latin typeface="Wallace Sans BETA Light" pitchFamily="2" charset="77"/>
                <a:cs typeface="Wallace Sans BETA Light" pitchFamily="2" charset="77"/>
              </a:rPr>
            </a:b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a:t>
            </a:r>
          </a:p>
        </p:txBody>
      </p:sp>
      <p:sp>
        <p:nvSpPr>
          <p:cNvPr id="41" name="Text Placeholder 16">
            <a:extLst>
              <a:ext uri="{FF2B5EF4-FFF2-40B4-BE49-F238E27FC236}">
                <a16:creationId xmlns:a16="http://schemas.microsoft.com/office/drawing/2014/main" id="{9EAAC6E9-4E33-A285-2E9C-C573EC2F5041}"/>
              </a:ext>
            </a:extLst>
          </p:cNvPr>
          <p:cNvSpPr>
            <a:spLocks noGrp="1"/>
          </p:cNvSpPr>
          <p:nvPr>
            <p:ph type="body" sz="quarter" idx="20" hasCustomPrompt="1"/>
          </p:nvPr>
        </p:nvSpPr>
        <p:spPr>
          <a:xfrm>
            <a:off x="8503920" y="723316"/>
            <a:ext cx="2964856" cy="1538883"/>
          </a:xfrm>
        </p:spPr>
        <p:txBody>
          <a:bodyPr wrap="square">
            <a:spAutoFit/>
          </a:bodyPr>
          <a:lstStyle>
            <a:lvl1pPr marL="0" marR="0" indent="0" algn="l" defTabSz="914400" rtl="0" eaLnBrk="1" fontAlgn="auto" latinLnBrk="0" hangingPunct="1">
              <a:lnSpc>
                <a:spcPts val="24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Body copy in Wallace Sans, </a:t>
            </a:r>
            <a:br>
              <a:rPr lang="en-IN" spc="0">
                <a:solidFill>
                  <a:srgbClr val="000075"/>
                </a:solidFill>
                <a:latin typeface="Wallace Sans BETA Light" pitchFamily="2" charset="77"/>
                <a:cs typeface="Wallace Sans BETA Light" pitchFamily="2" charset="77"/>
              </a:rPr>
            </a:br>
            <a:r>
              <a:rPr lang="en-IN" spc="0">
                <a:solidFill>
                  <a:srgbClr val="000075"/>
                </a:solidFill>
                <a:latin typeface="Wallace Sans BETA Light" pitchFamily="2" charset="77"/>
                <a:cs typeface="Wallace Sans BETA Light" pitchFamily="2" charset="77"/>
              </a:rPr>
              <a:t>18 pt size, Lorem ipsum </a:t>
            </a:r>
            <a:r>
              <a:rPr lang="en-IN" spc="0" err="1">
                <a:solidFill>
                  <a:srgbClr val="000075"/>
                </a:solidFill>
                <a:latin typeface="Wallace Sans BETA Light" pitchFamily="2" charset="77"/>
                <a:cs typeface="Wallace Sans BETA Light" pitchFamily="2" charset="77"/>
              </a:rPr>
              <a:t>dolor</a:t>
            </a:r>
            <a:r>
              <a:rPr lang="en-IN" spc="0">
                <a:solidFill>
                  <a:srgbClr val="000075"/>
                </a:solidFill>
                <a:latin typeface="Wallace Sans BETA Light" pitchFamily="2" charset="77"/>
                <a:cs typeface="Wallace Sans BETA Light" pitchFamily="2" charset="77"/>
              </a:rPr>
              <a:t> sit </a:t>
            </a:r>
            <a:r>
              <a:rPr lang="en-IN" spc="0" err="1">
                <a:solidFill>
                  <a:srgbClr val="000075"/>
                </a:solidFill>
                <a:latin typeface="Wallace Sans BETA Light" pitchFamily="2" charset="77"/>
                <a:cs typeface="Wallace Sans BETA Light" pitchFamily="2" charset="77"/>
              </a:rPr>
              <a:t>amet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consectetuer</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adipiscing</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elit</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sed</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diam</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nonummy</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nibh</a:t>
            </a:r>
            <a:r>
              <a:rPr lang="en-IN" spc="0">
                <a:solidFill>
                  <a:srgbClr val="000075"/>
                </a:solidFill>
                <a:latin typeface="Wallace Sans BETA Light" pitchFamily="2" charset="77"/>
                <a:cs typeface="Wallace Sans BETA Light" pitchFamily="2" charset="77"/>
              </a:rPr>
              <a:t> </a:t>
            </a:r>
            <a:r>
              <a:rPr lang="en-IN" spc="0" err="1">
                <a:solidFill>
                  <a:srgbClr val="000075"/>
                </a:solidFill>
                <a:latin typeface="Wallace Sans BETA Light" pitchFamily="2" charset="77"/>
                <a:cs typeface="Wallace Sans BETA Light" pitchFamily="2" charset="77"/>
              </a:rPr>
              <a:t>euismod</a:t>
            </a:r>
            <a:r>
              <a:rPr lang="en-IN" spc="0">
                <a:solidFill>
                  <a:srgbClr val="000075"/>
                </a:solidFill>
                <a:latin typeface="Wallace Sans BETA Light" pitchFamily="2" charset="77"/>
                <a:cs typeface="Wallace Sans BETA Light" pitchFamily="2" charset="77"/>
              </a:rPr>
              <a:t>. ”</a:t>
            </a:r>
          </a:p>
        </p:txBody>
      </p:sp>
      <p:sp>
        <p:nvSpPr>
          <p:cNvPr id="42" name="Text Placeholder 16">
            <a:extLst>
              <a:ext uri="{FF2B5EF4-FFF2-40B4-BE49-F238E27FC236}">
                <a16:creationId xmlns:a16="http://schemas.microsoft.com/office/drawing/2014/main" id="{68FA247D-5661-7002-316E-007134B71A71}"/>
              </a:ext>
            </a:extLst>
          </p:cNvPr>
          <p:cNvSpPr>
            <a:spLocks noGrp="1"/>
          </p:cNvSpPr>
          <p:nvPr>
            <p:ph type="body" sz="quarter" idx="21" hasCustomPrompt="1"/>
          </p:nvPr>
        </p:nvSpPr>
        <p:spPr>
          <a:xfrm>
            <a:off x="8377323" y="698264"/>
            <a:ext cx="83356" cy="615553"/>
          </a:xfrm>
        </p:spPr>
        <p:txBody>
          <a:bodyPr wrap="non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IN" sz="1800" b="0" i="0" kern="100" spc="0" baseline="0" dirty="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2400"/>
              </a:lnSpc>
            </a:pPr>
            <a:r>
              <a:rPr lang="en-IN" spc="0">
                <a:solidFill>
                  <a:srgbClr val="000075"/>
                </a:solidFill>
                <a:latin typeface="Wallace Sans BETA Light" pitchFamily="2" charset="77"/>
                <a:cs typeface="Wallace Sans BETA Light" pitchFamily="2" charset="77"/>
              </a:rPr>
              <a:t>“</a:t>
            </a:r>
          </a:p>
          <a:p>
            <a:pPr>
              <a:lnSpc>
                <a:spcPts val="2400"/>
              </a:lnSpc>
            </a:pPr>
            <a:endParaRPr lang="en-IN" spc="0">
              <a:solidFill>
                <a:srgbClr val="000075"/>
              </a:solidFill>
              <a:latin typeface="Wallace Sans BETA Light" pitchFamily="2" charset="77"/>
              <a:cs typeface="Wallace Sans BETA Light" pitchFamily="2" charset="77"/>
            </a:endParaRPr>
          </a:p>
        </p:txBody>
      </p:sp>
    </p:spTree>
    <p:extLst>
      <p:ext uri="{BB962C8B-B14F-4D97-AF65-F5344CB8AC3E}">
        <p14:creationId xmlns:p14="http://schemas.microsoft.com/office/powerpoint/2010/main" val="306272388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3 column cell)">
    <p:bg>
      <p:bgPr>
        <a:solidFill>
          <a:schemeClr val="bg1"/>
        </a:solidFill>
        <a:effectLst/>
      </p:bgPr>
    </p:bg>
    <p:spTree>
      <p:nvGrpSpPr>
        <p:cNvPr id="1" name=""/>
        <p:cNvGrpSpPr/>
        <p:nvPr/>
      </p:nvGrpSpPr>
      <p:grpSpPr>
        <a:xfrm>
          <a:off x="0" y="0"/>
          <a:ext cx="0" cy="0"/>
          <a:chOff x="0" y="0"/>
          <a:chExt cx="0" cy="0"/>
        </a:xfrm>
      </p:grpSpPr>
      <p:sp>
        <p:nvSpPr>
          <p:cNvPr id="4" name="Freeform 3">
            <a:extLst>
              <a:ext uri="{FF2B5EF4-FFF2-40B4-BE49-F238E27FC236}">
                <a16:creationId xmlns:a16="http://schemas.microsoft.com/office/drawing/2014/main" id="{DEB87B14-8D87-2C16-3F0B-E48040707294}"/>
              </a:ext>
            </a:extLst>
          </p:cNvPr>
          <p:cNvSpPr/>
          <p:nvPr userDrawn="1"/>
        </p:nvSpPr>
        <p:spPr>
          <a:xfrm>
            <a:off x="8174673"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reeform 4">
            <a:extLst>
              <a:ext uri="{FF2B5EF4-FFF2-40B4-BE49-F238E27FC236}">
                <a16:creationId xmlns:a16="http://schemas.microsoft.com/office/drawing/2014/main" id="{7F4E3A9D-AF45-37B7-F6FB-B208A4D753F4}"/>
              </a:ext>
            </a:extLst>
          </p:cNvPr>
          <p:cNvSpPr/>
          <p:nvPr userDrawn="1"/>
        </p:nvSpPr>
        <p:spPr>
          <a:xfrm>
            <a:off x="4342732"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909EB63B-0BF7-F5E2-4677-83C9D070455C}"/>
              </a:ext>
            </a:extLst>
          </p:cNvPr>
          <p:cNvSpPr/>
          <p:nvPr userDrawn="1"/>
        </p:nvSpPr>
        <p:spPr>
          <a:xfrm>
            <a:off x="514348" y="1933574"/>
            <a:ext cx="3500617" cy="4415597"/>
          </a:xfrm>
          <a:custGeom>
            <a:avLst/>
            <a:gdLst>
              <a:gd name="csX0" fmla="*/ 0 w 3500617"/>
              <a:gd name="csY0" fmla="*/ 0 h 4415597"/>
              <a:gd name="csX1" fmla="*/ 1615814 w 3500617"/>
              <a:gd name="csY1" fmla="*/ 0 h 4415597"/>
              <a:gd name="csX2" fmla="*/ 1966224 w 3500617"/>
              <a:gd name="csY2" fmla="*/ 0 h 4415597"/>
              <a:gd name="csX3" fmla="*/ 3419196 w 3500617"/>
              <a:gd name="csY3" fmla="*/ 0 h 4415597"/>
              <a:gd name="csX4" fmla="*/ 3500617 w 3500617"/>
              <a:gd name="csY4" fmla="*/ 81421 h 4415597"/>
              <a:gd name="csX5" fmla="*/ 3500617 w 3500617"/>
              <a:gd name="csY5" fmla="*/ 800301 h 4415597"/>
              <a:gd name="csX6" fmla="*/ 3500617 w 3500617"/>
              <a:gd name="csY6" fmla="*/ 1884803 h 4415597"/>
              <a:gd name="csX7" fmla="*/ 3500617 w 3500617"/>
              <a:gd name="csY7" fmla="*/ 2264643 h 4415597"/>
              <a:gd name="csX8" fmla="*/ 3500617 w 3500617"/>
              <a:gd name="csY8" fmla="*/ 2603683 h 4415597"/>
              <a:gd name="csX9" fmla="*/ 3500617 w 3500617"/>
              <a:gd name="csY9" fmla="*/ 2617722 h 4415597"/>
              <a:gd name="csX10" fmla="*/ 3500617 w 3500617"/>
              <a:gd name="csY10" fmla="*/ 3984852 h 4415597"/>
              <a:gd name="csX11" fmla="*/ 3500617 w 3500617"/>
              <a:gd name="csY11" fmla="*/ 4337931 h 4415597"/>
              <a:gd name="csX12" fmla="*/ 3422951 w 3500617"/>
              <a:gd name="csY12" fmla="*/ 4415597 h 4415597"/>
              <a:gd name="csX13" fmla="*/ 1888558 w 3500617"/>
              <a:gd name="csY13" fmla="*/ 4415597 h 4415597"/>
              <a:gd name="csX14" fmla="*/ 1612059 w 3500617"/>
              <a:gd name="csY14" fmla="*/ 4415597 h 4415597"/>
              <a:gd name="csX15" fmla="*/ 77666 w 3500617"/>
              <a:gd name="csY15" fmla="*/ 4415597 h 4415597"/>
              <a:gd name="csX16" fmla="*/ 0 w 3500617"/>
              <a:gd name="csY16" fmla="*/ 4337931 h 4415597"/>
              <a:gd name="csX17" fmla="*/ 0 w 3500617"/>
              <a:gd name="csY17" fmla="*/ 3984852 h 4415597"/>
              <a:gd name="csX18" fmla="*/ 0 w 3500617"/>
              <a:gd name="csY18" fmla="*/ 2617722 h 4415597"/>
              <a:gd name="csX19" fmla="*/ 0 w 3500617"/>
              <a:gd name="csY19" fmla="*/ 2603683 h 4415597"/>
              <a:gd name="csX20" fmla="*/ 0 w 3500617"/>
              <a:gd name="csY20" fmla="*/ 2264643 h 4415597"/>
              <a:gd name="csX21" fmla="*/ 0 w 3500617"/>
              <a:gd name="csY21" fmla="*/ 1966224 h 4415597"/>
              <a:gd name="csX22" fmla="*/ 0 w 3500617"/>
              <a:gd name="csY22" fmla="*/ 800301 h 44155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3500617" h="4415597">
                <a:moveTo>
                  <a:pt x="0" y="0"/>
                </a:moveTo>
                <a:lnTo>
                  <a:pt x="1615814" y="0"/>
                </a:lnTo>
                <a:lnTo>
                  <a:pt x="1966224" y="0"/>
                </a:lnTo>
                <a:lnTo>
                  <a:pt x="3419196" y="0"/>
                </a:lnTo>
                <a:cubicBezTo>
                  <a:pt x="3464164" y="0"/>
                  <a:pt x="3500617" y="36453"/>
                  <a:pt x="3500617" y="81421"/>
                </a:cubicBezTo>
                <a:lnTo>
                  <a:pt x="3500617" y="800301"/>
                </a:lnTo>
                <a:lnTo>
                  <a:pt x="3500617" y="1884803"/>
                </a:lnTo>
                <a:lnTo>
                  <a:pt x="3500617" y="2264643"/>
                </a:lnTo>
                <a:lnTo>
                  <a:pt x="3500617" y="2603683"/>
                </a:lnTo>
                <a:lnTo>
                  <a:pt x="3500617" y="2617722"/>
                </a:lnTo>
                <a:lnTo>
                  <a:pt x="3500617" y="3984852"/>
                </a:lnTo>
                <a:lnTo>
                  <a:pt x="3500617" y="4337931"/>
                </a:lnTo>
                <a:cubicBezTo>
                  <a:pt x="3500617" y="4380825"/>
                  <a:pt x="3465845" y="4415597"/>
                  <a:pt x="3422951" y="4415597"/>
                </a:cubicBezTo>
                <a:lnTo>
                  <a:pt x="1888558" y="4415597"/>
                </a:lnTo>
                <a:lnTo>
                  <a:pt x="1612059" y="4415597"/>
                </a:lnTo>
                <a:lnTo>
                  <a:pt x="77666" y="4415597"/>
                </a:lnTo>
                <a:cubicBezTo>
                  <a:pt x="34772" y="4415597"/>
                  <a:pt x="0" y="4380825"/>
                  <a:pt x="0" y="4337931"/>
                </a:cubicBezTo>
                <a:lnTo>
                  <a:pt x="0" y="3984852"/>
                </a:lnTo>
                <a:lnTo>
                  <a:pt x="0" y="2617722"/>
                </a:lnTo>
                <a:lnTo>
                  <a:pt x="0" y="2603683"/>
                </a:lnTo>
                <a:lnTo>
                  <a:pt x="0" y="2264643"/>
                </a:lnTo>
                <a:lnTo>
                  <a:pt x="0" y="1966224"/>
                </a:lnTo>
                <a:lnTo>
                  <a:pt x="0" y="800301"/>
                </a:ln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22">
            <a:extLst>
              <a:ext uri="{FF2B5EF4-FFF2-40B4-BE49-F238E27FC236}">
                <a16:creationId xmlns:a16="http://schemas.microsoft.com/office/drawing/2014/main" id="{CB7CE17D-61D5-C76B-A89D-35095768EABC}"/>
              </a:ext>
            </a:extLst>
          </p:cNvPr>
          <p:cNvSpPr>
            <a:spLocks noGrp="1"/>
          </p:cNvSpPr>
          <p:nvPr>
            <p:ph type="body" sz="quarter" idx="11" hasCustomPrompt="1"/>
          </p:nvPr>
        </p:nvSpPr>
        <p:spPr>
          <a:xfrm>
            <a:off x="718462" y="2070477"/>
            <a:ext cx="149080"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1</a:t>
            </a:r>
          </a:p>
        </p:txBody>
      </p:sp>
      <p:sp>
        <p:nvSpPr>
          <p:cNvPr id="25" name="Text Placeholder 22">
            <a:extLst>
              <a:ext uri="{FF2B5EF4-FFF2-40B4-BE49-F238E27FC236}">
                <a16:creationId xmlns:a16="http://schemas.microsoft.com/office/drawing/2014/main" id="{B0F09D22-84F8-EC5E-2DB1-AE1C581B083E}"/>
              </a:ext>
            </a:extLst>
          </p:cNvPr>
          <p:cNvSpPr>
            <a:spLocks noGrp="1"/>
          </p:cNvSpPr>
          <p:nvPr>
            <p:ph type="body" sz="quarter" idx="12" hasCustomPrompt="1"/>
          </p:nvPr>
        </p:nvSpPr>
        <p:spPr>
          <a:xfrm>
            <a:off x="3398174"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27" name="Text Placeholder 26">
            <a:extLst>
              <a:ext uri="{FF2B5EF4-FFF2-40B4-BE49-F238E27FC236}">
                <a16:creationId xmlns:a16="http://schemas.microsoft.com/office/drawing/2014/main" id="{054DD2F9-C1FA-0F22-2E37-14B9FD3A6797}"/>
              </a:ext>
            </a:extLst>
          </p:cNvPr>
          <p:cNvSpPr>
            <a:spLocks noGrp="1"/>
          </p:cNvSpPr>
          <p:nvPr>
            <p:ph type="body" sz="quarter" idx="13" hasCustomPrompt="1"/>
          </p:nvPr>
        </p:nvSpPr>
        <p:spPr>
          <a:xfrm>
            <a:off x="718462"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
        <p:nvSpPr>
          <p:cNvPr id="34" name="Text Placeholder 22">
            <a:extLst>
              <a:ext uri="{FF2B5EF4-FFF2-40B4-BE49-F238E27FC236}">
                <a16:creationId xmlns:a16="http://schemas.microsoft.com/office/drawing/2014/main" id="{3EC86FC6-EB8A-F15A-0312-191EC4A08CB5}"/>
              </a:ext>
            </a:extLst>
          </p:cNvPr>
          <p:cNvSpPr>
            <a:spLocks noGrp="1"/>
          </p:cNvSpPr>
          <p:nvPr>
            <p:ph type="body" sz="quarter" idx="15" hasCustomPrompt="1"/>
          </p:nvPr>
        </p:nvSpPr>
        <p:spPr>
          <a:xfrm>
            <a:off x="4550404" y="2070477"/>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2</a:t>
            </a:r>
          </a:p>
        </p:txBody>
      </p:sp>
      <p:sp>
        <p:nvSpPr>
          <p:cNvPr id="35" name="Text Placeholder 22">
            <a:extLst>
              <a:ext uri="{FF2B5EF4-FFF2-40B4-BE49-F238E27FC236}">
                <a16:creationId xmlns:a16="http://schemas.microsoft.com/office/drawing/2014/main" id="{51A5C485-5F16-9965-693B-A366ED41D5B9}"/>
              </a:ext>
            </a:extLst>
          </p:cNvPr>
          <p:cNvSpPr>
            <a:spLocks noGrp="1"/>
          </p:cNvSpPr>
          <p:nvPr>
            <p:ph type="body" sz="quarter" idx="16" hasCustomPrompt="1"/>
          </p:nvPr>
        </p:nvSpPr>
        <p:spPr>
          <a:xfrm>
            <a:off x="7230116"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37" name="Text Placeholder 22">
            <a:extLst>
              <a:ext uri="{FF2B5EF4-FFF2-40B4-BE49-F238E27FC236}">
                <a16:creationId xmlns:a16="http://schemas.microsoft.com/office/drawing/2014/main" id="{F384D136-9B3E-0727-8C40-D8E5DCD5D1B8}"/>
              </a:ext>
            </a:extLst>
          </p:cNvPr>
          <p:cNvSpPr>
            <a:spLocks noGrp="1"/>
          </p:cNvSpPr>
          <p:nvPr>
            <p:ph type="body" sz="quarter" idx="18" hasCustomPrompt="1"/>
          </p:nvPr>
        </p:nvSpPr>
        <p:spPr>
          <a:xfrm>
            <a:off x="8382345" y="2070477"/>
            <a:ext cx="246862" cy="553998"/>
          </a:xfrm>
        </p:spPr>
        <p:txBody>
          <a:bodyPr wrap="none">
            <a:spAutoFit/>
          </a:bodyPr>
          <a:lstStyle>
            <a:lvl1pPr>
              <a:defRPr sz="3600" b="0" i="0">
                <a:solidFill>
                  <a:schemeClr val="accent1"/>
                </a:solidFill>
                <a:latin typeface="Wallace Sans Light" pitchFamily="2" charset="0"/>
                <a:cs typeface="Wallace Sans Light" pitchFamily="2" charset="0"/>
              </a:defRPr>
            </a:lvl1pPr>
          </a:lstStyle>
          <a:p>
            <a:pPr lvl="0"/>
            <a:r>
              <a:rPr lang="en-US"/>
              <a:t>3</a:t>
            </a:r>
          </a:p>
        </p:txBody>
      </p:sp>
      <p:sp>
        <p:nvSpPr>
          <p:cNvPr id="3" name="Text Placeholder 12">
            <a:extLst>
              <a:ext uri="{FF2B5EF4-FFF2-40B4-BE49-F238E27FC236}">
                <a16:creationId xmlns:a16="http://schemas.microsoft.com/office/drawing/2014/main" id="{1B9B2D18-71A0-355C-4BF7-54B77164E109}"/>
              </a:ext>
            </a:extLst>
          </p:cNvPr>
          <p:cNvSpPr>
            <a:spLocks noGrp="1"/>
          </p:cNvSpPr>
          <p:nvPr>
            <p:ph type="body" sz="quarter" idx="10" hasCustomPrompt="1"/>
          </p:nvPr>
        </p:nvSpPr>
        <p:spPr>
          <a:xfrm>
            <a:off x="510790" y="482600"/>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2" name="Text Placeholder 22">
            <a:extLst>
              <a:ext uri="{FF2B5EF4-FFF2-40B4-BE49-F238E27FC236}">
                <a16:creationId xmlns:a16="http://schemas.microsoft.com/office/drawing/2014/main" id="{75EAFEBA-3539-7FA3-F828-4CA60830DD85}"/>
              </a:ext>
            </a:extLst>
          </p:cNvPr>
          <p:cNvSpPr>
            <a:spLocks noGrp="1"/>
          </p:cNvSpPr>
          <p:nvPr>
            <p:ph type="body" sz="quarter" idx="19" hasCustomPrompt="1"/>
          </p:nvPr>
        </p:nvSpPr>
        <p:spPr>
          <a:xfrm>
            <a:off x="11062057" y="2070477"/>
            <a:ext cx="405560" cy="553998"/>
          </a:xfrm>
        </p:spPr>
        <p:txBody>
          <a:bodyPr wrap="none" anchor="ctr">
            <a:spAutoFit/>
          </a:bodyPr>
          <a:lstStyle>
            <a:lvl1pPr marL="0" algn="l" defTabSz="914400" rtl="0" eaLnBrk="1" latinLnBrk="0" hangingPunct="1">
              <a:defRPr lang="en-US" sz="3600" kern="1200" dirty="0" smtClean="0">
                <a:solidFill>
                  <a:srgbClr val="000075"/>
                </a:solidFill>
                <a:latin typeface="Wallace Sans Light" pitchFamily="2" charset="0"/>
                <a:ea typeface="+mn-ea"/>
                <a:cs typeface="Wallace Sans Light" pitchFamily="2" charset="0"/>
              </a:defRPr>
            </a:lvl1pPr>
          </a:lstStyle>
          <a:p>
            <a:pPr lvl="0"/>
            <a:r>
              <a:rPr lang="en-US"/>
              <a:t>→</a:t>
            </a:r>
          </a:p>
        </p:txBody>
      </p:sp>
      <p:sp>
        <p:nvSpPr>
          <p:cNvPr id="24" name="Text Placeholder 26">
            <a:extLst>
              <a:ext uri="{FF2B5EF4-FFF2-40B4-BE49-F238E27FC236}">
                <a16:creationId xmlns:a16="http://schemas.microsoft.com/office/drawing/2014/main" id="{6D01A453-F973-F3EE-0552-4D4FE685D074}"/>
              </a:ext>
            </a:extLst>
          </p:cNvPr>
          <p:cNvSpPr>
            <a:spLocks noGrp="1"/>
          </p:cNvSpPr>
          <p:nvPr>
            <p:ph type="body" sz="quarter" idx="20" hasCustomPrompt="1"/>
          </p:nvPr>
        </p:nvSpPr>
        <p:spPr>
          <a:xfrm>
            <a:off x="4550404"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
        <p:nvSpPr>
          <p:cNvPr id="26" name="Text Placeholder 26">
            <a:extLst>
              <a:ext uri="{FF2B5EF4-FFF2-40B4-BE49-F238E27FC236}">
                <a16:creationId xmlns:a16="http://schemas.microsoft.com/office/drawing/2014/main" id="{E11C9D15-69CB-248A-4D5C-A1DA89751DD6}"/>
              </a:ext>
            </a:extLst>
          </p:cNvPr>
          <p:cNvSpPr>
            <a:spLocks noGrp="1"/>
          </p:cNvSpPr>
          <p:nvPr>
            <p:ph type="body" sz="quarter" idx="21" hasCustomPrompt="1"/>
          </p:nvPr>
        </p:nvSpPr>
        <p:spPr>
          <a:xfrm>
            <a:off x="8382345" y="2934288"/>
            <a:ext cx="3085272" cy="1461939"/>
          </a:xfrm>
        </p:spPr>
        <p:txBody>
          <a:bodyPr>
            <a:spAutoFit/>
          </a:bodyPr>
          <a:lstStyle>
            <a:lvl1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400" kern="1200" dirty="0" smtClean="0">
                <a:solidFill>
                  <a:srgbClr val="000075"/>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2pPr>
            <a:lvl3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3pPr>
            <a:lvl4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smtClean="0">
                <a:solidFill>
                  <a:srgbClr val="000075"/>
                </a:solidFill>
                <a:latin typeface="Wallace Sans BETA Light" pitchFamily="2" charset="77"/>
                <a:ea typeface="+mn-ea"/>
                <a:cs typeface="Wallace Sans BETA Light" pitchFamily="2" charset="77"/>
              </a:defRPr>
            </a:lvl4pPr>
            <a:lvl5pPr marL="0" marR="0" indent="0" algn="l" defTabSz="914400" rtl="0" eaLnBrk="1" fontAlgn="auto" latinLnBrk="0" hangingPunct="1">
              <a:lnSpc>
                <a:spcPts val="1900"/>
              </a:lnSpc>
              <a:spcBef>
                <a:spcPts val="600"/>
              </a:spcBef>
              <a:spcAft>
                <a:spcPts val="0"/>
              </a:spcAft>
              <a:buClrTx/>
              <a:buSzTx/>
              <a:buFont typeface="Abbott Wallace Sans Light" pitchFamily="50" charset="0"/>
              <a:buNone/>
              <a:tabLst/>
              <a:defRPr lang="en-US" sz="1600" kern="1200" dirty="0">
                <a:solidFill>
                  <a:srgbClr val="000075"/>
                </a:solidFill>
                <a:latin typeface="Wallace Sans BETA Light" pitchFamily="2" charset="77"/>
                <a:ea typeface="+mn-ea"/>
                <a:cs typeface="Wallace Sans BETA Light" pitchFamily="2" charset="77"/>
              </a:defRPr>
            </a:lvl5pPr>
          </a:lstStyle>
          <a:p>
            <a:r>
              <a:rPr lang="en-US"/>
              <a:t>Body copy in Wallace Sans, size </a:t>
            </a:r>
            <a:br>
              <a:rPr lang="en-US"/>
            </a:br>
            <a:r>
              <a:rPr lang="en-US"/>
              <a:t>14 pt, Lorem ipsum dolor sit </a:t>
            </a:r>
            <a:r>
              <a:rPr lang="en-US" err="1"/>
              <a:t>amet</a:t>
            </a:r>
            <a:r>
              <a:rPr lang="en-US"/>
              <a:t>, </a:t>
            </a:r>
            <a:r>
              <a:rPr lang="en-US" err="1"/>
              <a:t>consectetuer</a:t>
            </a:r>
            <a:r>
              <a:rPr lang="en-US"/>
              <a:t> </a:t>
            </a:r>
            <a:r>
              <a:rPr lang="en-US" err="1"/>
              <a:t>adipiscing</a:t>
            </a:r>
            <a:r>
              <a:rPr lang="en-US"/>
              <a:t> </a:t>
            </a:r>
            <a:r>
              <a:rPr lang="en-US" err="1"/>
              <a:t>elit</a:t>
            </a:r>
            <a:r>
              <a:rPr lang="en-US"/>
              <a:t>, sed diam </a:t>
            </a:r>
            <a:r>
              <a:rPr lang="en-US" err="1"/>
              <a:t>nonummy</a:t>
            </a:r>
            <a:r>
              <a:rPr lang="en-US"/>
              <a:t> </a:t>
            </a:r>
            <a:r>
              <a:rPr lang="en-US" err="1"/>
              <a:t>nibh</a:t>
            </a:r>
            <a:r>
              <a:rPr lang="en-US"/>
              <a:t> </a:t>
            </a:r>
            <a:r>
              <a:rPr lang="en-US" err="1"/>
              <a:t>euismod</a:t>
            </a:r>
            <a:r>
              <a:rPr lang="en-US"/>
              <a:t> </a:t>
            </a:r>
            <a:r>
              <a:rPr lang="en-US" err="1"/>
              <a:t>tincidunt</a:t>
            </a:r>
            <a:r>
              <a:rPr lang="en-US"/>
              <a:t> </a:t>
            </a:r>
            <a:r>
              <a:rPr lang="en-US" err="1"/>
              <a:t>ut</a:t>
            </a:r>
            <a:r>
              <a:rPr lang="en-US"/>
              <a:t> </a:t>
            </a:r>
            <a:r>
              <a:rPr lang="en-US" err="1"/>
              <a:t>laoreet</a:t>
            </a:r>
            <a:r>
              <a:rPr lang="en-US"/>
              <a:t> dolore magna </a:t>
            </a:r>
            <a:r>
              <a:rPr lang="en-US" err="1"/>
              <a:t>aliquam</a:t>
            </a:r>
            <a:r>
              <a:rPr lang="en-US"/>
              <a:t> </a:t>
            </a:r>
            <a:r>
              <a:rPr lang="en-US" err="1"/>
              <a:t>erat</a:t>
            </a:r>
            <a:r>
              <a:rPr lang="en-US"/>
              <a:t> </a:t>
            </a:r>
            <a:r>
              <a:rPr lang="en-US" err="1"/>
              <a:t>volutpat</a:t>
            </a:r>
            <a:r>
              <a:rPr lang="en-US"/>
              <a:t>. </a:t>
            </a:r>
          </a:p>
        </p:txBody>
      </p:sp>
    </p:spTree>
    <p:extLst>
      <p:ext uri="{BB962C8B-B14F-4D97-AF65-F5344CB8AC3E}">
        <p14:creationId xmlns:p14="http://schemas.microsoft.com/office/powerpoint/2010/main" val="382021473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ext + Image">
    <p:bg>
      <p:bgPr>
        <a:solidFill>
          <a:schemeClr val="bg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AC904B51-2EFC-2D5C-D89C-D0FB81E7EC0D}"/>
              </a:ext>
            </a:extLst>
          </p:cNvPr>
          <p:cNvSpPr>
            <a:spLocks noGrp="1"/>
          </p:cNvSpPr>
          <p:nvPr>
            <p:ph type="pic" sz="quarter" idx="13"/>
          </p:nvPr>
        </p:nvSpPr>
        <p:spPr>
          <a:xfrm>
            <a:off x="524383" y="508693"/>
            <a:ext cx="11143233" cy="5510280"/>
          </a:xfrm>
          <a:custGeom>
            <a:avLst/>
            <a:gdLst>
              <a:gd name="connsiteX0" fmla="*/ 0 w 11143233"/>
              <a:gd name="connsiteY0" fmla="*/ 0 h 5510280"/>
              <a:gd name="connsiteX1" fmla="*/ 60342 w 11143233"/>
              <a:gd name="connsiteY1" fmla="*/ 0 h 5510280"/>
              <a:gd name="connsiteX2" fmla="*/ 533411 w 11143233"/>
              <a:gd name="connsiteY2" fmla="*/ 0 h 5510280"/>
              <a:gd name="connsiteX3" fmla="*/ 11079590 w 11143233"/>
              <a:gd name="connsiteY3" fmla="*/ 0 h 5510280"/>
              <a:gd name="connsiteX4" fmla="*/ 11124593 w 11143233"/>
              <a:gd name="connsiteY4" fmla="*/ 18641 h 5510280"/>
              <a:gd name="connsiteX5" fmla="*/ 11143233 w 11143233"/>
              <a:gd name="connsiteY5" fmla="*/ 63642 h 5510280"/>
              <a:gd name="connsiteX6" fmla="*/ 11143233 w 11143233"/>
              <a:gd name="connsiteY6" fmla="*/ 5446640 h 5510280"/>
              <a:gd name="connsiteX7" fmla="*/ 11124593 w 11143233"/>
              <a:gd name="connsiteY7" fmla="*/ 5491641 h 5510280"/>
              <a:gd name="connsiteX8" fmla="*/ 11104363 w 11143233"/>
              <a:gd name="connsiteY8" fmla="*/ 5505280 h 5510280"/>
              <a:gd name="connsiteX9" fmla="*/ 11079595 w 11143233"/>
              <a:gd name="connsiteY9" fmla="*/ 5510280 h 5510280"/>
              <a:gd name="connsiteX10" fmla="*/ 60337 w 11143233"/>
              <a:gd name="connsiteY10" fmla="*/ 5510280 h 5510280"/>
              <a:gd name="connsiteX11" fmla="*/ 35569 w 11143233"/>
              <a:gd name="connsiteY11" fmla="*/ 5505280 h 5510280"/>
              <a:gd name="connsiteX12" fmla="*/ 15339 w 11143233"/>
              <a:gd name="connsiteY12" fmla="*/ 5491641 h 5510280"/>
              <a:gd name="connsiteX13" fmla="*/ 0 w 11143233"/>
              <a:gd name="connsiteY13" fmla="*/ 5454609 h 5510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1143233" h="5510280">
                <a:moveTo>
                  <a:pt x="0" y="0"/>
                </a:moveTo>
                <a:lnTo>
                  <a:pt x="60342" y="0"/>
                </a:lnTo>
                <a:lnTo>
                  <a:pt x="533411" y="0"/>
                </a:lnTo>
                <a:lnTo>
                  <a:pt x="11079590" y="0"/>
                </a:lnTo>
                <a:cubicBezTo>
                  <a:pt x="11097165" y="0"/>
                  <a:pt x="11113076" y="7124"/>
                  <a:pt x="11124593" y="18641"/>
                </a:cubicBezTo>
                <a:lnTo>
                  <a:pt x="11143233" y="63642"/>
                </a:lnTo>
                <a:lnTo>
                  <a:pt x="11143233" y="5446640"/>
                </a:lnTo>
                <a:lnTo>
                  <a:pt x="11124593" y="5491641"/>
                </a:lnTo>
                <a:cubicBezTo>
                  <a:pt x="11118835" y="5497399"/>
                  <a:pt x="11111978" y="5502059"/>
                  <a:pt x="11104363" y="5505280"/>
                </a:cubicBezTo>
                <a:lnTo>
                  <a:pt x="11079595" y="5510280"/>
                </a:lnTo>
                <a:lnTo>
                  <a:pt x="60337" y="5510280"/>
                </a:lnTo>
                <a:lnTo>
                  <a:pt x="35569" y="5505280"/>
                </a:lnTo>
                <a:cubicBezTo>
                  <a:pt x="27955" y="5502059"/>
                  <a:pt x="21098" y="5497399"/>
                  <a:pt x="15339" y="5491641"/>
                </a:cubicBezTo>
                <a:lnTo>
                  <a:pt x="0" y="5454609"/>
                </a:lnTo>
                <a:close/>
              </a:path>
            </a:pathLst>
          </a:custGeom>
          <a:solidFill>
            <a:schemeClr val="bg1">
              <a:lumMod val="95000"/>
            </a:schemeClr>
          </a:solidFill>
        </p:spPr>
        <p:txBody>
          <a:bodyPr wrap="square">
            <a:noAutofit/>
          </a:bodyPr>
          <a:lstStyle/>
          <a:p>
            <a:r>
              <a:rPr lang="en-US"/>
              <a:t>Click icon to add picture</a:t>
            </a:r>
          </a:p>
        </p:txBody>
      </p:sp>
      <p:sp>
        <p:nvSpPr>
          <p:cNvPr id="9" name="Text Placeholder 8">
            <a:extLst>
              <a:ext uri="{FF2B5EF4-FFF2-40B4-BE49-F238E27FC236}">
                <a16:creationId xmlns:a16="http://schemas.microsoft.com/office/drawing/2014/main" id="{9F5A7678-74B3-38ED-5454-6684643E890A}"/>
              </a:ext>
            </a:extLst>
          </p:cNvPr>
          <p:cNvSpPr>
            <a:spLocks noGrp="1"/>
          </p:cNvSpPr>
          <p:nvPr>
            <p:ph type="body" sz="quarter" idx="11" hasCustomPrompt="1"/>
          </p:nvPr>
        </p:nvSpPr>
        <p:spPr>
          <a:xfrm>
            <a:off x="674077" y="662378"/>
            <a:ext cx="8135471" cy="773289"/>
          </a:xfrm>
        </p:spPr>
        <p:txBody>
          <a:bodyPr>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Wallace Sans Light, 26 point size, 2 lines maximum, sentence case</a:t>
            </a:r>
            <a:endParaRPr lang="en-IN" sz="2600">
              <a:solidFill>
                <a:srgbClr val="000075"/>
              </a:solidFill>
              <a:latin typeface="Wallace Sans Light" pitchFamily="2" charset="0"/>
              <a:cs typeface="Wallace Sans Light" pitchFamily="2" charset="0"/>
            </a:endParaRPr>
          </a:p>
        </p:txBody>
      </p:sp>
      <p:sp>
        <p:nvSpPr>
          <p:cNvPr id="23" name="Footer Placeholder 4">
            <a:extLst>
              <a:ext uri="{FF2B5EF4-FFF2-40B4-BE49-F238E27FC236}">
                <a16:creationId xmlns:a16="http://schemas.microsoft.com/office/drawing/2014/main" id="{1BC6F875-7203-330C-8840-43B8967D471D}"/>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5" name="Slide Number Placeholder 3">
            <a:extLst>
              <a:ext uri="{FF2B5EF4-FFF2-40B4-BE49-F238E27FC236}">
                <a16:creationId xmlns:a16="http://schemas.microsoft.com/office/drawing/2014/main" id="{EEF9CA7B-C0DA-6FFA-2043-2646D5D67F2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cxnSp>
        <p:nvCxnSpPr>
          <p:cNvPr id="2" name="Straight Connector 1">
            <a:extLst>
              <a:ext uri="{FF2B5EF4-FFF2-40B4-BE49-F238E27FC236}">
                <a16:creationId xmlns:a16="http://schemas.microsoft.com/office/drawing/2014/main" id="{9462F3CE-B74A-2600-B666-1A5E737CD358}"/>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339321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ext + Image (1 column)">
    <p:bg>
      <p:bgPr>
        <a:solidFill>
          <a:schemeClr val="bg1"/>
        </a:solidFill>
        <a:effectLst/>
      </p:bgPr>
    </p:bg>
    <p:spTree>
      <p:nvGrpSpPr>
        <p:cNvPr id="1" name=""/>
        <p:cNvGrpSpPr/>
        <p:nvPr/>
      </p:nvGrpSpPr>
      <p:grpSpPr>
        <a:xfrm>
          <a:off x="0" y="0"/>
          <a:ext cx="0" cy="0"/>
          <a:chOff x="0" y="0"/>
          <a:chExt cx="0" cy="0"/>
        </a:xfrm>
      </p:grpSpPr>
      <p:sp>
        <p:nvSpPr>
          <p:cNvPr id="16" name="Text Placeholder 12">
            <a:extLst>
              <a:ext uri="{FF2B5EF4-FFF2-40B4-BE49-F238E27FC236}">
                <a16:creationId xmlns:a16="http://schemas.microsoft.com/office/drawing/2014/main" id="{703426B7-3F48-8E81-BB9B-669905588FE5}"/>
              </a:ext>
            </a:extLst>
          </p:cNvPr>
          <p:cNvSpPr>
            <a:spLocks noGrp="1"/>
          </p:cNvSpPr>
          <p:nvPr>
            <p:ph type="body" sz="quarter" idx="11" hasCustomPrompt="1"/>
          </p:nvPr>
        </p:nvSpPr>
        <p:spPr>
          <a:xfrm>
            <a:off x="510790" y="451287"/>
            <a:ext cx="4436113"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14">
            <a:extLst>
              <a:ext uri="{FF2B5EF4-FFF2-40B4-BE49-F238E27FC236}">
                <a16:creationId xmlns:a16="http://schemas.microsoft.com/office/drawing/2014/main" id="{AF070469-74AE-6F8E-EDEE-20F5ED783C3B}"/>
              </a:ext>
            </a:extLst>
          </p:cNvPr>
          <p:cNvSpPr>
            <a:spLocks noGrp="1"/>
          </p:cNvSpPr>
          <p:nvPr>
            <p:ph type="body" sz="quarter" idx="12" hasCustomPrompt="1"/>
          </p:nvPr>
        </p:nvSpPr>
        <p:spPr>
          <a:xfrm>
            <a:off x="510791" y="1904402"/>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6">
            <a:extLst>
              <a:ext uri="{FF2B5EF4-FFF2-40B4-BE49-F238E27FC236}">
                <a16:creationId xmlns:a16="http://schemas.microsoft.com/office/drawing/2014/main" id="{4FBD8689-B6B6-E8C4-38FF-3A6B6A1F7D1A}"/>
              </a:ext>
            </a:extLst>
          </p:cNvPr>
          <p:cNvSpPr>
            <a:spLocks noGrp="1"/>
          </p:cNvSpPr>
          <p:nvPr>
            <p:ph type="body" sz="quarter" idx="13" hasCustomPrompt="1"/>
          </p:nvPr>
        </p:nvSpPr>
        <p:spPr>
          <a:xfrm>
            <a:off x="510790" y="2275948"/>
            <a:ext cx="4436113" cy="3776472"/>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19" name="Footer Placeholder 4">
            <a:extLst>
              <a:ext uri="{FF2B5EF4-FFF2-40B4-BE49-F238E27FC236}">
                <a16:creationId xmlns:a16="http://schemas.microsoft.com/office/drawing/2014/main" id="{2E393282-9D11-4724-B1A3-5087F22CB189}"/>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1" name="Slide Number Placeholder 3">
            <a:extLst>
              <a:ext uri="{FF2B5EF4-FFF2-40B4-BE49-F238E27FC236}">
                <a16:creationId xmlns:a16="http://schemas.microsoft.com/office/drawing/2014/main" id="{07CAF766-5323-97CB-CAE7-9E82CE5B993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Picture Placeholder 30">
            <a:extLst>
              <a:ext uri="{FF2B5EF4-FFF2-40B4-BE49-F238E27FC236}">
                <a16:creationId xmlns:a16="http://schemas.microsoft.com/office/drawing/2014/main" id="{14B8C2F5-4386-582B-CEF7-F83088290AB5}"/>
              </a:ext>
            </a:extLst>
          </p:cNvPr>
          <p:cNvSpPr>
            <a:spLocks noGrp="1"/>
          </p:cNvSpPr>
          <p:nvPr>
            <p:ph type="pic" sz="quarter" idx="14"/>
          </p:nvPr>
        </p:nvSpPr>
        <p:spPr>
          <a:xfrm>
            <a:off x="5280137" y="508666"/>
            <a:ext cx="6391656" cy="5522976"/>
          </a:xfrm>
          <a:custGeom>
            <a:avLst/>
            <a:gdLst>
              <a:gd name="connsiteX0" fmla="*/ 0 w 6391656"/>
              <a:gd name="connsiteY0" fmla="*/ 0 h 5522976"/>
              <a:gd name="connsiteX1" fmla="*/ 83397 w 6391656"/>
              <a:gd name="connsiteY1" fmla="*/ 0 h 5522976"/>
              <a:gd name="connsiteX2" fmla="*/ 957943 w 6391656"/>
              <a:gd name="connsiteY2" fmla="*/ 0 h 5522976"/>
              <a:gd name="connsiteX3" fmla="*/ 6308259 w 6391656"/>
              <a:gd name="connsiteY3" fmla="*/ 0 h 5522976"/>
              <a:gd name="connsiteX4" fmla="*/ 6391656 w 6391656"/>
              <a:gd name="connsiteY4" fmla="*/ 83397 h 5522976"/>
              <a:gd name="connsiteX5" fmla="*/ 6391656 w 6391656"/>
              <a:gd name="connsiteY5" fmla="*/ 5439579 h 5522976"/>
              <a:gd name="connsiteX6" fmla="*/ 6308259 w 6391656"/>
              <a:gd name="connsiteY6" fmla="*/ 5522976 h 5522976"/>
              <a:gd name="connsiteX7" fmla="*/ 83397 w 6391656"/>
              <a:gd name="connsiteY7" fmla="*/ 5522976 h 5522976"/>
              <a:gd name="connsiteX8" fmla="*/ 0 w 6391656"/>
              <a:gd name="connsiteY8" fmla="*/ 5439579 h 5522976"/>
              <a:gd name="connsiteX9" fmla="*/ 0 w 6391656"/>
              <a:gd name="connsiteY9" fmla="*/ 642257 h 5522976"/>
              <a:gd name="connsiteX10" fmla="*/ 0 w 6391656"/>
              <a:gd name="connsiteY10" fmla="*/ 83397 h 552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6" h="5522976">
                <a:moveTo>
                  <a:pt x="0" y="0"/>
                </a:moveTo>
                <a:lnTo>
                  <a:pt x="83397" y="0"/>
                </a:lnTo>
                <a:lnTo>
                  <a:pt x="957943" y="0"/>
                </a:lnTo>
                <a:lnTo>
                  <a:pt x="6308259" y="0"/>
                </a:lnTo>
                <a:cubicBezTo>
                  <a:pt x="6354318" y="0"/>
                  <a:pt x="6391656" y="37338"/>
                  <a:pt x="6391656" y="83397"/>
                </a:cubicBezTo>
                <a:lnTo>
                  <a:pt x="6391656" y="5439579"/>
                </a:lnTo>
                <a:cubicBezTo>
                  <a:pt x="6391656" y="5485638"/>
                  <a:pt x="6354318" y="5522976"/>
                  <a:pt x="6308259" y="5522976"/>
                </a:cubicBezTo>
                <a:lnTo>
                  <a:pt x="83397" y="5522976"/>
                </a:lnTo>
                <a:cubicBezTo>
                  <a:pt x="37338" y="5522976"/>
                  <a:pt x="0" y="5485638"/>
                  <a:pt x="0" y="5439579"/>
                </a:cubicBezTo>
                <a:lnTo>
                  <a:pt x="0" y="642257"/>
                </a:lnTo>
                <a:lnTo>
                  <a:pt x="0" y="83397"/>
                </a:lnTo>
                <a:close/>
              </a:path>
            </a:pathLst>
          </a:custGeom>
          <a:solidFill>
            <a:schemeClr val="bg1">
              <a:lumMod val="95000"/>
            </a:schemeClr>
          </a:solidFill>
        </p:spPr>
        <p:txBody>
          <a:bodyPr wrap="square">
            <a:noAutofit/>
          </a:bodyPr>
          <a:lstStyle/>
          <a:p>
            <a:r>
              <a:rPr lang="en-US"/>
              <a:t>Click icon to add picture</a:t>
            </a:r>
          </a:p>
        </p:txBody>
      </p:sp>
      <p:cxnSp>
        <p:nvCxnSpPr>
          <p:cNvPr id="2" name="Straight Connector 1">
            <a:extLst>
              <a:ext uri="{FF2B5EF4-FFF2-40B4-BE49-F238E27FC236}">
                <a16:creationId xmlns:a16="http://schemas.microsoft.com/office/drawing/2014/main" id="{76764696-8231-C8DA-8F66-E11B1C1774BA}"/>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89249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xt + Image ( 1 column, 2 rows)">
    <p:bg>
      <p:bgPr>
        <a:solidFill>
          <a:schemeClr val="bg1"/>
        </a:solidFill>
        <a:effectLst/>
      </p:bgPr>
    </p:bg>
    <p:spTree>
      <p:nvGrpSpPr>
        <p:cNvPr id="1" name=""/>
        <p:cNvGrpSpPr/>
        <p:nvPr/>
      </p:nvGrpSpPr>
      <p:grpSpPr>
        <a:xfrm>
          <a:off x="0" y="0"/>
          <a:ext cx="0" cy="0"/>
          <a:chOff x="0" y="0"/>
          <a:chExt cx="0" cy="0"/>
        </a:xfrm>
      </p:grpSpPr>
      <p:sp>
        <p:nvSpPr>
          <p:cNvPr id="16" name="Text Placeholder 12">
            <a:extLst>
              <a:ext uri="{FF2B5EF4-FFF2-40B4-BE49-F238E27FC236}">
                <a16:creationId xmlns:a16="http://schemas.microsoft.com/office/drawing/2014/main" id="{703426B7-3F48-8E81-BB9B-669905588FE5}"/>
              </a:ext>
            </a:extLst>
          </p:cNvPr>
          <p:cNvSpPr>
            <a:spLocks noGrp="1"/>
          </p:cNvSpPr>
          <p:nvPr>
            <p:ph type="body" sz="quarter" idx="11" hasCustomPrompt="1"/>
          </p:nvPr>
        </p:nvSpPr>
        <p:spPr>
          <a:xfrm>
            <a:off x="510790" y="451287"/>
            <a:ext cx="4436113"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7" name="Text Placeholder 14">
            <a:extLst>
              <a:ext uri="{FF2B5EF4-FFF2-40B4-BE49-F238E27FC236}">
                <a16:creationId xmlns:a16="http://schemas.microsoft.com/office/drawing/2014/main" id="{AF070469-74AE-6F8E-EDEE-20F5ED783C3B}"/>
              </a:ext>
            </a:extLst>
          </p:cNvPr>
          <p:cNvSpPr>
            <a:spLocks noGrp="1"/>
          </p:cNvSpPr>
          <p:nvPr>
            <p:ph type="body" sz="quarter" idx="12" hasCustomPrompt="1"/>
          </p:nvPr>
        </p:nvSpPr>
        <p:spPr>
          <a:xfrm>
            <a:off x="510791" y="1904402"/>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8" name="Text Placeholder 16">
            <a:extLst>
              <a:ext uri="{FF2B5EF4-FFF2-40B4-BE49-F238E27FC236}">
                <a16:creationId xmlns:a16="http://schemas.microsoft.com/office/drawing/2014/main" id="{4FBD8689-B6B6-E8C4-38FF-3A6B6A1F7D1A}"/>
              </a:ext>
            </a:extLst>
          </p:cNvPr>
          <p:cNvSpPr>
            <a:spLocks noGrp="1"/>
          </p:cNvSpPr>
          <p:nvPr>
            <p:ph type="body" sz="quarter" idx="13" hasCustomPrompt="1"/>
          </p:nvPr>
        </p:nvSpPr>
        <p:spPr>
          <a:xfrm>
            <a:off x="510790" y="2275948"/>
            <a:ext cx="4436113" cy="1000274"/>
          </a:xfrm>
        </p:spPr>
        <p:txBody>
          <a:bodyPr wrap="square">
            <a:sp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p:txBody>
      </p:sp>
      <p:sp>
        <p:nvSpPr>
          <p:cNvPr id="19" name="Footer Placeholder 4">
            <a:extLst>
              <a:ext uri="{FF2B5EF4-FFF2-40B4-BE49-F238E27FC236}">
                <a16:creationId xmlns:a16="http://schemas.microsoft.com/office/drawing/2014/main" id="{2E393282-9D11-4724-B1A3-5087F22CB189}"/>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21" name="Slide Number Placeholder 3">
            <a:extLst>
              <a:ext uri="{FF2B5EF4-FFF2-40B4-BE49-F238E27FC236}">
                <a16:creationId xmlns:a16="http://schemas.microsoft.com/office/drawing/2014/main" id="{07CAF766-5323-97CB-CAE7-9E82CE5B993B}"/>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Picture Placeholder 30">
            <a:extLst>
              <a:ext uri="{FF2B5EF4-FFF2-40B4-BE49-F238E27FC236}">
                <a16:creationId xmlns:a16="http://schemas.microsoft.com/office/drawing/2014/main" id="{14B8C2F5-4386-582B-CEF7-F83088290AB5}"/>
              </a:ext>
            </a:extLst>
          </p:cNvPr>
          <p:cNvSpPr>
            <a:spLocks noGrp="1"/>
          </p:cNvSpPr>
          <p:nvPr>
            <p:ph type="pic" sz="quarter" idx="14"/>
          </p:nvPr>
        </p:nvSpPr>
        <p:spPr>
          <a:xfrm>
            <a:off x="5280137" y="508666"/>
            <a:ext cx="6391656" cy="5522976"/>
          </a:xfrm>
          <a:custGeom>
            <a:avLst/>
            <a:gdLst>
              <a:gd name="connsiteX0" fmla="*/ 0 w 6391656"/>
              <a:gd name="connsiteY0" fmla="*/ 0 h 5522976"/>
              <a:gd name="connsiteX1" fmla="*/ 83397 w 6391656"/>
              <a:gd name="connsiteY1" fmla="*/ 0 h 5522976"/>
              <a:gd name="connsiteX2" fmla="*/ 957943 w 6391656"/>
              <a:gd name="connsiteY2" fmla="*/ 0 h 5522976"/>
              <a:gd name="connsiteX3" fmla="*/ 6308259 w 6391656"/>
              <a:gd name="connsiteY3" fmla="*/ 0 h 5522976"/>
              <a:gd name="connsiteX4" fmla="*/ 6391656 w 6391656"/>
              <a:gd name="connsiteY4" fmla="*/ 83397 h 5522976"/>
              <a:gd name="connsiteX5" fmla="*/ 6391656 w 6391656"/>
              <a:gd name="connsiteY5" fmla="*/ 5439579 h 5522976"/>
              <a:gd name="connsiteX6" fmla="*/ 6308259 w 6391656"/>
              <a:gd name="connsiteY6" fmla="*/ 5522976 h 5522976"/>
              <a:gd name="connsiteX7" fmla="*/ 83397 w 6391656"/>
              <a:gd name="connsiteY7" fmla="*/ 5522976 h 5522976"/>
              <a:gd name="connsiteX8" fmla="*/ 0 w 6391656"/>
              <a:gd name="connsiteY8" fmla="*/ 5439579 h 5522976"/>
              <a:gd name="connsiteX9" fmla="*/ 0 w 6391656"/>
              <a:gd name="connsiteY9" fmla="*/ 642257 h 5522976"/>
              <a:gd name="connsiteX10" fmla="*/ 0 w 6391656"/>
              <a:gd name="connsiteY10" fmla="*/ 83397 h 5522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91656" h="5522976">
                <a:moveTo>
                  <a:pt x="0" y="0"/>
                </a:moveTo>
                <a:lnTo>
                  <a:pt x="83397" y="0"/>
                </a:lnTo>
                <a:lnTo>
                  <a:pt x="957943" y="0"/>
                </a:lnTo>
                <a:lnTo>
                  <a:pt x="6308259" y="0"/>
                </a:lnTo>
                <a:cubicBezTo>
                  <a:pt x="6354318" y="0"/>
                  <a:pt x="6391656" y="37338"/>
                  <a:pt x="6391656" y="83397"/>
                </a:cubicBezTo>
                <a:lnTo>
                  <a:pt x="6391656" y="5439579"/>
                </a:lnTo>
                <a:cubicBezTo>
                  <a:pt x="6391656" y="5485638"/>
                  <a:pt x="6354318" y="5522976"/>
                  <a:pt x="6308259" y="5522976"/>
                </a:cubicBezTo>
                <a:lnTo>
                  <a:pt x="83397" y="5522976"/>
                </a:lnTo>
                <a:cubicBezTo>
                  <a:pt x="37338" y="5522976"/>
                  <a:pt x="0" y="5485638"/>
                  <a:pt x="0" y="5439579"/>
                </a:cubicBezTo>
                <a:lnTo>
                  <a:pt x="0" y="642257"/>
                </a:lnTo>
                <a:lnTo>
                  <a:pt x="0" y="83397"/>
                </a:lnTo>
                <a:close/>
              </a:path>
            </a:pathLst>
          </a:custGeom>
          <a:solidFill>
            <a:schemeClr val="bg1">
              <a:lumMod val="95000"/>
            </a:schemeClr>
          </a:solidFill>
        </p:spPr>
        <p:txBody>
          <a:bodyPr wrap="square">
            <a:noAutofit/>
          </a:bodyPr>
          <a:lstStyle/>
          <a:p>
            <a:r>
              <a:rPr lang="en-US"/>
              <a:t>Click icon to add picture</a:t>
            </a:r>
          </a:p>
        </p:txBody>
      </p:sp>
      <p:sp>
        <p:nvSpPr>
          <p:cNvPr id="4" name="Text Placeholder 14">
            <a:extLst>
              <a:ext uri="{FF2B5EF4-FFF2-40B4-BE49-F238E27FC236}">
                <a16:creationId xmlns:a16="http://schemas.microsoft.com/office/drawing/2014/main" id="{45D1D264-B1D5-92DD-A2B3-430CFF04D029}"/>
              </a:ext>
            </a:extLst>
          </p:cNvPr>
          <p:cNvSpPr>
            <a:spLocks noGrp="1"/>
          </p:cNvSpPr>
          <p:nvPr>
            <p:ph type="body" sz="quarter" idx="15" hasCustomPrompt="1"/>
          </p:nvPr>
        </p:nvSpPr>
        <p:spPr>
          <a:xfrm>
            <a:off x="510791" y="3626020"/>
            <a:ext cx="4436113"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5" name="Text Placeholder 16">
            <a:extLst>
              <a:ext uri="{FF2B5EF4-FFF2-40B4-BE49-F238E27FC236}">
                <a16:creationId xmlns:a16="http://schemas.microsoft.com/office/drawing/2014/main" id="{1F2BB8FE-2917-F51C-6DEE-60F9DD679B5A}"/>
              </a:ext>
            </a:extLst>
          </p:cNvPr>
          <p:cNvSpPr>
            <a:spLocks noGrp="1"/>
          </p:cNvSpPr>
          <p:nvPr>
            <p:ph type="body" sz="quarter" idx="16" hasCustomPrompt="1"/>
          </p:nvPr>
        </p:nvSpPr>
        <p:spPr>
          <a:xfrm>
            <a:off x="510790" y="3997566"/>
            <a:ext cx="4436113" cy="1646605"/>
          </a:xfrm>
        </p:spPr>
        <p:txBody>
          <a:bodyPr wrap="square">
            <a:spAutoFit/>
          </a:body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cxnSp>
        <p:nvCxnSpPr>
          <p:cNvPr id="2" name="Straight Connector 1">
            <a:extLst>
              <a:ext uri="{FF2B5EF4-FFF2-40B4-BE49-F238E27FC236}">
                <a16:creationId xmlns:a16="http://schemas.microsoft.com/office/drawing/2014/main" id="{C1F0F322-2199-11C3-778B-BE6A0E864AC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0721714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ext + Image ( 1 column, 3 rows)">
    <p:bg>
      <p:bgPr>
        <a:solidFill>
          <a:schemeClr val="bg1"/>
        </a:solidFill>
        <a:effectLst/>
      </p:bgPr>
    </p:bg>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970D659A-4242-5312-0B69-AD62A71CF20D}"/>
              </a:ext>
            </a:extLst>
          </p:cNvPr>
          <p:cNvSpPr>
            <a:spLocks noGrp="1"/>
          </p:cNvSpPr>
          <p:nvPr>
            <p:ph type="pic" sz="quarter" idx="10"/>
          </p:nvPr>
        </p:nvSpPr>
        <p:spPr>
          <a:xfrm>
            <a:off x="6231112" y="508667"/>
            <a:ext cx="5440680" cy="5522975"/>
          </a:xfrm>
          <a:custGeom>
            <a:avLst/>
            <a:gdLst>
              <a:gd name="connsiteX0" fmla="*/ 0 w 5440680"/>
              <a:gd name="connsiteY0" fmla="*/ 0 h 5522975"/>
              <a:gd name="connsiteX1" fmla="*/ 90206 w 5440680"/>
              <a:gd name="connsiteY1" fmla="*/ 0 h 5522975"/>
              <a:gd name="connsiteX2" fmla="*/ 424543 w 5440680"/>
              <a:gd name="connsiteY2" fmla="*/ 0 h 5522975"/>
              <a:gd name="connsiteX3" fmla="*/ 5350475 w 5440680"/>
              <a:gd name="connsiteY3" fmla="*/ 0 h 5522975"/>
              <a:gd name="connsiteX4" fmla="*/ 5433592 w 5440680"/>
              <a:gd name="connsiteY4" fmla="*/ 55094 h 5522975"/>
              <a:gd name="connsiteX5" fmla="*/ 5440680 w 5440680"/>
              <a:gd name="connsiteY5" fmla="*/ 90201 h 5522975"/>
              <a:gd name="connsiteX6" fmla="*/ 5440680 w 5440680"/>
              <a:gd name="connsiteY6" fmla="*/ 5432775 h 5522975"/>
              <a:gd name="connsiteX7" fmla="*/ 5433592 w 5440680"/>
              <a:gd name="connsiteY7" fmla="*/ 5467882 h 5522975"/>
              <a:gd name="connsiteX8" fmla="*/ 5385587 w 5440680"/>
              <a:gd name="connsiteY8" fmla="*/ 5515887 h 5522975"/>
              <a:gd name="connsiteX9" fmla="*/ 5350480 w 5440680"/>
              <a:gd name="connsiteY9" fmla="*/ 5522975 h 5522975"/>
              <a:gd name="connsiteX10" fmla="*/ 90201 w 5440680"/>
              <a:gd name="connsiteY10" fmla="*/ 5522975 h 5522975"/>
              <a:gd name="connsiteX11" fmla="*/ 55094 w 5440680"/>
              <a:gd name="connsiteY11" fmla="*/ 5515887 h 5522975"/>
              <a:gd name="connsiteX12" fmla="*/ 0 w 5440680"/>
              <a:gd name="connsiteY12" fmla="*/ 5432770 h 5522975"/>
              <a:gd name="connsiteX13" fmla="*/ 0 w 5440680"/>
              <a:gd name="connsiteY13" fmla="*/ 326571 h 5522975"/>
              <a:gd name="connsiteX14" fmla="*/ 0 w 5440680"/>
              <a:gd name="connsiteY14" fmla="*/ 90206 h 5522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40680" h="5522975">
                <a:moveTo>
                  <a:pt x="0" y="0"/>
                </a:moveTo>
                <a:lnTo>
                  <a:pt x="90206" y="0"/>
                </a:lnTo>
                <a:lnTo>
                  <a:pt x="424543" y="0"/>
                </a:lnTo>
                <a:lnTo>
                  <a:pt x="5350475" y="0"/>
                </a:lnTo>
                <a:cubicBezTo>
                  <a:pt x="5387839" y="0"/>
                  <a:pt x="5419898" y="22718"/>
                  <a:pt x="5433592" y="55094"/>
                </a:cubicBezTo>
                <a:lnTo>
                  <a:pt x="5440680" y="90201"/>
                </a:lnTo>
                <a:lnTo>
                  <a:pt x="5440680" y="5432775"/>
                </a:lnTo>
                <a:lnTo>
                  <a:pt x="5433592" y="5467882"/>
                </a:lnTo>
                <a:cubicBezTo>
                  <a:pt x="5424463" y="5489466"/>
                  <a:pt x="5407171" y="5506758"/>
                  <a:pt x="5385587" y="5515887"/>
                </a:cubicBezTo>
                <a:lnTo>
                  <a:pt x="5350480" y="5522975"/>
                </a:lnTo>
                <a:lnTo>
                  <a:pt x="90201" y="5522975"/>
                </a:lnTo>
                <a:lnTo>
                  <a:pt x="55094" y="5515887"/>
                </a:lnTo>
                <a:cubicBezTo>
                  <a:pt x="22718" y="5502193"/>
                  <a:pt x="0" y="5470135"/>
                  <a:pt x="0" y="5432770"/>
                </a:cubicBezTo>
                <a:lnTo>
                  <a:pt x="0" y="326571"/>
                </a:lnTo>
                <a:lnTo>
                  <a:pt x="0" y="90206"/>
                </a:lnTo>
                <a:close/>
              </a:path>
            </a:pathLst>
          </a:custGeom>
          <a:solidFill>
            <a:schemeClr val="bg1">
              <a:lumMod val="95000"/>
            </a:schemeClr>
          </a:solidFill>
        </p:spPr>
        <p:txBody>
          <a:bodyPr wrap="square">
            <a:noAutofit/>
          </a:bodyPr>
          <a:lstStyle/>
          <a:p>
            <a:r>
              <a:rPr lang="en-US"/>
              <a:t>Click icon to add picture</a:t>
            </a:r>
          </a:p>
        </p:txBody>
      </p:sp>
      <p:sp>
        <p:nvSpPr>
          <p:cNvPr id="4" name="Footer Placeholder 4">
            <a:extLst>
              <a:ext uri="{FF2B5EF4-FFF2-40B4-BE49-F238E27FC236}">
                <a16:creationId xmlns:a16="http://schemas.microsoft.com/office/drawing/2014/main" id="{B79BE96B-F1CE-8952-EDBD-2A807D422A3B}"/>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2FB53BA5-9688-295F-A0EE-AB3D03D627CD}"/>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7" name="Text Placeholder 14">
            <a:extLst>
              <a:ext uri="{FF2B5EF4-FFF2-40B4-BE49-F238E27FC236}">
                <a16:creationId xmlns:a16="http://schemas.microsoft.com/office/drawing/2014/main" id="{35E7A82C-702C-75C5-0F16-9D4F6C44AF5E}"/>
              </a:ext>
            </a:extLst>
          </p:cNvPr>
          <p:cNvSpPr>
            <a:spLocks noGrp="1"/>
          </p:cNvSpPr>
          <p:nvPr>
            <p:ph type="body" sz="quarter" idx="13" hasCustomPrompt="1"/>
          </p:nvPr>
        </p:nvSpPr>
        <p:spPr>
          <a:xfrm>
            <a:off x="510790" y="471288"/>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9" name="Text Placeholder 16">
            <a:extLst>
              <a:ext uri="{FF2B5EF4-FFF2-40B4-BE49-F238E27FC236}">
                <a16:creationId xmlns:a16="http://schemas.microsoft.com/office/drawing/2014/main" id="{E52AB7A8-F334-1A41-6B98-DEAFF30FF581}"/>
              </a:ext>
            </a:extLst>
          </p:cNvPr>
          <p:cNvSpPr>
            <a:spLocks noGrp="1"/>
          </p:cNvSpPr>
          <p:nvPr>
            <p:ph type="body" sz="quarter" idx="14" hasCustomPrompt="1"/>
          </p:nvPr>
        </p:nvSpPr>
        <p:spPr>
          <a:xfrm>
            <a:off x="510790" y="830297"/>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sp>
        <p:nvSpPr>
          <p:cNvPr id="18" name="Text Placeholder 14">
            <a:extLst>
              <a:ext uri="{FF2B5EF4-FFF2-40B4-BE49-F238E27FC236}">
                <a16:creationId xmlns:a16="http://schemas.microsoft.com/office/drawing/2014/main" id="{2EFB90CD-39DC-4BED-5E95-F53DD781D103}"/>
              </a:ext>
            </a:extLst>
          </p:cNvPr>
          <p:cNvSpPr>
            <a:spLocks noGrp="1"/>
          </p:cNvSpPr>
          <p:nvPr>
            <p:ph type="body" sz="quarter" idx="15" hasCustomPrompt="1"/>
          </p:nvPr>
        </p:nvSpPr>
        <p:spPr>
          <a:xfrm>
            <a:off x="510790" y="2026969"/>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9" name="Text Placeholder 16">
            <a:extLst>
              <a:ext uri="{FF2B5EF4-FFF2-40B4-BE49-F238E27FC236}">
                <a16:creationId xmlns:a16="http://schemas.microsoft.com/office/drawing/2014/main" id="{E24C186E-1AAF-F75B-5428-1A6B3DF83726}"/>
              </a:ext>
            </a:extLst>
          </p:cNvPr>
          <p:cNvSpPr>
            <a:spLocks noGrp="1"/>
          </p:cNvSpPr>
          <p:nvPr>
            <p:ph type="body" sz="quarter" idx="16" hasCustomPrompt="1"/>
          </p:nvPr>
        </p:nvSpPr>
        <p:spPr>
          <a:xfrm>
            <a:off x="510790" y="2385978"/>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sp>
        <p:nvSpPr>
          <p:cNvPr id="20" name="Text Placeholder 14">
            <a:extLst>
              <a:ext uri="{FF2B5EF4-FFF2-40B4-BE49-F238E27FC236}">
                <a16:creationId xmlns:a16="http://schemas.microsoft.com/office/drawing/2014/main" id="{0F1DAF77-A08E-A05D-EECF-95EDD6E575CC}"/>
              </a:ext>
            </a:extLst>
          </p:cNvPr>
          <p:cNvSpPr>
            <a:spLocks noGrp="1"/>
          </p:cNvSpPr>
          <p:nvPr>
            <p:ph type="body" sz="quarter" idx="17" hasCustomPrompt="1"/>
          </p:nvPr>
        </p:nvSpPr>
        <p:spPr>
          <a:xfrm>
            <a:off x="510790" y="3604980"/>
            <a:ext cx="5422392" cy="276999"/>
          </a:xfrm>
        </p:spPr>
        <p:txBody>
          <a:bodyPr wrap="square">
            <a:sp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lang="en-US" sz="1800" b="0" i="0" kern="100" spc="0" baseline="0" dirty="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21" name="Text Placeholder 16">
            <a:extLst>
              <a:ext uri="{FF2B5EF4-FFF2-40B4-BE49-F238E27FC236}">
                <a16:creationId xmlns:a16="http://schemas.microsoft.com/office/drawing/2014/main" id="{29A20F68-1ED3-87BB-6D4F-713C8AC9AA39}"/>
              </a:ext>
            </a:extLst>
          </p:cNvPr>
          <p:cNvSpPr>
            <a:spLocks noGrp="1"/>
          </p:cNvSpPr>
          <p:nvPr>
            <p:ph type="body" sz="quarter" idx="18" hasCustomPrompt="1"/>
          </p:nvPr>
        </p:nvSpPr>
        <p:spPr>
          <a:xfrm>
            <a:off x="510790" y="3963989"/>
            <a:ext cx="5422392" cy="730969"/>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tincidunt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ut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laoreet</a:t>
            </a:r>
            <a:r>
              <a:rPr lang="en-IN" sz="1400" spc="0">
                <a:latin typeface="Wallace Sans BETA Light" pitchFamily="2" charset="77"/>
                <a:cs typeface="Wallace Sans BETA Light" pitchFamily="2" charset="77"/>
              </a:rPr>
              <a:t> dolore magna </a:t>
            </a:r>
            <a:r>
              <a:rPr lang="en-IN" sz="1400" spc="0" err="1">
                <a:latin typeface="Wallace Sans BETA Light" pitchFamily="2" charset="77"/>
                <a:cs typeface="Wallace Sans BETA Light" pitchFamily="2" charset="77"/>
              </a:rPr>
              <a:t>aliquam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erat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volutpat</a:t>
            </a:r>
            <a:r>
              <a:rPr lang="en-IN" sz="1400" spc="0">
                <a:latin typeface="Wallace Sans BETA Light" pitchFamily="2" charset="77"/>
                <a:cs typeface="Wallace Sans BETA Light" pitchFamily="2" charset="77"/>
              </a:rPr>
              <a:t>.</a:t>
            </a:r>
          </a:p>
        </p:txBody>
      </p:sp>
      <p:cxnSp>
        <p:nvCxnSpPr>
          <p:cNvPr id="3" name="Straight Connector 2">
            <a:extLst>
              <a:ext uri="{FF2B5EF4-FFF2-40B4-BE49-F238E27FC236}">
                <a16:creationId xmlns:a16="http://schemas.microsoft.com/office/drawing/2014/main" id="{5C6FE177-5CF4-75A7-D6A2-557AF8ADCA1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4295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aption + Image ( 2 cells)">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E2180CA1-0A17-F18D-6B99-415DB00C70D3}"/>
              </a:ext>
            </a:extLst>
          </p:cNvPr>
          <p:cNvSpPr>
            <a:spLocks noGrp="1"/>
          </p:cNvSpPr>
          <p:nvPr>
            <p:ph type="pic" sz="quarter" idx="13"/>
          </p:nvPr>
        </p:nvSpPr>
        <p:spPr>
          <a:xfrm>
            <a:off x="517490" y="1933574"/>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5" name="Text Placeholder 24">
            <a:extLst>
              <a:ext uri="{FF2B5EF4-FFF2-40B4-BE49-F238E27FC236}">
                <a16:creationId xmlns:a16="http://schemas.microsoft.com/office/drawing/2014/main" id="{7FB0613D-B8F9-E282-68E9-008B6A0FB12F}"/>
              </a:ext>
            </a:extLst>
          </p:cNvPr>
          <p:cNvSpPr>
            <a:spLocks noGrp="1"/>
          </p:cNvSpPr>
          <p:nvPr>
            <p:ph type="body" sz="quarter" idx="14" hasCustomPrompt="1"/>
          </p:nvPr>
        </p:nvSpPr>
        <p:spPr>
          <a:xfrm>
            <a:off x="517490" y="5475957"/>
            <a:ext cx="5388252" cy="578991"/>
          </a:xfrm>
          <a:custGeom>
            <a:avLst/>
            <a:gdLst>
              <a:gd name="connsiteX0" fmla="*/ 0 w 5388252"/>
              <a:gd name="connsiteY0" fmla="*/ 0 h 578991"/>
              <a:gd name="connsiteX1" fmla="*/ 5388252 w 5388252"/>
              <a:gd name="connsiteY1" fmla="*/ 0 h 578991"/>
              <a:gd name="connsiteX2" fmla="*/ 5388252 w 5388252"/>
              <a:gd name="connsiteY2" fmla="*/ 506347 h 578991"/>
              <a:gd name="connsiteX3" fmla="*/ 5376824 w 5388252"/>
              <a:gd name="connsiteY3" fmla="*/ 543856 h 578991"/>
              <a:gd name="connsiteX4" fmla="*/ 5338763 w 5388252"/>
              <a:gd name="connsiteY4" fmla="*/ 575318 h 578991"/>
              <a:gd name="connsiteX5" fmla="*/ 5320657 w 5388252"/>
              <a:gd name="connsiteY5" fmla="*/ 578991 h 578991"/>
              <a:gd name="connsiteX6" fmla="*/ 67597 w 5388252"/>
              <a:gd name="connsiteY6" fmla="*/ 578991 h 578991"/>
              <a:gd name="connsiteX7" fmla="*/ 49490 w 5388252"/>
              <a:gd name="connsiteY7" fmla="*/ 575318 h 578991"/>
              <a:gd name="connsiteX8" fmla="*/ 3449 w 5388252"/>
              <a:gd name="connsiteY8" fmla="*/ 529111 h 578991"/>
              <a:gd name="connsiteX9" fmla="*/ 0 w 5388252"/>
              <a:gd name="connsiteY9" fmla="*/ 511990 h 57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8252" h="578991">
                <a:moveTo>
                  <a:pt x="0" y="0"/>
                </a:moveTo>
                <a:lnTo>
                  <a:pt x="5388252" y="0"/>
                </a:lnTo>
                <a:lnTo>
                  <a:pt x="5388252" y="506347"/>
                </a:lnTo>
                <a:lnTo>
                  <a:pt x="5376824" y="543856"/>
                </a:lnTo>
                <a:cubicBezTo>
                  <a:pt x="5367493" y="557712"/>
                  <a:pt x="5354283" y="568725"/>
                  <a:pt x="5338763" y="575318"/>
                </a:cubicBezTo>
                <a:lnTo>
                  <a:pt x="5320657" y="578991"/>
                </a:lnTo>
                <a:lnTo>
                  <a:pt x="67597" y="578991"/>
                </a:lnTo>
                <a:lnTo>
                  <a:pt x="49490" y="575318"/>
                </a:lnTo>
                <a:cubicBezTo>
                  <a:pt x="28797" y="566527"/>
                  <a:pt x="12209" y="549879"/>
                  <a:pt x="3449" y="529111"/>
                </a:cubicBezTo>
                <a:lnTo>
                  <a:pt x="0" y="511990"/>
                </a:lnTo>
                <a:close/>
              </a:path>
            </a:pathLst>
          </a:custGeom>
          <a:solidFill>
            <a:schemeClr val="accent1"/>
          </a:solidFill>
        </p:spPr>
        <p:txBody>
          <a:bodyPr wrap="square" anchor="ctr">
            <a:noAutofit/>
          </a:bodyPr>
          <a:lstStyle>
            <a:lvl1pPr marL="265113"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6" name="Picture Placeholder 25">
            <a:extLst>
              <a:ext uri="{FF2B5EF4-FFF2-40B4-BE49-F238E27FC236}">
                <a16:creationId xmlns:a16="http://schemas.microsoft.com/office/drawing/2014/main" id="{8A9CF70C-CD58-7985-1E31-86DBC9EC344D}"/>
              </a:ext>
            </a:extLst>
          </p:cNvPr>
          <p:cNvSpPr>
            <a:spLocks noGrp="1"/>
          </p:cNvSpPr>
          <p:nvPr>
            <p:ph type="pic" sz="quarter" idx="15"/>
          </p:nvPr>
        </p:nvSpPr>
        <p:spPr>
          <a:xfrm>
            <a:off x="6281103" y="1933574"/>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27" name="Text Placeholder 26">
            <a:extLst>
              <a:ext uri="{FF2B5EF4-FFF2-40B4-BE49-F238E27FC236}">
                <a16:creationId xmlns:a16="http://schemas.microsoft.com/office/drawing/2014/main" id="{2ABF7995-EEF9-5368-2E26-4F3265B9A063}"/>
              </a:ext>
            </a:extLst>
          </p:cNvPr>
          <p:cNvSpPr>
            <a:spLocks noGrp="1"/>
          </p:cNvSpPr>
          <p:nvPr>
            <p:ph type="body" sz="quarter" idx="16" hasCustomPrompt="1"/>
          </p:nvPr>
        </p:nvSpPr>
        <p:spPr>
          <a:xfrm>
            <a:off x="6287811" y="5475957"/>
            <a:ext cx="5388252" cy="578991"/>
          </a:xfrm>
          <a:custGeom>
            <a:avLst/>
            <a:gdLst>
              <a:gd name="connsiteX0" fmla="*/ 0 w 5388252"/>
              <a:gd name="connsiteY0" fmla="*/ 0 h 578991"/>
              <a:gd name="connsiteX1" fmla="*/ 5388252 w 5388252"/>
              <a:gd name="connsiteY1" fmla="*/ 0 h 578991"/>
              <a:gd name="connsiteX2" fmla="*/ 5388252 w 5388252"/>
              <a:gd name="connsiteY2" fmla="*/ 506347 h 578991"/>
              <a:gd name="connsiteX3" fmla="*/ 5376824 w 5388252"/>
              <a:gd name="connsiteY3" fmla="*/ 543856 h 578991"/>
              <a:gd name="connsiteX4" fmla="*/ 5338763 w 5388252"/>
              <a:gd name="connsiteY4" fmla="*/ 575318 h 578991"/>
              <a:gd name="connsiteX5" fmla="*/ 5320657 w 5388252"/>
              <a:gd name="connsiteY5" fmla="*/ 578991 h 578991"/>
              <a:gd name="connsiteX6" fmla="*/ 67597 w 5388252"/>
              <a:gd name="connsiteY6" fmla="*/ 578991 h 578991"/>
              <a:gd name="connsiteX7" fmla="*/ 49490 w 5388252"/>
              <a:gd name="connsiteY7" fmla="*/ 575318 h 578991"/>
              <a:gd name="connsiteX8" fmla="*/ 3449 w 5388252"/>
              <a:gd name="connsiteY8" fmla="*/ 529111 h 578991"/>
              <a:gd name="connsiteX9" fmla="*/ 0 w 5388252"/>
              <a:gd name="connsiteY9" fmla="*/ 511990 h 57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88252" h="578991">
                <a:moveTo>
                  <a:pt x="0" y="0"/>
                </a:moveTo>
                <a:lnTo>
                  <a:pt x="5388252" y="0"/>
                </a:lnTo>
                <a:lnTo>
                  <a:pt x="5388252" y="506347"/>
                </a:lnTo>
                <a:lnTo>
                  <a:pt x="5376824" y="543856"/>
                </a:lnTo>
                <a:cubicBezTo>
                  <a:pt x="5367493" y="557712"/>
                  <a:pt x="5354283" y="568725"/>
                  <a:pt x="5338763" y="575318"/>
                </a:cubicBezTo>
                <a:lnTo>
                  <a:pt x="5320657" y="578991"/>
                </a:lnTo>
                <a:lnTo>
                  <a:pt x="67597" y="578991"/>
                </a:lnTo>
                <a:lnTo>
                  <a:pt x="49490" y="575318"/>
                </a:lnTo>
                <a:cubicBezTo>
                  <a:pt x="28797" y="566527"/>
                  <a:pt x="12209" y="549879"/>
                  <a:pt x="3449" y="529111"/>
                </a:cubicBezTo>
                <a:lnTo>
                  <a:pt x="0" y="511990"/>
                </a:lnTo>
                <a:close/>
              </a:path>
            </a:pathLst>
          </a:custGeom>
          <a:solidFill>
            <a:schemeClr val="accent1"/>
          </a:solidFill>
        </p:spPr>
        <p:txBody>
          <a:bodyPr wrap="square" anchor="ctr">
            <a:noAutofit/>
          </a:bodyPr>
          <a:lstStyle>
            <a:lvl1pPr marL="265113"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30" name="Text Placeholder 12">
            <a:extLst>
              <a:ext uri="{FF2B5EF4-FFF2-40B4-BE49-F238E27FC236}">
                <a16:creationId xmlns:a16="http://schemas.microsoft.com/office/drawing/2014/main" id="{64926BE4-F455-33DB-577C-4F5D849C2FD0}"/>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8FB7F6DE-DCB1-E2B5-09E2-19E346AEB344}"/>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119896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 Image ( 2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2" name="Text Placeholder 14">
            <a:extLst>
              <a:ext uri="{FF2B5EF4-FFF2-40B4-BE49-F238E27FC236}">
                <a16:creationId xmlns:a16="http://schemas.microsoft.com/office/drawing/2014/main" id="{7CE9D837-70E2-A3FB-99F1-E3BD43D5A3C0}"/>
              </a:ext>
            </a:extLst>
          </p:cNvPr>
          <p:cNvSpPr>
            <a:spLocks noGrp="1"/>
          </p:cNvSpPr>
          <p:nvPr>
            <p:ph type="body" sz="quarter" idx="11" hasCustomPrompt="1"/>
          </p:nvPr>
        </p:nvSpPr>
        <p:spPr>
          <a:xfrm>
            <a:off x="517490" y="492543"/>
            <a:ext cx="2509016"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b="0" i="0" kern="900" dirty="0" smtClean="0">
                <a:solidFill>
                  <a:schemeClr val="tx1"/>
                </a:solidFill>
                <a:latin typeface="Wallace Sans" pitchFamily="2" charset="0"/>
                <a:ea typeface="+mn-ea"/>
                <a:cs typeface="Wallace Sans" pitchFamily="2" charset="0"/>
              </a:defRPr>
            </a:lvl1pPr>
          </a:lstStyle>
          <a:p>
            <a:pPr lvl="0"/>
            <a:r>
              <a:rPr lang="en-US"/>
              <a:t>Subhead 18 pt size</a:t>
            </a:r>
          </a:p>
        </p:txBody>
      </p:sp>
      <p:sp>
        <p:nvSpPr>
          <p:cNvPr id="15" name="Picture Placeholder 14">
            <a:extLst>
              <a:ext uri="{FF2B5EF4-FFF2-40B4-BE49-F238E27FC236}">
                <a16:creationId xmlns:a16="http://schemas.microsoft.com/office/drawing/2014/main" id="{265EA215-0730-B394-3EF3-092873F3E4F0}"/>
              </a:ext>
            </a:extLst>
          </p:cNvPr>
          <p:cNvSpPr>
            <a:spLocks noGrp="1"/>
          </p:cNvSpPr>
          <p:nvPr>
            <p:ph type="pic" sz="quarter" idx="13"/>
          </p:nvPr>
        </p:nvSpPr>
        <p:spPr>
          <a:xfrm>
            <a:off x="517490" y="1063783"/>
            <a:ext cx="5390038" cy="4991165"/>
          </a:xfrm>
          <a:custGeom>
            <a:avLst/>
            <a:gdLst>
              <a:gd name="connsiteX0" fmla="*/ 0 w 5390038"/>
              <a:gd name="connsiteY0" fmla="*/ 0 h 4991165"/>
              <a:gd name="connsiteX1" fmla="*/ 5345710 w 5390038"/>
              <a:gd name="connsiteY1" fmla="*/ 0 h 4991165"/>
              <a:gd name="connsiteX2" fmla="*/ 5377042 w 5390038"/>
              <a:gd name="connsiteY2" fmla="*/ 12978 h 4991165"/>
              <a:gd name="connsiteX3" fmla="*/ 5390038 w 5390038"/>
              <a:gd name="connsiteY3" fmla="*/ 44354 h 4991165"/>
              <a:gd name="connsiteX4" fmla="*/ 5390038 w 5390038"/>
              <a:gd name="connsiteY4" fmla="*/ 4946793 h 4991165"/>
              <a:gd name="connsiteX5" fmla="*/ 5345666 w 5390038"/>
              <a:gd name="connsiteY5" fmla="*/ 4991165 h 4991165"/>
              <a:gd name="connsiteX6" fmla="*/ 44372 w 5390038"/>
              <a:gd name="connsiteY6" fmla="*/ 4991165 h 4991165"/>
              <a:gd name="connsiteX7" fmla="*/ 0 w 5390038"/>
              <a:gd name="connsiteY7" fmla="*/ 4946793 h 4991165"/>
              <a:gd name="connsiteX8" fmla="*/ 0 w 5390038"/>
              <a:gd name="connsiteY8" fmla="*/ 576757 h 4991165"/>
              <a:gd name="connsiteX9" fmla="*/ 0 w 5390038"/>
              <a:gd name="connsiteY9" fmla="*/ 44354 h 499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90038" h="4991165">
                <a:moveTo>
                  <a:pt x="0" y="0"/>
                </a:moveTo>
                <a:lnTo>
                  <a:pt x="5345710" y="0"/>
                </a:lnTo>
                <a:lnTo>
                  <a:pt x="5377042" y="12978"/>
                </a:lnTo>
                <a:cubicBezTo>
                  <a:pt x="5385072" y="21008"/>
                  <a:pt x="5390038" y="32101"/>
                  <a:pt x="5390038" y="44354"/>
                </a:cubicBezTo>
                <a:lnTo>
                  <a:pt x="5390038" y="4946793"/>
                </a:lnTo>
                <a:cubicBezTo>
                  <a:pt x="5390038" y="4971299"/>
                  <a:pt x="5370172" y="4991165"/>
                  <a:pt x="5345666" y="4991165"/>
                </a:cubicBezTo>
                <a:lnTo>
                  <a:pt x="44372" y="4991165"/>
                </a:lnTo>
                <a:cubicBezTo>
                  <a:pt x="19866" y="4991165"/>
                  <a:pt x="0" y="4971299"/>
                  <a:pt x="0" y="4946793"/>
                </a:cubicBezTo>
                <a:lnTo>
                  <a:pt x="0" y="576757"/>
                </a:lnTo>
                <a:lnTo>
                  <a:pt x="0" y="44354"/>
                </a:lnTo>
                <a:close/>
              </a:path>
            </a:pathLst>
          </a:custGeom>
          <a:solidFill>
            <a:schemeClr val="bg1">
              <a:lumMod val="95000"/>
            </a:schemeClr>
          </a:solidFill>
        </p:spPr>
        <p:txBody>
          <a:bodyPr wrap="square">
            <a:noAutofit/>
          </a:bodyPr>
          <a:lstStyle/>
          <a:p>
            <a:r>
              <a:rPr lang="en-US"/>
              <a:t>Click icon to add picture</a:t>
            </a:r>
          </a:p>
        </p:txBody>
      </p:sp>
      <p:sp>
        <p:nvSpPr>
          <p:cNvPr id="21" name="Text Placeholder 8">
            <a:extLst>
              <a:ext uri="{FF2B5EF4-FFF2-40B4-BE49-F238E27FC236}">
                <a16:creationId xmlns:a16="http://schemas.microsoft.com/office/drawing/2014/main" id="{05EC22C6-0761-CCA7-EAB0-643CAD5CEAD1}"/>
              </a:ext>
            </a:extLst>
          </p:cNvPr>
          <p:cNvSpPr>
            <a:spLocks noGrp="1"/>
          </p:cNvSpPr>
          <p:nvPr>
            <p:ph type="body" sz="quarter" idx="15" hasCustomPrompt="1"/>
          </p:nvPr>
        </p:nvSpPr>
        <p:spPr>
          <a:xfrm>
            <a:off x="670873" y="1221275"/>
            <a:ext cx="3632728" cy="773289"/>
          </a:xfrm>
        </p:spPr>
        <p:txBody>
          <a:bodyPr wrap="square">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a:t>
            </a:r>
          </a:p>
          <a:p>
            <a:pPr>
              <a:lnSpc>
                <a:spcPts val="3000"/>
              </a:lnSpc>
            </a:pPr>
            <a:r>
              <a:rPr lang="en-US" sz="2600">
                <a:solidFill>
                  <a:srgbClr val="000075"/>
                </a:solidFill>
                <a:latin typeface="Wallace Sans Light" pitchFamily="2" charset="0"/>
                <a:cs typeface="Wallace Sans Light" pitchFamily="2" charset="0"/>
              </a:rPr>
              <a:t>Wallace Sans, 26 pt</a:t>
            </a:r>
          </a:p>
        </p:txBody>
      </p:sp>
      <p:sp>
        <p:nvSpPr>
          <p:cNvPr id="24" name="Picture Placeholder 23">
            <a:extLst>
              <a:ext uri="{FF2B5EF4-FFF2-40B4-BE49-F238E27FC236}">
                <a16:creationId xmlns:a16="http://schemas.microsoft.com/office/drawing/2014/main" id="{ACD5373B-06A4-870B-3C56-B7C960F86CD5}"/>
              </a:ext>
            </a:extLst>
          </p:cNvPr>
          <p:cNvSpPr>
            <a:spLocks noGrp="1"/>
          </p:cNvSpPr>
          <p:nvPr>
            <p:ph type="pic" sz="quarter" idx="16"/>
          </p:nvPr>
        </p:nvSpPr>
        <p:spPr>
          <a:xfrm>
            <a:off x="6286025" y="1063783"/>
            <a:ext cx="5390038" cy="4991165"/>
          </a:xfrm>
          <a:custGeom>
            <a:avLst/>
            <a:gdLst>
              <a:gd name="connsiteX0" fmla="*/ 0 w 5390038"/>
              <a:gd name="connsiteY0" fmla="*/ 0 h 4991165"/>
              <a:gd name="connsiteX1" fmla="*/ 5345710 w 5390038"/>
              <a:gd name="connsiteY1" fmla="*/ 0 h 4991165"/>
              <a:gd name="connsiteX2" fmla="*/ 5377042 w 5390038"/>
              <a:gd name="connsiteY2" fmla="*/ 12978 h 4991165"/>
              <a:gd name="connsiteX3" fmla="*/ 5390038 w 5390038"/>
              <a:gd name="connsiteY3" fmla="*/ 44354 h 4991165"/>
              <a:gd name="connsiteX4" fmla="*/ 5390038 w 5390038"/>
              <a:gd name="connsiteY4" fmla="*/ 4946793 h 4991165"/>
              <a:gd name="connsiteX5" fmla="*/ 5345666 w 5390038"/>
              <a:gd name="connsiteY5" fmla="*/ 4991165 h 4991165"/>
              <a:gd name="connsiteX6" fmla="*/ 44372 w 5390038"/>
              <a:gd name="connsiteY6" fmla="*/ 4991165 h 4991165"/>
              <a:gd name="connsiteX7" fmla="*/ 0 w 5390038"/>
              <a:gd name="connsiteY7" fmla="*/ 4946793 h 4991165"/>
              <a:gd name="connsiteX8" fmla="*/ 0 w 5390038"/>
              <a:gd name="connsiteY8" fmla="*/ 576757 h 4991165"/>
              <a:gd name="connsiteX9" fmla="*/ 0 w 5390038"/>
              <a:gd name="connsiteY9" fmla="*/ 44354 h 4991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390038" h="4991165">
                <a:moveTo>
                  <a:pt x="0" y="0"/>
                </a:moveTo>
                <a:lnTo>
                  <a:pt x="5345710" y="0"/>
                </a:lnTo>
                <a:lnTo>
                  <a:pt x="5377042" y="12978"/>
                </a:lnTo>
                <a:cubicBezTo>
                  <a:pt x="5385072" y="21008"/>
                  <a:pt x="5390038" y="32101"/>
                  <a:pt x="5390038" y="44354"/>
                </a:cubicBezTo>
                <a:lnTo>
                  <a:pt x="5390038" y="4946793"/>
                </a:lnTo>
                <a:cubicBezTo>
                  <a:pt x="5390038" y="4971299"/>
                  <a:pt x="5370172" y="4991165"/>
                  <a:pt x="5345666" y="4991165"/>
                </a:cubicBezTo>
                <a:lnTo>
                  <a:pt x="44372" y="4991165"/>
                </a:lnTo>
                <a:cubicBezTo>
                  <a:pt x="19866" y="4991165"/>
                  <a:pt x="0" y="4971299"/>
                  <a:pt x="0" y="4946793"/>
                </a:cubicBezTo>
                <a:lnTo>
                  <a:pt x="0" y="576757"/>
                </a:lnTo>
                <a:lnTo>
                  <a:pt x="0" y="44354"/>
                </a:lnTo>
                <a:close/>
              </a:path>
            </a:pathLst>
          </a:custGeom>
          <a:solidFill>
            <a:schemeClr val="bg1">
              <a:lumMod val="95000"/>
            </a:schemeClr>
          </a:solidFill>
        </p:spPr>
        <p:txBody>
          <a:bodyPr wrap="square">
            <a:noAutofit/>
          </a:bodyPr>
          <a:lstStyle/>
          <a:p>
            <a:r>
              <a:rPr lang="en-US"/>
              <a:t>Click icon to add picture</a:t>
            </a:r>
          </a:p>
        </p:txBody>
      </p:sp>
      <p:sp>
        <p:nvSpPr>
          <p:cNvPr id="25" name="Text Placeholder 8">
            <a:extLst>
              <a:ext uri="{FF2B5EF4-FFF2-40B4-BE49-F238E27FC236}">
                <a16:creationId xmlns:a16="http://schemas.microsoft.com/office/drawing/2014/main" id="{4BDD8231-50C7-5929-7783-1E187FD9C22E}"/>
              </a:ext>
            </a:extLst>
          </p:cNvPr>
          <p:cNvSpPr>
            <a:spLocks noGrp="1"/>
          </p:cNvSpPr>
          <p:nvPr>
            <p:ph type="body" sz="quarter" idx="17" hasCustomPrompt="1"/>
          </p:nvPr>
        </p:nvSpPr>
        <p:spPr>
          <a:xfrm>
            <a:off x="6437857" y="1221275"/>
            <a:ext cx="3632728" cy="773289"/>
          </a:xfrm>
        </p:spPr>
        <p:txBody>
          <a:bodyPr wrap="square">
            <a:spAutoFit/>
          </a:bodyPr>
          <a:lstStyle>
            <a:lvl1pPr marL="0" marR="0" indent="0" algn="l" defTabSz="914400" rtl="0" eaLnBrk="1" fontAlgn="auto" latinLnBrk="0" hangingPunct="1">
              <a:lnSpc>
                <a:spcPts val="3000"/>
              </a:lnSpc>
              <a:spcBef>
                <a:spcPts val="0"/>
              </a:spcBef>
              <a:spcAft>
                <a:spcPts val="0"/>
              </a:spcAft>
              <a:buClrTx/>
              <a:buSzTx/>
              <a:buFont typeface="Arial" panose="020B0604020202020204" pitchFamily="34" charset="0"/>
              <a:buNone/>
              <a:tabLst/>
              <a:defRPr lang="en-IN" sz="2600" b="0" i="0" kern="100" spc="-100" baseline="0" dirty="0">
                <a:solidFill>
                  <a:srgbClr val="000075"/>
                </a:solidFill>
                <a:latin typeface="Wallace Sans Light" pitchFamily="2" charset="0"/>
                <a:ea typeface="+mn-ea"/>
                <a:cs typeface="Wallace Sans Light" pitchFamily="2" charset="0"/>
              </a:defRPr>
            </a:lvl1pPr>
            <a:lvl2pPr>
              <a:defRPr sz="2600" b="0" i="0">
                <a:latin typeface="Wallace Sans Light" pitchFamily="2" charset="0"/>
                <a:cs typeface="Wallace Sans Light" pitchFamily="2" charset="0"/>
              </a:defRPr>
            </a:lvl2pPr>
            <a:lvl3pPr>
              <a:defRPr sz="2600" b="0" i="0">
                <a:latin typeface="Wallace Sans Light" pitchFamily="2" charset="0"/>
                <a:cs typeface="Wallace Sans Light" pitchFamily="2" charset="0"/>
              </a:defRPr>
            </a:lvl3pPr>
            <a:lvl4pPr>
              <a:defRPr sz="2600" b="0" i="0">
                <a:latin typeface="Wallace Sans Light" pitchFamily="2" charset="0"/>
                <a:cs typeface="Wallace Sans Light" pitchFamily="2" charset="0"/>
              </a:defRPr>
            </a:lvl4pPr>
            <a:lvl5pPr>
              <a:defRPr sz="2600" b="0" i="0">
                <a:latin typeface="Wallace Sans Light" pitchFamily="2" charset="0"/>
                <a:cs typeface="Wallace Sans Light" pitchFamily="2" charset="0"/>
              </a:defRPr>
            </a:lvl5pPr>
          </a:lstStyle>
          <a:p>
            <a:pPr>
              <a:lnSpc>
                <a:spcPts val="3000"/>
              </a:lnSpc>
            </a:pPr>
            <a:r>
              <a:rPr lang="en-US" sz="2600">
                <a:solidFill>
                  <a:srgbClr val="000075"/>
                </a:solidFill>
                <a:latin typeface="Wallace Sans Light" pitchFamily="2" charset="0"/>
                <a:cs typeface="Wallace Sans Light" pitchFamily="2" charset="0"/>
              </a:rPr>
              <a:t>Image caption in </a:t>
            </a:r>
          </a:p>
          <a:p>
            <a:pPr>
              <a:lnSpc>
                <a:spcPts val="3000"/>
              </a:lnSpc>
            </a:pPr>
            <a:r>
              <a:rPr lang="en-US" sz="2600">
                <a:solidFill>
                  <a:srgbClr val="000075"/>
                </a:solidFill>
                <a:latin typeface="Wallace Sans Light" pitchFamily="2" charset="0"/>
                <a:cs typeface="Wallace Sans Light" pitchFamily="2" charset="0"/>
              </a:rPr>
              <a:t>Wallace Sans, 26 pt</a:t>
            </a:r>
          </a:p>
        </p:txBody>
      </p:sp>
      <p:cxnSp>
        <p:nvCxnSpPr>
          <p:cNvPr id="2" name="Straight Connector 1">
            <a:extLst>
              <a:ext uri="{FF2B5EF4-FFF2-40B4-BE49-F238E27FC236}">
                <a16:creationId xmlns:a16="http://schemas.microsoft.com/office/drawing/2014/main" id="{597415B7-32A6-B468-2E46-722D067F887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2105353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 Image ( 1 column + 2 cells)">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1" name="Text Placeholder 14">
            <a:extLst>
              <a:ext uri="{FF2B5EF4-FFF2-40B4-BE49-F238E27FC236}">
                <a16:creationId xmlns:a16="http://schemas.microsoft.com/office/drawing/2014/main" id="{89409561-4B97-53EC-1543-5BE814619482}"/>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2" name="Text Placeholder 16">
            <a:extLst>
              <a:ext uri="{FF2B5EF4-FFF2-40B4-BE49-F238E27FC236}">
                <a16:creationId xmlns:a16="http://schemas.microsoft.com/office/drawing/2014/main" id="{6BF232CC-4CF4-7FBC-F95D-0D088A135200}"/>
              </a:ext>
            </a:extLst>
          </p:cNvPr>
          <p:cNvSpPr>
            <a:spLocks noGrp="1"/>
          </p:cNvSpPr>
          <p:nvPr>
            <p:ph type="body" sz="quarter" idx="12" hasCustomPrompt="1"/>
          </p:nvPr>
        </p:nvSpPr>
        <p:spPr>
          <a:xfrm>
            <a:off x="510790" y="2275948"/>
            <a:ext cx="3501391" cy="3776472"/>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sp>
        <p:nvSpPr>
          <p:cNvPr id="38" name="Picture Placeholder 37">
            <a:extLst>
              <a:ext uri="{FF2B5EF4-FFF2-40B4-BE49-F238E27FC236}">
                <a16:creationId xmlns:a16="http://schemas.microsoft.com/office/drawing/2014/main" id="{0A7889FD-FCE7-B953-0EFB-E6F15A875FB4}"/>
              </a:ext>
            </a:extLst>
          </p:cNvPr>
          <p:cNvSpPr>
            <a:spLocks noGrp="1"/>
          </p:cNvSpPr>
          <p:nvPr>
            <p:ph type="pic" sz="quarter" idx="13"/>
          </p:nvPr>
        </p:nvSpPr>
        <p:spPr>
          <a:xfrm>
            <a:off x="4346506" y="1904402"/>
            <a:ext cx="3487490" cy="4148004"/>
          </a:xfrm>
          <a:custGeom>
            <a:avLst/>
            <a:gdLst>
              <a:gd name="connsiteX0" fmla="*/ 0 w 3487490"/>
              <a:gd name="connsiteY0" fmla="*/ 0 h 4148004"/>
              <a:gd name="connsiteX1" fmla="*/ 77633 w 3487490"/>
              <a:gd name="connsiteY1" fmla="*/ 0 h 4148004"/>
              <a:gd name="connsiteX2" fmla="*/ 769811 w 3487490"/>
              <a:gd name="connsiteY2" fmla="*/ 0 h 4148004"/>
              <a:gd name="connsiteX3" fmla="*/ 3409859 w 3487490"/>
              <a:gd name="connsiteY3" fmla="*/ 0 h 4148004"/>
              <a:gd name="connsiteX4" fmla="*/ 3481391 w 3487490"/>
              <a:gd name="connsiteY4" fmla="*/ 49197 h 4148004"/>
              <a:gd name="connsiteX5" fmla="*/ 3487490 w 3487490"/>
              <a:gd name="connsiteY5" fmla="*/ 80545 h 4148004"/>
              <a:gd name="connsiteX6" fmla="*/ 3487490 w 3487490"/>
              <a:gd name="connsiteY6" fmla="*/ 4067468 h 4148004"/>
              <a:gd name="connsiteX7" fmla="*/ 3481391 w 3487490"/>
              <a:gd name="connsiteY7" fmla="*/ 4098816 h 4148004"/>
              <a:gd name="connsiteX8" fmla="*/ 3440077 w 3487490"/>
              <a:gd name="connsiteY8" fmla="*/ 4141682 h 4148004"/>
              <a:gd name="connsiteX9" fmla="*/ 3409898 w 3487490"/>
              <a:gd name="connsiteY9" fmla="*/ 4148004 h 4148004"/>
              <a:gd name="connsiteX10" fmla="*/ 77595 w 3487490"/>
              <a:gd name="connsiteY10" fmla="*/ 4148004 h 4148004"/>
              <a:gd name="connsiteX11" fmla="*/ 47415 w 3487490"/>
              <a:gd name="connsiteY11" fmla="*/ 4141682 h 4148004"/>
              <a:gd name="connsiteX12" fmla="*/ 1 w 3487490"/>
              <a:gd name="connsiteY12" fmla="*/ 4067462 h 4148004"/>
              <a:gd name="connsiteX13" fmla="*/ 1 w 3487490"/>
              <a:gd name="connsiteY13" fmla="*/ 719883 h 4148004"/>
              <a:gd name="connsiteX14" fmla="*/ 0 w 3487490"/>
              <a:gd name="connsiteY14" fmla="*/ 719883 h 414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7490" h="4148004">
                <a:moveTo>
                  <a:pt x="0" y="0"/>
                </a:moveTo>
                <a:lnTo>
                  <a:pt x="77633" y="0"/>
                </a:lnTo>
                <a:lnTo>
                  <a:pt x="769811" y="0"/>
                </a:lnTo>
                <a:lnTo>
                  <a:pt x="3409859" y="0"/>
                </a:lnTo>
                <a:cubicBezTo>
                  <a:pt x="3442016" y="0"/>
                  <a:pt x="3469605" y="20286"/>
                  <a:pt x="3481391" y="49197"/>
                </a:cubicBezTo>
                <a:lnTo>
                  <a:pt x="3487490" y="80545"/>
                </a:lnTo>
                <a:lnTo>
                  <a:pt x="3487490" y="4067468"/>
                </a:lnTo>
                <a:lnTo>
                  <a:pt x="3481391" y="4098816"/>
                </a:lnTo>
                <a:cubicBezTo>
                  <a:pt x="3473534" y="4118090"/>
                  <a:pt x="3458653" y="4133530"/>
                  <a:pt x="3440077" y="4141682"/>
                </a:cubicBezTo>
                <a:lnTo>
                  <a:pt x="3409898" y="4148004"/>
                </a:lnTo>
                <a:lnTo>
                  <a:pt x="77595" y="4148004"/>
                </a:lnTo>
                <a:lnTo>
                  <a:pt x="47415" y="4141682"/>
                </a:lnTo>
                <a:cubicBezTo>
                  <a:pt x="19552" y="4129454"/>
                  <a:pt x="1" y="4100827"/>
                  <a:pt x="1" y="4067462"/>
                </a:cubicBezTo>
                <a:lnTo>
                  <a:pt x="1" y="719883"/>
                </a:lnTo>
                <a:lnTo>
                  <a:pt x="0" y="719883"/>
                </a:lnTo>
                <a:close/>
              </a:path>
            </a:pathLst>
          </a:custGeom>
          <a:solidFill>
            <a:schemeClr val="bg1">
              <a:lumMod val="95000"/>
            </a:schemeClr>
          </a:solidFill>
        </p:spPr>
        <p:txBody>
          <a:bodyPr wrap="square">
            <a:noAutofit/>
          </a:bodyPr>
          <a:lstStyle/>
          <a:p>
            <a:r>
              <a:rPr lang="en-US"/>
              <a:t>Click icon to add picture</a:t>
            </a:r>
          </a:p>
        </p:txBody>
      </p:sp>
      <p:sp>
        <p:nvSpPr>
          <p:cNvPr id="39" name="Picture Placeholder 38">
            <a:extLst>
              <a:ext uri="{FF2B5EF4-FFF2-40B4-BE49-F238E27FC236}">
                <a16:creationId xmlns:a16="http://schemas.microsoft.com/office/drawing/2014/main" id="{6AF35997-D786-B462-DD92-2F2D05EA08A6}"/>
              </a:ext>
            </a:extLst>
          </p:cNvPr>
          <p:cNvSpPr>
            <a:spLocks noGrp="1"/>
          </p:cNvSpPr>
          <p:nvPr>
            <p:ph type="pic" sz="quarter" idx="14"/>
          </p:nvPr>
        </p:nvSpPr>
        <p:spPr>
          <a:xfrm>
            <a:off x="8177072" y="1904402"/>
            <a:ext cx="3487491" cy="4148004"/>
          </a:xfrm>
          <a:custGeom>
            <a:avLst/>
            <a:gdLst>
              <a:gd name="connsiteX0" fmla="*/ 0 w 3487491"/>
              <a:gd name="connsiteY0" fmla="*/ 0 h 4148004"/>
              <a:gd name="connsiteX1" fmla="*/ 77633 w 3487491"/>
              <a:gd name="connsiteY1" fmla="*/ 0 h 4148004"/>
              <a:gd name="connsiteX2" fmla="*/ 769811 w 3487491"/>
              <a:gd name="connsiteY2" fmla="*/ 0 h 4148004"/>
              <a:gd name="connsiteX3" fmla="*/ 3409859 w 3487491"/>
              <a:gd name="connsiteY3" fmla="*/ 0 h 4148004"/>
              <a:gd name="connsiteX4" fmla="*/ 3487491 w 3487491"/>
              <a:gd name="connsiteY4" fmla="*/ 80550 h 4148004"/>
              <a:gd name="connsiteX5" fmla="*/ 3487491 w 3487491"/>
              <a:gd name="connsiteY5" fmla="*/ 4067462 h 4148004"/>
              <a:gd name="connsiteX6" fmla="*/ 3440077 w 3487491"/>
              <a:gd name="connsiteY6" fmla="*/ 4141682 h 4148004"/>
              <a:gd name="connsiteX7" fmla="*/ 3409897 w 3487491"/>
              <a:gd name="connsiteY7" fmla="*/ 4148004 h 4148004"/>
              <a:gd name="connsiteX8" fmla="*/ 77595 w 3487491"/>
              <a:gd name="connsiteY8" fmla="*/ 4148004 h 4148004"/>
              <a:gd name="connsiteX9" fmla="*/ 47415 w 3487491"/>
              <a:gd name="connsiteY9" fmla="*/ 4141682 h 4148004"/>
              <a:gd name="connsiteX10" fmla="*/ 1 w 3487491"/>
              <a:gd name="connsiteY10" fmla="*/ 4067462 h 4148004"/>
              <a:gd name="connsiteX11" fmla="*/ 1 w 3487491"/>
              <a:gd name="connsiteY11" fmla="*/ 719883 h 4148004"/>
              <a:gd name="connsiteX12" fmla="*/ 0 w 3487491"/>
              <a:gd name="connsiteY12" fmla="*/ 719883 h 41480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7491" h="4148004">
                <a:moveTo>
                  <a:pt x="0" y="0"/>
                </a:moveTo>
                <a:lnTo>
                  <a:pt x="77633" y="0"/>
                </a:lnTo>
                <a:lnTo>
                  <a:pt x="769811" y="0"/>
                </a:lnTo>
                <a:lnTo>
                  <a:pt x="3409859" y="0"/>
                </a:lnTo>
                <a:cubicBezTo>
                  <a:pt x="3452734" y="0"/>
                  <a:pt x="3487491" y="36064"/>
                  <a:pt x="3487491" y="80550"/>
                </a:cubicBezTo>
                <a:lnTo>
                  <a:pt x="3487491" y="4067462"/>
                </a:lnTo>
                <a:cubicBezTo>
                  <a:pt x="3487491" y="4100827"/>
                  <a:pt x="3467940" y="4129454"/>
                  <a:pt x="3440077" y="4141682"/>
                </a:cubicBezTo>
                <a:lnTo>
                  <a:pt x="3409897" y="4148004"/>
                </a:lnTo>
                <a:lnTo>
                  <a:pt x="77595" y="4148004"/>
                </a:lnTo>
                <a:lnTo>
                  <a:pt x="47415" y="4141682"/>
                </a:lnTo>
                <a:cubicBezTo>
                  <a:pt x="19552" y="4129454"/>
                  <a:pt x="1" y="4100827"/>
                  <a:pt x="1" y="4067462"/>
                </a:cubicBezTo>
                <a:lnTo>
                  <a:pt x="1" y="719883"/>
                </a:lnTo>
                <a:lnTo>
                  <a:pt x="0" y="719883"/>
                </a:lnTo>
                <a:close/>
              </a:path>
            </a:pathLst>
          </a:custGeom>
          <a:solidFill>
            <a:schemeClr val="bg1">
              <a:lumMod val="95000"/>
            </a:schemeClr>
          </a:solidFill>
        </p:spPr>
        <p:txBody>
          <a:bodyPr wrap="square">
            <a:noAutofit/>
          </a:bodyPr>
          <a:lstStyle/>
          <a:p>
            <a:r>
              <a:rPr lang="en-US"/>
              <a:t>Click icon to add picture</a:t>
            </a:r>
          </a:p>
        </p:txBody>
      </p:sp>
      <p:sp>
        <p:nvSpPr>
          <p:cNvPr id="41" name="Text Placeholder 12">
            <a:extLst>
              <a:ext uri="{FF2B5EF4-FFF2-40B4-BE49-F238E27FC236}">
                <a16:creationId xmlns:a16="http://schemas.microsoft.com/office/drawing/2014/main" id="{50D8E85C-9632-05AC-4609-BABA45DDA1E9}"/>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EADA1B11-F9A0-4714-8D2A-83D2DC71929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376523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aption + Image ( 3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0" name="Picture Placeholder 19">
            <a:extLst>
              <a:ext uri="{FF2B5EF4-FFF2-40B4-BE49-F238E27FC236}">
                <a16:creationId xmlns:a16="http://schemas.microsoft.com/office/drawing/2014/main" id="{9A79E346-B09C-823B-428F-DDD83E18F925}"/>
              </a:ext>
            </a:extLst>
          </p:cNvPr>
          <p:cNvSpPr>
            <a:spLocks noGrp="1"/>
          </p:cNvSpPr>
          <p:nvPr>
            <p:ph type="pic" sz="quarter" idx="13"/>
          </p:nvPr>
        </p:nvSpPr>
        <p:spPr>
          <a:xfrm>
            <a:off x="517490"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2" name="Text Placeholder 21">
            <a:extLst>
              <a:ext uri="{FF2B5EF4-FFF2-40B4-BE49-F238E27FC236}">
                <a16:creationId xmlns:a16="http://schemas.microsoft.com/office/drawing/2014/main" id="{74174B7E-6625-A1A6-F52C-96D77AC0D3D3}"/>
              </a:ext>
            </a:extLst>
          </p:cNvPr>
          <p:cNvSpPr>
            <a:spLocks noGrp="1"/>
          </p:cNvSpPr>
          <p:nvPr>
            <p:ph type="body" sz="quarter" idx="14" hasCustomPrompt="1"/>
          </p:nvPr>
        </p:nvSpPr>
        <p:spPr>
          <a:xfrm>
            <a:off x="517490"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3" name="Picture Placeholder 22">
            <a:extLst>
              <a:ext uri="{FF2B5EF4-FFF2-40B4-BE49-F238E27FC236}">
                <a16:creationId xmlns:a16="http://schemas.microsoft.com/office/drawing/2014/main" id="{2AD52906-217C-F4E9-AA4B-4BBD6AD31803}"/>
              </a:ext>
            </a:extLst>
          </p:cNvPr>
          <p:cNvSpPr>
            <a:spLocks noGrp="1"/>
          </p:cNvSpPr>
          <p:nvPr>
            <p:ph type="pic" sz="quarter" idx="15"/>
          </p:nvPr>
        </p:nvSpPr>
        <p:spPr>
          <a:xfrm>
            <a:off x="8187963"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4" name="Text Placeholder 23">
            <a:extLst>
              <a:ext uri="{FF2B5EF4-FFF2-40B4-BE49-F238E27FC236}">
                <a16:creationId xmlns:a16="http://schemas.microsoft.com/office/drawing/2014/main" id="{565632F2-3258-1E66-6474-A62651AAAD0D}"/>
              </a:ext>
            </a:extLst>
          </p:cNvPr>
          <p:cNvSpPr>
            <a:spLocks noGrp="1"/>
          </p:cNvSpPr>
          <p:nvPr>
            <p:ph type="body" sz="quarter" idx="16" hasCustomPrompt="1"/>
          </p:nvPr>
        </p:nvSpPr>
        <p:spPr>
          <a:xfrm>
            <a:off x="8183055"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IN" sz="1400" b="0" i="0" kern="1200" spc="-50" dirty="0">
                <a:solidFill>
                  <a:schemeClr val="bg1"/>
                </a:solidFill>
                <a:latin typeface="Wallace Sans BETA Light" pitchFamily="2" charset="77"/>
                <a:ea typeface="+mn-ea"/>
                <a:cs typeface="Wallace Sans BETA Light" pitchFamily="2" charset="77"/>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28" name="Picture Placeholder 27">
            <a:extLst>
              <a:ext uri="{FF2B5EF4-FFF2-40B4-BE49-F238E27FC236}">
                <a16:creationId xmlns:a16="http://schemas.microsoft.com/office/drawing/2014/main" id="{0E1388BB-2DA0-297A-8B67-57FFE8943295}"/>
              </a:ext>
            </a:extLst>
          </p:cNvPr>
          <p:cNvSpPr>
            <a:spLocks noGrp="1"/>
          </p:cNvSpPr>
          <p:nvPr>
            <p:ph type="pic" sz="quarter" idx="17"/>
          </p:nvPr>
        </p:nvSpPr>
        <p:spPr>
          <a:xfrm>
            <a:off x="4352727" y="1933575"/>
            <a:ext cx="3488100" cy="4098898"/>
          </a:xfrm>
          <a:custGeom>
            <a:avLst/>
            <a:gdLst>
              <a:gd name="connsiteX0" fmla="*/ 0 w 3488100"/>
              <a:gd name="connsiteY0" fmla="*/ 0 h 4114798"/>
              <a:gd name="connsiteX1" fmla="*/ 3424031 w 3488100"/>
              <a:gd name="connsiteY1" fmla="*/ 0 h 4114798"/>
              <a:gd name="connsiteX2" fmla="*/ 3450874 w 3488100"/>
              <a:gd name="connsiteY2" fmla="*/ 5422 h 4114798"/>
              <a:gd name="connsiteX3" fmla="*/ 3487587 w 3488100"/>
              <a:gd name="connsiteY3" fmla="*/ 42149 h 4114798"/>
              <a:gd name="connsiteX4" fmla="*/ 3488100 w 3488100"/>
              <a:gd name="connsiteY4" fmla="*/ 44692 h 4114798"/>
              <a:gd name="connsiteX5" fmla="*/ 3488100 w 3488100"/>
              <a:gd name="connsiteY5" fmla="*/ 4070104 h 4114798"/>
              <a:gd name="connsiteX6" fmla="*/ 3487587 w 3488100"/>
              <a:gd name="connsiteY6" fmla="*/ 4072648 h 4114798"/>
              <a:gd name="connsiteX7" fmla="*/ 3424021 w 3488100"/>
              <a:gd name="connsiteY7" fmla="*/ 4114798 h 4114798"/>
              <a:gd name="connsiteX8" fmla="*/ 68987 w 3488100"/>
              <a:gd name="connsiteY8" fmla="*/ 4114798 h 4114798"/>
              <a:gd name="connsiteX9" fmla="*/ 0 w 3488100"/>
              <a:gd name="connsiteY9" fmla="*/ 4045785 h 4114798"/>
              <a:gd name="connsiteX10" fmla="*/ 0 w 3488100"/>
              <a:gd name="connsiteY10" fmla="*/ 1356848 h 4114798"/>
              <a:gd name="connsiteX11" fmla="*/ 0 w 3488100"/>
              <a:gd name="connsiteY11" fmla="*/ 69011 h 41147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8100" h="4114798">
                <a:moveTo>
                  <a:pt x="0" y="0"/>
                </a:moveTo>
                <a:lnTo>
                  <a:pt x="3424031" y="0"/>
                </a:lnTo>
                <a:lnTo>
                  <a:pt x="3450874" y="5422"/>
                </a:lnTo>
                <a:cubicBezTo>
                  <a:pt x="3467381" y="12406"/>
                  <a:pt x="3480605" y="25635"/>
                  <a:pt x="3487587" y="42149"/>
                </a:cubicBezTo>
                <a:lnTo>
                  <a:pt x="3488100" y="44692"/>
                </a:lnTo>
                <a:lnTo>
                  <a:pt x="3488100" y="4070104"/>
                </a:lnTo>
                <a:lnTo>
                  <a:pt x="3487587" y="4072648"/>
                </a:lnTo>
                <a:cubicBezTo>
                  <a:pt x="3477114" y="4097418"/>
                  <a:pt x="3452596" y="4114798"/>
                  <a:pt x="3424021" y="4114798"/>
                </a:cubicBezTo>
                <a:lnTo>
                  <a:pt x="68987" y="4114798"/>
                </a:lnTo>
                <a:cubicBezTo>
                  <a:pt x="30887" y="4114798"/>
                  <a:pt x="0" y="4083899"/>
                  <a:pt x="0" y="4045785"/>
                </a:cubicBezTo>
                <a:lnTo>
                  <a:pt x="0" y="1356848"/>
                </a:lnTo>
                <a:lnTo>
                  <a:pt x="0" y="69011"/>
                </a:lnTo>
                <a:close/>
              </a:path>
            </a:pathLst>
          </a:custGeom>
          <a:solidFill>
            <a:schemeClr val="bg1">
              <a:lumMod val="95000"/>
            </a:schemeClr>
          </a:solidFill>
        </p:spPr>
        <p:txBody>
          <a:bodyPr wrap="square">
            <a:noAutofit/>
          </a:bodyPr>
          <a:lstStyle/>
          <a:p>
            <a:r>
              <a:rPr lang="en-US"/>
              <a:t>Click icon to add picture</a:t>
            </a:r>
          </a:p>
        </p:txBody>
      </p:sp>
      <p:sp>
        <p:nvSpPr>
          <p:cNvPr id="29" name="Text Placeholder 28">
            <a:extLst>
              <a:ext uri="{FF2B5EF4-FFF2-40B4-BE49-F238E27FC236}">
                <a16:creationId xmlns:a16="http://schemas.microsoft.com/office/drawing/2014/main" id="{ABE2F8F1-A084-9BEC-C375-DB6C4D04830F}"/>
              </a:ext>
            </a:extLst>
          </p:cNvPr>
          <p:cNvSpPr>
            <a:spLocks noGrp="1"/>
          </p:cNvSpPr>
          <p:nvPr>
            <p:ph type="body" sz="quarter" idx="18" hasCustomPrompt="1"/>
          </p:nvPr>
        </p:nvSpPr>
        <p:spPr>
          <a:xfrm>
            <a:off x="4347819"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lang="en-IN" sz="1400" b="0" i="0" kern="1200" spc="-50" dirty="0">
                <a:solidFill>
                  <a:schemeClr val="bg1"/>
                </a:solidFill>
                <a:latin typeface="Wallace Sans BETA Light" pitchFamily="2" charset="77"/>
                <a:ea typeface="+mn-ea"/>
                <a:cs typeface="Wallace Sans BETA Light" pitchFamily="2" charset="77"/>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31" name="Text Placeholder 12">
            <a:extLst>
              <a:ext uri="{FF2B5EF4-FFF2-40B4-BE49-F238E27FC236}">
                <a16:creationId xmlns:a16="http://schemas.microsoft.com/office/drawing/2014/main" id="{E2B13322-B347-204E-6A13-5FCDB90806FA}"/>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D03A97EF-55B1-DD3E-61E0-B9F58C148B3E}"/>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308202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 Image ( 3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38" name="Picture Placeholder 37">
            <a:extLst>
              <a:ext uri="{FF2B5EF4-FFF2-40B4-BE49-F238E27FC236}">
                <a16:creationId xmlns:a16="http://schemas.microsoft.com/office/drawing/2014/main" id="{1AA2F94F-6E34-3322-A9E9-3363C25488F5}"/>
              </a:ext>
            </a:extLst>
          </p:cNvPr>
          <p:cNvSpPr>
            <a:spLocks noGrp="1"/>
          </p:cNvSpPr>
          <p:nvPr>
            <p:ph type="pic" sz="quarter" idx="32"/>
          </p:nvPr>
        </p:nvSpPr>
        <p:spPr>
          <a:xfrm>
            <a:off x="517490"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3" name="Text Placeholder 21">
            <a:extLst>
              <a:ext uri="{FF2B5EF4-FFF2-40B4-BE49-F238E27FC236}">
                <a16:creationId xmlns:a16="http://schemas.microsoft.com/office/drawing/2014/main" id="{C44AF6FC-43BE-7361-BA9E-85CEE5DC3AC0}"/>
              </a:ext>
            </a:extLst>
          </p:cNvPr>
          <p:cNvSpPr>
            <a:spLocks noGrp="1"/>
          </p:cNvSpPr>
          <p:nvPr>
            <p:ph type="body" sz="quarter" idx="20" hasCustomPrompt="1"/>
          </p:nvPr>
        </p:nvSpPr>
        <p:spPr>
          <a:xfrm>
            <a:off x="517490"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1" name="Picture Placeholder 40">
            <a:extLst>
              <a:ext uri="{FF2B5EF4-FFF2-40B4-BE49-F238E27FC236}">
                <a16:creationId xmlns:a16="http://schemas.microsoft.com/office/drawing/2014/main" id="{5C8AD8EF-7452-DBE7-416C-1029A026A7CC}"/>
              </a:ext>
            </a:extLst>
          </p:cNvPr>
          <p:cNvSpPr>
            <a:spLocks noGrp="1"/>
          </p:cNvSpPr>
          <p:nvPr>
            <p:ph type="pic" sz="quarter" idx="33"/>
          </p:nvPr>
        </p:nvSpPr>
        <p:spPr>
          <a:xfrm>
            <a:off x="8183055"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42" name="Text Placeholder 21">
            <a:extLst>
              <a:ext uri="{FF2B5EF4-FFF2-40B4-BE49-F238E27FC236}">
                <a16:creationId xmlns:a16="http://schemas.microsoft.com/office/drawing/2014/main" id="{EC0DEDF4-1D24-84F9-C10E-B274A9A9F858}"/>
              </a:ext>
            </a:extLst>
          </p:cNvPr>
          <p:cNvSpPr>
            <a:spLocks noGrp="1"/>
          </p:cNvSpPr>
          <p:nvPr>
            <p:ph type="body" sz="quarter" idx="34" hasCustomPrompt="1"/>
          </p:nvPr>
        </p:nvSpPr>
        <p:spPr>
          <a:xfrm>
            <a:off x="8183055"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3" name="Picture Placeholder 42">
            <a:extLst>
              <a:ext uri="{FF2B5EF4-FFF2-40B4-BE49-F238E27FC236}">
                <a16:creationId xmlns:a16="http://schemas.microsoft.com/office/drawing/2014/main" id="{291FD407-66D9-DB45-1453-29BAF587C37E}"/>
              </a:ext>
            </a:extLst>
          </p:cNvPr>
          <p:cNvSpPr>
            <a:spLocks noGrp="1"/>
          </p:cNvSpPr>
          <p:nvPr>
            <p:ph type="pic" sz="quarter" idx="35"/>
          </p:nvPr>
        </p:nvSpPr>
        <p:spPr>
          <a:xfrm>
            <a:off x="4350272" y="2624616"/>
            <a:ext cx="3493008" cy="3393015"/>
          </a:xfrm>
          <a:custGeom>
            <a:avLst/>
            <a:gdLst>
              <a:gd name="connsiteX0" fmla="*/ 0 w 3493008"/>
              <a:gd name="connsiteY0" fmla="*/ 0 h 3393015"/>
              <a:gd name="connsiteX1" fmla="*/ 68987 w 3493008"/>
              <a:gd name="connsiteY1" fmla="*/ 0 h 3393015"/>
              <a:gd name="connsiteX2" fmla="*/ 1356331 w 3493008"/>
              <a:gd name="connsiteY2" fmla="*/ 0 h 3393015"/>
              <a:gd name="connsiteX3" fmla="*/ 3424021 w 3493008"/>
              <a:gd name="connsiteY3" fmla="*/ 0 h 3393015"/>
              <a:gd name="connsiteX4" fmla="*/ 3493008 w 3493008"/>
              <a:gd name="connsiteY4" fmla="*/ 56908 h 3393015"/>
              <a:gd name="connsiteX5" fmla="*/ 3493008 w 3493008"/>
              <a:gd name="connsiteY5" fmla="*/ 3336108 h 3393015"/>
              <a:gd name="connsiteX6" fmla="*/ 3424021 w 3493008"/>
              <a:gd name="connsiteY6" fmla="*/ 3393015 h 3393015"/>
              <a:gd name="connsiteX7" fmla="*/ 68987 w 3493008"/>
              <a:gd name="connsiteY7" fmla="*/ 3393015 h 3393015"/>
              <a:gd name="connsiteX8" fmla="*/ 0 w 3493008"/>
              <a:gd name="connsiteY8" fmla="*/ 3336108 h 3393015"/>
              <a:gd name="connsiteX9" fmla="*/ 0 w 3493008"/>
              <a:gd name="connsiteY9" fmla="*/ 1118842 h 3393015"/>
              <a:gd name="connsiteX10" fmla="*/ 0 w 3493008"/>
              <a:gd name="connsiteY10" fmla="*/ 56908 h 3393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493008" h="3393015">
                <a:moveTo>
                  <a:pt x="0" y="0"/>
                </a:moveTo>
                <a:lnTo>
                  <a:pt x="68987" y="0"/>
                </a:lnTo>
                <a:lnTo>
                  <a:pt x="1356331" y="0"/>
                </a:lnTo>
                <a:lnTo>
                  <a:pt x="3424021" y="0"/>
                </a:lnTo>
                <a:cubicBezTo>
                  <a:pt x="3462121" y="0"/>
                  <a:pt x="3493008" y="25479"/>
                  <a:pt x="3493008" y="56908"/>
                </a:cubicBezTo>
                <a:lnTo>
                  <a:pt x="3493008" y="3336108"/>
                </a:lnTo>
                <a:cubicBezTo>
                  <a:pt x="3493008" y="3367536"/>
                  <a:pt x="3462121" y="3393015"/>
                  <a:pt x="3424021" y="3393015"/>
                </a:cubicBezTo>
                <a:lnTo>
                  <a:pt x="68987" y="3393015"/>
                </a:lnTo>
                <a:cubicBezTo>
                  <a:pt x="30887" y="3393015"/>
                  <a:pt x="0" y="3367536"/>
                  <a:pt x="0" y="3336108"/>
                </a:cubicBezTo>
                <a:lnTo>
                  <a:pt x="0" y="1118842"/>
                </a:lnTo>
                <a:lnTo>
                  <a:pt x="0" y="56908"/>
                </a:lnTo>
                <a:close/>
              </a:path>
            </a:pathLst>
          </a:custGeom>
          <a:solidFill>
            <a:schemeClr val="bg1">
              <a:lumMod val="95000"/>
            </a:schemeClr>
          </a:solidFill>
        </p:spPr>
        <p:txBody>
          <a:bodyPr wrap="square">
            <a:noAutofit/>
          </a:bodyPr>
          <a:lstStyle/>
          <a:p>
            <a:r>
              <a:rPr lang="en-US"/>
              <a:t>Click icon to add picture</a:t>
            </a:r>
          </a:p>
        </p:txBody>
      </p:sp>
      <p:sp>
        <p:nvSpPr>
          <p:cNvPr id="44" name="Text Placeholder 21">
            <a:extLst>
              <a:ext uri="{FF2B5EF4-FFF2-40B4-BE49-F238E27FC236}">
                <a16:creationId xmlns:a16="http://schemas.microsoft.com/office/drawing/2014/main" id="{C4A2D319-4FAA-A74A-C751-41ED0093A9AF}"/>
              </a:ext>
            </a:extLst>
          </p:cNvPr>
          <p:cNvSpPr>
            <a:spLocks noGrp="1"/>
          </p:cNvSpPr>
          <p:nvPr>
            <p:ph type="body" sz="quarter" idx="36" hasCustomPrompt="1"/>
          </p:nvPr>
        </p:nvSpPr>
        <p:spPr>
          <a:xfrm>
            <a:off x="4350272" y="5482747"/>
            <a:ext cx="3493008" cy="549726"/>
          </a:xfrm>
          <a:custGeom>
            <a:avLst/>
            <a:gdLst>
              <a:gd name="connsiteX0" fmla="*/ 0 w 3493008"/>
              <a:gd name="connsiteY0" fmla="*/ 0 h 549726"/>
              <a:gd name="connsiteX1" fmla="*/ 63268 w 3493008"/>
              <a:gd name="connsiteY1" fmla="*/ 0 h 549726"/>
              <a:gd name="connsiteX2" fmla="*/ 3429740 w 3493008"/>
              <a:gd name="connsiteY2" fmla="*/ 0 h 549726"/>
              <a:gd name="connsiteX3" fmla="*/ 3493008 w 3493008"/>
              <a:gd name="connsiteY3" fmla="*/ 0 h 549726"/>
              <a:gd name="connsiteX4" fmla="*/ 3493008 w 3493008"/>
              <a:gd name="connsiteY4" fmla="*/ 63268 h 549726"/>
              <a:gd name="connsiteX5" fmla="*/ 3493008 w 3493008"/>
              <a:gd name="connsiteY5" fmla="*/ 404038 h 549726"/>
              <a:gd name="connsiteX6" fmla="*/ 3493008 w 3493008"/>
              <a:gd name="connsiteY6" fmla="*/ 480754 h 549726"/>
              <a:gd name="connsiteX7" fmla="*/ 3490624 w 3493008"/>
              <a:gd name="connsiteY7" fmla="*/ 492213 h 549726"/>
              <a:gd name="connsiteX8" fmla="*/ 3475609 w 3493008"/>
              <a:gd name="connsiteY8" fmla="*/ 528462 h 549726"/>
              <a:gd name="connsiteX9" fmla="*/ 3471937 w 3493008"/>
              <a:gd name="connsiteY9" fmla="*/ 532908 h 549726"/>
              <a:gd name="connsiteX10" fmla="*/ 3454367 w 3493008"/>
              <a:gd name="connsiteY10" fmla="*/ 544754 h 549726"/>
              <a:gd name="connsiteX11" fmla="*/ 3429740 w 3493008"/>
              <a:gd name="connsiteY11" fmla="*/ 549726 h 549726"/>
              <a:gd name="connsiteX12" fmla="*/ 63268 w 3493008"/>
              <a:gd name="connsiteY12" fmla="*/ 549726 h 549726"/>
              <a:gd name="connsiteX13" fmla="*/ 18531 w 3493008"/>
              <a:gd name="connsiteY13" fmla="*/ 531195 h 549726"/>
              <a:gd name="connsiteX14" fmla="*/ 72 w 3493008"/>
              <a:gd name="connsiteY14" fmla="*/ 486630 h 549726"/>
              <a:gd name="connsiteX15" fmla="*/ 0 w 3493008"/>
              <a:gd name="connsiteY15" fmla="*/ 486112 h 549726"/>
              <a:gd name="connsiteX16" fmla="*/ 0 w 3493008"/>
              <a:gd name="connsiteY16" fmla="*/ 404038 h 549726"/>
              <a:gd name="connsiteX17" fmla="*/ 0 w 3493008"/>
              <a:gd name="connsiteY17" fmla="*/ 63268 h 549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493008" h="549726">
                <a:moveTo>
                  <a:pt x="0" y="0"/>
                </a:moveTo>
                <a:lnTo>
                  <a:pt x="63268" y="0"/>
                </a:lnTo>
                <a:lnTo>
                  <a:pt x="3429740" y="0"/>
                </a:lnTo>
                <a:lnTo>
                  <a:pt x="3493008" y="0"/>
                </a:lnTo>
                <a:lnTo>
                  <a:pt x="3493008" y="63268"/>
                </a:lnTo>
                <a:lnTo>
                  <a:pt x="3493008" y="404038"/>
                </a:lnTo>
                <a:lnTo>
                  <a:pt x="3493008" y="480754"/>
                </a:lnTo>
                <a:lnTo>
                  <a:pt x="3490624" y="492213"/>
                </a:lnTo>
                <a:lnTo>
                  <a:pt x="3475609" y="528462"/>
                </a:lnTo>
                <a:lnTo>
                  <a:pt x="3471937" y="532908"/>
                </a:lnTo>
                <a:lnTo>
                  <a:pt x="3454367" y="544754"/>
                </a:lnTo>
                <a:cubicBezTo>
                  <a:pt x="3446798" y="547956"/>
                  <a:pt x="3438476" y="549726"/>
                  <a:pt x="3429740" y="549726"/>
                </a:cubicBezTo>
                <a:lnTo>
                  <a:pt x="63268" y="549726"/>
                </a:lnTo>
                <a:cubicBezTo>
                  <a:pt x="45797" y="549726"/>
                  <a:pt x="29980" y="542645"/>
                  <a:pt x="18531" y="531195"/>
                </a:cubicBezTo>
                <a:lnTo>
                  <a:pt x="72" y="486630"/>
                </a:lnTo>
                <a:lnTo>
                  <a:pt x="0" y="486112"/>
                </a:lnTo>
                <a:lnTo>
                  <a:pt x="0" y="404038"/>
                </a:lnTo>
                <a:lnTo>
                  <a:pt x="0" y="63268"/>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Caption in Wallace Sans, 14 pt size</a:t>
            </a:r>
          </a:p>
        </p:txBody>
      </p:sp>
      <p:sp>
        <p:nvSpPr>
          <p:cNvPr id="46" name="Text Placeholder 12">
            <a:extLst>
              <a:ext uri="{FF2B5EF4-FFF2-40B4-BE49-F238E27FC236}">
                <a16:creationId xmlns:a16="http://schemas.microsoft.com/office/drawing/2014/main" id="{6B6D78C2-E9B6-02AF-0362-9D0D2F0F58A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4" name="Straight Connector 3">
            <a:extLst>
              <a:ext uri="{FF2B5EF4-FFF2-40B4-BE49-F238E27FC236}">
                <a16:creationId xmlns:a16="http://schemas.microsoft.com/office/drawing/2014/main" id="{E802C569-E8C3-E552-E16E-FDCA101C6EAC}"/>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333894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 Image ( 4 caption cells)">
    <p:bg>
      <p:bgPr>
        <a:solidFill>
          <a:schemeClr val="bg1"/>
        </a:solidFill>
        <a:effectLst/>
      </p:bgPr>
    </p:bg>
    <p:spTree>
      <p:nvGrpSpPr>
        <p:cNvPr id="1" name=""/>
        <p:cNvGrpSpPr/>
        <p:nvPr/>
      </p:nvGrpSpPr>
      <p:grpSpPr>
        <a:xfrm>
          <a:off x="0" y="0"/>
          <a:ext cx="0" cy="0"/>
          <a:chOff x="0" y="0"/>
          <a:chExt cx="0" cy="0"/>
        </a:xfrm>
      </p:grpSpPr>
      <p:sp>
        <p:nvSpPr>
          <p:cNvPr id="30" name="Picture Placeholder 29">
            <a:extLst>
              <a:ext uri="{FF2B5EF4-FFF2-40B4-BE49-F238E27FC236}">
                <a16:creationId xmlns:a16="http://schemas.microsoft.com/office/drawing/2014/main" id="{8AF8F255-A5C7-C890-68F5-60149DF7E9C3}"/>
              </a:ext>
            </a:extLst>
          </p:cNvPr>
          <p:cNvSpPr>
            <a:spLocks noGrp="1"/>
          </p:cNvSpPr>
          <p:nvPr>
            <p:ph type="pic" sz="quarter" idx="45"/>
          </p:nvPr>
        </p:nvSpPr>
        <p:spPr>
          <a:xfrm>
            <a:off x="517490"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1" name="Picture Placeholder 30">
            <a:extLst>
              <a:ext uri="{FF2B5EF4-FFF2-40B4-BE49-F238E27FC236}">
                <a16:creationId xmlns:a16="http://schemas.microsoft.com/office/drawing/2014/main" id="{82A7B04A-FC29-A766-4DE5-28E13CB37292}"/>
              </a:ext>
            </a:extLst>
          </p:cNvPr>
          <p:cNvSpPr>
            <a:spLocks noGrp="1"/>
          </p:cNvSpPr>
          <p:nvPr>
            <p:ph type="pic" sz="quarter" idx="46"/>
          </p:nvPr>
        </p:nvSpPr>
        <p:spPr>
          <a:xfrm>
            <a:off x="339129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2" name="Picture Placeholder 31">
            <a:extLst>
              <a:ext uri="{FF2B5EF4-FFF2-40B4-BE49-F238E27FC236}">
                <a16:creationId xmlns:a16="http://schemas.microsoft.com/office/drawing/2014/main" id="{4AB0D284-CA1B-BDA1-35A7-F904D2DA7097}"/>
              </a:ext>
            </a:extLst>
          </p:cNvPr>
          <p:cNvSpPr>
            <a:spLocks noGrp="1"/>
          </p:cNvSpPr>
          <p:nvPr>
            <p:ph type="pic" sz="quarter" idx="47"/>
          </p:nvPr>
        </p:nvSpPr>
        <p:spPr>
          <a:xfrm>
            <a:off x="627180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33" name="Picture Placeholder 32">
            <a:extLst>
              <a:ext uri="{FF2B5EF4-FFF2-40B4-BE49-F238E27FC236}">
                <a16:creationId xmlns:a16="http://schemas.microsoft.com/office/drawing/2014/main" id="{42D7BC5E-5436-94ED-8990-9322E3F09D6A}"/>
              </a:ext>
            </a:extLst>
          </p:cNvPr>
          <p:cNvSpPr>
            <a:spLocks noGrp="1"/>
          </p:cNvSpPr>
          <p:nvPr>
            <p:ph type="pic" sz="quarter" idx="48"/>
          </p:nvPr>
        </p:nvSpPr>
        <p:spPr>
          <a:xfrm>
            <a:off x="9152319" y="2625207"/>
            <a:ext cx="2523744" cy="3392415"/>
          </a:xfrm>
          <a:custGeom>
            <a:avLst/>
            <a:gdLst>
              <a:gd name="connsiteX0" fmla="*/ 0 w 2523744"/>
              <a:gd name="connsiteY0" fmla="*/ 0 h 3392415"/>
              <a:gd name="connsiteX1" fmla="*/ 1328794 w 2523744"/>
              <a:gd name="connsiteY1" fmla="*/ 0 h 3392415"/>
              <a:gd name="connsiteX2" fmla="*/ 1421039 w 2523744"/>
              <a:gd name="connsiteY2" fmla="*/ 0 h 3392415"/>
              <a:gd name="connsiteX3" fmla="*/ 2437136 w 2523744"/>
              <a:gd name="connsiteY3" fmla="*/ 0 h 3392415"/>
              <a:gd name="connsiteX4" fmla="*/ 2523744 w 2523744"/>
              <a:gd name="connsiteY4" fmla="*/ 86608 h 3392415"/>
              <a:gd name="connsiteX5" fmla="*/ 2523744 w 2523744"/>
              <a:gd name="connsiteY5" fmla="*/ 1097722 h 3392415"/>
              <a:gd name="connsiteX6" fmla="*/ 2523744 w 2523744"/>
              <a:gd name="connsiteY6" fmla="*/ 1194950 h 3392415"/>
              <a:gd name="connsiteX7" fmla="*/ 2523744 w 2523744"/>
              <a:gd name="connsiteY7" fmla="*/ 2197474 h 3392415"/>
              <a:gd name="connsiteX8" fmla="*/ 2523744 w 2523744"/>
              <a:gd name="connsiteY8" fmla="*/ 2206064 h 3392415"/>
              <a:gd name="connsiteX9" fmla="*/ 2523744 w 2523744"/>
              <a:gd name="connsiteY9" fmla="*/ 3305816 h 3392415"/>
              <a:gd name="connsiteX10" fmla="*/ 2470848 w 2523744"/>
              <a:gd name="connsiteY10" fmla="*/ 3385618 h 3392415"/>
              <a:gd name="connsiteX11" fmla="*/ 2437181 w 2523744"/>
              <a:gd name="connsiteY11" fmla="*/ 3392415 h 3392415"/>
              <a:gd name="connsiteX12" fmla="*/ 86565 w 2523744"/>
              <a:gd name="connsiteY12" fmla="*/ 3392415 h 3392415"/>
              <a:gd name="connsiteX13" fmla="*/ 52898 w 2523744"/>
              <a:gd name="connsiteY13" fmla="*/ 3385618 h 3392415"/>
              <a:gd name="connsiteX14" fmla="*/ 1 w 2523744"/>
              <a:gd name="connsiteY14" fmla="*/ 3305816 h 3392415"/>
              <a:gd name="connsiteX15" fmla="*/ 1 w 2523744"/>
              <a:gd name="connsiteY15" fmla="*/ 2381310 h 3392415"/>
              <a:gd name="connsiteX16" fmla="*/ 0 w 2523744"/>
              <a:gd name="connsiteY16" fmla="*/ 2381310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23744" h="3392415">
                <a:moveTo>
                  <a:pt x="0" y="0"/>
                </a:moveTo>
                <a:lnTo>
                  <a:pt x="1328794" y="0"/>
                </a:lnTo>
                <a:lnTo>
                  <a:pt x="1421039" y="0"/>
                </a:lnTo>
                <a:lnTo>
                  <a:pt x="2437136" y="0"/>
                </a:lnTo>
                <a:cubicBezTo>
                  <a:pt x="2484968" y="0"/>
                  <a:pt x="2523744" y="38776"/>
                  <a:pt x="2523744" y="86608"/>
                </a:cubicBezTo>
                <a:lnTo>
                  <a:pt x="2523744" y="1097722"/>
                </a:lnTo>
                <a:lnTo>
                  <a:pt x="2523744" y="1194950"/>
                </a:lnTo>
                <a:lnTo>
                  <a:pt x="2523744" y="2197474"/>
                </a:lnTo>
                <a:lnTo>
                  <a:pt x="2523744" y="2206064"/>
                </a:lnTo>
                <a:lnTo>
                  <a:pt x="2523744" y="3305816"/>
                </a:lnTo>
                <a:cubicBezTo>
                  <a:pt x="2523744" y="3341690"/>
                  <a:pt x="2501933" y="3372470"/>
                  <a:pt x="2470848" y="3385618"/>
                </a:cubicBezTo>
                <a:lnTo>
                  <a:pt x="2437181" y="3392415"/>
                </a:lnTo>
                <a:lnTo>
                  <a:pt x="86565" y="3392415"/>
                </a:lnTo>
                <a:lnTo>
                  <a:pt x="52898" y="3385618"/>
                </a:lnTo>
                <a:cubicBezTo>
                  <a:pt x="21813" y="3372470"/>
                  <a:pt x="1" y="3341690"/>
                  <a:pt x="1" y="3305816"/>
                </a:cubicBezTo>
                <a:lnTo>
                  <a:pt x="1" y="2381310"/>
                </a:lnTo>
                <a:lnTo>
                  <a:pt x="0" y="2381310"/>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16" name="Text Placeholder 15">
            <a:extLst>
              <a:ext uri="{FF2B5EF4-FFF2-40B4-BE49-F238E27FC236}">
                <a16:creationId xmlns:a16="http://schemas.microsoft.com/office/drawing/2014/main" id="{06FF084D-CCE3-932C-9059-CE91E83214B0}"/>
              </a:ext>
            </a:extLst>
          </p:cNvPr>
          <p:cNvSpPr>
            <a:spLocks noGrp="1"/>
          </p:cNvSpPr>
          <p:nvPr>
            <p:ph type="body" sz="quarter" idx="38" hasCustomPrompt="1"/>
          </p:nvPr>
        </p:nvSpPr>
        <p:spPr>
          <a:xfrm>
            <a:off x="51749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18" name="Text Placeholder 17">
            <a:extLst>
              <a:ext uri="{FF2B5EF4-FFF2-40B4-BE49-F238E27FC236}">
                <a16:creationId xmlns:a16="http://schemas.microsoft.com/office/drawing/2014/main" id="{0B553A34-096A-5D99-C2C0-CCD416FBDCD7}"/>
              </a:ext>
            </a:extLst>
          </p:cNvPr>
          <p:cNvSpPr>
            <a:spLocks noGrp="1"/>
          </p:cNvSpPr>
          <p:nvPr>
            <p:ph type="body" sz="quarter" idx="40" hasCustomPrompt="1"/>
          </p:nvPr>
        </p:nvSpPr>
        <p:spPr>
          <a:xfrm>
            <a:off x="339130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0" name="Text Placeholder 19">
            <a:extLst>
              <a:ext uri="{FF2B5EF4-FFF2-40B4-BE49-F238E27FC236}">
                <a16:creationId xmlns:a16="http://schemas.microsoft.com/office/drawing/2014/main" id="{C776E4A6-2B84-BF53-7F11-9704F9D69A4F}"/>
              </a:ext>
            </a:extLst>
          </p:cNvPr>
          <p:cNvSpPr>
            <a:spLocks noGrp="1"/>
          </p:cNvSpPr>
          <p:nvPr>
            <p:ph type="body" sz="quarter" idx="42" hasCustomPrompt="1"/>
          </p:nvPr>
        </p:nvSpPr>
        <p:spPr>
          <a:xfrm>
            <a:off x="627181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2" name="Text Placeholder 21">
            <a:extLst>
              <a:ext uri="{FF2B5EF4-FFF2-40B4-BE49-F238E27FC236}">
                <a16:creationId xmlns:a16="http://schemas.microsoft.com/office/drawing/2014/main" id="{6923720F-03B8-65E3-9254-891301CEBA4C}"/>
              </a:ext>
            </a:extLst>
          </p:cNvPr>
          <p:cNvSpPr>
            <a:spLocks noGrp="1"/>
          </p:cNvSpPr>
          <p:nvPr>
            <p:ph type="body" sz="quarter" idx="44" hasCustomPrompt="1"/>
          </p:nvPr>
        </p:nvSpPr>
        <p:spPr>
          <a:xfrm>
            <a:off x="9152320" y="5624309"/>
            <a:ext cx="2523743" cy="393192"/>
          </a:xfrm>
          <a:custGeom>
            <a:avLst/>
            <a:gdLst>
              <a:gd name="connsiteX0" fmla="*/ 0 w 2523743"/>
              <a:gd name="connsiteY0" fmla="*/ 0 h 393192"/>
              <a:gd name="connsiteX1" fmla="*/ 45712 w 2523743"/>
              <a:gd name="connsiteY1" fmla="*/ 0 h 393192"/>
              <a:gd name="connsiteX2" fmla="*/ 82311 w 2523743"/>
              <a:gd name="connsiteY2" fmla="*/ 0 h 393192"/>
              <a:gd name="connsiteX3" fmla="*/ 2441432 w 2523743"/>
              <a:gd name="connsiteY3" fmla="*/ 0 h 393192"/>
              <a:gd name="connsiteX4" fmla="*/ 2478031 w 2523743"/>
              <a:gd name="connsiteY4" fmla="*/ 0 h 393192"/>
              <a:gd name="connsiteX5" fmla="*/ 2523743 w 2523743"/>
              <a:gd name="connsiteY5" fmla="*/ 0 h 393192"/>
              <a:gd name="connsiteX6" fmla="*/ 2523743 w 2523743"/>
              <a:gd name="connsiteY6" fmla="*/ 45253 h 393192"/>
              <a:gd name="connsiteX7" fmla="*/ 2523743 w 2523743"/>
              <a:gd name="connsiteY7" fmla="*/ 82119 h 393192"/>
              <a:gd name="connsiteX8" fmla="*/ 2523743 w 2523743"/>
              <a:gd name="connsiteY8" fmla="*/ 214850 h 393192"/>
              <a:gd name="connsiteX9" fmla="*/ 2523743 w 2523743"/>
              <a:gd name="connsiteY9" fmla="*/ 288989 h 393192"/>
              <a:gd name="connsiteX10" fmla="*/ 2523743 w 2523743"/>
              <a:gd name="connsiteY10" fmla="*/ 311074 h 393192"/>
              <a:gd name="connsiteX11" fmla="*/ 2441432 w 2523743"/>
              <a:gd name="connsiteY11" fmla="*/ 393192 h 393192"/>
              <a:gd name="connsiteX12" fmla="*/ 82311 w 2523743"/>
              <a:gd name="connsiteY12" fmla="*/ 393192 h 393192"/>
              <a:gd name="connsiteX13" fmla="*/ 0 w 2523743"/>
              <a:gd name="connsiteY13" fmla="*/ 311074 h 393192"/>
              <a:gd name="connsiteX14" fmla="*/ 0 w 2523743"/>
              <a:gd name="connsiteY14" fmla="*/ 288989 h 393192"/>
              <a:gd name="connsiteX15" fmla="*/ 0 w 2523743"/>
              <a:gd name="connsiteY15" fmla="*/ 214850 h 393192"/>
              <a:gd name="connsiteX16" fmla="*/ 0 w 2523743"/>
              <a:gd name="connsiteY16" fmla="*/ 82119 h 393192"/>
              <a:gd name="connsiteX17" fmla="*/ 0 w 2523743"/>
              <a:gd name="connsiteY17" fmla="*/ 45253 h 393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393192">
                <a:moveTo>
                  <a:pt x="0" y="0"/>
                </a:moveTo>
                <a:lnTo>
                  <a:pt x="45712" y="0"/>
                </a:lnTo>
                <a:lnTo>
                  <a:pt x="82311" y="0"/>
                </a:lnTo>
                <a:lnTo>
                  <a:pt x="2441432" y="0"/>
                </a:lnTo>
                <a:lnTo>
                  <a:pt x="2478031" y="0"/>
                </a:lnTo>
                <a:lnTo>
                  <a:pt x="2523743" y="0"/>
                </a:lnTo>
                <a:lnTo>
                  <a:pt x="2523743" y="45253"/>
                </a:lnTo>
                <a:lnTo>
                  <a:pt x="2523743" y="82119"/>
                </a:lnTo>
                <a:lnTo>
                  <a:pt x="2523743" y="214850"/>
                </a:lnTo>
                <a:lnTo>
                  <a:pt x="2523743" y="288989"/>
                </a:lnTo>
                <a:lnTo>
                  <a:pt x="2523743" y="311074"/>
                </a:lnTo>
                <a:cubicBezTo>
                  <a:pt x="2523743" y="356426"/>
                  <a:pt x="2486891" y="393192"/>
                  <a:pt x="2441432" y="393192"/>
                </a:cubicBezTo>
                <a:lnTo>
                  <a:pt x="82311" y="393192"/>
                </a:lnTo>
                <a:cubicBezTo>
                  <a:pt x="36852" y="393192"/>
                  <a:pt x="0" y="356426"/>
                  <a:pt x="0" y="311074"/>
                </a:cubicBezTo>
                <a:lnTo>
                  <a:pt x="0" y="288989"/>
                </a:lnTo>
                <a:lnTo>
                  <a:pt x="0" y="214850"/>
                </a:lnTo>
                <a:lnTo>
                  <a:pt x="0" y="82119"/>
                </a:lnTo>
                <a:lnTo>
                  <a:pt x="0" y="45253"/>
                </a:lnTo>
                <a:close/>
              </a:path>
            </a:pathLst>
          </a:custGeom>
          <a:solidFill>
            <a:schemeClr val="accent1"/>
          </a:solidFill>
        </p:spPr>
        <p:txBody>
          <a:bodyPr wrap="square" anchor="ctr">
            <a:noAutofit/>
          </a:bodyPr>
          <a:lstStyle>
            <a:lvl1pPr marL="173038" indent="0">
              <a:tabLst/>
              <a:defRPr sz="1400" b="0" i="0">
                <a:solidFill>
                  <a:schemeClr val="bg1"/>
                </a:solidFill>
                <a:latin typeface="Wallace Sans Light" pitchFamily="2" charset="0"/>
                <a:cs typeface="Wallace Sans Light" pitchFamily="2" charset="0"/>
              </a:defRPr>
            </a:lvl1pPr>
            <a:lvl2pPr>
              <a:defRPr sz="1400"/>
            </a:lvl2pPr>
            <a:lvl3pPr>
              <a:defRPr sz="1400"/>
            </a:lvl3pPr>
            <a:lvl4pPr>
              <a:defRPr sz="1400"/>
            </a:lvl4pPr>
            <a:lvl5pPr>
              <a:defRPr sz="1400"/>
            </a:lvl5pPr>
          </a:lstStyle>
          <a:p>
            <a:r>
              <a:rPr lang="en-IN" sz="1400" spc="-50">
                <a:latin typeface="Wallace Sans BETA Light" pitchFamily="2" charset="77"/>
                <a:cs typeface="Wallace Sans BETA Light" pitchFamily="2" charset="77"/>
              </a:rPr>
              <a:t>Wallace Sans, 14 pt size</a:t>
            </a: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99CBE484-A8EA-64FE-CE0E-DCE19A47FFD2}"/>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703405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aption + Image ( 2 cells)">
    <p:bg>
      <p:bgPr>
        <a:solidFill>
          <a:schemeClr val="bg1"/>
        </a:solidFill>
        <a:effectLst/>
      </p:bgPr>
    </p:bg>
    <p:spTree>
      <p:nvGrpSpPr>
        <p:cNvPr id="1" name=""/>
        <p:cNvGrpSpPr/>
        <p:nvPr/>
      </p:nvGrpSpPr>
      <p:grpSpPr>
        <a:xfrm>
          <a:off x="0" y="0"/>
          <a:ext cx="0" cy="0"/>
          <a:chOff x="0" y="0"/>
          <a:chExt cx="0" cy="0"/>
        </a:xfrm>
      </p:grpSpPr>
      <p:sp>
        <p:nvSpPr>
          <p:cNvPr id="17" name="Picture Placeholder 16">
            <a:extLst>
              <a:ext uri="{FF2B5EF4-FFF2-40B4-BE49-F238E27FC236}">
                <a16:creationId xmlns:a16="http://schemas.microsoft.com/office/drawing/2014/main" id="{E2180CA1-0A17-F18D-6B99-415DB00C70D3}"/>
              </a:ext>
            </a:extLst>
          </p:cNvPr>
          <p:cNvSpPr>
            <a:spLocks noGrp="1"/>
          </p:cNvSpPr>
          <p:nvPr>
            <p:ph type="pic" sz="quarter" idx="13"/>
          </p:nvPr>
        </p:nvSpPr>
        <p:spPr>
          <a:xfrm>
            <a:off x="517490" y="1896128"/>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6" name="Picture Placeholder 25">
            <a:extLst>
              <a:ext uri="{FF2B5EF4-FFF2-40B4-BE49-F238E27FC236}">
                <a16:creationId xmlns:a16="http://schemas.microsoft.com/office/drawing/2014/main" id="{8A9CF70C-CD58-7985-1E31-86DBC9EC344D}"/>
              </a:ext>
            </a:extLst>
          </p:cNvPr>
          <p:cNvSpPr>
            <a:spLocks noGrp="1"/>
          </p:cNvSpPr>
          <p:nvPr>
            <p:ph type="pic" sz="quarter" idx="15"/>
          </p:nvPr>
        </p:nvSpPr>
        <p:spPr>
          <a:xfrm>
            <a:off x="6281103" y="1896128"/>
            <a:ext cx="5394960" cy="4121373"/>
          </a:xfrm>
          <a:custGeom>
            <a:avLst/>
            <a:gdLst>
              <a:gd name="connsiteX0" fmla="*/ 0 w 5394960"/>
              <a:gd name="connsiteY0" fmla="*/ 0 h 4150550"/>
              <a:gd name="connsiteX1" fmla="*/ 66667 w 5394960"/>
              <a:gd name="connsiteY1" fmla="*/ 0 h 4150550"/>
              <a:gd name="connsiteX2" fmla="*/ 682752 w 5394960"/>
              <a:gd name="connsiteY2" fmla="*/ 0 h 4150550"/>
              <a:gd name="connsiteX3" fmla="*/ 5328293 w 5394960"/>
              <a:gd name="connsiteY3" fmla="*/ 0 h 4150550"/>
              <a:gd name="connsiteX4" fmla="*/ 5394960 w 5394960"/>
              <a:gd name="connsiteY4" fmla="*/ 66667 h 4150550"/>
              <a:gd name="connsiteX5" fmla="*/ 5394960 w 5394960"/>
              <a:gd name="connsiteY5" fmla="*/ 4087033 h 4150550"/>
              <a:gd name="connsiteX6" fmla="*/ 5354243 w 5394960"/>
              <a:gd name="connsiteY6" fmla="*/ 4148461 h 4150550"/>
              <a:gd name="connsiteX7" fmla="*/ 5343896 w 5394960"/>
              <a:gd name="connsiteY7" fmla="*/ 4150550 h 4150550"/>
              <a:gd name="connsiteX8" fmla="*/ 51065 w 5394960"/>
              <a:gd name="connsiteY8" fmla="*/ 4150550 h 4150550"/>
              <a:gd name="connsiteX9" fmla="*/ 40717 w 5394960"/>
              <a:gd name="connsiteY9" fmla="*/ 4148461 h 4150550"/>
              <a:gd name="connsiteX10" fmla="*/ 0 w 5394960"/>
              <a:gd name="connsiteY10" fmla="*/ 4087033 h 4150550"/>
              <a:gd name="connsiteX11" fmla="*/ 0 w 5394960"/>
              <a:gd name="connsiteY11" fmla="*/ 438912 h 4150550"/>
              <a:gd name="connsiteX12" fmla="*/ 0 w 5394960"/>
              <a:gd name="connsiteY12" fmla="*/ 66667 h 4150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4960" h="4150550">
                <a:moveTo>
                  <a:pt x="0" y="0"/>
                </a:moveTo>
                <a:lnTo>
                  <a:pt x="66667" y="0"/>
                </a:lnTo>
                <a:lnTo>
                  <a:pt x="682752" y="0"/>
                </a:lnTo>
                <a:lnTo>
                  <a:pt x="5328293" y="0"/>
                </a:lnTo>
                <a:cubicBezTo>
                  <a:pt x="5365112" y="0"/>
                  <a:pt x="5394960" y="29848"/>
                  <a:pt x="5394960" y="66667"/>
                </a:cubicBezTo>
                <a:lnTo>
                  <a:pt x="5394960" y="4087033"/>
                </a:lnTo>
                <a:cubicBezTo>
                  <a:pt x="5394960" y="4114647"/>
                  <a:pt x="5378171" y="4138341"/>
                  <a:pt x="5354243" y="4148461"/>
                </a:cubicBezTo>
                <a:lnTo>
                  <a:pt x="5343896" y="4150550"/>
                </a:lnTo>
                <a:lnTo>
                  <a:pt x="51065" y="4150550"/>
                </a:lnTo>
                <a:lnTo>
                  <a:pt x="40717" y="4148461"/>
                </a:lnTo>
                <a:cubicBezTo>
                  <a:pt x="16790" y="4138341"/>
                  <a:pt x="0" y="4114647"/>
                  <a:pt x="0" y="4087033"/>
                </a:cubicBezTo>
                <a:lnTo>
                  <a:pt x="0" y="438912"/>
                </a:lnTo>
                <a:lnTo>
                  <a:pt x="0" y="66667"/>
                </a:lnTo>
                <a:close/>
              </a:path>
            </a:pathLst>
          </a:custGeom>
          <a:solidFill>
            <a:schemeClr val="bg1">
              <a:lumMod val="95000"/>
            </a:schemeClr>
          </a:solidFill>
        </p:spPr>
        <p:txBody>
          <a:bodyPr wrap="square">
            <a:noAutofit/>
          </a:bodyPr>
          <a:lstStyle/>
          <a:p>
            <a:r>
              <a:rPr lang="en-US"/>
              <a:t>Click icon to add picture</a:t>
            </a:r>
          </a:p>
        </p:txBody>
      </p:sp>
      <p:sp>
        <p:nvSpPr>
          <p:cNvPr id="30" name="Text Placeholder 12">
            <a:extLst>
              <a:ext uri="{FF2B5EF4-FFF2-40B4-BE49-F238E27FC236}">
                <a16:creationId xmlns:a16="http://schemas.microsoft.com/office/drawing/2014/main" id="{64926BE4-F455-33DB-577C-4F5D849C2FD0}"/>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15" name="Text Placeholder 14">
            <a:extLst>
              <a:ext uri="{FF2B5EF4-FFF2-40B4-BE49-F238E27FC236}">
                <a16:creationId xmlns:a16="http://schemas.microsoft.com/office/drawing/2014/main" id="{6FBC095B-8BF6-079E-CAD5-B65EBB70079A}"/>
              </a:ext>
            </a:extLst>
          </p:cNvPr>
          <p:cNvSpPr>
            <a:spLocks noGrp="1"/>
          </p:cNvSpPr>
          <p:nvPr>
            <p:ph type="body" sz="quarter" idx="32" hasCustomPrompt="1"/>
          </p:nvPr>
        </p:nvSpPr>
        <p:spPr>
          <a:xfrm>
            <a:off x="6281103" y="5220512"/>
            <a:ext cx="5394960" cy="796989"/>
          </a:xfrm>
          <a:custGeom>
            <a:avLst/>
            <a:gdLst>
              <a:gd name="connsiteX0" fmla="*/ 0 w 5403577"/>
              <a:gd name="connsiteY0" fmla="*/ 0 h 796989"/>
              <a:gd name="connsiteX1" fmla="*/ 2086224 w 5403577"/>
              <a:gd name="connsiteY1" fmla="*/ 0 h 796989"/>
              <a:gd name="connsiteX2" fmla="*/ 2523742 w 5403577"/>
              <a:gd name="connsiteY2" fmla="*/ 0 h 796989"/>
              <a:gd name="connsiteX3" fmla="*/ 2879834 w 5403577"/>
              <a:gd name="connsiteY3" fmla="*/ 0 h 796989"/>
              <a:gd name="connsiteX4" fmla="*/ 3512068 w 5403577"/>
              <a:gd name="connsiteY4" fmla="*/ 0 h 796989"/>
              <a:gd name="connsiteX5" fmla="*/ 5403577 w 5403577"/>
              <a:gd name="connsiteY5" fmla="*/ 0 h 796989"/>
              <a:gd name="connsiteX6" fmla="*/ 5403577 w 5403577"/>
              <a:gd name="connsiteY6" fmla="*/ 367632 h 796989"/>
              <a:gd name="connsiteX7" fmla="*/ 5403577 w 5403577"/>
              <a:gd name="connsiteY7" fmla="*/ 395604 h 796989"/>
              <a:gd name="connsiteX8" fmla="*/ 5403577 w 5403577"/>
              <a:gd name="connsiteY8" fmla="*/ 417411 h 796989"/>
              <a:gd name="connsiteX9" fmla="*/ 5403577 w 5403577"/>
              <a:gd name="connsiteY9" fmla="*/ 457963 h 796989"/>
              <a:gd name="connsiteX10" fmla="*/ 5403577 w 5403577"/>
              <a:gd name="connsiteY10" fmla="*/ 603967 h 796989"/>
              <a:gd name="connsiteX11" fmla="*/ 5403577 w 5403577"/>
              <a:gd name="connsiteY11" fmla="*/ 685520 h 796989"/>
              <a:gd name="connsiteX12" fmla="*/ 5403577 w 5403577"/>
              <a:gd name="connsiteY12" fmla="*/ 709813 h 796989"/>
              <a:gd name="connsiteX13" fmla="*/ 5353305 w 5403577"/>
              <a:gd name="connsiteY13" fmla="*/ 793045 h 796989"/>
              <a:gd name="connsiteX14" fmla="*/ 5335501 w 5403577"/>
              <a:gd name="connsiteY14" fmla="*/ 796989 h 796989"/>
              <a:gd name="connsiteX15" fmla="*/ 68075 w 5403577"/>
              <a:gd name="connsiteY15" fmla="*/ 796989 h 796989"/>
              <a:gd name="connsiteX16" fmla="*/ 50271 w 5403577"/>
              <a:gd name="connsiteY16" fmla="*/ 793045 h 796989"/>
              <a:gd name="connsiteX17" fmla="*/ 6468 w 5403577"/>
              <a:gd name="connsiteY17" fmla="*/ 744974 h 796989"/>
              <a:gd name="connsiteX18" fmla="*/ 0 w 5403577"/>
              <a:gd name="connsiteY18" fmla="*/ 709819 h 79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3577" h="796989">
                <a:moveTo>
                  <a:pt x="0" y="0"/>
                </a:moveTo>
                <a:lnTo>
                  <a:pt x="2086224" y="0"/>
                </a:lnTo>
                <a:lnTo>
                  <a:pt x="2523742" y="0"/>
                </a:lnTo>
                <a:lnTo>
                  <a:pt x="2879834" y="0"/>
                </a:lnTo>
                <a:lnTo>
                  <a:pt x="3512068" y="0"/>
                </a:lnTo>
                <a:lnTo>
                  <a:pt x="5403577" y="0"/>
                </a:lnTo>
                <a:lnTo>
                  <a:pt x="5403577" y="367632"/>
                </a:lnTo>
                <a:lnTo>
                  <a:pt x="5403577" y="395604"/>
                </a:lnTo>
                <a:lnTo>
                  <a:pt x="5403577" y="417411"/>
                </a:lnTo>
                <a:lnTo>
                  <a:pt x="5403577" y="457963"/>
                </a:lnTo>
                <a:lnTo>
                  <a:pt x="5403577" y="603967"/>
                </a:lnTo>
                <a:lnTo>
                  <a:pt x="5403577" y="685520"/>
                </a:lnTo>
                <a:lnTo>
                  <a:pt x="5403577" y="709813"/>
                </a:lnTo>
                <a:cubicBezTo>
                  <a:pt x="5403577" y="747229"/>
                  <a:pt x="5382848" y="779332"/>
                  <a:pt x="5353305" y="793045"/>
                </a:cubicBezTo>
                <a:lnTo>
                  <a:pt x="5335501" y="796989"/>
                </a:lnTo>
                <a:lnTo>
                  <a:pt x="68075" y="796989"/>
                </a:lnTo>
                <a:lnTo>
                  <a:pt x="50271" y="793045"/>
                </a:lnTo>
                <a:cubicBezTo>
                  <a:pt x="30576" y="783903"/>
                  <a:pt x="14798" y="766588"/>
                  <a:pt x="6468" y="744974"/>
                </a:cubicBezTo>
                <a:lnTo>
                  <a:pt x="0" y="709819"/>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16" name="Text Placeholder 15">
            <a:extLst>
              <a:ext uri="{FF2B5EF4-FFF2-40B4-BE49-F238E27FC236}">
                <a16:creationId xmlns:a16="http://schemas.microsoft.com/office/drawing/2014/main" id="{B85B3D7D-DCAF-FD91-58E9-E8B5521BF490}"/>
              </a:ext>
            </a:extLst>
          </p:cNvPr>
          <p:cNvSpPr>
            <a:spLocks noGrp="1"/>
          </p:cNvSpPr>
          <p:nvPr>
            <p:ph type="body" sz="quarter" idx="33" hasCustomPrompt="1"/>
          </p:nvPr>
        </p:nvSpPr>
        <p:spPr>
          <a:xfrm>
            <a:off x="517490" y="5220512"/>
            <a:ext cx="5394960" cy="796989"/>
          </a:xfrm>
          <a:custGeom>
            <a:avLst/>
            <a:gdLst>
              <a:gd name="connsiteX0" fmla="*/ 0 w 5403577"/>
              <a:gd name="connsiteY0" fmla="*/ 0 h 796989"/>
              <a:gd name="connsiteX1" fmla="*/ 2086224 w 5403577"/>
              <a:gd name="connsiteY1" fmla="*/ 0 h 796989"/>
              <a:gd name="connsiteX2" fmla="*/ 2523742 w 5403577"/>
              <a:gd name="connsiteY2" fmla="*/ 0 h 796989"/>
              <a:gd name="connsiteX3" fmla="*/ 2879834 w 5403577"/>
              <a:gd name="connsiteY3" fmla="*/ 0 h 796989"/>
              <a:gd name="connsiteX4" fmla="*/ 3512068 w 5403577"/>
              <a:gd name="connsiteY4" fmla="*/ 0 h 796989"/>
              <a:gd name="connsiteX5" fmla="*/ 5403577 w 5403577"/>
              <a:gd name="connsiteY5" fmla="*/ 0 h 796989"/>
              <a:gd name="connsiteX6" fmla="*/ 5403577 w 5403577"/>
              <a:gd name="connsiteY6" fmla="*/ 367632 h 796989"/>
              <a:gd name="connsiteX7" fmla="*/ 5403577 w 5403577"/>
              <a:gd name="connsiteY7" fmla="*/ 395604 h 796989"/>
              <a:gd name="connsiteX8" fmla="*/ 5403577 w 5403577"/>
              <a:gd name="connsiteY8" fmla="*/ 417411 h 796989"/>
              <a:gd name="connsiteX9" fmla="*/ 5403577 w 5403577"/>
              <a:gd name="connsiteY9" fmla="*/ 457963 h 796989"/>
              <a:gd name="connsiteX10" fmla="*/ 5403577 w 5403577"/>
              <a:gd name="connsiteY10" fmla="*/ 603967 h 796989"/>
              <a:gd name="connsiteX11" fmla="*/ 5403577 w 5403577"/>
              <a:gd name="connsiteY11" fmla="*/ 685520 h 796989"/>
              <a:gd name="connsiteX12" fmla="*/ 5403577 w 5403577"/>
              <a:gd name="connsiteY12" fmla="*/ 709813 h 796989"/>
              <a:gd name="connsiteX13" fmla="*/ 5353305 w 5403577"/>
              <a:gd name="connsiteY13" fmla="*/ 793045 h 796989"/>
              <a:gd name="connsiteX14" fmla="*/ 5335501 w 5403577"/>
              <a:gd name="connsiteY14" fmla="*/ 796989 h 796989"/>
              <a:gd name="connsiteX15" fmla="*/ 68075 w 5403577"/>
              <a:gd name="connsiteY15" fmla="*/ 796989 h 796989"/>
              <a:gd name="connsiteX16" fmla="*/ 50271 w 5403577"/>
              <a:gd name="connsiteY16" fmla="*/ 793045 h 796989"/>
              <a:gd name="connsiteX17" fmla="*/ 6468 w 5403577"/>
              <a:gd name="connsiteY17" fmla="*/ 744974 h 796989"/>
              <a:gd name="connsiteX18" fmla="*/ 0 w 5403577"/>
              <a:gd name="connsiteY18" fmla="*/ 709819 h 7969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3577" h="796989">
                <a:moveTo>
                  <a:pt x="0" y="0"/>
                </a:moveTo>
                <a:lnTo>
                  <a:pt x="2086224" y="0"/>
                </a:lnTo>
                <a:lnTo>
                  <a:pt x="2523742" y="0"/>
                </a:lnTo>
                <a:lnTo>
                  <a:pt x="2879834" y="0"/>
                </a:lnTo>
                <a:lnTo>
                  <a:pt x="3512068" y="0"/>
                </a:lnTo>
                <a:lnTo>
                  <a:pt x="5403577" y="0"/>
                </a:lnTo>
                <a:lnTo>
                  <a:pt x="5403577" y="367632"/>
                </a:lnTo>
                <a:lnTo>
                  <a:pt x="5403577" y="395604"/>
                </a:lnTo>
                <a:lnTo>
                  <a:pt x="5403577" y="417411"/>
                </a:lnTo>
                <a:lnTo>
                  <a:pt x="5403577" y="457963"/>
                </a:lnTo>
                <a:lnTo>
                  <a:pt x="5403577" y="603967"/>
                </a:lnTo>
                <a:lnTo>
                  <a:pt x="5403577" y="685520"/>
                </a:lnTo>
                <a:lnTo>
                  <a:pt x="5403577" y="709813"/>
                </a:lnTo>
                <a:cubicBezTo>
                  <a:pt x="5403577" y="747229"/>
                  <a:pt x="5382848" y="779332"/>
                  <a:pt x="5353305" y="793045"/>
                </a:cubicBezTo>
                <a:lnTo>
                  <a:pt x="5335501" y="796989"/>
                </a:lnTo>
                <a:lnTo>
                  <a:pt x="68075" y="796989"/>
                </a:lnTo>
                <a:lnTo>
                  <a:pt x="50271" y="793045"/>
                </a:lnTo>
                <a:cubicBezTo>
                  <a:pt x="30576" y="783903"/>
                  <a:pt x="14798" y="766588"/>
                  <a:pt x="6468" y="744974"/>
                </a:cubicBezTo>
                <a:lnTo>
                  <a:pt x="0" y="709819"/>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cxnSp>
        <p:nvCxnSpPr>
          <p:cNvPr id="2" name="Straight Connector 1">
            <a:extLst>
              <a:ext uri="{FF2B5EF4-FFF2-40B4-BE49-F238E27FC236}">
                <a16:creationId xmlns:a16="http://schemas.microsoft.com/office/drawing/2014/main" id="{8AB68C78-B5B5-46C7-6904-B78607261139}"/>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74005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ext + Image ( 3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46" name="Text Placeholder 12">
            <a:extLst>
              <a:ext uri="{FF2B5EF4-FFF2-40B4-BE49-F238E27FC236}">
                <a16:creationId xmlns:a16="http://schemas.microsoft.com/office/drawing/2014/main" id="{6B6D78C2-E9B6-02AF-0362-9D0D2F0F58A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84" name="Picture Placeholder 83">
            <a:extLst>
              <a:ext uri="{FF2B5EF4-FFF2-40B4-BE49-F238E27FC236}">
                <a16:creationId xmlns:a16="http://schemas.microsoft.com/office/drawing/2014/main" id="{2E53F492-45BA-D352-F5CF-76AE83695BD5}"/>
              </a:ext>
            </a:extLst>
          </p:cNvPr>
          <p:cNvSpPr>
            <a:spLocks noGrp="1"/>
          </p:cNvSpPr>
          <p:nvPr>
            <p:ph type="pic" sz="quarter" idx="43"/>
          </p:nvPr>
        </p:nvSpPr>
        <p:spPr>
          <a:xfrm>
            <a:off x="517490"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85" name="Picture Placeholder 84">
            <a:extLst>
              <a:ext uri="{FF2B5EF4-FFF2-40B4-BE49-F238E27FC236}">
                <a16:creationId xmlns:a16="http://schemas.microsoft.com/office/drawing/2014/main" id="{DFD281A0-1183-0C4C-D547-1D22FEB2D82E}"/>
              </a:ext>
            </a:extLst>
          </p:cNvPr>
          <p:cNvSpPr>
            <a:spLocks noGrp="1"/>
          </p:cNvSpPr>
          <p:nvPr>
            <p:ph type="pic" sz="quarter" idx="44"/>
          </p:nvPr>
        </p:nvSpPr>
        <p:spPr>
          <a:xfrm>
            <a:off x="4350273"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86" name="Picture Placeholder 85">
            <a:extLst>
              <a:ext uri="{FF2B5EF4-FFF2-40B4-BE49-F238E27FC236}">
                <a16:creationId xmlns:a16="http://schemas.microsoft.com/office/drawing/2014/main" id="{912D6E52-1DC9-C75B-ECBF-66CE92813A9B}"/>
              </a:ext>
            </a:extLst>
          </p:cNvPr>
          <p:cNvSpPr>
            <a:spLocks noGrp="1"/>
          </p:cNvSpPr>
          <p:nvPr>
            <p:ph type="pic" sz="quarter" idx="45"/>
          </p:nvPr>
        </p:nvSpPr>
        <p:spPr>
          <a:xfrm>
            <a:off x="8183056" y="1931245"/>
            <a:ext cx="3493007" cy="3314091"/>
          </a:xfrm>
          <a:custGeom>
            <a:avLst/>
            <a:gdLst>
              <a:gd name="connsiteX0" fmla="*/ 0 w 3493007"/>
              <a:gd name="connsiteY0" fmla="*/ 0 h 3314091"/>
              <a:gd name="connsiteX1" fmla="*/ 1281558 w 3493007"/>
              <a:gd name="connsiteY1" fmla="*/ 0 h 3314091"/>
              <a:gd name="connsiteX2" fmla="*/ 1281558 w 3493007"/>
              <a:gd name="connsiteY2" fmla="*/ 1 h 3314091"/>
              <a:gd name="connsiteX3" fmla="*/ 1509711 w 3493007"/>
              <a:gd name="connsiteY3" fmla="*/ 1 h 3314091"/>
              <a:gd name="connsiteX4" fmla="*/ 1631631 w 3493007"/>
              <a:gd name="connsiteY4" fmla="*/ 1 h 3314091"/>
              <a:gd name="connsiteX5" fmla="*/ 1791629 w 3493007"/>
              <a:gd name="connsiteY5" fmla="*/ 1 h 3314091"/>
              <a:gd name="connsiteX6" fmla="*/ 2124842 w 3493007"/>
              <a:gd name="connsiteY6" fmla="*/ 1 h 3314091"/>
              <a:gd name="connsiteX7" fmla="*/ 2298058 w 3493007"/>
              <a:gd name="connsiteY7" fmla="*/ 1 h 3314091"/>
              <a:gd name="connsiteX8" fmla="*/ 2739973 w 3493007"/>
              <a:gd name="connsiteY8" fmla="*/ 1 h 3314091"/>
              <a:gd name="connsiteX9" fmla="*/ 3406400 w 3493007"/>
              <a:gd name="connsiteY9" fmla="*/ 1 h 3314091"/>
              <a:gd name="connsiteX10" fmla="*/ 3486202 w 3493007"/>
              <a:gd name="connsiteY10" fmla="*/ 52897 h 3314091"/>
              <a:gd name="connsiteX11" fmla="*/ 3493007 w 3493007"/>
              <a:gd name="connsiteY11" fmla="*/ 86604 h 3314091"/>
              <a:gd name="connsiteX12" fmla="*/ 3493007 w 3493007"/>
              <a:gd name="connsiteY12" fmla="*/ 3306413 h 3314091"/>
              <a:gd name="connsiteX13" fmla="*/ 3491457 w 3493007"/>
              <a:gd name="connsiteY13" fmla="*/ 3314091 h 3314091"/>
              <a:gd name="connsiteX14" fmla="*/ 3491457 w 3493007"/>
              <a:gd name="connsiteY14" fmla="*/ 3270896 h 3314091"/>
              <a:gd name="connsiteX15" fmla="*/ 0 w 3493007"/>
              <a:gd name="connsiteY15" fmla="*/ 3270896 h 3314091"/>
              <a:gd name="connsiteX16" fmla="*/ 0 w 3493007"/>
              <a:gd name="connsiteY16" fmla="*/ 2198066 h 3314091"/>
              <a:gd name="connsiteX17" fmla="*/ 0 w 3493007"/>
              <a:gd name="connsiteY17" fmla="*/ 1915409 h 3314091"/>
              <a:gd name="connsiteX18" fmla="*/ 0 w 3493007"/>
              <a:gd name="connsiteY18" fmla="*/ 1693737 h 3314091"/>
              <a:gd name="connsiteX19" fmla="*/ 0 w 3493007"/>
              <a:gd name="connsiteY19" fmla="*/ 1333518 h 3314091"/>
              <a:gd name="connsiteX20" fmla="*/ 0 w 3493007"/>
              <a:gd name="connsiteY20" fmla="*/ 904027 h 33140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493007" h="3314091">
                <a:moveTo>
                  <a:pt x="0" y="0"/>
                </a:moveTo>
                <a:lnTo>
                  <a:pt x="1281558" y="0"/>
                </a:lnTo>
                <a:lnTo>
                  <a:pt x="1281558" y="1"/>
                </a:lnTo>
                <a:lnTo>
                  <a:pt x="1509711" y="1"/>
                </a:lnTo>
                <a:lnTo>
                  <a:pt x="1631631" y="1"/>
                </a:lnTo>
                <a:lnTo>
                  <a:pt x="1791629" y="1"/>
                </a:lnTo>
                <a:lnTo>
                  <a:pt x="2124842" y="1"/>
                </a:lnTo>
                <a:lnTo>
                  <a:pt x="2298058" y="1"/>
                </a:lnTo>
                <a:lnTo>
                  <a:pt x="2739973" y="1"/>
                </a:lnTo>
                <a:lnTo>
                  <a:pt x="3406400" y="1"/>
                </a:lnTo>
                <a:cubicBezTo>
                  <a:pt x="3442274" y="1"/>
                  <a:pt x="3473054" y="21813"/>
                  <a:pt x="3486202" y="52897"/>
                </a:cubicBezTo>
                <a:lnTo>
                  <a:pt x="3493007" y="86604"/>
                </a:lnTo>
                <a:lnTo>
                  <a:pt x="3493007" y="3306413"/>
                </a:lnTo>
                <a:lnTo>
                  <a:pt x="3491457" y="3314091"/>
                </a:lnTo>
                <a:lnTo>
                  <a:pt x="3491457" y="3270896"/>
                </a:lnTo>
                <a:lnTo>
                  <a:pt x="0" y="3270896"/>
                </a:lnTo>
                <a:lnTo>
                  <a:pt x="0" y="2198066"/>
                </a:lnTo>
                <a:lnTo>
                  <a:pt x="0" y="1915409"/>
                </a:lnTo>
                <a:lnTo>
                  <a:pt x="0" y="1693737"/>
                </a:lnTo>
                <a:lnTo>
                  <a:pt x="0" y="1333518"/>
                </a:lnTo>
                <a:lnTo>
                  <a:pt x="0" y="904027"/>
                </a:lnTo>
                <a:close/>
              </a:path>
            </a:pathLst>
          </a:custGeom>
          <a:solidFill>
            <a:schemeClr val="bg1">
              <a:lumMod val="95000"/>
            </a:schemeClr>
          </a:solidFill>
        </p:spPr>
        <p:txBody>
          <a:bodyPr wrap="square">
            <a:noAutofit/>
          </a:bodyPr>
          <a:lstStyle/>
          <a:p>
            <a:r>
              <a:rPr lang="en-US"/>
              <a:t>Click icon to add picture</a:t>
            </a:r>
          </a:p>
        </p:txBody>
      </p:sp>
      <p:sp>
        <p:nvSpPr>
          <p:cNvPr id="21" name="Text Placeholder 20">
            <a:extLst>
              <a:ext uri="{FF2B5EF4-FFF2-40B4-BE49-F238E27FC236}">
                <a16:creationId xmlns:a16="http://schemas.microsoft.com/office/drawing/2014/main" id="{3AC0B516-407E-5EE6-C47E-7CE21CA32217}"/>
              </a:ext>
            </a:extLst>
          </p:cNvPr>
          <p:cNvSpPr>
            <a:spLocks noGrp="1"/>
          </p:cNvSpPr>
          <p:nvPr>
            <p:ph type="body" sz="quarter" idx="52" hasCustomPrompt="1"/>
          </p:nvPr>
        </p:nvSpPr>
        <p:spPr>
          <a:xfrm>
            <a:off x="517489"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sp>
        <p:nvSpPr>
          <p:cNvPr id="23" name="Text Placeholder 22">
            <a:extLst>
              <a:ext uri="{FF2B5EF4-FFF2-40B4-BE49-F238E27FC236}">
                <a16:creationId xmlns:a16="http://schemas.microsoft.com/office/drawing/2014/main" id="{39283D90-3DF6-9433-DA0D-F2F8E31A92F2}"/>
              </a:ext>
            </a:extLst>
          </p:cNvPr>
          <p:cNvSpPr>
            <a:spLocks noGrp="1"/>
          </p:cNvSpPr>
          <p:nvPr>
            <p:ph type="body" sz="quarter" idx="53" hasCustomPrompt="1"/>
          </p:nvPr>
        </p:nvSpPr>
        <p:spPr>
          <a:xfrm>
            <a:off x="4350272"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sp>
        <p:nvSpPr>
          <p:cNvPr id="24" name="Text Placeholder 23">
            <a:extLst>
              <a:ext uri="{FF2B5EF4-FFF2-40B4-BE49-F238E27FC236}">
                <a16:creationId xmlns:a16="http://schemas.microsoft.com/office/drawing/2014/main" id="{35FDF765-C46F-E2A4-5E16-0849837D6A1B}"/>
              </a:ext>
            </a:extLst>
          </p:cNvPr>
          <p:cNvSpPr>
            <a:spLocks noGrp="1"/>
          </p:cNvSpPr>
          <p:nvPr>
            <p:ph type="body" sz="quarter" idx="54" hasCustomPrompt="1"/>
          </p:nvPr>
        </p:nvSpPr>
        <p:spPr>
          <a:xfrm>
            <a:off x="8183055" y="5202141"/>
            <a:ext cx="3493008" cy="811192"/>
          </a:xfrm>
          <a:custGeom>
            <a:avLst/>
            <a:gdLst>
              <a:gd name="connsiteX0" fmla="*/ 0 w 3493008"/>
              <a:gd name="connsiteY0" fmla="*/ 0 h 811192"/>
              <a:gd name="connsiteX1" fmla="*/ 256190 w 3493008"/>
              <a:gd name="connsiteY1" fmla="*/ 0 h 811192"/>
              <a:gd name="connsiteX2" fmla="*/ 888488 w 3493008"/>
              <a:gd name="connsiteY2" fmla="*/ 0 h 811192"/>
              <a:gd name="connsiteX3" fmla="*/ 1281558 w 3493008"/>
              <a:gd name="connsiteY3" fmla="*/ 0 h 811192"/>
              <a:gd name="connsiteX4" fmla="*/ 1462420 w 3493008"/>
              <a:gd name="connsiteY4" fmla="*/ 0 h 811192"/>
              <a:gd name="connsiteX5" fmla="*/ 1537748 w 3493008"/>
              <a:gd name="connsiteY5" fmla="*/ 0 h 811192"/>
              <a:gd name="connsiteX6" fmla="*/ 1832071 w 3493008"/>
              <a:gd name="connsiteY6" fmla="*/ 0 h 811192"/>
              <a:gd name="connsiteX7" fmla="*/ 2170046 w 3493008"/>
              <a:gd name="connsiteY7" fmla="*/ 0 h 811192"/>
              <a:gd name="connsiteX8" fmla="*/ 2211450 w 3493008"/>
              <a:gd name="connsiteY8" fmla="*/ 0 h 811192"/>
              <a:gd name="connsiteX9" fmla="*/ 2743978 w 3493008"/>
              <a:gd name="connsiteY9" fmla="*/ 0 h 811192"/>
              <a:gd name="connsiteX10" fmla="*/ 3113629 w 3493008"/>
              <a:gd name="connsiteY10" fmla="*/ 0 h 811192"/>
              <a:gd name="connsiteX11" fmla="*/ 3493008 w 3493008"/>
              <a:gd name="connsiteY11" fmla="*/ 0 h 811192"/>
              <a:gd name="connsiteX12" fmla="*/ 3493008 w 3493008"/>
              <a:gd name="connsiteY12" fmla="*/ 724584 h 811192"/>
              <a:gd name="connsiteX13" fmla="*/ 3406400 w 3493008"/>
              <a:gd name="connsiteY13" fmla="*/ 811192 h 811192"/>
              <a:gd name="connsiteX14" fmla="*/ 3027021 w 3493008"/>
              <a:gd name="connsiteY14" fmla="*/ 811192 h 811192"/>
              <a:gd name="connsiteX15" fmla="*/ 2657370 w 3493008"/>
              <a:gd name="connsiteY15" fmla="*/ 811192 h 811192"/>
              <a:gd name="connsiteX16" fmla="*/ 2298058 w 3493008"/>
              <a:gd name="connsiteY16" fmla="*/ 811192 h 811192"/>
              <a:gd name="connsiteX17" fmla="*/ 2083438 w 3493008"/>
              <a:gd name="connsiteY17" fmla="*/ 811192 h 811192"/>
              <a:gd name="connsiteX18" fmla="*/ 1918679 w 3493008"/>
              <a:gd name="connsiteY18" fmla="*/ 811192 h 811192"/>
              <a:gd name="connsiteX19" fmla="*/ 1549028 w 3493008"/>
              <a:gd name="connsiteY19" fmla="*/ 811192 h 811192"/>
              <a:gd name="connsiteX20" fmla="*/ 1451140 w 3493008"/>
              <a:gd name="connsiteY20" fmla="*/ 811192 h 811192"/>
              <a:gd name="connsiteX21" fmla="*/ 1194950 w 3493008"/>
              <a:gd name="connsiteY21" fmla="*/ 811192 h 811192"/>
              <a:gd name="connsiteX22" fmla="*/ 975096 w 3493008"/>
              <a:gd name="connsiteY22" fmla="*/ 811192 h 811192"/>
              <a:gd name="connsiteX23" fmla="*/ 342798 w 3493008"/>
              <a:gd name="connsiteY23" fmla="*/ 811192 h 811192"/>
              <a:gd name="connsiteX24" fmla="*/ 86608 w 3493008"/>
              <a:gd name="connsiteY24" fmla="*/ 811192 h 811192"/>
              <a:gd name="connsiteX25" fmla="*/ 0 w 3493008"/>
              <a:gd name="connsiteY25" fmla="*/ 724584 h 8111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493008" h="811192">
                <a:moveTo>
                  <a:pt x="0" y="0"/>
                </a:moveTo>
                <a:lnTo>
                  <a:pt x="256190" y="0"/>
                </a:lnTo>
                <a:lnTo>
                  <a:pt x="888488" y="0"/>
                </a:lnTo>
                <a:lnTo>
                  <a:pt x="1281558" y="0"/>
                </a:lnTo>
                <a:lnTo>
                  <a:pt x="1462420" y="0"/>
                </a:lnTo>
                <a:lnTo>
                  <a:pt x="1537748" y="0"/>
                </a:lnTo>
                <a:lnTo>
                  <a:pt x="1832071" y="0"/>
                </a:lnTo>
                <a:lnTo>
                  <a:pt x="2170046" y="0"/>
                </a:lnTo>
                <a:lnTo>
                  <a:pt x="2211450" y="0"/>
                </a:lnTo>
                <a:lnTo>
                  <a:pt x="2743978" y="0"/>
                </a:lnTo>
                <a:lnTo>
                  <a:pt x="3113629" y="0"/>
                </a:lnTo>
                <a:lnTo>
                  <a:pt x="3493008" y="0"/>
                </a:lnTo>
                <a:lnTo>
                  <a:pt x="3493008" y="724584"/>
                </a:lnTo>
                <a:cubicBezTo>
                  <a:pt x="3493008" y="772416"/>
                  <a:pt x="3454232" y="811192"/>
                  <a:pt x="3406400" y="811192"/>
                </a:cubicBezTo>
                <a:lnTo>
                  <a:pt x="3027021" y="811192"/>
                </a:lnTo>
                <a:lnTo>
                  <a:pt x="2657370" y="811192"/>
                </a:lnTo>
                <a:lnTo>
                  <a:pt x="2298058" y="811192"/>
                </a:lnTo>
                <a:lnTo>
                  <a:pt x="2083438" y="811192"/>
                </a:lnTo>
                <a:lnTo>
                  <a:pt x="1918679" y="811192"/>
                </a:lnTo>
                <a:lnTo>
                  <a:pt x="1549028" y="811192"/>
                </a:lnTo>
                <a:lnTo>
                  <a:pt x="1451140" y="811192"/>
                </a:lnTo>
                <a:lnTo>
                  <a:pt x="1194950" y="811192"/>
                </a:lnTo>
                <a:lnTo>
                  <a:pt x="975096" y="811192"/>
                </a:lnTo>
                <a:lnTo>
                  <a:pt x="342798" y="811192"/>
                </a:lnTo>
                <a:lnTo>
                  <a:pt x="86608" y="811192"/>
                </a:lnTo>
                <a:cubicBezTo>
                  <a:pt x="38776" y="811192"/>
                  <a:pt x="0" y="772416"/>
                  <a:pt x="0" y="724584"/>
                </a:cubicBezTo>
                <a:close/>
              </a:path>
            </a:pathLst>
          </a:custGeom>
          <a:solidFill>
            <a:srgbClr val="000075"/>
          </a:solidFill>
        </p:spPr>
        <p:txBody>
          <a:bodyPr wrap="square" lIns="182880" tIns="182880" rIns="182880" bIns="182880">
            <a:noAutofit/>
          </a:bodyPr>
          <a:lstStyle>
            <a:lvl1pPr>
              <a:defRPr sz="1600"/>
            </a:lvl1pPr>
          </a:lstStyle>
          <a:p>
            <a:pPr>
              <a:lnSpc>
                <a:spcPts val="1700"/>
              </a:lnSpc>
            </a:pPr>
            <a:r>
              <a:rPr lang="en-US">
                <a:solidFill>
                  <a:schemeClr val="bg1"/>
                </a:solidFill>
              </a:rPr>
              <a:t>Name Placeholder</a:t>
            </a:r>
          </a:p>
          <a:p>
            <a:pPr>
              <a:lnSpc>
                <a:spcPts val="1700"/>
              </a:lnSpc>
            </a:pPr>
            <a:r>
              <a:rPr lang="en-US" sz="1100">
                <a:solidFill>
                  <a:schemeClr val="bg1"/>
                </a:solidFill>
              </a:rPr>
              <a:t>Descriptor</a:t>
            </a:r>
          </a:p>
        </p:txBody>
      </p:sp>
      <p:cxnSp>
        <p:nvCxnSpPr>
          <p:cNvPr id="2" name="Straight Connector 1">
            <a:extLst>
              <a:ext uri="{FF2B5EF4-FFF2-40B4-BE49-F238E27FC236}">
                <a16:creationId xmlns:a16="http://schemas.microsoft.com/office/drawing/2014/main" id="{6208F822-F1D5-42DA-5FA9-3ADED157FA54}"/>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489797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2_Text + Image ( 4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51" name="Picture Placeholder 50">
            <a:extLst>
              <a:ext uri="{FF2B5EF4-FFF2-40B4-BE49-F238E27FC236}">
                <a16:creationId xmlns:a16="http://schemas.microsoft.com/office/drawing/2014/main" id="{0D88FAA1-9042-02B3-622C-151F7940B64A}"/>
              </a:ext>
            </a:extLst>
          </p:cNvPr>
          <p:cNvSpPr>
            <a:spLocks noGrp="1"/>
          </p:cNvSpPr>
          <p:nvPr>
            <p:ph type="pic" sz="quarter" idx="50"/>
          </p:nvPr>
        </p:nvSpPr>
        <p:spPr>
          <a:xfrm>
            <a:off x="517490"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55" name="Text Placeholder 54">
            <a:extLst>
              <a:ext uri="{FF2B5EF4-FFF2-40B4-BE49-F238E27FC236}">
                <a16:creationId xmlns:a16="http://schemas.microsoft.com/office/drawing/2014/main" id="{D0A6A752-3AA8-98D1-ECCD-1C0C1B4089C7}"/>
              </a:ext>
            </a:extLst>
          </p:cNvPr>
          <p:cNvSpPr>
            <a:spLocks noGrp="1"/>
          </p:cNvSpPr>
          <p:nvPr>
            <p:ph type="body" sz="quarter" idx="51" hasCustomPrompt="1"/>
          </p:nvPr>
        </p:nvSpPr>
        <p:spPr>
          <a:xfrm>
            <a:off x="517490"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58" name="Picture Placeholder 57">
            <a:extLst>
              <a:ext uri="{FF2B5EF4-FFF2-40B4-BE49-F238E27FC236}">
                <a16:creationId xmlns:a16="http://schemas.microsoft.com/office/drawing/2014/main" id="{BB8CC48A-4EBF-3D9C-4ADF-8DE29AB4EB8C}"/>
              </a:ext>
            </a:extLst>
          </p:cNvPr>
          <p:cNvSpPr>
            <a:spLocks noGrp="1"/>
          </p:cNvSpPr>
          <p:nvPr>
            <p:ph type="pic" sz="quarter" idx="53"/>
          </p:nvPr>
        </p:nvSpPr>
        <p:spPr>
          <a:xfrm>
            <a:off x="3395766"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59" name="Text Placeholder 58">
            <a:extLst>
              <a:ext uri="{FF2B5EF4-FFF2-40B4-BE49-F238E27FC236}">
                <a16:creationId xmlns:a16="http://schemas.microsoft.com/office/drawing/2014/main" id="{4D812AE9-7797-DF52-6A85-2B92114E510B}"/>
              </a:ext>
            </a:extLst>
          </p:cNvPr>
          <p:cNvSpPr>
            <a:spLocks noGrp="1"/>
          </p:cNvSpPr>
          <p:nvPr>
            <p:ph type="body" sz="quarter" idx="54" hasCustomPrompt="1"/>
          </p:nvPr>
        </p:nvSpPr>
        <p:spPr>
          <a:xfrm>
            <a:off x="3395767"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60" name="Picture Placeholder 59">
            <a:extLst>
              <a:ext uri="{FF2B5EF4-FFF2-40B4-BE49-F238E27FC236}">
                <a16:creationId xmlns:a16="http://schemas.microsoft.com/office/drawing/2014/main" id="{5CADD3FE-FFF9-DFDE-FF6F-EBC0D91321FE}"/>
              </a:ext>
            </a:extLst>
          </p:cNvPr>
          <p:cNvSpPr>
            <a:spLocks noGrp="1"/>
          </p:cNvSpPr>
          <p:nvPr>
            <p:ph type="pic" sz="quarter" idx="55"/>
          </p:nvPr>
        </p:nvSpPr>
        <p:spPr>
          <a:xfrm>
            <a:off x="6274042"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61" name="Text Placeholder 60">
            <a:extLst>
              <a:ext uri="{FF2B5EF4-FFF2-40B4-BE49-F238E27FC236}">
                <a16:creationId xmlns:a16="http://schemas.microsoft.com/office/drawing/2014/main" id="{579D771B-5E43-B2EA-BE32-BE279EF83550}"/>
              </a:ext>
            </a:extLst>
          </p:cNvPr>
          <p:cNvSpPr>
            <a:spLocks noGrp="1"/>
          </p:cNvSpPr>
          <p:nvPr>
            <p:ph type="body" sz="quarter" idx="56" hasCustomPrompt="1"/>
          </p:nvPr>
        </p:nvSpPr>
        <p:spPr>
          <a:xfrm>
            <a:off x="6274042"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sp>
        <p:nvSpPr>
          <p:cNvPr id="62" name="Picture Placeholder 61">
            <a:extLst>
              <a:ext uri="{FF2B5EF4-FFF2-40B4-BE49-F238E27FC236}">
                <a16:creationId xmlns:a16="http://schemas.microsoft.com/office/drawing/2014/main" id="{8508ECC8-914F-7E94-D9A2-9CEAF7A5031F}"/>
              </a:ext>
            </a:extLst>
          </p:cNvPr>
          <p:cNvSpPr>
            <a:spLocks noGrp="1"/>
          </p:cNvSpPr>
          <p:nvPr>
            <p:ph type="pic" sz="quarter" idx="57"/>
          </p:nvPr>
        </p:nvSpPr>
        <p:spPr>
          <a:xfrm>
            <a:off x="9152319" y="1929175"/>
            <a:ext cx="2523744" cy="3392415"/>
          </a:xfrm>
          <a:custGeom>
            <a:avLst/>
            <a:gdLst>
              <a:gd name="connsiteX0" fmla="*/ 0 w 2523744"/>
              <a:gd name="connsiteY0" fmla="*/ 0 h 3392415"/>
              <a:gd name="connsiteX1" fmla="*/ 1281558 w 2523744"/>
              <a:gd name="connsiteY1" fmla="*/ 0 h 3392415"/>
              <a:gd name="connsiteX2" fmla="*/ 1281558 w 2523744"/>
              <a:gd name="connsiteY2" fmla="*/ 1 h 3392415"/>
              <a:gd name="connsiteX3" fmla="*/ 1328794 w 2523744"/>
              <a:gd name="connsiteY3" fmla="*/ 1 h 3392415"/>
              <a:gd name="connsiteX4" fmla="*/ 1522736 w 2523744"/>
              <a:gd name="connsiteY4" fmla="*/ 1 h 3392415"/>
              <a:gd name="connsiteX5" fmla="*/ 1705616 w 2523744"/>
              <a:gd name="connsiteY5" fmla="*/ 1 h 3392415"/>
              <a:gd name="connsiteX6" fmla="*/ 1961648 w 2523744"/>
              <a:gd name="connsiteY6" fmla="*/ 1 h 3392415"/>
              <a:gd name="connsiteX7" fmla="*/ 2437136 w 2523744"/>
              <a:gd name="connsiteY7" fmla="*/ 1 h 3392415"/>
              <a:gd name="connsiteX8" fmla="*/ 2523744 w 2523744"/>
              <a:gd name="connsiteY8" fmla="*/ 86609 h 3392415"/>
              <a:gd name="connsiteX9" fmla="*/ 2523744 w 2523744"/>
              <a:gd name="connsiteY9" fmla="*/ 594726 h 3392415"/>
              <a:gd name="connsiteX10" fmla="*/ 2523744 w 2523744"/>
              <a:gd name="connsiteY10" fmla="*/ 1131174 h 3392415"/>
              <a:gd name="connsiteX11" fmla="*/ 2523744 w 2523744"/>
              <a:gd name="connsiteY11" fmla="*/ 1194951 h 3392415"/>
              <a:gd name="connsiteX12" fmla="*/ 2523744 w 2523744"/>
              <a:gd name="connsiteY12" fmla="*/ 1411590 h 3392415"/>
              <a:gd name="connsiteX13" fmla="*/ 2523744 w 2523744"/>
              <a:gd name="connsiteY13" fmla="*/ 1655430 h 3392415"/>
              <a:gd name="connsiteX14" fmla="*/ 2523744 w 2523744"/>
              <a:gd name="connsiteY14" fmla="*/ 1703068 h 3392415"/>
              <a:gd name="connsiteX15" fmla="*/ 2523744 w 2523744"/>
              <a:gd name="connsiteY15" fmla="*/ 1874886 h 3392415"/>
              <a:gd name="connsiteX16" fmla="*/ 2523744 w 2523744"/>
              <a:gd name="connsiteY16" fmla="*/ 2069958 h 3392415"/>
              <a:gd name="connsiteX17" fmla="*/ 2523744 w 2523744"/>
              <a:gd name="connsiteY17" fmla="*/ 2197466 h 3392415"/>
              <a:gd name="connsiteX18" fmla="*/ 2523744 w 2523744"/>
              <a:gd name="connsiteY18" fmla="*/ 2239516 h 3392415"/>
              <a:gd name="connsiteX19" fmla="*/ 2523744 w 2523744"/>
              <a:gd name="connsiteY19" fmla="*/ 2519932 h 3392415"/>
              <a:gd name="connsiteX20" fmla="*/ 2523744 w 2523744"/>
              <a:gd name="connsiteY20" fmla="*/ 2763772 h 3392415"/>
              <a:gd name="connsiteX21" fmla="*/ 2523744 w 2523744"/>
              <a:gd name="connsiteY21" fmla="*/ 2983228 h 3392415"/>
              <a:gd name="connsiteX22" fmla="*/ 2523744 w 2523744"/>
              <a:gd name="connsiteY22" fmla="*/ 3178300 h 3392415"/>
              <a:gd name="connsiteX23" fmla="*/ 2523744 w 2523744"/>
              <a:gd name="connsiteY23" fmla="*/ 3305808 h 3392415"/>
              <a:gd name="connsiteX24" fmla="*/ 2470848 w 2523744"/>
              <a:gd name="connsiteY24" fmla="*/ 3385610 h 3392415"/>
              <a:gd name="connsiteX25" fmla="*/ 2437141 w 2523744"/>
              <a:gd name="connsiteY25" fmla="*/ 3392415 h 3392415"/>
              <a:gd name="connsiteX26" fmla="*/ 86603 w 2523744"/>
              <a:gd name="connsiteY26" fmla="*/ 3392415 h 3392415"/>
              <a:gd name="connsiteX27" fmla="*/ 52897 w 2523744"/>
              <a:gd name="connsiteY27" fmla="*/ 3385610 h 3392415"/>
              <a:gd name="connsiteX28" fmla="*/ 0 w 2523744"/>
              <a:gd name="connsiteY28" fmla="*/ 3305808 h 3392415"/>
              <a:gd name="connsiteX29" fmla="*/ 0 w 2523744"/>
              <a:gd name="connsiteY29" fmla="*/ 2983228 h 3392415"/>
              <a:gd name="connsiteX30" fmla="*/ 0 w 2523744"/>
              <a:gd name="connsiteY30" fmla="*/ 2197466 h 3392415"/>
              <a:gd name="connsiteX31" fmla="*/ 0 w 2523744"/>
              <a:gd name="connsiteY31" fmla="*/ 1983349 h 3392415"/>
              <a:gd name="connsiteX32" fmla="*/ 0 w 2523744"/>
              <a:gd name="connsiteY32" fmla="*/ 1874886 h 3392415"/>
              <a:gd name="connsiteX33" fmla="*/ 0 w 2523744"/>
              <a:gd name="connsiteY33" fmla="*/ 1703068 h 3392415"/>
              <a:gd name="connsiteX34" fmla="*/ 0 w 2523744"/>
              <a:gd name="connsiteY34" fmla="*/ 1194951 h 3392415"/>
              <a:gd name="connsiteX35" fmla="*/ 0 w 2523744"/>
              <a:gd name="connsiteY35" fmla="*/ 594726 h 3392415"/>
              <a:gd name="connsiteX36" fmla="*/ 0 w 2523744"/>
              <a:gd name="connsiteY36" fmla="*/ 86609 h 33924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523744" h="3392415">
                <a:moveTo>
                  <a:pt x="0" y="0"/>
                </a:moveTo>
                <a:lnTo>
                  <a:pt x="1281558" y="0"/>
                </a:lnTo>
                <a:lnTo>
                  <a:pt x="1281558" y="1"/>
                </a:lnTo>
                <a:lnTo>
                  <a:pt x="1328794" y="1"/>
                </a:lnTo>
                <a:lnTo>
                  <a:pt x="1522736" y="1"/>
                </a:lnTo>
                <a:lnTo>
                  <a:pt x="1705616" y="1"/>
                </a:lnTo>
                <a:lnTo>
                  <a:pt x="1961648" y="1"/>
                </a:lnTo>
                <a:lnTo>
                  <a:pt x="2437136" y="1"/>
                </a:lnTo>
                <a:cubicBezTo>
                  <a:pt x="2484968" y="1"/>
                  <a:pt x="2523744" y="38777"/>
                  <a:pt x="2523744" y="86609"/>
                </a:cubicBezTo>
                <a:lnTo>
                  <a:pt x="2523744" y="594726"/>
                </a:lnTo>
                <a:lnTo>
                  <a:pt x="2523744" y="1131174"/>
                </a:lnTo>
                <a:lnTo>
                  <a:pt x="2523744" y="1194951"/>
                </a:lnTo>
                <a:lnTo>
                  <a:pt x="2523744" y="1411590"/>
                </a:lnTo>
                <a:lnTo>
                  <a:pt x="2523744" y="1655430"/>
                </a:lnTo>
                <a:lnTo>
                  <a:pt x="2523744" y="1703068"/>
                </a:lnTo>
                <a:lnTo>
                  <a:pt x="2523744" y="1874886"/>
                </a:lnTo>
                <a:lnTo>
                  <a:pt x="2523744" y="2069958"/>
                </a:lnTo>
                <a:lnTo>
                  <a:pt x="2523744" y="2197466"/>
                </a:lnTo>
                <a:lnTo>
                  <a:pt x="2523744" y="2239516"/>
                </a:lnTo>
                <a:lnTo>
                  <a:pt x="2523744" y="2519932"/>
                </a:lnTo>
                <a:lnTo>
                  <a:pt x="2523744" y="2763772"/>
                </a:lnTo>
                <a:lnTo>
                  <a:pt x="2523744" y="2983228"/>
                </a:lnTo>
                <a:lnTo>
                  <a:pt x="2523744" y="3178300"/>
                </a:lnTo>
                <a:lnTo>
                  <a:pt x="2523744" y="3305808"/>
                </a:lnTo>
                <a:cubicBezTo>
                  <a:pt x="2523744" y="3341682"/>
                  <a:pt x="2501933" y="3372462"/>
                  <a:pt x="2470848" y="3385610"/>
                </a:cubicBezTo>
                <a:lnTo>
                  <a:pt x="2437141" y="3392415"/>
                </a:lnTo>
                <a:lnTo>
                  <a:pt x="86603" y="3392415"/>
                </a:lnTo>
                <a:lnTo>
                  <a:pt x="52897" y="3385610"/>
                </a:lnTo>
                <a:cubicBezTo>
                  <a:pt x="21812" y="3372462"/>
                  <a:pt x="0" y="3341682"/>
                  <a:pt x="0" y="3305808"/>
                </a:cubicBezTo>
                <a:lnTo>
                  <a:pt x="0" y="2983228"/>
                </a:lnTo>
                <a:lnTo>
                  <a:pt x="0" y="2197466"/>
                </a:lnTo>
                <a:lnTo>
                  <a:pt x="0" y="1983349"/>
                </a:lnTo>
                <a:lnTo>
                  <a:pt x="0" y="1874886"/>
                </a:lnTo>
                <a:lnTo>
                  <a:pt x="0" y="1703068"/>
                </a:lnTo>
                <a:lnTo>
                  <a:pt x="0" y="1194951"/>
                </a:lnTo>
                <a:lnTo>
                  <a:pt x="0" y="594726"/>
                </a:lnTo>
                <a:lnTo>
                  <a:pt x="0" y="86609"/>
                </a:lnTo>
                <a:close/>
              </a:path>
            </a:pathLst>
          </a:custGeom>
          <a:solidFill>
            <a:schemeClr val="bg1">
              <a:lumMod val="95000"/>
            </a:schemeClr>
          </a:solidFill>
        </p:spPr>
        <p:txBody>
          <a:bodyPr wrap="square">
            <a:noAutofit/>
          </a:bodyPr>
          <a:lstStyle/>
          <a:p>
            <a:r>
              <a:rPr lang="en-US"/>
              <a:t>Click icon to add picture</a:t>
            </a:r>
          </a:p>
        </p:txBody>
      </p:sp>
      <p:sp>
        <p:nvSpPr>
          <p:cNvPr id="63" name="Text Placeholder 62">
            <a:extLst>
              <a:ext uri="{FF2B5EF4-FFF2-40B4-BE49-F238E27FC236}">
                <a16:creationId xmlns:a16="http://schemas.microsoft.com/office/drawing/2014/main" id="{2188E42C-AB90-F4ED-76DD-96BF9CE00F3B}"/>
              </a:ext>
            </a:extLst>
          </p:cNvPr>
          <p:cNvSpPr>
            <a:spLocks noGrp="1"/>
          </p:cNvSpPr>
          <p:nvPr>
            <p:ph type="body" sz="quarter" idx="58" hasCustomPrompt="1"/>
          </p:nvPr>
        </p:nvSpPr>
        <p:spPr>
          <a:xfrm>
            <a:off x="9152320" y="5217358"/>
            <a:ext cx="2523743" cy="800143"/>
          </a:xfrm>
          <a:custGeom>
            <a:avLst/>
            <a:gdLst>
              <a:gd name="connsiteX0" fmla="*/ 0 w 2523743"/>
              <a:gd name="connsiteY0" fmla="*/ 0 h 800143"/>
              <a:gd name="connsiteX1" fmla="*/ 2523743 w 2523743"/>
              <a:gd name="connsiteY1" fmla="*/ 0 h 800143"/>
              <a:gd name="connsiteX2" fmla="*/ 2523743 w 2523743"/>
              <a:gd name="connsiteY2" fmla="*/ 367632 h 800143"/>
              <a:gd name="connsiteX3" fmla="*/ 2523743 w 2523743"/>
              <a:gd name="connsiteY3" fmla="*/ 395604 h 800143"/>
              <a:gd name="connsiteX4" fmla="*/ 2523743 w 2523743"/>
              <a:gd name="connsiteY4" fmla="*/ 417411 h 800143"/>
              <a:gd name="connsiteX5" fmla="*/ 2523743 w 2523743"/>
              <a:gd name="connsiteY5" fmla="*/ 457963 h 800143"/>
              <a:gd name="connsiteX6" fmla="*/ 2523743 w 2523743"/>
              <a:gd name="connsiteY6" fmla="*/ 603967 h 800143"/>
              <a:gd name="connsiteX7" fmla="*/ 2523743 w 2523743"/>
              <a:gd name="connsiteY7" fmla="*/ 685520 h 800143"/>
              <a:gd name="connsiteX8" fmla="*/ 2523743 w 2523743"/>
              <a:gd name="connsiteY8" fmla="*/ 709813 h 800143"/>
              <a:gd name="connsiteX9" fmla="*/ 2441432 w 2523743"/>
              <a:gd name="connsiteY9" fmla="*/ 800143 h 800143"/>
              <a:gd name="connsiteX10" fmla="*/ 82311 w 2523743"/>
              <a:gd name="connsiteY10" fmla="*/ 800143 h 800143"/>
              <a:gd name="connsiteX11" fmla="*/ 0 w 2523743"/>
              <a:gd name="connsiteY11" fmla="*/ 709813 h 800143"/>
              <a:gd name="connsiteX12" fmla="*/ 0 w 2523743"/>
              <a:gd name="connsiteY12" fmla="*/ 685520 h 800143"/>
              <a:gd name="connsiteX13" fmla="*/ 0 w 2523743"/>
              <a:gd name="connsiteY13" fmla="*/ 603967 h 800143"/>
              <a:gd name="connsiteX14" fmla="*/ 0 w 2523743"/>
              <a:gd name="connsiteY14" fmla="*/ 457963 h 800143"/>
              <a:gd name="connsiteX15" fmla="*/ 0 w 2523743"/>
              <a:gd name="connsiteY15" fmla="*/ 417411 h 800143"/>
              <a:gd name="connsiteX16" fmla="*/ 0 w 2523743"/>
              <a:gd name="connsiteY16" fmla="*/ 395604 h 800143"/>
              <a:gd name="connsiteX17" fmla="*/ 0 w 2523743"/>
              <a:gd name="connsiteY17" fmla="*/ 367632 h 800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523743" h="800143">
                <a:moveTo>
                  <a:pt x="0" y="0"/>
                </a:moveTo>
                <a:lnTo>
                  <a:pt x="2523743" y="0"/>
                </a:lnTo>
                <a:lnTo>
                  <a:pt x="2523743" y="367632"/>
                </a:lnTo>
                <a:lnTo>
                  <a:pt x="2523743" y="395604"/>
                </a:lnTo>
                <a:lnTo>
                  <a:pt x="2523743" y="417411"/>
                </a:lnTo>
                <a:lnTo>
                  <a:pt x="2523743" y="457963"/>
                </a:lnTo>
                <a:lnTo>
                  <a:pt x="2523743" y="603967"/>
                </a:lnTo>
                <a:lnTo>
                  <a:pt x="2523743" y="685520"/>
                </a:lnTo>
                <a:lnTo>
                  <a:pt x="2523743" y="709813"/>
                </a:lnTo>
                <a:cubicBezTo>
                  <a:pt x="2523743" y="759701"/>
                  <a:pt x="2486891" y="800143"/>
                  <a:pt x="2441432" y="800143"/>
                </a:cubicBezTo>
                <a:lnTo>
                  <a:pt x="82311" y="800143"/>
                </a:lnTo>
                <a:cubicBezTo>
                  <a:pt x="36852" y="800143"/>
                  <a:pt x="0" y="759701"/>
                  <a:pt x="0" y="709813"/>
                </a:cubicBezTo>
                <a:lnTo>
                  <a:pt x="0" y="685520"/>
                </a:lnTo>
                <a:lnTo>
                  <a:pt x="0" y="603967"/>
                </a:lnTo>
                <a:lnTo>
                  <a:pt x="0" y="457963"/>
                </a:lnTo>
                <a:lnTo>
                  <a:pt x="0" y="417411"/>
                </a:lnTo>
                <a:lnTo>
                  <a:pt x="0" y="395604"/>
                </a:lnTo>
                <a:lnTo>
                  <a:pt x="0" y="367632"/>
                </a:lnTo>
                <a:close/>
              </a:path>
            </a:pathLst>
          </a:custGeom>
          <a:solidFill>
            <a:srgbClr val="000075"/>
          </a:solidFill>
        </p:spPr>
        <p:txBody>
          <a:bodyPr wrap="square" lIns="182880" tIns="182880" rIns="182880" bIns="182880" anchor="ctr">
            <a:noAutofit/>
          </a:bodyPr>
          <a:lstStyle>
            <a:lvl1pPr>
              <a:defRPr>
                <a:solidFill>
                  <a:schemeClr val="bg1"/>
                </a:solidFill>
              </a:defRPr>
            </a:lvl1pPr>
          </a:lstStyle>
          <a:p>
            <a:pPr>
              <a:lnSpc>
                <a:spcPts val="1700"/>
              </a:lnSpc>
            </a:pPr>
            <a:r>
              <a:rPr lang="en-US">
                <a:solidFill>
                  <a:schemeClr val="bg1"/>
                </a:solidFill>
              </a:rPr>
              <a:t>Name Placeholder</a:t>
            </a:r>
          </a:p>
          <a:p>
            <a:pPr>
              <a:lnSpc>
                <a:spcPts val="1700"/>
              </a:lnSpc>
            </a:pPr>
            <a:r>
              <a:rPr lang="en-US" sz="1200">
                <a:solidFill>
                  <a:schemeClr val="bg1"/>
                </a:solidFill>
              </a:rPr>
              <a:t>Descriptor</a:t>
            </a:r>
          </a:p>
        </p:txBody>
      </p:sp>
      <p:cxnSp>
        <p:nvCxnSpPr>
          <p:cNvPr id="2" name="Straight Connector 1">
            <a:extLst>
              <a:ext uri="{FF2B5EF4-FFF2-40B4-BE49-F238E27FC236}">
                <a16:creationId xmlns:a16="http://schemas.microsoft.com/office/drawing/2014/main" id="{C44B9B62-0393-4C3E-F385-7971A27A003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760561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Text + Image ( 4 caption cells)">
    <p:bg>
      <p:bgPr>
        <a:solidFill>
          <a:schemeClr val="bg1"/>
        </a:solidFill>
        <a:effectLst/>
      </p:bgPr>
    </p:bg>
    <p:spTree>
      <p:nvGrpSpPr>
        <p:cNvPr id="1" name=""/>
        <p:cNvGrpSpPr/>
        <p:nvPr/>
      </p:nvGrpSpPr>
      <p:grpSpPr>
        <a:xfrm>
          <a:off x="0" y="0"/>
          <a:ext cx="0" cy="0"/>
          <a:chOff x="0" y="0"/>
          <a:chExt cx="0" cy="0"/>
        </a:xfrm>
      </p:grpSpPr>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4" name="Text Placeholder 12">
            <a:extLst>
              <a:ext uri="{FF2B5EF4-FFF2-40B4-BE49-F238E27FC236}">
                <a16:creationId xmlns:a16="http://schemas.microsoft.com/office/drawing/2014/main" id="{5CF2A1D8-A91F-FA9A-D7F4-DDC731B9A64B}"/>
              </a:ext>
            </a:extLst>
          </p:cNvPr>
          <p:cNvSpPr>
            <a:spLocks noGrp="1"/>
          </p:cNvSpPr>
          <p:nvPr>
            <p:ph type="body" sz="quarter" idx="10" hasCustomPrompt="1"/>
          </p:nvPr>
        </p:nvSpPr>
        <p:spPr>
          <a:xfrm>
            <a:off x="510790" y="45128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53" name="Picture Placeholder 52">
            <a:extLst>
              <a:ext uri="{FF2B5EF4-FFF2-40B4-BE49-F238E27FC236}">
                <a16:creationId xmlns:a16="http://schemas.microsoft.com/office/drawing/2014/main" id="{C5F0163E-C6AF-91B8-E6C5-503307699E52}"/>
              </a:ext>
            </a:extLst>
          </p:cNvPr>
          <p:cNvSpPr>
            <a:spLocks noGrp="1"/>
          </p:cNvSpPr>
          <p:nvPr>
            <p:ph type="pic" sz="quarter" idx="11"/>
          </p:nvPr>
        </p:nvSpPr>
        <p:spPr>
          <a:xfrm>
            <a:off x="510790"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58" name="Text Placeholder 57">
            <a:extLst>
              <a:ext uri="{FF2B5EF4-FFF2-40B4-BE49-F238E27FC236}">
                <a16:creationId xmlns:a16="http://schemas.microsoft.com/office/drawing/2014/main" id="{5ABD8F68-D070-4CA1-C7D7-963DC7726886}"/>
              </a:ext>
            </a:extLst>
          </p:cNvPr>
          <p:cNvSpPr>
            <a:spLocks noGrp="1"/>
          </p:cNvSpPr>
          <p:nvPr>
            <p:ph type="body" sz="quarter" idx="12" hasCustomPrompt="1"/>
          </p:nvPr>
        </p:nvSpPr>
        <p:spPr>
          <a:xfrm>
            <a:off x="1775262"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63" name="Picture Placeholder 62">
            <a:extLst>
              <a:ext uri="{FF2B5EF4-FFF2-40B4-BE49-F238E27FC236}">
                <a16:creationId xmlns:a16="http://schemas.microsoft.com/office/drawing/2014/main" id="{D6DE4DB9-48A2-3FEE-E0E3-E57271BB3435}"/>
              </a:ext>
            </a:extLst>
          </p:cNvPr>
          <p:cNvSpPr>
            <a:spLocks noGrp="1"/>
          </p:cNvSpPr>
          <p:nvPr>
            <p:ph type="pic" sz="quarter" idx="13"/>
          </p:nvPr>
        </p:nvSpPr>
        <p:spPr>
          <a:xfrm>
            <a:off x="510790"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64" name="Text Placeholder 63">
            <a:extLst>
              <a:ext uri="{FF2B5EF4-FFF2-40B4-BE49-F238E27FC236}">
                <a16:creationId xmlns:a16="http://schemas.microsoft.com/office/drawing/2014/main" id="{F56264A8-265D-13BA-265B-834CD20E87AA}"/>
              </a:ext>
            </a:extLst>
          </p:cNvPr>
          <p:cNvSpPr>
            <a:spLocks noGrp="1"/>
          </p:cNvSpPr>
          <p:nvPr>
            <p:ph type="body" sz="quarter" idx="14" hasCustomPrompt="1"/>
          </p:nvPr>
        </p:nvSpPr>
        <p:spPr>
          <a:xfrm>
            <a:off x="1775262"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66" name="Picture Placeholder 65">
            <a:extLst>
              <a:ext uri="{FF2B5EF4-FFF2-40B4-BE49-F238E27FC236}">
                <a16:creationId xmlns:a16="http://schemas.microsoft.com/office/drawing/2014/main" id="{18132D4E-D5BA-7E41-FDC1-76203E0D31AC}"/>
              </a:ext>
            </a:extLst>
          </p:cNvPr>
          <p:cNvSpPr>
            <a:spLocks noGrp="1"/>
          </p:cNvSpPr>
          <p:nvPr>
            <p:ph type="pic" sz="quarter" idx="15"/>
          </p:nvPr>
        </p:nvSpPr>
        <p:spPr>
          <a:xfrm>
            <a:off x="510790"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67" name="Text Placeholder 66">
            <a:extLst>
              <a:ext uri="{FF2B5EF4-FFF2-40B4-BE49-F238E27FC236}">
                <a16:creationId xmlns:a16="http://schemas.microsoft.com/office/drawing/2014/main" id="{59D7251B-3A71-7008-67A6-9C15D0D0BA5B}"/>
              </a:ext>
            </a:extLst>
          </p:cNvPr>
          <p:cNvSpPr>
            <a:spLocks noGrp="1"/>
          </p:cNvSpPr>
          <p:nvPr>
            <p:ph type="body" sz="quarter" idx="16" hasCustomPrompt="1"/>
          </p:nvPr>
        </p:nvSpPr>
        <p:spPr>
          <a:xfrm>
            <a:off x="1775262"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87" name="Picture Placeholder 86">
            <a:extLst>
              <a:ext uri="{FF2B5EF4-FFF2-40B4-BE49-F238E27FC236}">
                <a16:creationId xmlns:a16="http://schemas.microsoft.com/office/drawing/2014/main" id="{93ECD5EB-1C65-3370-E4FD-CAD9F17C5086}"/>
              </a:ext>
            </a:extLst>
          </p:cNvPr>
          <p:cNvSpPr>
            <a:spLocks noGrp="1"/>
          </p:cNvSpPr>
          <p:nvPr>
            <p:ph type="pic" sz="quarter" idx="23"/>
          </p:nvPr>
        </p:nvSpPr>
        <p:spPr>
          <a:xfrm>
            <a:off x="6262942"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88" name="Text Placeholder 87">
            <a:extLst>
              <a:ext uri="{FF2B5EF4-FFF2-40B4-BE49-F238E27FC236}">
                <a16:creationId xmlns:a16="http://schemas.microsoft.com/office/drawing/2014/main" id="{60817A92-7D16-38FF-4932-231E8ABF98DB}"/>
              </a:ext>
            </a:extLst>
          </p:cNvPr>
          <p:cNvSpPr>
            <a:spLocks noGrp="1"/>
          </p:cNvSpPr>
          <p:nvPr>
            <p:ph type="body" sz="quarter" idx="24" hasCustomPrompt="1"/>
          </p:nvPr>
        </p:nvSpPr>
        <p:spPr>
          <a:xfrm>
            <a:off x="7527414"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0" name="Picture Placeholder 89">
            <a:extLst>
              <a:ext uri="{FF2B5EF4-FFF2-40B4-BE49-F238E27FC236}">
                <a16:creationId xmlns:a16="http://schemas.microsoft.com/office/drawing/2014/main" id="{4FB79EE4-E1F8-8A9A-844F-139940C4D8BD}"/>
              </a:ext>
            </a:extLst>
          </p:cNvPr>
          <p:cNvSpPr>
            <a:spLocks noGrp="1"/>
          </p:cNvSpPr>
          <p:nvPr>
            <p:ph type="pic" sz="quarter" idx="25"/>
          </p:nvPr>
        </p:nvSpPr>
        <p:spPr>
          <a:xfrm>
            <a:off x="6262942"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1" name="Text Placeholder 90">
            <a:extLst>
              <a:ext uri="{FF2B5EF4-FFF2-40B4-BE49-F238E27FC236}">
                <a16:creationId xmlns:a16="http://schemas.microsoft.com/office/drawing/2014/main" id="{7860644B-1851-012A-864B-01A085DE3B01}"/>
              </a:ext>
            </a:extLst>
          </p:cNvPr>
          <p:cNvSpPr>
            <a:spLocks noGrp="1"/>
          </p:cNvSpPr>
          <p:nvPr>
            <p:ph type="body" sz="quarter" idx="26" hasCustomPrompt="1"/>
          </p:nvPr>
        </p:nvSpPr>
        <p:spPr>
          <a:xfrm>
            <a:off x="7527414"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3" name="Picture Placeholder 92">
            <a:extLst>
              <a:ext uri="{FF2B5EF4-FFF2-40B4-BE49-F238E27FC236}">
                <a16:creationId xmlns:a16="http://schemas.microsoft.com/office/drawing/2014/main" id="{09CCBC2A-E785-ACE1-AAC7-CC46C0F7CCA5}"/>
              </a:ext>
            </a:extLst>
          </p:cNvPr>
          <p:cNvSpPr>
            <a:spLocks noGrp="1"/>
          </p:cNvSpPr>
          <p:nvPr>
            <p:ph type="pic" sz="quarter" idx="27"/>
          </p:nvPr>
        </p:nvSpPr>
        <p:spPr>
          <a:xfrm>
            <a:off x="6262942"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4" name="Text Placeholder 93">
            <a:extLst>
              <a:ext uri="{FF2B5EF4-FFF2-40B4-BE49-F238E27FC236}">
                <a16:creationId xmlns:a16="http://schemas.microsoft.com/office/drawing/2014/main" id="{4CB4DCA1-48DC-7A14-3C9C-3DF420995149}"/>
              </a:ext>
            </a:extLst>
          </p:cNvPr>
          <p:cNvSpPr>
            <a:spLocks noGrp="1"/>
          </p:cNvSpPr>
          <p:nvPr>
            <p:ph type="body" sz="quarter" idx="28" hasCustomPrompt="1"/>
          </p:nvPr>
        </p:nvSpPr>
        <p:spPr>
          <a:xfrm>
            <a:off x="7527414"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6" name="Picture Placeholder 95">
            <a:extLst>
              <a:ext uri="{FF2B5EF4-FFF2-40B4-BE49-F238E27FC236}">
                <a16:creationId xmlns:a16="http://schemas.microsoft.com/office/drawing/2014/main" id="{DA6E4DD7-FC80-B390-9D18-DAFF0798B1C7}"/>
              </a:ext>
            </a:extLst>
          </p:cNvPr>
          <p:cNvSpPr>
            <a:spLocks noGrp="1"/>
          </p:cNvSpPr>
          <p:nvPr>
            <p:ph type="pic" sz="quarter" idx="29"/>
          </p:nvPr>
        </p:nvSpPr>
        <p:spPr>
          <a:xfrm>
            <a:off x="9141284"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97" name="Text Placeholder 96">
            <a:extLst>
              <a:ext uri="{FF2B5EF4-FFF2-40B4-BE49-F238E27FC236}">
                <a16:creationId xmlns:a16="http://schemas.microsoft.com/office/drawing/2014/main" id="{CB5A8115-A203-1E57-5673-8D9BB90B28B2}"/>
              </a:ext>
            </a:extLst>
          </p:cNvPr>
          <p:cNvSpPr>
            <a:spLocks noGrp="1"/>
          </p:cNvSpPr>
          <p:nvPr>
            <p:ph type="body" sz="quarter" idx="30" hasCustomPrompt="1"/>
          </p:nvPr>
        </p:nvSpPr>
        <p:spPr>
          <a:xfrm>
            <a:off x="10405756"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99" name="Picture Placeholder 98">
            <a:extLst>
              <a:ext uri="{FF2B5EF4-FFF2-40B4-BE49-F238E27FC236}">
                <a16:creationId xmlns:a16="http://schemas.microsoft.com/office/drawing/2014/main" id="{B2111735-FDF1-E365-F2FD-72C1B8537F90}"/>
              </a:ext>
            </a:extLst>
          </p:cNvPr>
          <p:cNvSpPr>
            <a:spLocks noGrp="1"/>
          </p:cNvSpPr>
          <p:nvPr>
            <p:ph type="pic" sz="quarter" idx="31"/>
          </p:nvPr>
        </p:nvSpPr>
        <p:spPr>
          <a:xfrm>
            <a:off x="9141284"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0" name="Text Placeholder 99">
            <a:extLst>
              <a:ext uri="{FF2B5EF4-FFF2-40B4-BE49-F238E27FC236}">
                <a16:creationId xmlns:a16="http://schemas.microsoft.com/office/drawing/2014/main" id="{F87EB29E-2C34-17B6-8F49-3CBDC14592D0}"/>
              </a:ext>
            </a:extLst>
          </p:cNvPr>
          <p:cNvSpPr>
            <a:spLocks noGrp="1"/>
          </p:cNvSpPr>
          <p:nvPr>
            <p:ph type="body" sz="quarter" idx="32" hasCustomPrompt="1"/>
          </p:nvPr>
        </p:nvSpPr>
        <p:spPr>
          <a:xfrm>
            <a:off x="10405756"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02" name="Picture Placeholder 101">
            <a:extLst>
              <a:ext uri="{FF2B5EF4-FFF2-40B4-BE49-F238E27FC236}">
                <a16:creationId xmlns:a16="http://schemas.microsoft.com/office/drawing/2014/main" id="{44A6C435-F345-8433-C66C-A340AC6DAA73}"/>
              </a:ext>
            </a:extLst>
          </p:cNvPr>
          <p:cNvSpPr>
            <a:spLocks noGrp="1"/>
          </p:cNvSpPr>
          <p:nvPr>
            <p:ph type="pic" sz="quarter" idx="33"/>
          </p:nvPr>
        </p:nvSpPr>
        <p:spPr>
          <a:xfrm>
            <a:off x="9141284"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3" name="Text Placeholder 102">
            <a:extLst>
              <a:ext uri="{FF2B5EF4-FFF2-40B4-BE49-F238E27FC236}">
                <a16:creationId xmlns:a16="http://schemas.microsoft.com/office/drawing/2014/main" id="{2014EF32-7EE9-1638-6F99-92642F64D1C6}"/>
              </a:ext>
            </a:extLst>
          </p:cNvPr>
          <p:cNvSpPr>
            <a:spLocks noGrp="1"/>
          </p:cNvSpPr>
          <p:nvPr>
            <p:ph type="body" sz="quarter" idx="34" hasCustomPrompt="1"/>
          </p:nvPr>
        </p:nvSpPr>
        <p:spPr>
          <a:xfrm>
            <a:off x="10405756"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07" name="Picture Placeholder 106">
            <a:extLst>
              <a:ext uri="{FF2B5EF4-FFF2-40B4-BE49-F238E27FC236}">
                <a16:creationId xmlns:a16="http://schemas.microsoft.com/office/drawing/2014/main" id="{3562AA49-1F54-C4C6-C5F2-F6EC1C080E92}"/>
              </a:ext>
            </a:extLst>
          </p:cNvPr>
          <p:cNvSpPr>
            <a:spLocks noGrp="1"/>
          </p:cNvSpPr>
          <p:nvPr>
            <p:ph type="pic" sz="quarter" idx="35"/>
          </p:nvPr>
        </p:nvSpPr>
        <p:spPr>
          <a:xfrm>
            <a:off x="3384600" y="1925610"/>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08" name="Text Placeholder 107">
            <a:extLst>
              <a:ext uri="{FF2B5EF4-FFF2-40B4-BE49-F238E27FC236}">
                <a16:creationId xmlns:a16="http://schemas.microsoft.com/office/drawing/2014/main" id="{31041BB6-8CED-7106-830A-10AAD2E25226}"/>
              </a:ext>
            </a:extLst>
          </p:cNvPr>
          <p:cNvSpPr>
            <a:spLocks noGrp="1"/>
          </p:cNvSpPr>
          <p:nvPr>
            <p:ph type="body" sz="quarter" idx="36" hasCustomPrompt="1"/>
          </p:nvPr>
        </p:nvSpPr>
        <p:spPr>
          <a:xfrm>
            <a:off x="4649072" y="1925609"/>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10" name="Picture Placeholder 109">
            <a:extLst>
              <a:ext uri="{FF2B5EF4-FFF2-40B4-BE49-F238E27FC236}">
                <a16:creationId xmlns:a16="http://schemas.microsoft.com/office/drawing/2014/main" id="{F65549CF-FC7E-1799-1EF5-95B82D6A4AA9}"/>
              </a:ext>
            </a:extLst>
          </p:cNvPr>
          <p:cNvSpPr>
            <a:spLocks noGrp="1"/>
          </p:cNvSpPr>
          <p:nvPr>
            <p:ph type="pic" sz="quarter" idx="37"/>
          </p:nvPr>
        </p:nvSpPr>
        <p:spPr>
          <a:xfrm>
            <a:off x="3384600" y="3373411"/>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11" name="Text Placeholder 110">
            <a:extLst>
              <a:ext uri="{FF2B5EF4-FFF2-40B4-BE49-F238E27FC236}">
                <a16:creationId xmlns:a16="http://schemas.microsoft.com/office/drawing/2014/main" id="{67334616-A136-2CEE-8F96-0E4B2859AA71}"/>
              </a:ext>
            </a:extLst>
          </p:cNvPr>
          <p:cNvSpPr>
            <a:spLocks noGrp="1"/>
          </p:cNvSpPr>
          <p:nvPr>
            <p:ph type="body" sz="quarter" idx="38" hasCustomPrompt="1"/>
          </p:nvPr>
        </p:nvSpPr>
        <p:spPr>
          <a:xfrm>
            <a:off x="4649072" y="3373410"/>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sp>
        <p:nvSpPr>
          <p:cNvPr id="113" name="Picture Placeholder 112">
            <a:extLst>
              <a:ext uri="{FF2B5EF4-FFF2-40B4-BE49-F238E27FC236}">
                <a16:creationId xmlns:a16="http://schemas.microsoft.com/office/drawing/2014/main" id="{1F9ACD64-20EE-6504-FEAD-746BEB8FA41E}"/>
              </a:ext>
            </a:extLst>
          </p:cNvPr>
          <p:cNvSpPr>
            <a:spLocks noGrp="1"/>
          </p:cNvSpPr>
          <p:nvPr>
            <p:ph type="pic" sz="quarter" idx="39"/>
          </p:nvPr>
        </p:nvSpPr>
        <p:spPr>
          <a:xfrm>
            <a:off x="3384600" y="4821212"/>
            <a:ext cx="1264472" cy="1197862"/>
          </a:xfrm>
          <a:custGeom>
            <a:avLst/>
            <a:gdLst>
              <a:gd name="connsiteX0" fmla="*/ 0 w 1264472"/>
              <a:gd name="connsiteY0" fmla="*/ 0 h 1197862"/>
              <a:gd name="connsiteX1" fmla="*/ 87776 w 1264472"/>
              <a:gd name="connsiteY1" fmla="*/ 0 h 1197862"/>
              <a:gd name="connsiteX2" fmla="*/ 553670 w 1264472"/>
              <a:gd name="connsiteY2" fmla="*/ 0 h 1197862"/>
              <a:gd name="connsiteX3" fmla="*/ 696424 w 1264472"/>
              <a:gd name="connsiteY3" fmla="*/ 0 h 1197862"/>
              <a:gd name="connsiteX4" fmla="*/ 1212671 w 1264472"/>
              <a:gd name="connsiteY4" fmla="*/ 0 h 1197862"/>
              <a:gd name="connsiteX5" fmla="*/ 1264472 w 1264472"/>
              <a:gd name="connsiteY5" fmla="*/ 0 h 1197862"/>
              <a:gd name="connsiteX6" fmla="*/ 1264472 w 1264472"/>
              <a:gd name="connsiteY6" fmla="*/ 1197862 h 1197862"/>
              <a:gd name="connsiteX7" fmla="*/ 87771 w 1264472"/>
              <a:gd name="connsiteY7" fmla="*/ 1197862 h 1197862"/>
              <a:gd name="connsiteX8" fmla="*/ 53610 w 1264472"/>
              <a:gd name="connsiteY8" fmla="*/ 1191156 h 1197862"/>
              <a:gd name="connsiteX9" fmla="*/ 0 w 1264472"/>
              <a:gd name="connsiteY9" fmla="*/ 1112515 h 1197862"/>
              <a:gd name="connsiteX10" fmla="*/ 0 w 1264472"/>
              <a:gd name="connsiteY10" fmla="*/ 480643 h 1197862"/>
              <a:gd name="connsiteX11" fmla="*/ 0 w 1264472"/>
              <a:gd name="connsiteY11" fmla="*/ 85348 h 1197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4472" h="1197862">
                <a:moveTo>
                  <a:pt x="0" y="0"/>
                </a:moveTo>
                <a:lnTo>
                  <a:pt x="87776" y="0"/>
                </a:lnTo>
                <a:lnTo>
                  <a:pt x="553670" y="0"/>
                </a:lnTo>
                <a:lnTo>
                  <a:pt x="696424" y="0"/>
                </a:lnTo>
                <a:lnTo>
                  <a:pt x="1212671" y="0"/>
                </a:lnTo>
                <a:lnTo>
                  <a:pt x="1264472" y="0"/>
                </a:lnTo>
                <a:lnTo>
                  <a:pt x="1264472" y="1197862"/>
                </a:lnTo>
                <a:lnTo>
                  <a:pt x="87771" y="1197862"/>
                </a:lnTo>
                <a:lnTo>
                  <a:pt x="53610" y="1191156"/>
                </a:lnTo>
                <a:cubicBezTo>
                  <a:pt x="22106" y="1178199"/>
                  <a:pt x="0" y="1147867"/>
                  <a:pt x="0" y="1112515"/>
                </a:cubicBezTo>
                <a:lnTo>
                  <a:pt x="0" y="480643"/>
                </a:lnTo>
                <a:lnTo>
                  <a:pt x="0" y="85348"/>
                </a:lnTo>
                <a:close/>
              </a:path>
            </a:pathLst>
          </a:custGeom>
          <a:solidFill>
            <a:schemeClr val="bg1">
              <a:lumMod val="95000"/>
            </a:schemeClr>
          </a:solidFill>
        </p:spPr>
        <p:txBody>
          <a:bodyPr wrap="square">
            <a:noAutofit/>
          </a:bodyPr>
          <a:lstStyle/>
          <a:p>
            <a:r>
              <a:rPr lang="en-US"/>
              <a:t>Click icon to add picture</a:t>
            </a:r>
          </a:p>
        </p:txBody>
      </p:sp>
      <p:sp>
        <p:nvSpPr>
          <p:cNvPr id="114" name="Text Placeholder 113">
            <a:extLst>
              <a:ext uri="{FF2B5EF4-FFF2-40B4-BE49-F238E27FC236}">
                <a16:creationId xmlns:a16="http://schemas.microsoft.com/office/drawing/2014/main" id="{EBB9F4FB-01FA-7750-2006-D9D3E7260688}"/>
              </a:ext>
            </a:extLst>
          </p:cNvPr>
          <p:cNvSpPr>
            <a:spLocks noGrp="1"/>
          </p:cNvSpPr>
          <p:nvPr>
            <p:ph type="body" sz="quarter" idx="40" hasCustomPrompt="1"/>
          </p:nvPr>
        </p:nvSpPr>
        <p:spPr>
          <a:xfrm>
            <a:off x="4649072" y="4821211"/>
            <a:ext cx="1264472" cy="1197863"/>
          </a:xfrm>
          <a:custGeom>
            <a:avLst/>
            <a:gdLst>
              <a:gd name="connsiteX0" fmla="*/ 0 w 1264472"/>
              <a:gd name="connsiteY0" fmla="*/ 0 h 1197863"/>
              <a:gd name="connsiteX1" fmla="*/ 85348 w 1264472"/>
              <a:gd name="connsiteY1" fmla="*/ 0 h 1197863"/>
              <a:gd name="connsiteX2" fmla="*/ 733205 w 1264472"/>
              <a:gd name="connsiteY2" fmla="*/ 0 h 1197863"/>
              <a:gd name="connsiteX3" fmla="*/ 1179124 w 1264472"/>
              <a:gd name="connsiteY3" fmla="*/ 0 h 1197863"/>
              <a:gd name="connsiteX4" fmla="*/ 1264472 w 1264472"/>
              <a:gd name="connsiteY4" fmla="*/ 85348 h 1197863"/>
              <a:gd name="connsiteX5" fmla="*/ 1264472 w 1264472"/>
              <a:gd name="connsiteY5" fmla="*/ 1112515 h 1197863"/>
              <a:gd name="connsiteX6" fmla="*/ 1179124 w 1264472"/>
              <a:gd name="connsiteY6" fmla="*/ 1197863 h 1197863"/>
              <a:gd name="connsiteX7" fmla="*/ 733205 w 1264472"/>
              <a:gd name="connsiteY7" fmla="*/ 1197863 h 1197863"/>
              <a:gd name="connsiteX8" fmla="*/ 85348 w 1264472"/>
              <a:gd name="connsiteY8" fmla="*/ 1197863 h 1197863"/>
              <a:gd name="connsiteX9" fmla="*/ 0 w 1264472"/>
              <a:gd name="connsiteY9" fmla="*/ 1197863 h 1197863"/>
              <a:gd name="connsiteX10" fmla="*/ 0 w 1264472"/>
              <a:gd name="connsiteY10" fmla="*/ 1112515 h 1197863"/>
              <a:gd name="connsiteX11" fmla="*/ 0 w 1264472"/>
              <a:gd name="connsiteY11" fmla="*/ 799017 h 1197863"/>
              <a:gd name="connsiteX12" fmla="*/ 0 w 1264472"/>
              <a:gd name="connsiteY12" fmla="*/ 398846 h 1197863"/>
              <a:gd name="connsiteX13" fmla="*/ 0 w 1264472"/>
              <a:gd name="connsiteY13" fmla="*/ 85348 h 1197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4472" h="1197863">
                <a:moveTo>
                  <a:pt x="0" y="0"/>
                </a:moveTo>
                <a:lnTo>
                  <a:pt x="85348" y="0"/>
                </a:lnTo>
                <a:lnTo>
                  <a:pt x="733205" y="0"/>
                </a:lnTo>
                <a:lnTo>
                  <a:pt x="1179124" y="0"/>
                </a:lnTo>
                <a:cubicBezTo>
                  <a:pt x="1226260" y="0"/>
                  <a:pt x="1264472" y="38212"/>
                  <a:pt x="1264472" y="85348"/>
                </a:cubicBezTo>
                <a:lnTo>
                  <a:pt x="1264472" y="1112515"/>
                </a:lnTo>
                <a:cubicBezTo>
                  <a:pt x="1264472" y="1159651"/>
                  <a:pt x="1226260" y="1197863"/>
                  <a:pt x="1179124" y="1197863"/>
                </a:cubicBezTo>
                <a:lnTo>
                  <a:pt x="733205" y="1197863"/>
                </a:lnTo>
                <a:lnTo>
                  <a:pt x="85348" y="1197863"/>
                </a:lnTo>
                <a:lnTo>
                  <a:pt x="0" y="1197863"/>
                </a:lnTo>
                <a:lnTo>
                  <a:pt x="0" y="1112515"/>
                </a:lnTo>
                <a:lnTo>
                  <a:pt x="0" y="799017"/>
                </a:lnTo>
                <a:lnTo>
                  <a:pt x="0" y="398846"/>
                </a:lnTo>
                <a:lnTo>
                  <a:pt x="0" y="85348"/>
                </a:lnTo>
                <a:close/>
              </a:path>
            </a:pathLst>
          </a:custGeom>
          <a:solidFill>
            <a:srgbClr val="000075"/>
          </a:solidFill>
        </p:spPr>
        <p:txBody>
          <a:bodyPr wrap="square" lIns="91440" tIns="182880" rIns="91440" bIns="182880" anchor="ctr">
            <a:noAutofit/>
          </a:bodyPr>
          <a:lstStyle>
            <a:lvl1pPr>
              <a:defRPr sz="1400">
                <a:solidFill>
                  <a:schemeClr val="bg1"/>
                </a:solidFill>
              </a:defRPr>
            </a:lvl1pPr>
          </a:lstStyle>
          <a:p>
            <a:pPr>
              <a:lnSpc>
                <a:spcPts val="1700"/>
              </a:lnSpc>
            </a:pPr>
            <a:r>
              <a:rPr lang="en-IN">
                <a:solidFill>
                  <a:schemeClr val="bg1"/>
                </a:solidFill>
              </a:rPr>
              <a:t>Name Placeholder</a:t>
            </a:r>
            <a:br>
              <a:rPr lang="en-IN">
                <a:solidFill>
                  <a:schemeClr val="bg1"/>
                </a:solidFill>
              </a:rPr>
            </a:br>
            <a:br>
              <a:rPr lang="en-IN">
                <a:solidFill>
                  <a:schemeClr val="bg1"/>
                </a:solidFill>
              </a:rPr>
            </a:br>
            <a:r>
              <a:rPr lang="en-IN" sz="1100">
                <a:solidFill>
                  <a:schemeClr val="bg1"/>
                </a:solidFill>
              </a:rPr>
              <a:t>Descriptor</a:t>
            </a:r>
          </a:p>
        </p:txBody>
      </p:sp>
      <p:cxnSp>
        <p:nvCxnSpPr>
          <p:cNvPr id="2" name="Straight Connector 1">
            <a:extLst>
              <a:ext uri="{FF2B5EF4-FFF2-40B4-BE49-F238E27FC236}">
                <a16:creationId xmlns:a16="http://schemas.microsoft.com/office/drawing/2014/main" id="{2704E780-1121-DF14-1B78-DDFD55CF1373}"/>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3124834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 Text + Graph">
    <p:bg>
      <p:bgPr>
        <a:solidFill>
          <a:schemeClr val="bg1"/>
        </a:solidFill>
        <a:effectLst/>
      </p:bgPr>
    </p:bg>
    <p:spTree>
      <p:nvGrpSpPr>
        <p:cNvPr id="1" name=""/>
        <p:cNvGrpSpPr/>
        <p:nvPr/>
      </p:nvGrpSpPr>
      <p:grpSpPr>
        <a:xfrm>
          <a:off x="0" y="0"/>
          <a:ext cx="0" cy="0"/>
          <a:chOff x="0" y="0"/>
          <a:chExt cx="0" cy="0"/>
        </a:xfrm>
      </p:grpSpPr>
      <p:sp>
        <p:nvSpPr>
          <p:cNvPr id="51" name="Freeform 50">
            <a:extLst>
              <a:ext uri="{FF2B5EF4-FFF2-40B4-BE49-F238E27FC236}">
                <a16:creationId xmlns:a16="http://schemas.microsoft.com/office/drawing/2014/main" id="{74776B7A-4B2A-F852-57BF-CEA4B868F8B4}"/>
              </a:ext>
            </a:extLst>
          </p:cNvPr>
          <p:cNvSpPr/>
          <p:nvPr userDrawn="1"/>
        </p:nvSpPr>
        <p:spPr>
          <a:xfrm>
            <a:off x="517490" y="2451341"/>
            <a:ext cx="11155677" cy="3566161"/>
          </a:xfrm>
          <a:custGeom>
            <a:avLst/>
            <a:gdLst>
              <a:gd name="connsiteX0" fmla="*/ 1 w 11155677"/>
              <a:gd name="connsiteY0" fmla="*/ 0 h 3566161"/>
              <a:gd name="connsiteX1" fmla="*/ 10207658 w 11155677"/>
              <a:gd name="connsiteY1" fmla="*/ 0 h 3566161"/>
              <a:gd name="connsiteX2" fmla="*/ 10207658 w 11155677"/>
              <a:gd name="connsiteY2" fmla="*/ 1 h 3566161"/>
              <a:gd name="connsiteX3" fmla="*/ 11069069 w 11155677"/>
              <a:gd name="connsiteY3" fmla="*/ 1 h 3566161"/>
              <a:gd name="connsiteX4" fmla="*/ 11155677 w 11155677"/>
              <a:gd name="connsiteY4" fmla="*/ 86609 h 3566161"/>
              <a:gd name="connsiteX5" fmla="*/ 11155677 w 11155677"/>
              <a:gd name="connsiteY5" fmla="*/ 1020059 h 3566161"/>
              <a:gd name="connsiteX6" fmla="*/ 11155677 w 11155677"/>
              <a:gd name="connsiteY6" fmla="*/ 1194951 h 3566161"/>
              <a:gd name="connsiteX7" fmla="*/ 11155677 w 11155677"/>
              <a:gd name="connsiteY7" fmla="*/ 1610609 h 3566161"/>
              <a:gd name="connsiteX8" fmla="*/ 11155677 w 11155677"/>
              <a:gd name="connsiteY8" fmla="*/ 2128401 h 3566161"/>
              <a:gd name="connsiteX9" fmla="*/ 11155677 w 11155677"/>
              <a:gd name="connsiteY9" fmla="*/ 2371211 h 3566161"/>
              <a:gd name="connsiteX10" fmla="*/ 11155677 w 11155677"/>
              <a:gd name="connsiteY10" fmla="*/ 2718951 h 3566161"/>
              <a:gd name="connsiteX11" fmla="*/ 11155677 w 11155677"/>
              <a:gd name="connsiteY11" fmla="*/ 3479553 h 3566161"/>
              <a:gd name="connsiteX12" fmla="*/ 11069069 w 11155677"/>
              <a:gd name="connsiteY12" fmla="*/ 3566161 h 3566161"/>
              <a:gd name="connsiteX13" fmla="*/ 10345169 w 11155677"/>
              <a:gd name="connsiteY13" fmla="*/ 3566161 h 3566161"/>
              <a:gd name="connsiteX14" fmla="*/ 9960727 w 11155677"/>
              <a:gd name="connsiteY14" fmla="*/ 3566161 h 3566161"/>
              <a:gd name="connsiteX15" fmla="*/ 9278369 w 11155677"/>
              <a:gd name="connsiteY15" fmla="*/ 3566161 h 3566161"/>
              <a:gd name="connsiteX16" fmla="*/ 9236827 w 11155677"/>
              <a:gd name="connsiteY16" fmla="*/ 3566161 h 3566161"/>
              <a:gd name="connsiteX17" fmla="*/ 8395848 w 11155677"/>
              <a:gd name="connsiteY17" fmla="*/ 3566161 h 3566161"/>
              <a:gd name="connsiteX18" fmla="*/ 8170027 w 11155677"/>
              <a:gd name="connsiteY18" fmla="*/ 3566161 h 3566161"/>
              <a:gd name="connsiteX19" fmla="*/ 7786248 w 11155677"/>
              <a:gd name="connsiteY19" fmla="*/ 3566161 h 3566161"/>
              <a:gd name="connsiteX20" fmla="*/ 7287506 w 11155677"/>
              <a:gd name="connsiteY20" fmla="*/ 3566161 h 3566161"/>
              <a:gd name="connsiteX21" fmla="*/ 7252848 w 11155677"/>
              <a:gd name="connsiteY21" fmla="*/ 3566161 h 3566161"/>
              <a:gd name="connsiteX22" fmla="*/ 6677906 w 11155677"/>
              <a:gd name="connsiteY22" fmla="*/ 3566161 h 3566161"/>
              <a:gd name="connsiteX23" fmla="*/ 6547998 w 11155677"/>
              <a:gd name="connsiteY23" fmla="*/ 3566161 h 3566161"/>
              <a:gd name="connsiteX24" fmla="*/ 6144506 w 11155677"/>
              <a:gd name="connsiteY24" fmla="*/ 3566161 h 3566161"/>
              <a:gd name="connsiteX25" fmla="*/ 5595498 w 11155677"/>
              <a:gd name="connsiteY25" fmla="*/ 3566161 h 3566161"/>
              <a:gd name="connsiteX26" fmla="*/ 5439656 w 11155677"/>
              <a:gd name="connsiteY26" fmla="*/ 3566161 h 3566161"/>
              <a:gd name="connsiteX27" fmla="*/ 4757298 w 11155677"/>
              <a:gd name="connsiteY27" fmla="*/ 3566161 h 3566161"/>
              <a:gd name="connsiteX28" fmla="*/ 4487156 w 11155677"/>
              <a:gd name="connsiteY28" fmla="*/ 3566161 h 3566161"/>
              <a:gd name="connsiteX29" fmla="*/ 4033398 w 11155677"/>
              <a:gd name="connsiteY29" fmla="*/ 3566161 h 3566161"/>
              <a:gd name="connsiteX30" fmla="*/ 3648957 w 11155677"/>
              <a:gd name="connsiteY30" fmla="*/ 3566161 h 3566161"/>
              <a:gd name="connsiteX31" fmla="*/ 3366649 w 11155677"/>
              <a:gd name="connsiteY31" fmla="*/ 3566161 h 3566161"/>
              <a:gd name="connsiteX32" fmla="*/ 2925057 w 11155677"/>
              <a:gd name="connsiteY32" fmla="*/ 3566161 h 3566161"/>
              <a:gd name="connsiteX33" fmla="*/ 2280800 w 11155677"/>
              <a:gd name="connsiteY33" fmla="*/ 3566161 h 3566161"/>
              <a:gd name="connsiteX34" fmla="*/ 2258307 w 11155677"/>
              <a:gd name="connsiteY34" fmla="*/ 3566161 h 3566161"/>
              <a:gd name="connsiteX35" fmla="*/ 1194950 w 11155677"/>
              <a:gd name="connsiteY35" fmla="*/ 3566161 h 3566161"/>
              <a:gd name="connsiteX36" fmla="*/ 1172458 w 11155677"/>
              <a:gd name="connsiteY36" fmla="*/ 3566161 h 3566161"/>
              <a:gd name="connsiteX37" fmla="*/ 86608 w 11155677"/>
              <a:gd name="connsiteY37" fmla="*/ 3566161 h 3566161"/>
              <a:gd name="connsiteX38" fmla="*/ 0 w 11155677"/>
              <a:gd name="connsiteY38" fmla="*/ 3479553 h 3566161"/>
              <a:gd name="connsiteX39" fmla="*/ 0 w 11155677"/>
              <a:gd name="connsiteY39" fmla="*/ 2371211 h 3566161"/>
              <a:gd name="connsiteX40" fmla="*/ 1 w 11155677"/>
              <a:gd name="connsiteY40" fmla="*/ 2371207 h 3566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1155677" h="3566161">
                <a:moveTo>
                  <a:pt x="1" y="0"/>
                </a:moveTo>
                <a:lnTo>
                  <a:pt x="10207658" y="0"/>
                </a:lnTo>
                <a:lnTo>
                  <a:pt x="10207658" y="1"/>
                </a:lnTo>
                <a:lnTo>
                  <a:pt x="11069069" y="1"/>
                </a:lnTo>
                <a:cubicBezTo>
                  <a:pt x="11116901" y="1"/>
                  <a:pt x="11155677" y="38777"/>
                  <a:pt x="11155677" y="86609"/>
                </a:cubicBezTo>
                <a:lnTo>
                  <a:pt x="11155677" y="1020059"/>
                </a:lnTo>
                <a:lnTo>
                  <a:pt x="11155677" y="1194951"/>
                </a:lnTo>
                <a:lnTo>
                  <a:pt x="11155677" y="1610609"/>
                </a:lnTo>
                <a:lnTo>
                  <a:pt x="11155677" y="2128401"/>
                </a:lnTo>
                <a:lnTo>
                  <a:pt x="11155677" y="2371211"/>
                </a:lnTo>
                <a:lnTo>
                  <a:pt x="11155677" y="2718951"/>
                </a:lnTo>
                <a:lnTo>
                  <a:pt x="11155677" y="3479553"/>
                </a:lnTo>
                <a:cubicBezTo>
                  <a:pt x="11155677" y="3527385"/>
                  <a:pt x="11116901" y="3566161"/>
                  <a:pt x="11069069" y="3566161"/>
                </a:cubicBezTo>
                <a:lnTo>
                  <a:pt x="10345169" y="3566161"/>
                </a:lnTo>
                <a:lnTo>
                  <a:pt x="9960727" y="3566161"/>
                </a:lnTo>
                <a:lnTo>
                  <a:pt x="9278369" y="3566161"/>
                </a:lnTo>
                <a:lnTo>
                  <a:pt x="9236827" y="3566161"/>
                </a:lnTo>
                <a:lnTo>
                  <a:pt x="8395848" y="3566161"/>
                </a:lnTo>
                <a:lnTo>
                  <a:pt x="8170027" y="3566161"/>
                </a:lnTo>
                <a:lnTo>
                  <a:pt x="7786248" y="3566161"/>
                </a:lnTo>
                <a:lnTo>
                  <a:pt x="7287506" y="3566161"/>
                </a:lnTo>
                <a:lnTo>
                  <a:pt x="7252848" y="3566161"/>
                </a:lnTo>
                <a:lnTo>
                  <a:pt x="6677906" y="3566161"/>
                </a:lnTo>
                <a:lnTo>
                  <a:pt x="6547998" y="3566161"/>
                </a:lnTo>
                <a:lnTo>
                  <a:pt x="6144506" y="3566161"/>
                </a:lnTo>
                <a:lnTo>
                  <a:pt x="5595498" y="3566161"/>
                </a:lnTo>
                <a:lnTo>
                  <a:pt x="5439656" y="3566161"/>
                </a:lnTo>
                <a:lnTo>
                  <a:pt x="4757298" y="3566161"/>
                </a:lnTo>
                <a:lnTo>
                  <a:pt x="4487156" y="3566161"/>
                </a:lnTo>
                <a:lnTo>
                  <a:pt x="4033398" y="3566161"/>
                </a:lnTo>
                <a:lnTo>
                  <a:pt x="3648957" y="3566161"/>
                </a:lnTo>
                <a:lnTo>
                  <a:pt x="3366649" y="3566161"/>
                </a:lnTo>
                <a:lnTo>
                  <a:pt x="2925057" y="3566161"/>
                </a:lnTo>
                <a:lnTo>
                  <a:pt x="2280800" y="3566161"/>
                </a:lnTo>
                <a:lnTo>
                  <a:pt x="2258307" y="3566161"/>
                </a:lnTo>
                <a:lnTo>
                  <a:pt x="1194950" y="3566161"/>
                </a:lnTo>
                <a:lnTo>
                  <a:pt x="1172458" y="3566161"/>
                </a:lnTo>
                <a:lnTo>
                  <a:pt x="86608" y="3566161"/>
                </a:lnTo>
                <a:cubicBezTo>
                  <a:pt x="38776" y="3566161"/>
                  <a:pt x="0" y="3527385"/>
                  <a:pt x="0" y="3479553"/>
                </a:cubicBezTo>
                <a:lnTo>
                  <a:pt x="0" y="2371211"/>
                </a:lnTo>
                <a:lnTo>
                  <a:pt x="1" y="2371207"/>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894306"/>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adipiscing</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elit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sed</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diam</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nonummy</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nibh</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euismod</a:t>
            </a:r>
            <a:endParaRPr lang="en-IN" sz="1400" spc="0">
              <a:latin typeface="Wallace Sans BETA Light" pitchFamily="2" charset="77"/>
              <a:cs typeface="Wallace Sans BETA Light" pitchFamily="2" charset="77"/>
            </a:endParaRP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0902" y="5680513"/>
            <a:ext cx="5189203"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31" name="Text Placeholder 12">
            <a:extLst>
              <a:ext uri="{FF2B5EF4-FFF2-40B4-BE49-F238E27FC236}">
                <a16:creationId xmlns:a16="http://schemas.microsoft.com/office/drawing/2014/main" id="{7C1CD50D-937B-5381-3AF1-388E09C81C07}"/>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32" name="Freeform 31">
            <a:extLst>
              <a:ext uri="{FF2B5EF4-FFF2-40B4-BE49-F238E27FC236}">
                <a16:creationId xmlns:a16="http://schemas.microsoft.com/office/drawing/2014/main" id="{982463DC-D6BC-DD2B-D357-5410BF3A34F1}"/>
              </a:ext>
            </a:extLst>
          </p:cNvPr>
          <p:cNvSpPr/>
          <p:nvPr userDrawn="1"/>
        </p:nvSpPr>
        <p:spPr>
          <a:xfrm>
            <a:off x="517490" y="7270991"/>
            <a:ext cx="11155679" cy="3566160"/>
          </a:xfrm>
          <a:custGeom>
            <a:avLst/>
            <a:gdLst>
              <a:gd name="connsiteX0" fmla="*/ 0 w 11155679"/>
              <a:gd name="connsiteY0" fmla="*/ 0 h 3566160"/>
              <a:gd name="connsiteX1" fmla="*/ 11073649 w 11155679"/>
              <a:gd name="connsiteY1" fmla="*/ 0 h 3566160"/>
              <a:gd name="connsiteX2" fmla="*/ 11098758 w 11155679"/>
              <a:gd name="connsiteY2" fmla="*/ 5489 h 3566160"/>
              <a:gd name="connsiteX3" fmla="*/ 11150875 w 11155679"/>
              <a:gd name="connsiteY3" fmla="*/ 61917 h 3566160"/>
              <a:gd name="connsiteX4" fmla="*/ 11155679 w 11155679"/>
              <a:gd name="connsiteY4" fmla="*/ 87682 h 3566160"/>
              <a:gd name="connsiteX5" fmla="*/ 11155679 w 11155679"/>
              <a:gd name="connsiteY5" fmla="*/ 3475634 h 3566160"/>
              <a:gd name="connsiteX6" fmla="*/ 11150875 w 11155679"/>
              <a:gd name="connsiteY6" fmla="*/ 3501399 h 3566160"/>
              <a:gd name="connsiteX7" fmla="*/ 11060638 w 11155679"/>
              <a:gd name="connsiteY7" fmla="*/ 3566160 h 3566160"/>
              <a:gd name="connsiteX8" fmla="*/ 97934 w 11155679"/>
              <a:gd name="connsiteY8" fmla="*/ 3566160 h 3566160"/>
              <a:gd name="connsiteX9" fmla="*/ 0 w 11155679"/>
              <a:gd name="connsiteY9" fmla="*/ 3460125 h 3566160"/>
              <a:gd name="connsiteX10" fmla="*/ 0 w 11155679"/>
              <a:gd name="connsiteY10" fmla="*/ 1064610 h 3566160"/>
              <a:gd name="connsiteX11" fmla="*/ 0 w 11155679"/>
              <a:gd name="connsiteY11" fmla="*/ 103191 h 356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155679" h="3566160">
                <a:moveTo>
                  <a:pt x="0" y="0"/>
                </a:moveTo>
                <a:lnTo>
                  <a:pt x="11073649" y="0"/>
                </a:lnTo>
                <a:lnTo>
                  <a:pt x="11098758" y="5489"/>
                </a:lnTo>
                <a:cubicBezTo>
                  <a:pt x="11122191" y="16220"/>
                  <a:pt x="11140964" y="36546"/>
                  <a:pt x="11150875" y="61917"/>
                </a:cubicBezTo>
                <a:lnTo>
                  <a:pt x="11155679" y="87682"/>
                </a:lnTo>
                <a:lnTo>
                  <a:pt x="11155679" y="3475634"/>
                </a:lnTo>
                <a:lnTo>
                  <a:pt x="11150875" y="3501399"/>
                </a:lnTo>
                <a:cubicBezTo>
                  <a:pt x="11136008" y="3539457"/>
                  <a:pt x="11101203" y="3566160"/>
                  <a:pt x="11060638" y="3566160"/>
                </a:cubicBezTo>
                <a:lnTo>
                  <a:pt x="97934" y="3566160"/>
                </a:lnTo>
                <a:cubicBezTo>
                  <a:pt x="43846" y="3566160"/>
                  <a:pt x="0" y="3518687"/>
                  <a:pt x="0" y="3460125"/>
                </a:cubicBezTo>
                <a:lnTo>
                  <a:pt x="0" y="1064610"/>
                </a:lnTo>
                <a:lnTo>
                  <a:pt x="0" y="103191"/>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cxnSp>
        <p:nvCxnSpPr>
          <p:cNvPr id="2" name="Straight Connector 1">
            <a:extLst>
              <a:ext uri="{FF2B5EF4-FFF2-40B4-BE49-F238E27FC236}">
                <a16:creationId xmlns:a16="http://schemas.microsoft.com/office/drawing/2014/main" id="{FCF2219E-812D-015C-B489-A36A270EC0F0}"/>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474715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 chart">
    <p:bg>
      <p:bgPr>
        <a:solidFill>
          <a:schemeClr val="bg1"/>
        </a:solidFill>
        <a:effectLst/>
      </p:bgPr>
    </p:bg>
    <p:spTree>
      <p:nvGrpSpPr>
        <p:cNvPr id="1" name=""/>
        <p:cNvGrpSpPr/>
        <p:nvPr/>
      </p:nvGrpSpPr>
      <p:grpSpPr>
        <a:xfrm>
          <a:off x="0" y="0"/>
          <a:ext cx="0" cy="0"/>
          <a:chOff x="0" y="0"/>
          <a:chExt cx="0" cy="0"/>
        </a:xfrm>
      </p:grpSpPr>
      <p:sp>
        <p:nvSpPr>
          <p:cNvPr id="33" name="Freeform 32">
            <a:extLst>
              <a:ext uri="{FF2B5EF4-FFF2-40B4-BE49-F238E27FC236}">
                <a16:creationId xmlns:a16="http://schemas.microsoft.com/office/drawing/2014/main" id="{80451E62-8E1A-1596-83A7-5A59C873EA92}"/>
              </a:ext>
            </a:extLst>
          </p:cNvPr>
          <p:cNvSpPr/>
          <p:nvPr userDrawn="1"/>
        </p:nvSpPr>
        <p:spPr>
          <a:xfrm>
            <a:off x="517490" y="2000919"/>
            <a:ext cx="11155680" cy="4016583"/>
          </a:xfrm>
          <a:custGeom>
            <a:avLst/>
            <a:gdLst>
              <a:gd name="connsiteX0" fmla="*/ 3 w 11155680"/>
              <a:gd name="connsiteY0" fmla="*/ 0 h 4016583"/>
              <a:gd name="connsiteX1" fmla="*/ 10156730 w 11155680"/>
              <a:gd name="connsiteY1" fmla="*/ 0 h 4016583"/>
              <a:gd name="connsiteX2" fmla="*/ 10156730 w 11155680"/>
              <a:gd name="connsiteY2" fmla="*/ 1 h 4016583"/>
              <a:gd name="connsiteX3" fmla="*/ 11069072 w 11155680"/>
              <a:gd name="connsiteY3" fmla="*/ 1 h 4016583"/>
              <a:gd name="connsiteX4" fmla="*/ 11155680 w 11155680"/>
              <a:gd name="connsiteY4" fmla="*/ 86609 h 4016583"/>
              <a:gd name="connsiteX5" fmla="*/ 11155680 w 11155680"/>
              <a:gd name="connsiteY5" fmla="*/ 945025 h 4016583"/>
              <a:gd name="connsiteX6" fmla="*/ 11155680 w 11155680"/>
              <a:gd name="connsiteY6" fmla="*/ 1194951 h 4016583"/>
              <a:gd name="connsiteX7" fmla="*/ 11155680 w 11155680"/>
              <a:gd name="connsiteY7" fmla="*/ 1747458 h 4016583"/>
              <a:gd name="connsiteX8" fmla="*/ 11155680 w 11155680"/>
              <a:gd name="connsiteY8" fmla="*/ 2053367 h 4016583"/>
              <a:gd name="connsiteX9" fmla="*/ 11155680 w 11155680"/>
              <a:gd name="connsiteY9" fmla="*/ 2336441 h 4016583"/>
              <a:gd name="connsiteX10" fmla="*/ 11155680 w 11155680"/>
              <a:gd name="connsiteY10" fmla="*/ 2821633 h 4016583"/>
              <a:gd name="connsiteX11" fmla="*/ 11155680 w 11155680"/>
              <a:gd name="connsiteY11" fmla="*/ 2855800 h 4016583"/>
              <a:gd name="connsiteX12" fmla="*/ 11155680 w 11155680"/>
              <a:gd name="connsiteY12" fmla="*/ 3444783 h 4016583"/>
              <a:gd name="connsiteX13" fmla="*/ 11155680 w 11155680"/>
              <a:gd name="connsiteY13" fmla="*/ 3929975 h 4016583"/>
              <a:gd name="connsiteX14" fmla="*/ 11069072 w 11155680"/>
              <a:gd name="connsiteY14" fmla="*/ 4016583 h 4016583"/>
              <a:gd name="connsiteX15" fmla="*/ 9960730 w 11155680"/>
              <a:gd name="connsiteY15" fmla="*/ 4016583 h 4016583"/>
              <a:gd name="connsiteX16" fmla="*/ 9936403 w 11155680"/>
              <a:gd name="connsiteY16" fmla="*/ 4011672 h 4016583"/>
              <a:gd name="connsiteX17" fmla="*/ 9912076 w 11155680"/>
              <a:gd name="connsiteY17" fmla="*/ 4016583 h 4016583"/>
              <a:gd name="connsiteX18" fmla="*/ 8811063 w 11155680"/>
              <a:gd name="connsiteY18" fmla="*/ 4016583 h 4016583"/>
              <a:gd name="connsiteX19" fmla="*/ 8803734 w 11155680"/>
              <a:gd name="connsiteY19" fmla="*/ 4016583 h 4016583"/>
              <a:gd name="connsiteX20" fmla="*/ 7915325 w 11155680"/>
              <a:gd name="connsiteY20" fmla="*/ 4016583 h 4016583"/>
              <a:gd name="connsiteX21" fmla="*/ 7702721 w 11155680"/>
              <a:gd name="connsiteY21" fmla="*/ 4016583 h 4016583"/>
              <a:gd name="connsiteX22" fmla="*/ 6963602 w 11155680"/>
              <a:gd name="connsiteY22" fmla="*/ 4016583 h 4016583"/>
              <a:gd name="connsiteX23" fmla="*/ 6806983 w 11155680"/>
              <a:gd name="connsiteY23" fmla="*/ 4016583 h 4016583"/>
              <a:gd name="connsiteX24" fmla="*/ 6161170 w 11155680"/>
              <a:gd name="connsiteY24" fmla="*/ 4016583 h 4016583"/>
              <a:gd name="connsiteX25" fmla="*/ 5855260 w 11155680"/>
              <a:gd name="connsiteY25" fmla="*/ 4016583 h 4016583"/>
              <a:gd name="connsiteX26" fmla="*/ 5060158 w 11155680"/>
              <a:gd name="connsiteY26" fmla="*/ 4016583 h 4016583"/>
              <a:gd name="connsiteX27" fmla="*/ 5052828 w 11155680"/>
              <a:gd name="connsiteY27" fmla="*/ 4016583 h 4016583"/>
              <a:gd name="connsiteX28" fmla="*/ 4351032 w 11155680"/>
              <a:gd name="connsiteY28" fmla="*/ 4016583 h 4016583"/>
              <a:gd name="connsiteX29" fmla="*/ 3951816 w 11155680"/>
              <a:gd name="connsiteY29" fmla="*/ 4016583 h 4016583"/>
              <a:gd name="connsiteX30" fmla="*/ 3306005 w 11155680"/>
              <a:gd name="connsiteY30" fmla="*/ 4016583 h 4016583"/>
              <a:gd name="connsiteX31" fmla="*/ 3242691 w 11155680"/>
              <a:gd name="connsiteY31" fmla="*/ 4016583 h 4016583"/>
              <a:gd name="connsiteX32" fmla="*/ 2652862 w 11155680"/>
              <a:gd name="connsiteY32" fmla="*/ 4016583 h 4016583"/>
              <a:gd name="connsiteX33" fmla="*/ 2372943 w 11155680"/>
              <a:gd name="connsiteY33" fmla="*/ 4016583 h 4016583"/>
              <a:gd name="connsiteX34" fmla="*/ 2197663 w 11155680"/>
              <a:gd name="connsiteY34" fmla="*/ 4016583 h 4016583"/>
              <a:gd name="connsiteX35" fmla="*/ 1544520 w 11155680"/>
              <a:gd name="connsiteY35" fmla="*/ 4016583 h 4016583"/>
              <a:gd name="connsiteX36" fmla="*/ 1514527 w 11155680"/>
              <a:gd name="connsiteY36" fmla="*/ 4016583 h 4016583"/>
              <a:gd name="connsiteX37" fmla="*/ 1264601 w 11155680"/>
              <a:gd name="connsiteY37" fmla="*/ 4016583 h 4016583"/>
              <a:gd name="connsiteX38" fmla="*/ 1194950 w 11155680"/>
              <a:gd name="connsiteY38" fmla="*/ 4016583 h 4016583"/>
              <a:gd name="connsiteX39" fmla="*/ 406184 w 11155680"/>
              <a:gd name="connsiteY39" fmla="*/ 4016583 h 4016583"/>
              <a:gd name="connsiteX40" fmla="*/ 86608 w 11155680"/>
              <a:gd name="connsiteY40" fmla="*/ 4016583 h 4016583"/>
              <a:gd name="connsiteX41" fmla="*/ 0 w 11155680"/>
              <a:gd name="connsiteY41" fmla="*/ 3929975 h 4016583"/>
              <a:gd name="connsiteX42" fmla="*/ 0 w 11155680"/>
              <a:gd name="connsiteY42" fmla="*/ 2821633 h 4016583"/>
              <a:gd name="connsiteX43" fmla="*/ 3 w 11155680"/>
              <a:gd name="connsiteY43" fmla="*/ 2821621 h 401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155680" h="4016583">
                <a:moveTo>
                  <a:pt x="3" y="0"/>
                </a:moveTo>
                <a:lnTo>
                  <a:pt x="10156730" y="0"/>
                </a:lnTo>
                <a:lnTo>
                  <a:pt x="10156730" y="1"/>
                </a:lnTo>
                <a:lnTo>
                  <a:pt x="11069072" y="1"/>
                </a:lnTo>
                <a:cubicBezTo>
                  <a:pt x="11116904" y="1"/>
                  <a:pt x="11155680" y="38777"/>
                  <a:pt x="11155680" y="86609"/>
                </a:cubicBezTo>
                <a:lnTo>
                  <a:pt x="11155680" y="945025"/>
                </a:lnTo>
                <a:lnTo>
                  <a:pt x="11155680" y="1194951"/>
                </a:lnTo>
                <a:lnTo>
                  <a:pt x="11155680" y="1747458"/>
                </a:lnTo>
                <a:lnTo>
                  <a:pt x="11155680" y="2053367"/>
                </a:lnTo>
                <a:lnTo>
                  <a:pt x="11155680" y="2336441"/>
                </a:lnTo>
                <a:lnTo>
                  <a:pt x="11155680" y="2821633"/>
                </a:lnTo>
                <a:lnTo>
                  <a:pt x="11155680" y="2855800"/>
                </a:lnTo>
                <a:lnTo>
                  <a:pt x="11155680" y="3444783"/>
                </a:lnTo>
                <a:lnTo>
                  <a:pt x="11155680" y="3929975"/>
                </a:lnTo>
                <a:cubicBezTo>
                  <a:pt x="11155680" y="3977807"/>
                  <a:pt x="11116904" y="4016583"/>
                  <a:pt x="11069072" y="4016583"/>
                </a:cubicBezTo>
                <a:lnTo>
                  <a:pt x="9960730" y="4016583"/>
                </a:lnTo>
                <a:lnTo>
                  <a:pt x="9936403" y="4011672"/>
                </a:lnTo>
                <a:lnTo>
                  <a:pt x="9912076" y="4016583"/>
                </a:lnTo>
                <a:lnTo>
                  <a:pt x="8811063" y="4016583"/>
                </a:lnTo>
                <a:lnTo>
                  <a:pt x="8803734" y="4016583"/>
                </a:lnTo>
                <a:lnTo>
                  <a:pt x="7915325" y="4016583"/>
                </a:lnTo>
                <a:lnTo>
                  <a:pt x="7702721" y="4016583"/>
                </a:lnTo>
                <a:lnTo>
                  <a:pt x="6963602" y="4016583"/>
                </a:lnTo>
                <a:lnTo>
                  <a:pt x="6806983" y="4016583"/>
                </a:lnTo>
                <a:lnTo>
                  <a:pt x="6161170" y="4016583"/>
                </a:lnTo>
                <a:lnTo>
                  <a:pt x="5855260" y="4016583"/>
                </a:lnTo>
                <a:lnTo>
                  <a:pt x="5060158" y="4016583"/>
                </a:lnTo>
                <a:lnTo>
                  <a:pt x="5052828" y="4016583"/>
                </a:lnTo>
                <a:lnTo>
                  <a:pt x="4351032" y="4016583"/>
                </a:lnTo>
                <a:lnTo>
                  <a:pt x="3951816" y="4016583"/>
                </a:lnTo>
                <a:lnTo>
                  <a:pt x="3306005" y="4016583"/>
                </a:lnTo>
                <a:lnTo>
                  <a:pt x="3242691" y="4016583"/>
                </a:lnTo>
                <a:lnTo>
                  <a:pt x="2652862" y="4016583"/>
                </a:lnTo>
                <a:lnTo>
                  <a:pt x="2372943" y="4016583"/>
                </a:lnTo>
                <a:lnTo>
                  <a:pt x="2197663" y="4016583"/>
                </a:lnTo>
                <a:lnTo>
                  <a:pt x="1544520" y="4016583"/>
                </a:lnTo>
                <a:lnTo>
                  <a:pt x="1514527" y="4016583"/>
                </a:lnTo>
                <a:lnTo>
                  <a:pt x="1264601" y="4016583"/>
                </a:lnTo>
                <a:lnTo>
                  <a:pt x="1194950" y="4016583"/>
                </a:lnTo>
                <a:lnTo>
                  <a:pt x="406184" y="4016583"/>
                </a:lnTo>
                <a:lnTo>
                  <a:pt x="86608" y="4016583"/>
                </a:lnTo>
                <a:cubicBezTo>
                  <a:pt x="38776" y="4016583"/>
                  <a:pt x="0" y="3977807"/>
                  <a:pt x="0" y="3929975"/>
                </a:cubicBezTo>
                <a:lnTo>
                  <a:pt x="0" y="2821633"/>
                </a:lnTo>
                <a:lnTo>
                  <a:pt x="3" y="2821621"/>
                </a:lnTo>
                <a:close/>
              </a:path>
            </a:pathLst>
          </a:custGeom>
          <a:solidFill>
            <a:srgbClr val="E4EEEF">
              <a:alpha val="30000"/>
            </a:srgbClr>
          </a:solidFill>
        </p:spPr>
        <p:txBody>
          <a:bodyPr wrap="square" rtlCol="0" anchor="ctr">
            <a:noAutofit/>
          </a:bodyPr>
          <a:lstStyle/>
          <a:p>
            <a:pPr lvl="0" algn="ctr"/>
            <a:endParaRPr lang="en-US">
              <a:solidFill>
                <a:schemeClr val="tx1"/>
              </a:solidFill>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510791" y="1223199"/>
            <a:ext cx="3507849"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p>
          <a:p>
            <a:pPr>
              <a:lnSpc>
                <a:spcPts val="1900"/>
              </a:lnSpc>
            </a:pP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a:t>
            </a:r>
          </a:p>
        </p:txBody>
      </p:sp>
      <p:sp>
        <p:nvSpPr>
          <p:cNvPr id="2" name="Text Placeholder 14">
            <a:extLst>
              <a:ext uri="{FF2B5EF4-FFF2-40B4-BE49-F238E27FC236}">
                <a16:creationId xmlns:a16="http://schemas.microsoft.com/office/drawing/2014/main" id="{3EC2210B-8964-2E88-AE6E-41AF5A29D6F9}"/>
              </a:ext>
            </a:extLst>
          </p:cNvPr>
          <p:cNvSpPr>
            <a:spLocks noGrp="1"/>
          </p:cNvSpPr>
          <p:nvPr>
            <p:ph type="body" sz="quarter" idx="12" hasCustomPrompt="1"/>
          </p:nvPr>
        </p:nvSpPr>
        <p:spPr>
          <a:xfrm>
            <a:off x="510791" y="490735"/>
            <a:ext cx="8328409"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in Wallace Sans, 18 point size</a:t>
            </a:r>
          </a:p>
        </p:txBody>
      </p:sp>
      <p:sp>
        <p:nvSpPr>
          <p:cNvPr id="3" name="Text Placeholder 22">
            <a:extLst>
              <a:ext uri="{FF2B5EF4-FFF2-40B4-BE49-F238E27FC236}">
                <a16:creationId xmlns:a16="http://schemas.microsoft.com/office/drawing/2014/main" id="{D024B4D7-9750-E2C9-546B-AD18216D1DC4}"/>
              </a:ext>
            </a:extLst>
          </p:cNvPr>
          <p:cNvSpPr>
            <a:spLocks noGrp="1"/>
          </p:cNvSpPr>
          <p:nvPr>
            <p:ph type="body" sz="quarter" idx="33" hasCustomPrompt="1"/>
          </p:nvPr>
        </p:nvSpPr>
        <p:spPr>
          <a:xfrm>
            <a:off x="720902" y="5680513"/>
            <a:ext cx="5189203"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cxnSp>
        <p:nvCxnSpPr>
          <p:cNvPr id="4" name="Straight Connector 3">
            <a:extLst>
              <a:ext uri="{FF2B5EF4-FFF2-40B4-BE49-F238E27FC236}">
                <a16:creationId xmlns:a16="http://schemas.microsoft.com/office/drawing/2014/main" id="{9383F111-B8FA-8FA6-B200-EBFE5874383D}"/>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573110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 chart (1 column text, 1 cell)">
    <p:bg>
      <p:bgPr>
        <a:solidFill>
          <a:schemeClr val="bg1"/>
        </a:solidFill>
        <a:effectLst/>
      </p:bgPr>
    </p:bg>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2FD1131D-3A89-165D-B596-9D28C3FA715C}"/>
              </a:ext>
            </a:extLst>
          </p:cNvPr>
          <p:cNvSpPr/>
          <p:nvPr userDrawn="1"/>
        </p:nvSpPr>
        <p:spPr>
          <a:xfrm>
            <a:off x="6231112" y="508666"/>
            <a:ext cx="5440680" cy="5522977"/>
          </a:xfrm>
          <a:custGeom>
            <a:avLst/>
            <a:gdLst>
              <a:gd name="connsiteX0" fmla="*/ 0 w 5440680"/>
              <a:gd name="connsiteY0" fmla="*/ 0 h 5522977"/>
              <a:gd name="connsiteX1" fmla="*/ 4629191 w 5440680"/>
              <a:gd name="connsiteY1" fmla="*/ 0 h 5522977"/>
              <a:gd name="connsiteX2" fmla="*/ 4629191 w 5440680"/>
              <a:gd name="connsiteY2" fmla="*/ 1 h 5522977"/>
              <a:gd name="connsiteX3" fmla="*/ 5354072 w 5440680"/>
              <a:gd name="connsiteY3" fmla="*/ 1 h 5522977"/>
              <a:gd name="connsiteX4" fmla="*/ 5440680 w 5440680"/>
              <a:gd name="connsiteY4" fmla="*/ 86609 h 5522977"/>
              <a:gd name="connsiteX5" fmla="*/ 5440680 w 5440680"/>
              <a:gd name="connsiteY5" fmla="*/ 980393 h 5522977"/>
              <a:gd name="connsiteX6" fmla="*/ 5440680 w 5440680"/>
              <a:gd name="connsiteY6" fmla="*/ 1194951 h 5522977"/>
              <a:gd name="connsiteX7" fmla="*/ 5440680 w 5440680"/>
              <a:gd name="connsiteY7" fmla="*/ 1677817 h 5522977"/>
              <a:gd name="connsiteX8" fmla="*/ 5440680 w 5440680"/>
              <a:gd name="connsiteY8" fmla="*/ 2088735 h 5522977"/>
              <a:gd name="connsiteX9" fmla="*/ 5440680 w 5440680"/>
              <a:gd name="connsiteY9" fmla="*/ 2762698 h 5522977"/>
              <a:gd name="connsiteX10" fmla="*/ 5440680 w 5440680"/>
              <a:gd name="connsiteY10" fmla="*/ 2786159 h 5522977"/>
              <a:gd name="connsiteX11" fmla="*/ 5440680 w 5440680"/>
              <a:gd name="connsiteY11" fmla="*/ 3723593 h 5522977"/>
              <a:gd name="connsiteX12" fmla="*/ 5440680 w 5440680"/>
              <a:gd name="connsiteY12" fmla="*/ 3871040 h 5522977"/>
              <a:gd name="connsiteX13" fmla="*/ 5440680 w 5440680"/>
              <a:gd name="connsiteY13" fmla="*/ 4328027 h 5522977"/>
              <a:gd name="connsiteX14" fmla="*/ 5440680 w 5440680"/>
              <a:gd name="connsiteY14" fmla="*/ 4831935 h 5522977"/>
              <a:gd name="connsiteX15" fmla="*/ 5440680 w 5440680"/>
              <a:gd name="connsiteY15" fmla="*/ 5436369 h 5522977"/>
              <a:gd name="connsiteX16" fmla="*/ 5354072 w 5440680"/>
              <a:gd name="connsiteY16" fmla="*/ 5522977 h 5522977"/>
              <a:gd name="connsiteX17" fmla="*/ 4542584 w 5440680"/>
              <a:gd name="connsiteY17" fmla="*/ 5522977 h 5522977"/>
              <a:gd name="connsiteX18" fmla="*/ 4245730 w 5440680"/>
              <a:gd name="connsiteY18" fmla="*/ 5522977 h 5522977"/>
              <a:gd name="connsiteX19" fmla="*/ 3921459 w 5440680"/>
              <a:gd name="connsiteY19" fmla="*/ 5522977 h 5522977"/>
              <a:gd name="connsiteX20" fmla="*/ 3434242 w 5440680"/>
              <a:gd name="connsiteY20" fmla="*/ 5522977 h 5522977"/>
              <a:gd name="connsiteX21" fmla="*/ 2822273 w 5440680"/>
              <a:gd name="connsiteY21" fmla="*/ 5522977 h 5522977"/>
              <a:gd name="connsiteX22" fmla="*/ 1985364 w 5440680"/>
              <a:gd name="connsiteY22" fmla="*/ 5522977 h 5522977"/>
              <a:gd name="connsiteX23" fmla="*/ 1713931 w 5440680"/>
              <a:gd name="connsiteY23" fmla="*/ 5522977 h 5522977"/>
              <a:gd name="connsiteX24" fmla="*/ 1519222 w 5440680"/>
              <a:gd name="connsiteY24" fmla="*/ 5522977 h 5522977"/>
              <a:gd name="connsiteX25" fmla="*/ 1194951 w 5440680"/>
              <a:gd name="connsiteY25" fmla="*/ 5522977 h 5522977"/>
              <a:gd name="connsiteX26" fmla="*/ 877022 w 5440680"/>
              <a:gd name="connsiteY26" fmla="*/ 5522977 h 5522977"/>
              <a:gd name="connsiteX27" fmla="*/ 86609 w 5440680"/>
              <a:gd name="connsiteY27" fmla="*/ 5522977 h 5522977"/>
              <a:gd name="connsiteX28" fmla="*/ 1 w 5440680"/>
              <a:gd name="connsiteY28" fmla="*/ 5436369 h 5522977"/>
              <a:gd name="connsiteX29" fmla="*/ 1 w 5440680"/>
              <a:gd name="connsiteY29" fmla="*/ 4633927 h 5522977"/>
              <a:gd name="connsiteX30" fmla="*/ 0 w 5440680"/>
              <a:gd name="connsiteY30" fmla="*/ 4633927 h 5522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5440680" h="5522977">
                <a:moveTo>
                  <a:pt x="0" y="0"/>
                </a:moveTo>
                <a:lnTo>
                  <a:pt x="4629191" y="0"/>
                </a:lnTo>
                <a:lnTo>
                  <a:pt x="4629191" y="1"/>
                </a:lnTo>
                <a:lnTo>
                  <a:pt x="5354072" y="1"/>
                </a:lnTo>
                <a:cubicBezTo>
                  <a:pt x="5401904" y="1"/>
                  <a:pt x="5440680" y="38777"/>
                  <a:pt x="5440680" y="86609"/>
                </a:cubicBezTo>
                <a:lnTo>
                  <a:pt x="5440680" y="980393"/>
                </a:lnTo>
                <a:lnTo>
                  <a:pt x="5440680" y="1194951"/>
                </a:lnTo>
                <a:lnTo>
                  <a:pt x="5440680" y="1677817"/>
                </a:lnTo>
                <a:lnTo>
                  <a:pt x="5440680" y="2088735"/>
                </a:lnTo>
                <a:lnTo>
                  <a:pt x="5440680" y="2762698"/>
                </a:lnTo>
                <a:lnTo>
                  <a:pt x="5440680" y="2786159"/>
                </a:lnTo>
                <a:lnTo>
                  <a:pt x="5440680" y="3723593"/>
                </a:lnTo>
                <a:lnTo>
                  <a:pt x="5440680" y="3871040"/>
                </a:lnTo>
                <a:lnTo>
                  <a:pt x="5440680" y="4328027"/>
                </a:lnTo>
                <a:lnTo>
                  <a:pt x="5440680" y="4831935"/>
                </a:lnTo>
                <a:lnTo>
                  <a:pt x="5440680" y="5436369"/>
                </a:lnTo>
                <a:cubicBezTo>
                  <a:pt x="5440680" y="5484201"/>
                  <a:pt x="5401904" y="5522977"/>
                  <a:pt x="5354072" y="5522977"/>
                </a:cubicBezTo>
                <a:lnTo>
                  <a:pt x="4542584" y="5522977"/>
                </a:lnTo>
                <a:lnTo>
                  <a:pt x="4245730" y="5522977"/>
                </a:lnTo>
                <a:lnTo>
                  <a:pt x="3921459" y="5522977"/>
                </a:lnTo>
                <a:lnTo>
                  <a:pt x="3434242" y="5522977"/>
                </a:lnTo>
                <a:lnTo>
                  <a:pt x="2822273" y="5522977"/>
                </a:lnTo>
                <a:lnTo>
                  <a:pt x="1985364" y="5522977"/>
                </a:lnTo>
                <a:lnTo>
                  <a:pt x="1713931" y="5522977"/>
                </a:lnTo>
                <a:lnTo>
                  <a:pt x="1519222" y="5522977"/>
                </a:lnTo>
                <a:lnTo>
                  <a:pt x="1194951" y="5522977"/>
                </a:lnTo>
                <a:lnTo>
                  <a:pt x="877022" y="5522977"/>
                </a:lnTo>
                <a:lnTo>
                  <a:pt x="86609" y="5522977"/>
                </a:lnTo>
                <a:cubicBezTo>
                  <a:pt x="38777" y="5522977"/>
                  <a:pt x="1" y="5484201"/>
                  <a:pt x="1" y="5436369"/>
                </a:cubicBezTo>
                <a:lnTo>
                  <a:pt x="1" y="4633927"/>
                </a:lnTo>
                <a:lnTo>
                  <a:pt x="0" y="4633927"/>
                </a:lnTo>
                <a:close/>
              </a:path>
            </a:pathLst>
          </a:custGeom>
          <a:solidFill>
            <a:srgbClr val="E4EEEF">
              <a:alpha val="30000"/>
            </a:srgbClr>
          </a:solidFill>
        </p:spPr>
        <p:txBody>
          <a:bodyPr wrap="square" rtlCol="0" anchor="ctr">
            <a:noAutofit/>
          </a:bodyPr>
          <a:lstStyle/>
          <a:p>
            <a:pPr lvl="0" algn="ctr"/>
            <a:endParaRPr lang="en-US">
              <a:solidFill>
                <a:schemeClr val="tx1"/>
              </a:solidFill>
            </a:endParaRPr>
          </a:p>
        </p:txBody>
      </p:sp>
      <p:sp>
        <p:nvSpPr>
          <p:cNvPr id="4" name="Footer Placeholder 4">
            <a:extLst>
              <a:ext uri="{FF2B5EF4-FFF2-40B4-BE49-F238E27FC236}">
                <a16:creationId xmlns:a16="http://schemas.microsoft.com/office/drawing/2014/main" id="{B79BE96B-F1CE-8952-EDBD-2A807D422A3B}"/>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2FB53BA5-9688-295F-A0EE-AB3D03D627CD}"/>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2" name="Text Placeholder 12">
            <a:extLst>
              <a:ext uri="{FF2B5EF4-FFF2-40B4-BE49-F238E27FC236}">
                <a16:creationId xmlns:a16="http://schemas.microsoft.com/office/drawing/2014/main" id="{B46B0998-2C60-B0C5-A781-04DFE997EC0B}"/>
              </a:ext>
            </a:extLst>
          </p:cNvPr>
          <p:cNvSpPr>
            <a:spLocks noGrp="1"/>
          </p:cNvSpPr>
          <p:nvPr>
            <p:ph type="body" sz="quarter" idx="11" hasCustomPrompt="1"/>
          </p:nvPr>
        </p:nvSpPr>
        <p:spPr>
          <a:xfrm>
            <a:off x="510790" y="451287"/>
            <a:ext cx="5383641"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 3 lines maximum, sentence case</a:t>
            </a:r>
          </a:p>
          <a:p>
            <a:pPr lvl="0"/>
            <a:endParaRPr lang="en-US"/>
          </a:p>
        </p:txBody>
      </p:sp>
      <p:sp>
        <p:nvSpPr>
          <p:cNvPr id="13" name="Text Placeholder 14">
            <a:extLst>
              <a:ext uri="{FF2B5EF4-FFF2-40B4-BE49-F238E27FC236}">
                <a16:creationId xmlns:a16="http://schemas.microsoft.com/office/drawing/2014/main" id="{0591E478-D857-6068-6D2E-3B7F591989C0}"/>
              </a:ext>
            </a:extLst>
          </p:cNvPr>
          <p:cNvSpPr>
            <a:spLocks noGrp="1"/>
          </p:cNvSpPr>
          <p:nvPr>
            <p:ph type="body" sz="quarter" idx="12" hasCustomPrompt="1"/>
          </p:nvPr>
        </p:nvSpPr>
        <p:spPr>
          <a:xfrm>
            <a:off x="510791" y="1904402"/>
            <a:ext cx="5383641"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14" name="Text Placeholder 16">
            <a:extLst>
              <a:ext uri="{FF2B5EF4-FFF2-40B4-BE49-F238E27FC236}">
                <a16:creationId xmlns:a16="http://schemas.microsoft.com/office/drawing/2014/main" id="{D4FACD1E-272A-E910-DA17-F322077F5DB2}"/>
              </a:ext>
            </a:extLst>
          </p:cNvPr>
          <p:cNvSpPr>
            <a:spLocks noGrp="1"/>
          </p:cNvSpPr>
          <p:nvPr>
            <p:ph type="body" sz="quarter" idx="13" hasCustomPrompt="1"/>
          </p:nvPr>
        </p:nvSpPr>
        <p:spPr>
          <a:xfrm>
            <a:off x="510790" y="2275948"/>
            <a:ext cx="5383641" cy="3755688"/>
          </a:xfrm>
        </p:spPr>
        <p:txBody>
          <a:bodyPr wrap="square">
            <a:noAutofit/>
          </a:bodyPr>
          <a:lstStyle/>
          <a:p>
            <a:pPr marL="233363" indent="-233363">
              <a:spcBef>
                <a:spcPts val="1200"/>
              </a:spcBef>
              <a:buFont typeface="+mj-lt"/>
              <a:buAutoNum type="arabicPeriod"/>
            </a:pPr>
            <a:r>
              <a:rPr lang="en-US">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latin typeface="Wallace Sans BETA Light" pitchFamily="2" charset="77"/>
                <a:cs typeface="Wallace Sans BETA Light" pitchFamily="2" charset="77"/>
              </a:rPr>
              <a:t>Decrease list level as needed to get back to desired indent level</a:t>
            </a:r>
          </a:p>
        </p:txBody>
      </p:sp>
      <p:sp>
        <p:nvSpPr>
          <p:cNvPr id="22" name="Text Placeholder 22">
            <a:extLst>
              <a:ext uri="{FF2B5EF4-FFF2-40B4-BE49-F238E27FC236}">
                <a16:creationId xmlns:a16="http://schemas.microsoft.com/office/drawing/2014/main" id="{B645EA3B-C411-3185-E9DE-834296F0CB66}"/>
              </a:ext>
            </a:extLst>
          </p:cNvPr>
          <p:cNvSpPr>
            <a:spLocks noGrp="1"/>
          </p:cNvSpPr>
          <p:nvPr>
            <p:ph type="body" sz="quarter" idx="33" hasCustomPrompt="1"/>
          </p:nvPr>
        </p:nvSpPr>
        <p:spPr>
          <a:xfrm>
            <a:off x="6430648" y="5668670"/>
            <a:ext cx="5029200"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24" name="Text Placeholder 22">
            <a:extLst>
              <a:ext uri="{FF2B5EF4-FFF2-40B4-BE49-F238E27FC236}">
                <a16:creationId xmlns:a16="http://schemas.microsoft.com/office/drawing/2014/main" id="{50A2150F-B96F-C10F-7847-70FBDCC83A58}"/>
              </a:ext>
            </a:extLst>
          </p:cNvPr>
          <p:cNvSpPr>
            <a:spLocks noGrp="1"/>
          </p:cNvSpPr>
          <p:nvPr>
            <p:ph type="body" sz="quarter" idx="34" hasCustomPrompt="1"/>
          </p:nvPr>
        </p:nvSpPr>
        <p:spPr>
          <a:xfrm>
            <a:off x="6430648" y="701715"/>
            <a:ext cx="5029200"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cxnSp>
        <p:nvCxnSpPr>
          <p:cNvPr id="2" name="Straight Connector 1">
            <a:extLst>
              <a:ext uri="{FF2B5EF4-FFF2-40B4-BE49-F238E27FC236}">
                <a16:creationId xmlns:a16="http://schemas.microsoft.com/office/drawing/2014/main" id="{A603F18F-1DC5-BF52-DC15-83141D404332}"/>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00179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ext + Tabl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5" name="Text Placeholder 14">
            <a:extLst>
              <a:ext uri="{FF2B5EF4-FFF2-40B4-BE49-F238E27FC236}">
                <a16:creationId xmlns:a16="http://schemas.microsoft.com/office/drawing/2014/main" id="{D155AF14-F1F7-EFDC-D2A6-4796C6E883CC}"/>
              </a:ext>
            </a:extLst>
          </p:cNvPr>
          <p:cNvSpPr>
            <a:spLocks noGrp="1"/>
          </p:cNvSpPr>
          <p:nvPr>
            <p:ph type="body" sz="quarter" idx="11" hasCustomPrompt="1"/>
          </p:nvPr>
        </p:nvSpPr>
        <p:spPr>
          <a:xfrm>
            <a:off x="510791" y="1904402"/>
            <a:ext cx="350139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3" name="Text Placeholder 22">
            <a:extLst>
              <a:ext uri="{FF2B5EF4-FFF2-40B4-BE49-F238E27FC236}">
                <a16:creationId xmlns:a16="http://schemas.microsoft.com/office/drawing/2014/main" id="{8F41E850-C0CD-B56E-5029-81A2311C4EF4}"/>
              </a:ext>
            </a:extLst>
          </p:cNvPr>
          <p:cNvSpPr>
            <a:spLocks noGrp="1"/>
          </p:cNvSpPr>
          <p:nvPr>
            <p:ph type="body" sz="quarter" idx="33" hasCustomPrompt="1"/>
          </p:nvPr>
        </p:nvSpPr>
        <p:spPr>
          <a:xfrm>
            <a:off x="517490" y="5968922"/>
            <a:ext cx="5062440"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12" name="Table Placeholder 11">
            <a:extLst>
              <a:ext uri="{FF2B5EF4-FFF2-40B4-BE49-F238E27FC236}">
                <a16:creationId xmlns:a16="http://schemas.microsoft.com/office/drawing/2014/main" id="{AF1A6832-BF37-2547-4E70-44C140740D4A}"/>
              </a:ext>
            </a:extLst>
          </p:cNvPr>
          <p:cNvSpPr>
            <a:spLocks noGrp="1"/>
          </p:cNvSpPr>
          <p:nvPr>
            <p:ph type="tbl" sz="quarter" idx="34"/>
          </p:nvPr>
        </p:nvSpPr>
        <p:spPr>
          <a:xfrm>
            <a:off x="517489" y="2545330"/>
            <a:ext cx="11158571" cy="3066076"/>
          </a:xfrm>
        </p:spPr>
        <p:txBody>
          <a:bodyPr/>
          <a:lstStyle/>
          <a:p>
            <a:r>
              <a:rPr lang="en-US"/>
              <a:t>Click icon to add table</a:t>
            </a:r>
          </a:p>
        </p:txBody>
      </p:sp>
      <p:sp>
        <p:nvSpPr>
          <p:cNvPr id="18" name="Text Placeholder 12">
            <a:extLst>
              <a:ext uri="{FF2B5EF4-FFF2-40B4-BE49-F238E27FC236}">
                <a16:creationId xmlns:a16="http://schemas.microsoft.com/office/drawing/2014/main" id="{E5A334DD-A463-6259-F804-7EAB0979FF63}"/>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C4F737F0-00D7-2DA2-2A51-4D20AA7F8A3C}"/>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462651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ext + Table (1 column text, 1 table)">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1" y="451287"/>
            <a:ext cx="5394960"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 3 lines maximum, sentence case</a:t>
            </a:r>
          </a:p>
          <a:p>
            <a:pPr lvl="0"/>
            <a:endParaRPr lang="en-US"/>
          </a:p>
        </p:txBody>
      </p:sp>
      <p:sp>
        <p:nvSpPr>
          <p:cNvPr id="3" name="Text Placeholder 22">
            <a:extLst>
              <a:ext uri="{FF2B5EF4-FFF2-40B4-BE49-F238E27FC236}">
                <a16:creationId xmlns:a16="http://schemas.microsoft.com/office/drawing/2014/main" id="{8F41E850-C0CD-B56E-5029-81A2311C4EF4}"/>
              </a:ext>
            </a:extLst>
          </p:cNvPr>
          <p:cNvSpPr>
            <a:spLocks noGrp="1"/>
          </p:cNvSpPr>
          <p:nvPr>
            <p:ph type="body" sz="quarter" idx="33" hasCustomPrompt="1"/>
          </p:nvPr>
        </p:nvSpPr>
        <p:spPr>
          <a:xfrm>
            <a:off x="6264397" y="5880637"/>
            <a:ext cx="5411665"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12" name="Table Placeholder 11">
            <a:extLst>
              <a:ext uri="{FF2B5EF4-FFF2-40B4-BE49-F238E27FC236}">
                <a16:creationId xmlns:a16="http://schemas.microsoft.com/office/drawing/2014/main" id="{AF1A6832-BF37-2547-4E70-44C140740D4A}"/>
              </a:ext>
            </a:extLst>
          </p:cNvPr>
          <p:cNvSpPr>
            <a:spLocks noGrp="1"/>
          </p:cNvSpPr>
          <p:nvPr>
            <p:ph type="tbl" sz="quarter" idx="34"/>
          </p:nvPr>
        </p:nvSpPr>
        <p:spPr>
          <a:xfrm>
            <a:off x="6264394" y="451288"/>
            <a:ext cx="5411666" cy="5429350"/>
          </a:xfrm>
        </p:spPr>
        <p:txBody>
          <a:bodyPr/>
          <a:lstStyle/>
          <a:p>
            <a:r>
              <a:rPr lang="en-US"/>
              <a:t>Click icon to add table</a:t>
            </a:r>
          </a:p>
        </p:txBody>
      </p:sp>
      <p:sp>
        <p:nvSpPr>
          <p:cNvPr id="2" name="Text Placeholder 14">
            <a:extLst>
              <a:ext uri="{FF2B5EF4-FFF2-40B4-BE49-F238E27FC236}">
                <a16:creationId xmlns:a16="http://schemas.microsoft.com/office/drawing/2014/main" id="{5DABC21F-5C53-0E98-F9CA-D80E5D7040E8}"/>
              </a:ext>
            </a:extLst>
          </p:cNvPr>
          <p:cNvSpPr>
            <a:spLocks noGrp="1"/>
          </p:cNvSpPr>
          <p:nvPr>
            <p:ph type="body" sz="quarter" idx="11" hasCustomPrompt="1"/>
          </p:nvPr>
        </p:nvSpPr>
        <p:spPr>
          <a:xfrm>
            <a:off x="510791" y="1904402"/>
            <a:ext cx="5394960" cy="276999"/>
          </a:xfrm>
        </p:spPr>
        <p:txBody>
          <a:bodyPr wrap="square">
            <a:spAutoFit/>
          </a:bodyPr>
          <a:lstStyle>
            <a:lvl1pPr marL="0" marR="0" indent="0" algn="l" defTabSz="914400" rtl="0" eaLnBrk="1" fontAlgn="auto" latinLnBrk="0" hangingPunct="1">
              <a:spcBef>
                <a:spcPts val="600"/>
              </a:spcBef>
              <a:spcAft>
                <a:spcPts val="0"/>
              </a:spcAft>
              <a:buClrTx/>
              <a:buSzTx/>
              <a:buFont typeface="Abbott Wallace Sans Light" pitchFamily="50" charset="0"/>
              <a:buNone/>
              <a:tabLst/>
              <a:defRPr lang="en-US" sz="1800" kern="900" dirty="0" smtClean="0">
                <a:solidFill>
                  <a:schemeClr val="tx1"/>
                </a:solidFill>
                <a:latin typeface="Wallace Sans BETA" pitchFamily="2" charset="77"/>
                <a:ea typeface="+mn-ea"/>
                <a:cs typeface="Wallace Sans BETA" pitchFamily="2" charset="77"/>
              </a:defRPr>
            </a:lvl1pPr>
          </a:lstStyle>
          <a:p>
            <a:pPr lvl="0"/>
            <a:r>
              <a:rPr lang="en-US"/>
              <a:t>Subhead 18 pt size, 1 line only</a:t>
            </a:r>
          </a:p>
        </p:txBody>
      </p:sp>
      <p:sp>
        <p:nvSpPr>
          <p:cNvPr id="4" name="Text Placeholder 16">
            <a:extLst>
              <a:ext uri="{FF2B5EF4-FFF2-40B4-BE49-F238E27FC236}">
                <a16:creationId xmlns:a16="http://schemas.microsoft.com/office/drawing/2014/main" id="{ABC327D3-FDC4-79C8-4461-56BFFCC00B60}"/>
              </a:ext>
            </a:extLst>
          </p:cNvPr>
          <p:cNvSpPr>
            <a:spLocks noGrp="1"/>
          </p:cNvSpPr>
          <p:nvPr>
            <p:ph type="body" sz="quarter" idx="12" hasCustomPrompt="1"/>
          </p:nvPr>
        </p:nvSpPr>
        <p:spPr>
          <a:xfrm>
            <a:off x="510790" y="2275948"/>
            <a:ext cx="5394960" cy="3604689"/>
          </a:xfrm>
        </p:spPr>
        <p:txBody>
          <a:bodyPr wrap="square">
            <a:noAutofit/>
          </a:body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Increase list 1 level for bulleted copy;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Decrease list level as needed to get back to desired indent level</a:t>
            </a:r>
          </a:p>
        </p:txBody>
      </p:sp>
      <p:cxnSp>
        <p:nvCxnSpPr>
          <p:cNvPr id="5" name="Straight Connector 4">
            <a:extLst>
              <a:ext uri="{FF2B5EF4-FFF2-40B4-BE49-F238E27FC236}">
                <a16:creationId xmlns:a16="http://schemas.microsoft.com/office/drawing/2014/main" id="{D2E069F3-BD2F-6146-534F-71AEF33EBEE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896902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 Text + Graph (2)">
    <p:bg>
      <p:bgPr>
        <a:solidFill>
          <a:schemeClr val="bg1"/>
        </a:solidFill>
        <a:effectLst/>
      </p:bgPr>
    </p:bg>
    <p:spTree>
      <p:nvGrpSpPr>
        <p:cNvPr id="1" name=""/>
        <p:cNvGrpSpPr/>
        <p:nvPr/>
      </p:nvGrpSpPr>
      <p:grpSpPr>
        <a:xfrm>
          <a:off x="0" y="0"/>
          <a:ext cx="0" cy="0"/>
          <a:chOff x="0" y="0"/>
          <a:chExt cx="0" cy="0"/>
        </a:xfrm>
      </p:grpSpPr>
      <p:sp>
        <p:nvSpPr>
          <p:cNvPr id="46" name="Freeform 45">
            <a:extLst>
              <a:ext uri="{FF2B5EF4-FFF2-40B4-BE49-F238E27FC236}">
                <a16:creationId xmlns:a16="http://schemas.microsoft.com/office/drawing/2014/main" id="{05C71DBF-F0A7-BB33-12C8-8B51A151ACC7}"/>
              </a:ext>
            </a:extLst>
          </p:cNvPr>
          <p:cNvSpPr/>
          <p:nvPr userDrawn="1"/>
        </p:nvSpPr>
        <p:spPr>
          <a:xfrm>
            <a:off x="517490" y="1873659"/>
            <a:ext cx="11155678" cy="4143844"/>
          </a:xfrm>
          <a:custGeom>
            <a:avLst/>
            <a:gdLst>
              <a:gd name="connsiteX0" fmla="*/ 0 w 11155678"/>
              <a:gd name="connsiteY0" fmla="*/ 0 h 4143844"/>
              <a:gd name="connsiteX1" fmla="*/ 10598186 w 11155678"/>
              <a:gd name="connsiteY1" fmla="*/ 0 h 4143844"/>
              <a:gd name="connsiteX2" fmla="*/ 10598186 w 11155678"/>
              <a:gd name="connsiteY2" fmla="*/ 1 h 4143844"/>
              <a:gd name="connsiteX3" fmla="*/ 11069070 w 11155678"/>
              <a:gd name="connsiteY3" fmla="*/ 1 h 4143844"/>
              <a:gd name="connsiteX4" fmla="*/ 11155678 w 11155678"/>
              <a:gd name="connsiteY4" fmla="*/ 86609 h 4143844"/>
              <a:gd name="connsiteX5" fmla="*/ 11155678 w 11155678"/>
              <a:gd name="connsiteY5" fmla="*/ 757465 h 4143844"/>
              <a:gd name="connsiteX6" fmla="*/ 11155678 w 11155678"/>
              <a:gd name="connsiteY6" fmla="*/ 1194951 h 4143844"/>
              <a:gd name="connsiteX7" fmla="*/ 11155678 w 11155678"/>
              <a:gd name="connsiteY7" fmla="*/ 1371828 h 4143844"/>
              <a:gd name="connsiteX8" fmla="*/ 11155678 w 11155678"/>
              <a:gd name="connsiteY8" fmla="*/ 1865807 h 4143844"/>
              <a:gd name="connsiteX9" fmla="*/ 11155678 w 11155678"/>
              <a:gd name="connsiteY9" fmla="*/ 1900465 h 4143844"/>
              <a:gd name="connsiteX10" fmla="*/ 11155678 w 11155678"/>
              <a:gd name="connsiteY10" fmla="*/ 2463119 h 4143844"/>
              <a:gd name="connsiteX11" fmla="*/ 11155678 w 11155678"/>
              <a:gd name="connsiteY11" fmla="*/ 2480170 h 4143844"/>
              <a:gd name="connsiteX12" fmla="*/ 11155678 w 11155678"/>
              <a:gd name="connsiteY12" fmla="*/ 2948894 h 4143844"/>
              <a:gd name="connsiteX13" fmla="*/ 11155678 w 11155678"/>
              <a:gd name="connsiteY13" fmla="*/ 3008807 h 4143844"/>
              <a:gd name="connsiteX14" fmla="*/ 11155678 w 11155678"/>
              <a:gd name="connsiteY14" fmla="*/ 3571461 h 4143844"/>
              <a:gd name="connsiteX15" fmla="*/ 11155678 w 11155678"/>
              <a:gd name="connsiteY15" fmla="*/ 4057236 h 4143844"/>
              <a:gd name="connsiteX16" fmla="*/ 11069070 w 11155678"/>
              <a:gd name="connsiteY16" fmla="*/ 4143844 h 4143844"/>
              <a:gd name="connsiteX17" fmla="*/ 10211818 w 11155678"/>
              <a:gd name="connsiteY17" fmla="*/ 4143844 h 4143844"/>
              <a:gd name="connsiteX18" fmla="*/ 9960726 w 11155678"/>
              <a:gd name="connsiteY18" fmla="*/ 4143844 h 4143844"/>
              <a:gd name="connsiteX19" fmla="*/ 9254558 w 11155678"/>
              <a:gd name="connsiteY19" fmla="*/ 4143844 h 4143844"/>
              <a:gd name="connsiteX20" fmla="*/ 9103478 w 11155678"/>
              <a:gd name="connsiteY20" fmla="*/ 4143844 h 4143844"/>
              <a:gd name="connsiteX21" fmla="*/ 8983094 w 11155678"/>
              <a:gd name="connsiteY21" fmla="*/ 4143844 h 4143844"/>
              <a:gd name="connsiteX22" fmla="*/ 8497320 w 11155678"/>
              <a:gd name="connsiteY22" fmla="*/ 4143844 h 4143844"/>
              <a:gd name="connsiteX23" fmla="*/ 8146214 w 11155678"/>
              <a:gd name="connsiteY23" fmla="*/ 4143844 h 4143844"/>
              <a:gd name="connsiteX24" fmla="*/ 7874754 w 11155678"/>
              <a:gd name="connsiteY24" fmla="*/ 4143844 h 4143844"/>
              <a:gd name="connsiteX25" fmla="*/ 7725794 w 11155678"/>
              <a:gd name="connsiteY25" fmla="*/ 4143844 h 4143844"/>
              <a:gd name="connsiteX26" fmla="*/ 7388978 w 11155678"/>
              <a:gd name="connsiteY26" fmla="*/ 4143844 h 4143844"/>
              <a:gd name="connsiteX27" fmla="*/ 7025706 w 11155678"/>
              <a:gd name="connsiteY27" fmla="*/ 4143844 h 4143844"/>
              <a:gd name="connsiteX28" fmla="*/ 6617454 w 11155678"/>
              <a:gd name="connsiteY28" fmla="*/ 4143844 h 4143844"/>
              <a:gd name="connsiteX29" fmla="*/ 6411344 w 11155678"/>
              <a:gd name="connsiteY29" fmla="*/ 4143844 h 4143844"/>
              <a:gd name="connsiteX30" fmla="*/ 5917366 w 11155678"/>
              <a:gd name="connsiteY30" fmla="*/ 4143844 h 4143844"/>
              <a:gd name="connsiteX31" fmla="*/ 5639818 w 11155678"/>
              <a:gd name="connsiteY31" fmla="*/ 4143844 h 4143844"/>
              <a:gd name="connsiteX32" fmla="*/ 5303002 w 11155678"/>
              <a:gd name="connsiteY32" fmla="*/ 4143844 h 4143844"/>
              <a:gd name="connsiteX33" fmla="*/ 4909702 w 11155678"/>
              <a:gd name="connsiteY33" fmla="*/ 4143844 h 4143844"/>
              <a:gd name="connsiteX34" fmla="*/ 4531478 w 11155678"/>
              <a:gd name="connsiteY34" fmla="*/ 4143844 h 4143844"/>
              <a:gd name="connsiteX35" fmla="*/ 4095314 w 11155678"/>
              <a:gd name="connsiteY35" fmla="*/ 4143844 h 4143844"/>
              <a:gd name="connsiteX36" fmla="*/ 3801358 w 11155678"/>
              <a:gd name="connsiteY36" fmla="*/ 4143844 h 4143844"/>
              <a:gd name="connsiteX37" fmla="*/ 3695262 w 11155678"/>
              <a:gd name="connsiteY37" fmla="*/ 4143844 h 4143844"/>
              <a:gd name="connsiteX38" fmla="*/ 3038038 w 11155678"/>
              <a:gd name="connsiteY38" fmla="*/ 4143844 h 4143844"/>
              <a:gd name="connsiteX39" fmla="*/ 2986970 w 11155678"/>
              <a:gd name="connsiteY39" fmla="*/ 4143844 h 4143844"/>
              <a:gd name="connsiteX40" fmla="*/ 2586922 w 11155678"/>
              <a:gd name="connsiteY40" fmla="*/ 4143844 h 4143844"/>
              <a:gd name="connsiteX41" fmla="*/ 2537976 w 11155678"/>
              <a:gd name="connsiteY41" fmla="*/ 4143844 h 4143844"/>
              <a:gd name="connsiteX42" fmla="*/ 2023626 w 11155678"/>
              <a:gd name="connsiteY42" fmla="*/ 4143844 h 4143844"/>
              <a:gd name="connsiteX43" fmla="*/ 1929696 w 11155678"/>
              <a:gd name="connsiteY43" fmla="*/ 4143844 h 4143844"/>
              <a:gd name="connsiteX44" fmla="*/ 1429634 w 11155678"/>
              <a:gd name="connsiteY44" fmla="*/ 4143844 h 4143844"/>
              <a:gd name="connsiteX45" fmla="*/ 1194950 w 11155678"/>
              <a:gd name="connsiteY45" fmla="*/ 4143844 h 4143844"/>
              <a:gd name="connsiteX46" fmla="*/ 915284 w 11155678"/>
              <a:gd name="connsiteY46" fmla="*/ 4143844 h 4143844"/>
              <a:gd name="connsiteX47" fmla="*/ 86609 w 11155678"/>
              <a:gd name="connsiteY47" fmla="*/ 4143844 h 4143844"/>
              <a:gd name="connsiteX48" fmla="*/ 1 w 11155678"/>
              <a:gd name="connsiteY48" fmla="*/ 4057236 h 4143844"/>
              <a:gd name="connsiteX49" fmla="*/ 1 w 11155678"/>
              <a:gd name="connsiteY49" fmla="*/ 3394459 h 4143844"/>
              <a:gd name="connsiteX50" fmla="*/ 0 w 11155678"/>
              <a:gd name="connsiteY50" fmla="*/ 3394459 h 4143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1155678" h="4143844">
                <a:moveTo>
                  <a:pt x="0" y="0"/>
                </a:moveTo>
                <a:lnTo>
                  <a:pt x="10598186" y="0"/>
                </a:lnTo>
                <a:lnTo>
                  <a:pt x="10598186" y="1"/>
                </a:lnTo>
                <a:lnTo>
                  <a:pt x="11069070" y="1"/>
                </a:lnTo>
                <a:cubicBezTo>
                  <a:pt x="11116902" y="1"/>
                  <a:pt x="11155678" y="38777"/>
                  <a:pt x="11155678" y="86609"/>
                </a:cubicBezTo>
                <a:lnTo>
                  <a:pt x="11155678" y="757465"/>
                </a:lnTo>
                <a:lnTo>
                  <a:pt x="11155678" y="1194951"/>
                </a:lnTo>
                <a:lnTo>
                  <a:pt x="11155678" y="1371828"/>
                </a:lnTo>
                <a:lnTo>
                  <a:pt x="11155678" y="1865807"/>
                </a:lnTo>
                <a:lnTo>
                  <a:pt x="11155678" y="1900465"/>
                </a:lnTo>
                <a:lnTo>
                  <a:pt x="11155678" y="2463119"/>
                </a:lnTo>
                <a:lnTo>
                  <a:pt x="11155678" y="2480170"/>
                </a:lnTo>
                <a:lnTo>
                  <a:pt x="11155678" y="2948894"/>
                </a:lnTo>
                <a:lnTo>
                  <a:pt x="11155678" y="3008807"/>
                </a:lnTo>
                <a:lnTo>
                  <a:pt x="11155678" y="3571461"/>
                </a:lnTo>
                <a:lnTo>
                  <a:pt x="11155678" y="4057236"/>
                </a:lnTo>
                <a:cubicBezTo>
                  <a:pt x="11155678" y="4105068"/>
                  <a:pt x="11116902" y="4143844"/>
                  <a:pt x="11069070" y="4143844"/>
                </a:cubicBezTo>
                <a:lnTo>
                  <a:pt x="10211818" y="4143844"/>
                </a:lnTo>
                <a:lnTo>
                  <a:pt x="9960726" y="4143844"/>
                </a:lnTo>
                <a:lnTo>
                  <a:pt x="9254558" y="4143844"/>
                </a:lnTo>
                <a:lnTo>
                  <a:pt x="9103478" y="4143844"/>
                </a:lnTo>
                <a:lnTo>
                  <a:pt x="8983094" y="4143844"/>
                </a:lnTo>
                <a:lnTo>
                  <a:pt x="8497320" y="4143844"/>
                </a:lnTo>
                <a:lnTo>
                  <a:pt x="8146214" y="4143844"/>
                </a:lnTo>
                <a:lnTo>
                  <a:pt x="7874754" y="4143844"/>
                </a:lnTo>
                <a:lnTo>
                  <a:pt x="7725794" y="4143844"/>
                </a:lnTo>
                <a:lnTo>
                  <a:pt x="7388978" y="4143844"/>
                </a:lnTo>
                <a:lnTo>
                  <a:pt x="7025706" y="4143844"/>
                </a:lnTo>
                <a:lnTo>
                  <a:pt x="6617454" y="4143844"/>
                </a:lnTo>
                <a:lnTo>
                  <a:pt x="6411344" y="4143844"/>
                </a:lnTo>
                <a:lnTo>
                  <a:pt x="5917366" y="4143844"/>
                </a:lnTo>
                <a:lnTo>
                  <a:pt x="5639818" y="4143844"/>
                </a:lnTo>
                <a:lnTo>
                  <a:pt x="5303002" y="4143844"/>
                </a:lnTo>
                <a:lnTo>
                  <a:pt x="4909702" y="4143844"/>
                </a:lnTo>
                <a:lnTo>
                  <a:pt x="4531478" y="4143844"/>
                </a:lnTo>
                <a:lnTo>
                  <a:pt x="4095314" y="4143844"/>
                </a:lnTo>
                <a:lnTo>
                  <a:pt x="3801358" y="4143844"/>
                </a:lnTo>
                <a:lnTo>
                  <a:pt x="3695262" y="4143844"/>
                </a:lnTo>
                <a:lnTo>
                  <a:pt x="3038038" y="4143844"/>
                </a:lnTo>
                <a:lnTo>
                  <a:pt x="2986970" y="4143844"/>
                </a:lnTo>
                <a:lnTo>
                  <a:pt x="2586922" y="4143844"/>
                </a:lnTo>
                <a:lnTo>
                  <a:pt x="2537976" y="4143844"/>
                </a:lnTo>
                <a:lnTo>
                  <a:pt x="2023626" y="4143844"/>
                </a:lnTo>
                <a:lnTo>
                  <a:pt x="1929696" y="4143844"/>
                </a:lnTo>
                <a:lnTo>
                  <a:pt x="1429634" y="4143844"/>
                </a:lnTo>
                <a:lnTo>
                  <a:pt x="1194950" y="4143844"/>
                </a:lnTo>
                <a:lnTo>
                  <a:pt x="915284" y="4143844"/>
                </a:lnTo>
                <a:lnTo>
                  <a:pt x="86609" y="4143844"/>
                </a:lnTo>
                <a:cubicBezTo>
                  <a:pt x="38777" y="4143844"/>
                  <a:pt x="1" y="4105068"/>
                  <a:pt x="1" y="4057236"/>
                </a:cubicBezTo>
                <a:lnTo>
                  <a:pt x="1" y="3394459"/>
                </a:lnTo>
                <a:lnTo>
                  <a:pt x="0" y="3394459"/>
                </a:lnTo>
                <a:close/>
              </a:path>
            </a:pathLst>
          </a:custGeom>
          <a:solidFill>
            <a:srgbClr val="E4EEEF">
              <a:alpha val="30000"/>
            </a:srgbClr>
          </a:solidFill>
        </p:spPr>
        <p:txBody>
          <a:bodyPr vert="horz" wrap="square" lIns="0" tIns="0" rIns="0" bIns="0" rtlCol="0">
            <a:noAutofit/>
          </a:bodyPr>
          <a:lstStyle/>
          <a:p>
            <a:pPr marR="0" lvl="0" indent="0" fontAlgn="auto">
              <a:lnSpc>
                <a:spcPct val="100000"/>
              </a:lnSpc>
              <a:spcBef>
                <a:spcPts val="600"/>
              </a:spcBef>
              <a:spcAft>
                <a:spcPts val="0"/>
              </a:spcAft>
              <a:buClrTx/>
              <a:buSzTx/>
              <a:buFont typeface="Abbott Wallace Sans Light" pitchFamily="50" charset="0"/>
              <a:buNone/>
              <a:tabLst/>
            </a:pPr>
            <a:endParaRPr lang="en-US" sz="1600">
              <a:solidFill>
                <a:schemeClr val="tx1"/>
              </a:solidFill>
              <a:latin typeface="+mj-lt"/>
            </a:endParaRPr>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34" name="Text Placeholder 16">
            <a:extLst>
              <a:ext uri="{FF2B5EF4-FFF2-40B4-BE49-F238E27FC236}">
                <a16:creationId xmlns:a16="http://schemas.microsoft.com/office/drawing/2014/main" id="{F05B6F2E-B07B-438E-226A-63B1B3A4263D}"/>
              </a:ext>
            </a:extLst>
          </p:cNvPr>
          <p:cNvSpPr>
            <a:spLocks noGrp="1"/>
          </p:cNvSpPr>
          <p:nvPr>
            <p:ph type="body" sz="quarter" idx="31" hasCustomPrompt="1"/>
          </p:nvPr>
        </p:nvSpPr>
        <p:spPr>
          <a:xfrm>
            <a:off x="728541" y="2065067"/>
            <a:ext cx="5432810" cy="487313"/>
          </a:xfrm>
        </p:spPr>
        <p:txBody>
          <a:bodyPr wrap="square">
            <a:spAutoFit/>
          </a:bodyPr>
          <a:lstStyle>
            <a:lvl1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1pPr>
            <a:lvl2pPr marL="0" marR="0" indent="0" algn="l" defTabSz="914400" rtl="0" eaLnBrk="1" fontAlgn="auto" latinLnBrk="0" hangingPunct="1">
              <a:lnSpc>
                <a:spcPts val="1900"/>
              </a:lnSpc>
              <a:spcBef>
                <a:spcPts val="0"/>
              </a:spcBef>
              <a:spcAft>
                <a:spcPts val="0"/>
              </a:spcAft>
              <a:buClrTx/>
              <a:buSzTx/>
              <a:buFont typeface="Arial" panose="020B0604020202020204" pitchFamily="34" charset="0"/>
              <a:buNone/>
              <a:tabLst/>
              <a:defRPr lang="en-US" sz="1400" b="0" i="0" kern="100" spc="0" baseline="0" dirty="0">
                <a:solidFill>
                  <a:schemeClr val="tx1"/>
                </a:solidFill>
                <a:latin typeface="Wallace Sans BETA Light" pitchFamily="2" charset="77"/>
                <a:ea typeface="+mn-ea"/>
                <a:cs typeface="Wallace Sans BETA Light" pitchFamily="2" charset="77"/>
              </a:defRPr>
            </a:lvl2pPr>
          </a:lstStyle>
          <a:p>
            <a:pPr>
              <a:lnSpc>
                <a:spcPts val="1900"/>
              </a:lnSpc>
            </a:pPr>
            <a:r>
              <a:rPr lang="en-IN" sz="1400" spc="0">
                <a:latin typeface="Wallace Sans BETA Light" pitchFamily="2" charset="77"/>
                <a:cs typeface="Wallace Sans BETA Light" pitchFamily="2" charset="77"/>
              </a:rPr>
              <a:t>Body copy in Wallace Sans, size 14 pt, </a:t>
            </a:r>
          </a:p>
          <a:p>
            <a:pPr>
              <a:lnSpc>
                <a:spcPts val="1900"/>
              </a:lnSpc>
            </a:pPr>
            <a:r>
              <a:rPr lang="en-IN" sz="1400" spc="0">
                <a:latin typeface="Wallace Sans BETA Light" pitchFamily="2" charset="77"/>
                <a:cs typeface="Wallace Sans BETA Light" pitchFamily="2" charset="77"/>
              </a:rPr>
              <a:t>Lorem ipsum </a:t>
            </a:r>
            <a:r>
              <a:rPr lang="en-IN" sz="1400" spc="0" err="1">
                <a:latin typeface="Wallace Sans BETA Light" pitchFamily="2" charset="77"/>
                <a:cs typeface="Wallace Sans BETA Light" pitchFamily="2" charset="77"/>
              </a:rPr>
              <a:t>dolor</a:t>
            </a:r>
            <a:r>
              <a:rPr lang="en-IN" sz="1400" spc="0">
                <a:latin typeface="Wallace Sans BETA Light" pitchFamily="2" charset="77"/>
                <a:cs typeface="Wallace Sans BETA Light" pitchFamily="2" charset="77"/>
              </a:rPr>
              <a:t> sit </a:t>
            </a:r>
            <a:r>
              <a:rPr lang="en-IN" sz="1400" spc="0" err="1">
                <a:latin typeface="Wallace Sans BETA Light" pitchFamily="2" charset="77"/>
                <a:cs typeface="Wallace Sans BETA Light" pitchFamily="2" charset="77"/>
              </a:rPr>
              <a:t>amet</a:t>
            </a:r>
            <a:r>
              <a:rPr lang="en-IN" sz="1400" spc="0">
                <a:latin typeface="Wallace Sans BETA Light" pitchFamily="2" charset="77"/>
                <a:cs typeface="Wallace Sans BETA Light" pitchFamily="2" charset="77"/>
              </a:rPr>
              <a:t>, </a:t>
            </a:r>
            <a:r>
              <a:rPr lang="en-IN" sz="1400" spc="0" err="1">
                <a:latin typeface="Wallace Sans BETA Light" pitchFamily="2" charset="77"/>
                <a:cs typeface="Wallace Sans BETA Light" pitchFamily="2" charset="77"/>
              </a:rPr>
              <a:t>consectetuer</a:t>
            </a:r>
            <a:r>
              <a:rPr lang="en-IN" sz="1400" spc="0">
                <a:latin typeface="Wallace Sans BETA Light" pitchFamily="2" charset="77"/>
                <a:cs typeface="Wallace Sans BETA Light" pitchFamily="2" charset="77"/>
              </a:rPr>
              <a:t>.</a:t>
            </a: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8541" y="5684446"/>
            <a:ext cx="5127321" cy="138499"/>
          </a:xfrm>
        </p:spPr>
        <p:txBody>
          <a:bodyPr wrap="square">
            <a:spAutoFit/>
          </a:bodyPr>
          <a:lstStyle>
            <a:lvl1pPr>
              <a:defRPr sz="900"/>
            </a:lvl1pPr>
            <a:lvl2pPr>
              <a:defRPr sz="900"/>
            </a:lvl2pPr>
            <a:lvl3pPr>
              <a:defRPr sz="900"/>
            </a:lvl3pPr>
            <a:lvl4pPr>
              <a:defRPr sz="900"/>
            </a:lvl4pPr>
            <a:lvl5pPr>
              <a:defRPr sz="900"/>
            </a:lvl5pPr>
          </a:lstStyle>
          <a:p>
            <a:pPr lvl="0"/>
            <a:r>
              <a:rPr lang="en-US"/>
              <a:t>Citation in Wallace Sans Light, 9 pt size, 1 line max </a:t>
            </a:r>
          </a:p>
        </p:txBody>
      </p:sp>
      <p:sp>
        <p:nvSpPr>
          <p:cNvPr id="8" name="Text Placeholder 12">
            <a:extLst>
              <a:ext uri="{FF2B5EF4-FFF2-40B4-BE49-F238E27FC236}">
                <a16:creationId xmlns:a16="http://schemas.microsoft.com/office/drawing/2014/main" id="{EFFB0596-ACFE-210E-2FCB-C1DA7C950336}"/>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cxnSp>
        <p:nvCxnSpPr>
          <p:cNvPr id="2" name="Straight Connector 1">
            <a:extLst>
              <a:ext uri="{FF2B5EF4-FFF2-40B4-BE49-F238E27FC236}">
                <a16:creationId xmlns:a16="http://schemas.microsoft.com/office/drawing/2014/main" id="{1B289093-1280-2F71-6162-EEA29D1CD107}"/>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3917357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 Text + Graph (2 cells)">
    <p:bg>
      <p:bgPr>
        <a:solidFill>
          <a:schemeClr val="bg1"/>
        </a:solidFill>
        <a:effectLst/>
      </p:bgPr>
    </p:bg>
    <p:spTree>
      <p:nvGrpSpPr>
        <p:cNvPr id="1" name=""/>
        <p:cNvGrpSpPr/>
        <p:nvPr/>
      </p:nvGrpSpPr>
      <p:grpSpPr>
        <a:xfrm>
          <a:off x="0" y="0"/>
          <a:ext cx="0" cy="0"/>
          <a:chOff x="0" y="0"/>
          <a:chExt cx="0" cy="0"/>
        </a:xfrm>
      </p:grpSpPr>
      <p:sp>
        <p:nvSpPr>
          <p:cNvPr id="33" name="Freeform 32">
            <a:extLst>
              <a:ext uri="{FF2B5EF4-FFF2-40B4-BE49-F238E27FC236}">
                <a16:creationId xmlns:a16="http://schemas.microsoft.com/office/drawing/2014/main" id="{6BA68D5D-66D4-BE12-F7F2-285DF9455EF8}"/>
              </a:ext>
            </a:extLst>
          </p:cNvPr>
          <p:cNvSpPr/>
          <p:nvPr userDrawn="1"/>
        </p:nvSpPr>
        <p:spPr>
          <a:xfrm>
            <a:off x="517491" y="1937856"/>
            <a:ext cx="5411663" cy="4075236"/>
          </a:xfrm>
          <a:custGeom>
            <a:avLst/>
            <a:gdLst>
              <a:gd name="connsiteX0" fmla="*/ 1 w 5411663"/>
              <a:gd name="connsiteY0" fmla="*/ 0 h 4075236"/>
              <a:gd name="connsiteX1" fmla="*/ 4216713 w 5411663"/>
              <a:gd name="connsiteY1" fmla="*/ 0 h 4075236"/>
              <a:gd name="connsiteX2" fmla="*/ 4756874 w 5411663"/>
              <a:gd name="connsiteY2" fmla="*/ 0 h 4075236"/>
              <a:gd name="connsiteX3" fmla="*/ 5325055 w 5411663"/>
              <a:gd name="connsiteY3" fmla="*/ 0 h 4075236"/>
              <a:gd name="connsiteX4" fmla="*/ 5411663 w 5411663"/>
              <a:gd name="connsiteY4" fmla="*/ 86608 h 4075236"/>
              <a:gd name="connsiteX5" fmla="*/ 5411663 w 5411663"/>
              <a:gd name="connsiteY5" fmla="*/ 934747 h 4075236"/>
              <a:gd name="connsiteX6" fmla="*/ 5411663 w 5411663"/>
              <a:gd name="connsiteY6" fmla="*/ 1194950 h 4075236"/>
              <a:gd name="connsiteX7" fmla="*/ 5411663 w 5411663"/>
              <a:gd name="connsiteY7" fmla="*/ 1544347 h 4075236"/>
              <a:gd name="connsiteX8" fmla="*/ 5411663 w 5411663"/>
              <a:gd name="connsiteY8" fmla="*/ 1703373 h 4075236"/>
              <a:gd name="connsiteX9" fmla="*/ 5411663 w 5411663"/>
              <a:gd name="connsiteY9" fmla="*/ 2043089 h 4075236"/>
              <a:gd name="connsiteX10" fmla="*/ 5411663 w 5411663"/>
              <a:gd name="connsiteY10" fmla="*/ 2652689 h 4075236"/>
              <a:gd name="connsiteX11" fmla="*/ 5411663 w 5411663"/>
              <a:gd name="connsiteY11" fmla="*/ 2811715 h 4075236"/>
              <a:gd name="connsiteX12" fmla="*/ 5404857 w 5411663"/>
              <a:gd name="connsiteY12" fmla="*/ 2845427 h 4075236"/>
              <a:gd name="connsiteX13" fmla="*/ 5404470 w 5411663"/>
              <a:gd name="connsiteY13" fmla="*/ 2846001 h 4075236"/>
              <a:gd name="connsiteX14" fmla="*/ 5404857 w 5411663"/>
              <a:gd name="connsiteY14" fmla="*/ 2846574 h 4075236"/>
              <a:gd name="connsiteX15" fmla="*/ 5411663 w 5411663"/>
              <a:gd name="connsiteY15" fmla="*/ 2880286 h 4075236"/>
              <a:gd name="connsiteX16" fmla="*/ 5411663 w 5411663"/>
              <a:gd name="connsiteY16" fmla="*/ 3988628 h 4075236"/>
              <a:gd name="connsiteX17" fmla="*/ 5325055 w 5411663"/>
              <a:gd name="connsiteY17" fmla="*/ 4075236 h 4075236"/>
              <a:gd name="connsiteX18" fmla="*/ 4331142 w 5411663"/>
              <a:gd name="connsiteY18" fmla="*/ 4075236 h 4075236"/>
              <a:gd name="connsiteX19" fmla="*/ 4216713 w 5411663"/>
              <a:gd name="connsiteY19" fmla="*/ 4075236 h 4075236"/>
              <a:gd name="connsiteX20" fmla="*/ 3536011 w 5411663"/>
              <a:gd name="connsiteY20" fmla="*/ 4075236 h 4075236"/>
              <a:gd name="connsiteX21" fmla="*/ 3222800 w 5411663"/>
              <a:gd name="connsiteY21" fmla="*/ 4075236 h 4075236"/>
              <a:gd name="connsiteX22" fmla="*/ 3125194 w 5411663"/>
              <a:gd name="connsiteY22" fmla="*/ 4075236 h 4075236"/>
              <a:gd name="connsiteX23" fmla="*/ 2427669 w 5411663"/>
              <a:gd name="connsiteY23" fmla="*/ 4075236 h 4075236"/>
              <a:gd name="connsiteX24" fmla="*/ 2144533 w 5411663"/>
              <a:gd name="connsiteY24" fmla="*/ 4075236 h 4075236"/>
              <a:gd name="connsiteX25" fmla="*/ 2016852 w 5411663"/>
              <a:gd name="connsiteY25" fmla="*/ 4075236 h 4075236"/>
              <a:gd name="connsiteX26" fmla="*/ 1194950 w 5411663"/>
              <a:gd name="connsiteY26" fmla="*/ 4075236 h 4075236"/>
              <a:gd name="connsiteX27" fmla="*/ 1036191 w 5411663"/>
              <a:gd name="connsiteY27" fmla="*/ 4075236 h 4075236"/>
              <a:gd name="connsiteX28" fmla="*/ 86608 w 5411663"/>
              <a:gd name="connsiteY28" fmla="*/ 4075236 h 4075236"/>
              <a:gd name="connsiteX29" fmla="*/ 0 w 5411663"/>
              <a:gd name="connsiteY29" fmla="*/ 3988628 h 4075236"/>
              <a:gd name="connsiteX30" fmla="*/ 0 w 5411663"/>
              <a:gd name="connsiteY30" fmla="*/ 2880286 h 4075236"/>
              <a:gd name="connsiteX31" fmla="*/ 1 w 5411663"/>
              <a:gd name="connsiteY31" fmla="*/ 2880284 h 407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1663" h="4075236">
                <a:moveTo>
                  <a:pt x="1" y="0"/>
                </a:moveTo>
                <a:lnTo>
                  <a:pt x="4216713" y="0"/>
                </a:lnTo>
                <a:lnTo>
                  <a:pt x="4756874" y="0"/>
                </a:lnTo>
                <a:lnTo>
                  <a:pt x="5325055" y="0"/>
                </a:lnTo>
                <a:cubicBezTo>
                  <a:pt x="5372887" y="0"/>
                  <a:pt x="5411663" y="38776"/>
                  <a:pt x="5411663" y="86608"/>
                </a:cubicBezTo>
                <a:lnTo>
                  <a:pt x="5411663" y="934747"/>
                </a:lnTo>
                <a:lnTo>
                  <a:pt x="5411663" y="1194950"/>
                </a:lnTo>
                <a:lnTo>
                  <a:pt x="5411663" y="1544347"/>
                </a:lnTo>
                <a:lnTo>
                  <a:pt x="5411663" y="1703373"/>
                </a:lnTo>
                <a:lnTo>
                  <a:pt x="5411663" y="2043089"/>
                </a:lnTo>
                <a:lnTo>
                  <a:pt x="5411663" y="2652689"/>
                </a:lnTo>
                <a:lnTo>
                  <a:pt x="5411663" y="2811715"/>
                </a:lnTo>
                <a:cubicBezTo>
                  <a:pt x="5411663" y="2823673"/>
                  <a:pt x="5409240" y="2835065"/>
                  <a:pt x="5404857" y="2845427"/>
                </a:cubicBezTo>
                <a:lnTo>
                  <a:pt x="5404470" y="2846001"/>
                </a:lnTo>
                <a:lnTo>
                  <a:pt x="5404857" y="2846574"/>
                </a:lnTo>
                <a:cubicBezTo>
                  <a:pt x="5409240" y="2856936"/>
                  <a:pt x="5411663" y="2868328"/>
                  <a:pt x="5411663" y="2880286"/>
                </a:cubicBezTo>
                <a:lnTo>
                  <a:pt x="5411663" y="3988628"/>
                </a:lnTo>
                <a:cubicBezTo>
                  <a:pt x="5411663" y="4036460"/>
                  <a:pt x="5372887" y="4075236"/>
                  <a:pt x="5325055" y="4075236"/>
                </a:cubicBezTo>
                <a:lnTo>
                  <a:pt x="4331142" y="4075236"/>
                </a:lnTo>
                <a:lnTo>
                  <a:pt x="4216713" y="4075236"/>
                </a:lnTo>
                <a:lnTo>
                  <a:pt x="3536011" y="4075236"/>
                </a:lnTo>
                <a:lnTo>
                  <a:pt x="3222800" y="4075236"/>
                </a:lnTo>
                <a:lnTo>
                  <a:pt x="3125194" y="4075236"/>
                </a:lnTo>
                <a:lnTo>
                  <a:pt x="2427669" y="4075236"/>
                </a:lnTo>
                <a:lnTo>
                  <a:pt x="2144533" y="4075236"/>
                </a:lnTo>
                <a:lnTo>
                  <a:pt x="2016852" y="4075236"/>
                </a:lnTo>
                <a:lnTo>
                  <a:pt x="1194950" y="4075236"/>
                </a:lnTo>
                <a:lnTo>
                  <a:pt x="1036191" y="4075236"/>
                </a:lnTo>
                <a:lnTo>
                  <a:pt x="86608" y="4075236"/>
                </a:lnTo>
                <a:cubicBezTo>
                  <a:pt x="38776" y="4075236"/>
                  <a:pt x="0" y="4036460"/>
                  <a:pt x="0" y="3988628"/>
                </a:cubicBezTo>
                <a:lnTo>
                  <a:pt x="0" y="2880286"/>
                </a:lnTo>
                <a:lnTo>
                  <a:pt x="1" y="2880284"/>
                </a:lnTo>
                <a:close/>
              </a:path>
            </a:pathLst>
          </a:custGeom>
          <a:solidFill>
            <a:srgbClr val="E4EEE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35" name="Freeform 34">
            <a:extLst>
              <a:ext uri="{FF2B5EF4-FFF2-40B4-BE49-F238E27FC236}">
                <a16:creationId xmlns:a16="http://schemas.microsoft.com/office/drawing/2014/main" id="{E60FF934-2235-A360-E194-0E324A33330B}"/>
              </a:ext>
            </a:extLst>
          </p:cNvPr>
          <p:cNvSpPr/>
          <p:nvPr userDrawn="1"/>
        </p:nvSpPr>
        <p:spPr>
          <a:xfrm>
            <a:off x="6262846" y="1937856"/>
            <a:ext cx="5411663" cy="4075236"/>
          </a:xfrm>
          <a:custGeom>
            <a:avLst/>
            <a:gdLst>
              <a:gd name="connsiteX0" fmla="*/ 1 w 5411663"/>
              <a:gd name="connsiteY0" fmla="*/ 0 h 4075236"/>
              <a:gd name="connsiteX1" fmla="*/ 4216713 w 5411663"/>
              <a:gd name="connsiteY1" fmla="*/ 0 h 4075236"/>
              <a:gd name="connsiteX2" fmla="*/ 4756874 w 5411663"/>
              <a:gd name="connsiteY2" fmla="*/ 0 h 4075236"/>
              <a:gd name="connsiteX3" fmla="*/ 5325055 w 5411663"/>
              <a:gd name="connsiteY3" fmla="*/ 0 h 4075236"/>
              <a:gd name="connsiteX4" fmla="*/ 5411663 w 5411663"/>
              <a:gd name="connsiteY4" fmla="*/ 86608 h 4075236"/>
              <a:gd name="connsiteX5" fmla="*/ 5411663 w 5411663"/>
              <a:gd name="connsiteY5" fmla="*/ 934747 h 4075236"/>
              <a:gd name="connsiteX6" fmla="*/ 5411663 w 5411663"/>
              <a:gd name="connsiteY6" fmla="*/ 1194950 h 4075236"/>
              <a:gd name="connsiteX7" fmla="*/ 5411663 w 5411663"/>
              <a:gd name="connsiteY7" fmla="*/ 1544347 h 4075236"/>
              <a:gd name="connsiteX8" fmla="*/ 5411663 w 5411663"/>
              <a:gd name="connsiteY8" fmla="*/ 1703373 h 4075236"/>
              <a:gd name="connsiteX9" fmla="*/ 5411663 w 5411663"/>
              <a:gd name="connsiteY9" fmla="*/ 2043089 h 4075236"/>
              <a:gd name="connsiteX10" fmla="*/ 5411663 w 5411663"/>
              <a:gd name="connsiteY10" fmla="*/ 2652689 h 4075236"/>
              <a:gd name="connsiteX11" fmla="*/ 5411663 w 5411663"/>
              <a:gd name="connsiteY11" fmla="*/ 2811715 h 4075236"/>
              <a:gd name="connsiteX12" fmla="*/ 5404857 w 5411663"/>
              <a:gd name="connsiteY12" fmla="*/ 2845427 h 4075236"/>
              <a:gd name="connsiteX13" fmla="*/ 5404470 w 5411663"/>
              <a:gd name="connsiteY13" fmla="*/ 2846001 h 4075236"/>
              <a:gd name="connsiteX14" fmla="*/ 5404857 w 5411663"/>
              <a:gd name="connsiteY14" fmla="*/ 2846574 h 4075236"/>
              <a:gd name="connsiteX15" fmla="*/ 5411663 w 5411663"/>
              <a:gd name="connsiteY15" fmla="*/ 2880286 h 4075236"/>
              <a:gd name="connsiteX16" fmla="*/ 5411663 w 5411663"/>
              <a:gd name="connsiteY16" fmla="*/ 3988628 h 4075236"/>
              <a:gd name="connsiteX17" fmla="*/ 5325055 w 5411663"/>
              <a:gd name="connsiteY17" fmla="*/ 4075236 h 4075236"/>
              <a:gd name="connsiteX18" fmla="*/ 4331142 w 5411663"/>
              <a:gd name="connsiteY18" fmla="*/ 4075236 h 4075236"/>
              <a:gd name="connsiteX19" fmla="*/ 4216713 w 5411663"/>
              <a:gd name="connsiteY19" fmla="*/ 4075236 h 4075236"/>
              <a:gd name="connsiteX20" fmla="*/ 3536011 w 5411663"/>
              <a:gd name="connsiteY20" fmla="*/ 4075236 h 4075236"/>
              <a:gd name="connsiteX21" fmla="*/ 3222800 w 5411663"/>
              <a:gd name="connsiteY21" fmla="*/ 4075236 h 4075236"/>
              <a:gd name="connsiteX22" fmla="*/ 3125194 w 5411663"/>
              <a:gd name="connsiteY22" fmla="*/ 4075236 h 4075236"/>
              <a:gd name="connsiteX23" fmla="*/ 2427669 w 5411663"/>
              <a:gd name="connsiteY23" fmla="*/ 4075236 h 4075236"/>
              <a:gd name="connsiteX24" fmla="*/ 2144533 w 5411663"/>
              <a:gd name="connsiteY24" fmla="*/ 4075236 h 4075236"/>
              <a:gd name="connsiteX25" fmla="*/ 2016852 w 5411663"/>
              <a:gd name="connsiteY25" fmla="*/ 4075236 h 4075236"/>
              <a:gd name="connsiteX26" fmla="*/ 1194950 w 5411663"/>
              <a:gd name="connsiteY26" fmla="*/ 4075236 h 4075236"/>
              <a:gd name="connsiteX27" fmla="*/ 1036191 w 5411663"/>
              <a:gd name="connsiteY27" fmla="*/ 4075236 h 4075236"/>
              <a:gd name="connsiteX28" fmla="*/ 86608 w 5411663"/>
              <a:gd name="connsiteY28" fmla="*/ 4075236 h 4075236"/>
              <a:gd name="connsiteX29" fmla="*/ 0 w 5411663"/>
              <a:gd name="connsiteY29" fmla="*/ 3988628 h 4075236"/>
              <a:gd name="connsiteX30" fmla="*/ 0 w 5411663"/>
              <a:gd name="connsiteY30" fmla="*/ 2880286 h 4075236"/>
              <a:gd name="connsiteX31" fmla="*/ 1 w 5411663"/>
              <a:gd name="connsiteY31" fmla="*/ 2880284 h 4075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411663" h="4075236">
                <a:moveTo>
                  <a:pt x="1" y="0"/>
                </a:moveTo>
                <a:lnTo>
                  <a:pt x="4216713" y="0"/>
                </a:lnTo>
                <a:lnTo>
                  <a:pt x="4756874" y="0"/>
                </a:lnTo>
                <a:lnTo>
                  <a:pt x="5325055" y="0"/>
                </a:lnTo>
                <a:cubicBezTo>
                  <a:pt x="5372887" y="0"/>
                  <a:pt x="5411663" y="38776"/>
                  <a:pt x="5411663" y="86608"/>
                </a:cubicBezTo>
                <a:lnTo>
                  <a:pt x="5411663" y="934747"/>
                </a:lnTo>
                <a:lnTo>
                  <a:pt x="5411663" y="1194950"/>
                </a:lnTo>
                <a:lnTo>
                  <a:pt x="5411663" y="1544347"/>
                </a:lnTo>
                <a:lnTo>
                  <a:pt x="5411663" y="1703373"/>
                </a:lnTo>
                <a:lnTo>
                  <a:pt x="5411663" y="2043089"/>
                </a:lnTo>
                <a:lnTo>
                  <a:pt x="5411663" y="2652689"/>
                </a:lnTo>
                <a:lnTo>
                  <a:pt x="5411663" y="2811715"/>
                </a:lnTo>
                <a:cubicBezTo>
                  <a:pt x="5411663" y="2823673"/>
                  <a:pt x="5409240" y="2835065"/>
                  <a:pt x="5404857" y="2845427"/>
                </a:cubicBezTo>
                <a:lnTo>
                  <a:pt x="5404470" y="2846001"/>
                </a:lnTo>
                <a:lnTo>
                  <a:pt x="5404857" y="2846574"/>
                </a:lnTo>
                <a:cubicBezTo>
                  <a:pt x="5409240" y="2856936"/>
                  <a:pt x="5411663" y="2868328"/>
                  <a:pt x="5411663" y="2880286"/>
                </a:cubicBezTo>
                <a:lnTo>
                  <a:pt x="5411663" y="3988628"/>
                </a:lnTo>
                <a:cubicBezTo>
                  <a:pt x="5411663" y="4036460"/>
                  <a:pt x="5372887" y="4075236"/>
                  <a:pt x="5325055" y="4075236"/>
                </a:cubicBezTo>
                <a:lnTo>
                  <a:pt x="4331142" y="4075236"/>
                </a:lnTo>
                <a:lnTo>
                  <a:pt x="4216713" y="4075236"/>
                </a:lnTo>
                <a:lnTo>
                  <a:pt x="3536011" y="4075236"/>
                </a:lnTo>
                <a:lnTo>
                  <a:pt x="3222800" y="4075236"/>
                </a:lnTo>
                <a:lnTo>
                  <a:pt x="3125194" y="4075236"/>
                </a:lnTo>
                <a:lnTo>
                  <a:pt x="2427669" y="4075236"/>
                </a:lnTo>
                <a:lnTo>
                  <a:pt x="2144533" y="4075236"/>
                </a:lnTo>
                <a:lnTo>
                  <a:pt x="2016852" y="4075236"/>
                </a:lnTo>
                <a:lnTo>
                  <a:pt x="1194950" y="4075236"/>
                </a:lnTo>
                <a:lnTo>
                  <a:pt x="1036191" y="4075236"/>
                </a:lnTo>
                <a:lnTo>
                  <a:pt x="86608" y="4075236"/>
                </a:lnTo>
                <a:cubicBezTo>
                  <a:pt x="38776" y="4075236"/>
                  <a:pt x="0" y="4036460"/>
                  <a:pt x="0" y="3988628"/>
                </a:cubicBezTo>
                <a:lnTo>
                  <a:pt x="0" y="2880286"/>
                </a:lnTo>
                <a:lnTo>
                  <a:pt x="1" y="2880284"/>
                </a:lnTo>
                <a:close/>
              </a:path>
            </a:pathLst>
          </a:custGeom>
          <a:solidFill>
            <a:srgbClr val="E4EEEF">
              <a:alpha val="2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9" name="Footer Placeholder 4">
            <a:extLst>
              <a:ext uri="{FF2B5EF4-FFF2-40B4-BE49-F238E27FC236}">
                <a16:creationId xmlns:a16="http://schemas.microsoft.com/office/drawing/2014/main" id="{94A7A727-6E84-7B6B-E62C-4A04BFF40E42}"/>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11" name="Slide Number Placeholder 3">
            <a:extLst>
              <a:ext uri="{FF2B5EF4-FFF2-40B4-BE49-F238E27FC236}">
                <a16:creationId xmlns:a16="http://schemas.microsoft.com/office/drawing/2014/main" id="{BC594305-82E8-E4B9-CD1C-C55C6229A6FA}"/>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23" name="Text Placeholder 22">
            <a:extLst>
              <a:ext uri="{FF2B5EF4-FFF2-40B4-BE49-F238E27FC236}">
                <a16:creationId xmlns:a16="http://schemas.microsoft.com/office/drawing/2014/main" id="{43215B7E-3A78-1A53-D007-1DE35712E6A5}"/>
              </a:ext>
            </a:extLst>
          </p:cNvPr>
          <p:cNvSpPr>
            <a:spLocks noGrp="1"/>
          </p:cNvSpPr>
          <p:nvPr>
            <p:ph type="body" sz="quarter" idx="33" hasCustomPrompt="1"/>
          </p:nvPr>
        </p:nvSpPr>
        <p:spPr>
          <a:xfrm>
            <a:off x="722454" y="5667937"/>
            <a:ext cx="4997862" cy="138499"/>
          </a:xfrm>
        </p:spPr>
        <p:txBody>
          <a:bodyPr wrap="square">
            <a:spAutoFit/>
          </a:bodyPr>
          <a:lstStyle>
            <a:lvl1pPr>
              <a:defRPr sz="900">
                <a:latin typeface="+mn-lt"/>
              </a:defRPr>
            </a:lvl1pPr>
            <a:lvl2pPr>
              <a:defRPr sz="900"/>
            </a:lvl2pPr>
            <a:lvl3pPr>
              <a:defRPr sz="900"/>
            </a:lvl3pPr>
            <a:lvl4pPr>
              <a:defRPr sz="900"/>
            </a:lvl4pPr>
            <a:lvl5pPr>
              <a:defRPr sz="900"/>
            </a:lvl5pPr>
          </a:lstStyle>
          <a:p>
            <a:pPr lvl="0"/>
            <a:r>
              <a:rPr lang="en-US"/>
              <a:t>Citation in Wallace Sans Light, 9 pt size, 1 line max </a:t>
            </a:r>
          </a:p>
        </p:txBody>
      </p:sp>
      <p:sp>
        <p:nvSpPr>
          <p:cNvPr id="6" name="Text Placeholder 22">
            <a:extLst>
              <a:ext uri="{FF2B5EF4-FFF2-40B4-BE49-F238E27FC236}">
                <a16:creationId xmlns:a16="http://schemas.microsoft.com/office/drawing/2014/main" id="{16E3D6DB-0519-9044-E251-1A5C61AE05F2}"/>
              </a:ext>
            </a:extLst>
          </p:cNvPr>
          <p:cNvSpPr>
            <a:spLocks noGrp="1"/>
          </p:cNvSpPr>
          <p:nvPr>
            <p:ph type="body" sz="quarter" idx="34" hasCustomPrompt="1"/>
          </p:nvPr>
        </p:nvSpPr>
        <p:spPr>
          <a:xfrm>
            <a:off x="517489" y="1624531"/>
            <a:ext cx="5411663"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sp>
        <p:nvSpPr>
          <p:cNvPr id="16" name="Text Placeholder 22">
            <a:extLst>
              <a:ext uri="{FF2B5EF4-FFF2-40B4-BE49-F238E27FC236}">
                <a16:creationId xmlns:a16="http://schemas.microsoft.com/office/drawing/2014/main" id="{B667FEA4-23F5-C758-6868-6832425E473B}"/>
              </a:ext>
            </a:extLst>
          </p:cNvPr>
          <p:cNvSpPr>
            <a:spLocks noGrp="1"/>
          </p:cNvSpPr>
          <p:nvPr>
            <p:ph type="body" sz="quarter" idx="36" hasCustomPrompt="1"/>
          </p:nvPr>
        </p:nvSpPr>
        <p:spPr>
          <a:xfrm>
            <a:off x="6262844" y="1624531"/>
            <a:ext cx="5411663" cy="215444"/>
          </a:xfrm>
        </p:spPr>
        <p:txBody>
          <a:bodyPr wrap="square">
            <a:spAutoFit/>
          </a:bodyPr>
          <a:lstStyle>
            <a:lvl1pPr>
              <a:defRPr sz="1400"/>
            </a:lvl1pPr>
            <a:lvl2pPr>
              <a:defRPr sz="900"/>
            </a:lvl2pPr>
            <a:lvl3pPr>
              <a:defRPr sz="900"/>
            </a:lvl3pPr>
            <a:lvl4pPr>
              <a:defRPr sz="900"/>
            </a:lvl4pPr>
            <a:lvl5pPr>
              <a:defRPr sz="900"/>
            </a:lvl5pPr>
          </a:lstStyle>
          <a:p>
            <a:pPr lvl="0"/>
            <a:r>
              <a:rPr lang="en-US"/>
              <a:t>Title in Wallace Sans, 14 pt size</a:t>
            </a:r>
          </a:p>
        </p:txBody>
      </p:sp>
      <p:sp>
        <p:nvSpPr>
          <p:cNvPr id="17" name="Text Placeholder 12">
            <a:extLst>
              <a:ext uri="{FF2B5EF4-FFF2-40B4-BE49-F238E27FC236}">
                <a16:creationId xmlns:a16="http://schemas.microsoft.com/office/drawing/2014/main" id="{30843762-3EE1-BCBB-061E-6C13A611B9F6}"/>
              </a:ext>
            </a:extLst>
          </p:cNvPr>
          <p:cNvSpPr>
            <a:spLocks noGrp="1"/>
          </p:cNvSpPr>
          <p:nvPr>
            <p:ph type="body" sz="quarter" idx="10" hasCustomPrompt="1"/>
          </p:nvPr>
        </p:nvSpPr>
        <p:spPr>
          <a:xfrm>
            <a:off x="510790" y="482457"/>
            <a:ext cx="8256607" cy="1197864"/>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Heading in Wallace Serif Regular 26 point size,</a:t>
            </a:r>
            <a:br>
              <a:rPr lang="en-US"/>
            </a:br>
            <a:r>
              <a:rPr lang="en-US"/>
              <a:t>3 lines maximum, sentence case</a:t>
            </a:r>
          </a:p>
          <a:p>
            <a:pPr lvl="0"/>
            <a:endParaRPr lang="en-US"/>
          </a:p>
        </p:txBody>
      </p:sp>
      <p:sp>
        <p:nvSpPr>
          <p:cNvPr id="22" name="Text Placeholder 22">
            <a:extLst>
              <a:ext uri="{FF2B5EF4-FFF2-40B4-BE49-F238E27FC236}">
                <a16:creationId xmlns:a16="http://schemas.microsoft.com/office/drawing/2014/main" id="{14637D5B-FA7E-7D9C-4A21-8F50222047F9}"/>
              </a:ext>
            </a:extLst>
          </p:cNvPr>
          <p:cNvSpPr>
            <a:spLocks noGrp="1"/>
          </p:cNvSpPr>
          <p:nvPr>
            <p:ph type="body" sz="quarter" idx="37" hasCustomPrompt="1"/>
          </p:nvPr>
        </p:nvSpPr>
        <p:spPr>
          <a:xfrm>
            <a:off x="6469746" y="5667937"/>
            <a:ext cx="4997862" cy="138499"/>
          </a:xfrm>
        </p:spPr>
        <p:txBody>
          <a:bodyPr wrap="square">
            <a:spAutoFit/>
          </a:bodyPr>
          <a:lstStyle>
            <a:lvl1pPr>
              <a:defRPr sz="900">
                <a:latin typeface="+mn-lt"/>
              </a:defRPr>
            </a:lvl1pPr>
            <a:lvl2pPr>
              <a:defRPr sz="900"/>
            </a:lvl2pPr>
            <a:lvl3pPr>
              <a:defRPr sz="900"/>
            </a:lvl3pPr>
            <a:lvl4pPr>
              <a:defRPr sz="900"/>
            </a:lvl4pPr>
            <a:lvl5pPr>
              <a:defRPr sz="900"/>
            </a:lvl5pPr>
          </a:lstStyle>
          <a:p>
            <a:pPr lvl="0"/>
            <a:r>
              <a:rPr lang="en-US"/>
              <a:t>Citation in Wallace Sans Light, 9 pt size, 1 line max </a:t>
            </a:r>
          </a:p>
        </p:txBody>
      </p:sp>
      <p:cxnSp>
        <p:nvCxnSpPr>
          <p:cNvPr id="2" name="Straight Connector 1">
            <a:extLst>
              <a:ext uri="{FF2B5EF4-FFF2-40B4-BE49-F238E27FC236}">
                <a16:creationId xmlns:a16="http://schemas.microsoft.com/office/drawing/2014/main" id="{01EC8052-83B8-35BF-41B2-50C6039D3861}"/>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5145958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references01">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400821"/>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References</a:t>
            </a:r>
          </a:p>
          <a:p>
            <a:pPr lvl="0"/>
            <a:endParaRPr lang="en-US"/>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1356742"/>
            <a:ext cx="8256607" cy="4649149"/>
          </a:xfrm>
        </p:spPr>
        <p:txBody>
          <a:bodyPr wrap="square">
            <a:noAutofit/>
          </a:bodyPr>
          <a:lstStyle>
            <a:lvl1pPr>
              <a:defRPr b="0" i="0">
                <a:latin typeface="Wallace Sans Light" pitchFamily="2" charset="0"/>
                <a:cs typeface="Wallace Sans Light" pitchFamily="2" charset="0"/>
              </a:defRPr>
            </a:lvl1pPr>
            <a:lvl2pPr marL="242888" indent="0">
              <a:buNone/>
              <a:defRPr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1</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2</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Citation 3</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468313" lvl="1" indent="-225425">
              <a:spcBef>
                <a:spcPts val="600"/>
              </a:spcBef>
            </a:pPr>
            <a:r>
              <a:rPr lang="en-US">
                <a:solidFill>
                  <a:srgbClr val="303030"/>
                </a:solidFill>
                <a:latin typeface="Wallace Sans BETA Light" pitchFamily="2" charset="77"/>
                <a:cs typeface="Wallace Sans BETA Light" pitchFamily="2" charset="77"/>
              </a:rPr>
              <a:t>Increase list 2 levels for next indent level; text formatting and line spacing are automatic</a:t>
            </a:r>
          </a:p>
          <a:p>
            <a:pPr marL="233363" indent="-233363">
              <a:spcBef>
                <a:spcPts val="1200"/>
              </a:spcBef>
              <a:buFont typeface="+mj-lt"/>
              <a:buAutoNum type="arabicPeriod"/>
            </a:pPr>
            <a:endParaRPr lang="en-US">
              <a:solidFill>
                <a:srgbClr val="303030"/>
              </a:solidFill>
              <a:latin typeface="Wallace Sans BETA Light" pitchFamily="2" charset="77"/>
              <a:cs typeface="Wallace Sans BETA Light" pitchFamily="2" charset="77"/>
            </a:endParaRPr>
          </a:p>
        </p:txBody>
      </p:sp>
      <p:cxnSp>
        <p:nvCxnSpPr>
          <p:cNvPr id="2" name="Straight Connector 1">
            <a:extLst>
              <a:ext uri="{FF2B5EF4-FFF2-40B4-BE49-F238E27FC236}">
                <a16:creationId xmlns:a16="http://schemas.microsoft.com/office/drawing/2014/main" id="{0218B88D-E250-E413-ACB3-27B166EB7E1F}"/>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1822218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references02">
    <p:bg>
      <p:bgPr>
        <a:solidFill>
          <a:schemeClr val="bg1"/>
        </a:solidFill>
        <a:effectLst/>
      </p:bgPr>
    </p:bg>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AF62F831-007E-758F-2128-1A8336693E7A}"/>
              </a:ext>
            </a:extLst>
          </p:cNvPr>
          <p:cNvSpPr txBox="1">
            <a:spLocks/>
          </p:cNvSpPr>
          <p:nvPr userDrawn="1"/>
        </p:nvSpPr>
        <p:spPr>
          <a:xfrm rot="5400000">
            <a:off x="10614087" y="4774409"/>
            <a:ext cx="2639886" cy="515937"/>
          </a:xfrm>
          <a:prstGeom prst="rect">
            <a:avLst/>
          </a:prstGeom>
        </p:spPr>
        <p:txBody>
          <a:bodyPr lIns="0" tIns="0" rIns="0" bIns="0" anchor="ctr" anchorCtr="0"/>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defTabSz="914400">
              <a:defRPr/>
            </a:pPr>
            <a:r>
              <a:rPr lang="en-GB" sz="700" b="0" i="0">
                <a:latin typeface="Wallace Sans Light" pitchFamily="2" charset="0"/>
                <a:cs typeface="Wallace Sans Light" pitchFamily="2" charset="0"/>
              </a:rPr>
              <a:t>Proprietary and confidential – do not distribute</a:t>
            </a:r>
          </a:p>
        </p:txBody>
      </p:sp>
      <p:sp>
        <p:nvSpPr>
          <p:cNvPr id="8" name="Slide Number Placeholder 3">
            <a:extLst>
              <a:ext uri="{FF2B5EF4-FFF2-40B4-BE49-F238E27FC236}">
                <a16:creationId xmlns:a16="http://schemas.microsoft.com/office/drawing/2014/main" id="{4A5150FA-53CF-8E4F-B1D8-FCD57183B494}"/>
              </a:ext>
            </a:extLst>
          </p:cNvPr>
          <p:cNvSpPr txBox="1">
            <a:spLocks/>
          </p:cNvSpPr>
          <p:nvPr userDrawn="1"/>
        </p:nvSpPr>
        <p:spPr>
          <a:xfrm>
            <a:off x="11679935" y="3313971"/>
            <a:ext cx="512064" cy="274320"/>
          </a:xfrm>
          <a:prstGeom prst="rect">
            <a:avLst/>
          </a:prstGeom>
        </p:spPr>
        <p:txBody>
          <a:bodyPr vert="horz" lIns="0" tIns="0" rIns="0" bIns="0" rtlCol="0" anchor="ctr"/>
          <a:lstStyle>
            <a:defPPr>
              <a:defRPr lang="en-US"/>
            </a:defPPr>
            <a:lvl1pPr marL="0" algn="ctr" defTabSz="914400" rtl="0" eaLnBrk="1" latinLnBrk="0" hangingPunct="1">
              <a:defRPr lang="en-US" sz="800" kern="1200" smtClean="0">
                <a:solidFill>
                  <a:srgbClr val="303030"/>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4637195B-4A87-4E41-BD6C-54929BB248AD}" type="slidenum">
              <a:rPr lang="en-US" sz="800" b="0" i="0" smtClean="0">
                <a:latin typeface="Wallace Sans Light" pitchFamily="2" charset="0"/>
                <a:cs typeface="Wallace Sans Light" pitchFamily="2" charset="0"/>
              </a:rPr>
              <a:pPr>
                <a:defRPr/>
              </a:pPr>
              <a:t>‹#›</a:t>
            </a:fld>
            <a:endParaRPr lang="en-US" sz="900" b="0" i="0">
              <a:latin typeface="Wallace Sans Light" pitchFamily="2" charset="0"/>
              <a:cs typeface="Wallace Sans Light" pitchFamily="2" charset="0"/>
            </a:endParaRPr>
          </a:p>
        </p:txBody>
      </p:sp>
      <p:sp>
        <p:nvSpPr>
          <p:cNvPr id="13" name="Text Placeholder 12">
            <a:extLst>
              <a:ext uri="{FF2B5EF4-FFF2-40B4-BE49-F238E27FC236}">
                <a16:creationId xmlns:a16="http://schemas.microsoft.com/office/drawing/2014/main" id="{AE31BA1D-D9D7-9C5C-6953-EC65B806CD1D}"/>
              </a:ext>
            </a:extLst>
          </p:cNvPr>
          <p:cNvSpPr>
            <a:spLocks noGrp="1"/>
          </p:cNvSpPr>
          <p:nvPr>
            <p:ph type="body" sz="quarter" idx="10" hasCustomPrompt="1"/>
          </p:nvPr>
        </p:nvSpPr>
        <p:spPr>
          <a:xfrm>
            <a:off x="510790" y="482457"/>
            <a:ext cx="8256607" cy="400821"/>
          </a:xfrm>
        </p:spPr>
        <p:txBody>
          <a:bodyPr>
            <a:noAutofit/>
          </a:bodyPr>
          <a:lstStyle>
            <a:lvl1pPr marL="0" algn="l" defTabSz="914400" rtl="0" eaLnBrk="1" latinLnBrk="0" hangingPunct="1">
              <a:lnSpc>
                <a:spcPts val="3000"/>
              </a:lnSpc>
              <a:spcBef>
                <a:spcPts val="0"/>
              </a:spcBef>
              <a:buNone/>
              <a:defRPr lang="en-US" sz="2600" b="0" i="0" kern="1200" spc="-100" baseline="0" dirty="0" smtClean="0">
                <a:solidFill>
                  <a:srgbClr val="303030"/>
                </a:solidFill>
                <a:latin typeface="Wallace Serif" pitchFamily="2" charset="0"/>
                <a:ea typeface="+mj-ea"/>
                <a:cs typeface="Wallace Serif" pitchFamily="2" charset="0"/>
              </a:defRPr>
            </a:lvl1pPr>
          </a:lstStyle>
          <a:p>
            <a:pPr lvl="0"/>
            <a:r>
              <a:rPr lang="en-US"/>
              <a:t>References</a:t>
            </a:r>
          </a:p>
          <a:p>
            <a:pPr lvl="0"/>
            <a:endParaRPr lang="en-US"/>
          </a:p>
        </p:txBody>
      </p:sp>
      <p:sp>
        <p:nvSpPr>
          <p:cNvPr id="17" name="Text Placeholder 16">
            <a:extLst>
              <a:ext uri="{FF2B5EF4-FFF2-40B4-BE49-F238E27FC236}">
                <a16:creationId xmlns:a16="http://schemas.microsoft.com/office/drawing/2014/main" id="{2E8CCAF7-0EB2-018A-FDE7-377B88903D56}"/>
              </a:ext>
            </a:extLst>
          </p:cNvPr>
          <p:cNvSpPr>
            <a:spLocks noGrp="1"/>
          </p:cNvSpPr>
          <p:nvPr>
            <p:ph type="body" sz="quarter" idx="12" hasCustomPrompt="1"/>
          </p:nvPr>
        </p:nvSpPr>
        <p:spPr>
          <a:xfrm>
            <a:off x="510790" y="1356742"/>
            <a:ext cx="8256607" cy="4649149"/>
          </a:xfrm>
        </p:spPr>
        <p:txBody>
          <a:bodyPr wrap="square">
            <a:noAutofit/>
          </a:bodyPr>
          <a:lstStyle>
            <a:lvl1pPr marL="0" indent="0">
              <a:buNone/>
              <a:defRPr sz="1400" b="0" i="0">
                <a:latin typeface="Wallace Sans Light" pitchFamily="2" charset="0"/>
                <a:cs typeface="Wallace Sans Light" pitchFamily="2" charset="0"/>
              </a:defRPr>
            </a:lvl1pPr>
            <a:lvl2pPr marL="242888" indent="0">
              <a:buNone/>
              <a:defRPr sz="1400" b="0" i="0">
                <a:latin typeface="Wallace Sans Light" pitchFamily="2" charset="0"/>
                <a:cs typeface="Wallace Sans Light" pitchFamily="2" charset="0"/>
              </a:defRPr>
            </a:lvl2pPr>
          </a:lstStyle>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r>
              <a:rPr lang="en-US">
                <a:solidFill>
                  <a:srgbClr val="303030"/>
                </a:solidFill>
                <a:latin typeface="Wallace Sans BETA Light" pitchFamily="2" charset="77"/>
                <a:cs typeface="Wallace Sans BETA Light" pitchFamily="2" charset="77"/>
              </a:rPr>
              <a:t>Link to citation </a:t>
            </a:r>
          </a:p>
          <a:p>
            <a:pPr marL="233363" indent="-233363">
              <a:spcBef>
                <a:spcPts val="1200"/>
              </a:spcBef>
              <a:buFont typeface="+mj-lt"/>
              <a:buAutoNum type="arabicPeriod"/>
            </a:pPr>
            <a:endParaRPr lang="en-US">
              <a:solidFill>
                <a:srgbClr val="303030"/>
              </a:solidFill>
              <a:latin typeface="Wallace Sans BETA Light" pitchFamily="2" charset="77"/>
              <a:cs typeface="Wallace Sans BETA Light" pitchFamily="2" charset="77"/>
            </a:endParaRPr>
          </a:p>
        </p:txBody>
      </p:sp>
      <p:cxnSp>
        <p:nvCxnSpPr>
          <p:cNvPr id="2" name="Straight Connector 1">
            <a:extLst>
              <a:ext uri="{FF2B5EF4-FFF2-40B4-BE49-F238E27FC236}">
                <a16:creationId xmlns:a16="http://schemas.microsoft.com/office/drawing/2014/main" id="{841C3F38-2B01-01A3-9A05-28E1D208CC71}"/>
              </a:ext>
            </a:extLst>
          </p:cNvPr>
          <p:cNvCxnSpPr>
            <a:cxnSpLocks/>
          </p:cNvCxnSpPr>
          <p:nvPr userDrawn="1"/>
        </p:nvCxnSpPr>
        <p:spPr>
          <a:xfrm>
            <a:off x="510790" y="6349171"/>
            <a:ext cx="11170035" cy="0"/>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502925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ver slide 3 (print friendly)">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43036502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Cover slide 3 (print friendly)">
    <p:bg>
      <p:bgPr>
        <a:solidFill>
          <a:schemeClr val="bg1"/>
        </a:solid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B7B30DF0-2221-5E20-E3B8-19764FEACB07}"/>
              </a:ext>
            </a:extLst>
          </p:cNvPr>
          <p:cNvSpPr>
            <a:spLocks noGrp="1"/>
          </p:cNvSpPr>
          <p:nvPr>
            <p:ph type="pic" sz="quarter" idx="21"/>
          </p:nvPr>
        </p:nvSpPr>
        <p:spPr>
          <a:xfrm>
            <a:off x="0" y="0"/>
            <a:ext cx="12192000" cy="4892039"/>
          </a:xfrm>
          <a:solidFill>
            <a:schemeClr val="bg1">
              <a:lumMod val="95000"/>
            </a:schemeClr>
          </a:solidFill>
        </p:spPr>
        <p:txBody>
          <a:bodyPr/>
          <a:lstStyle/>
          <a:p>
            <a:r>
              <a:rPr lang="en-US"/>
              <a:t>Click icon to add picture</a:t>
            </a:r>
          </a:p>
        </p:txBody>
      </p:sp>
      <p:pic>
        <p:nvPicPr>
          <p:cNvPr id="4" name="Picture 3">
            <a:extLst>
              <a:ext uri="{FF2B5EF4-FFF2-40B4-BE49-F238E27FC236}">
                <a16:creationId xmlns:a16="http://schemas.microsoft.com/office/drawing/2014/main" id="{E055C42D-905C-017D-E7FA-55D42B0089DC}"/>
              </a:ext>
            </a:extLst>
          </p:cNvPr>
          <p:cNvPicPr>
            <a:picLocks noChangeAspect="1"/>
          </p:cNvPicPr>
          <p:nvPr userDrawn="1"/>
        </p:nvPicPr>
        <p:blipFill>
          <a:blip r:embed="rId2"/>
          <a:stretch>
            <a:fillRect/>
          </a:stretch>
        </p:blipFill>
        <p:spPr>
          <a:xfrm>
            <a:off x="514350" y="5815788"/>
            <a:ext cx="11153394" cy="532926"/>
          </a:xfrm>
          <a:prstGeom prst="rect">
            <a:avLst/>
          </a:prstGeom>
        </p:spPr>
      </p:pic>
      <p:sp>
        <p:nvSpPr>
          <p:cNvPr id="2" name="Title 5">
            <a:extLst>
              <a:ext uri="{FF2B5EF4-FFF2-40B4-BE49-F238E27FC236}">
                <a16:creationId xmlns:a16="http://schemas.microsoft.com/office/drawing/2014/main" id="{2467DA5E-2961-D986-5588-44D6CE425C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chemeClr val="bg1"/>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3" name="Text Placeholder 15">
            <a:extLst>
              <a:ext uri="{FF2B5EF4-FFF2-40B4-BE49-F238E27FC236}">
                <a16:creationId xmlns:a16="http://schemas.microsoft.com/office/drawing/2014/main" id="{B6AAC7F3-9E01-8CEB-E3CF-730A08824F60}"/>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chemeClr val="bg1"/>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pic>
        <p:nvPicPr>
          <p:cNvPr id="5" name="Picture 4">
            <a:extLst>
              <a:ext uri="{FF2B5EF4-FFF2-40B4-BE49-F238E27FC236}">
                <a16:creationId xmlns:a16="http://schemas.microsoft.com/office/drawing/2014/main" id="{6A311962-5871-E2F4-6593-89812207F0AA}"/>
              </a:ext>
            </a:extLst>
          </p:cNvPr>
          <p:cNvPicPr>
            <a:picLocks noChangeAspect="1"/>
          </p:cNvPicPr>
          <p:nvPr userDrawn="1"/>
        </p:nvPicPr>
        <p:blipFill>
          <a:blip r:embed="rId3"/>
          <a:stretch>
            <a:fillRect/>
          </a:stretch>
        </p:blipFill>
        <p:spPr>
          <a:xfrm>
            <a:off x="524256" y="5822676"/>
            <a:ext cx="11153394" cy="539270"/>
          </a:xfrm>
          <a:prstGeom prst="rect">
            <a:avLst/>
          </a:prstGeom>
        </p:spPr>
      </p:pic>
    </p:spTree>
    <p:extLst>
      <p:ext uri="{BB962C8B-B14F-4D97-AF65-F5344CB8AC3E}">
        <p14:creationId xmlns:p14="http://schemas.microsoft.com/office/powerpoint/2010/main" val="29767251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ver slide (print friendly)">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0BC43CE-EC69-84DC-A896-7A408F93E223}"/>
              </a:ext>
            </a:extLst>
          </p:cNvPr>
          <p:cNvPicPr>
            <a:picLocks noChangeAspect="1"/>
          </p:cNvPicPr>
          <p:nvPr userDrawn="1"/>
        </p:nvPicPr>
        <p:blipFill>
          <a:blip r:embed="rId2"/>
          <a:stretch>
            <a:fillRect/>
          </a:stretch>
        </p:blipFill>
        <p:spPr>
          <a:xfrm>
            <a:off x="524256" y="5822676"/>
            <a:ext cx="11153394" cy="539270"/>
          </a:xfrm>
          <a:prstGeom prst="rect">
            <a:avLst/>
          </a:prstGeom>
        </p:spPr>
      </p:pic>
      <p:sp>
        <p:nvSpPr>
          <p:cNvPr id="3" name="Title 5">
            <a:extLst>
              <a:ext uri="{FF2B5EF4-FFF2-40B4-BE49-F238E27FC236}">
                <a16:creationId xmlns:a16="http://schemas.microsoft.com/office/drawing/2014/main" id="{BDD0D6A7-CB17-ADA0-CCC4-D2CA67E21056}"/>
              </a:ext>
            </a:extLst>
          </p:cNvPr>
          <p:cNvSpPr>
            <a:spLocks noGrp="1"/>
          </p:cNvSpPr>
          <p:nvPr>
            <p:ph type="title" hasCustomPrompt="1"/>
          </p:nvPr>
        </p:nvSpPr>
        <p:spPr>
          <a:xfrm>
            <a:off x="494333" y="453346"/>
            <a:ext cx="8322120" cy="1460400"/>
          </a:xfrm>
        </p:spPr>
        <p:txBody>
          <a:bodyPr vert="horz" wrap="square" lIns="0" tIns="0" rIns="0" bIns="0" rtlCol="0">
            <a:spAutoFit/>
          </a:bodyPr>
          <a:lstStyle>
            <a:lvl1pPr marL="0" indent="0" algn="l" defTabSz="914400" rtl="0" eaLnBrk="1" latinLnBrk="0" hangingPunct="1">
              <a:lnSpc>
                <a:spcPts val="5500"/>
              </a:lnSpc>
              <a:spcBef>
                <a:spcPts val="0"/>
              </a:spcBef>
              <a:buFont typeface="Arial" panose="020B0604020202020204" pitchFamily="34" charset="0"/>
              <a:buNone/>
              <a:defRPr lang="en-US" sz="5200" b="0" i="0" kern="1200" spc="-100" baseline="0" dirty="0">
                <a:solidFill>
                  <a:srgbClr val="000075"/>
                </a:solidFill>
                <a:latin typeface="Wallace Serif Light" pitchFamily="2" charset="0"/>
                <a:ea typeface="+mn-ea"/>
                <a:cs typeface="Wallace Serif Light" pitchFamily="2" charset="0"/>
              </a:defRPr>
            </a:lvl1pPr>
          </a:lstStyle>
          <a:p>
            <a:pPr>
              <a:lnSpc>
                <a:spcPts val="5500"/>
              </a:lnSpc>
            </a:pPr>
            <a:r>
              <a:rPr lang="en-IN" sz="5200">
                <a:latin typeface="Wallace Serif Light" pitchFamily="2" charset="0"/>
                <a:cs typeface="Wallace Serif Light" pitchFamily="2" charset="0"/>
              </a:rPr>
              <a:t>Title in Wallace Serif Light, </a:t>
            </a:r>
            <a:br>
              <a:rPr lang="en-IN" sz="5200">
                <a:latin typeface="Wallace Serif Light" pitchFamily="2" charset="0"/>
                <a:cs typeface="Wallace Serif Light" pitchFamily="2" charset="0"/>
              </a:rPr>
            </a:br>
            <a:r>
              <a:rPr lang="en-IN" sz="5200">
                <a:latin typeface="Wallace Serif Light" pitchFamily="2" charset="0"/>
                <a:cs typeface="Wallace Serif Light" pitchFamily="2" charset="0"/>
              </a:rPr>
              <a:t>52 point size, 2 lines max</a:t>
            </a:r>
          </a:p>
        </p:txBody>
      </p:sp>
      <p:sp>
        <p:nvSpPr>
          <p:cNvPr id="4" name="Text Placeholder 15">
            <a:extLst>
              <a:ext uri="{FF2B5EF4-FFF2-40B4-BE49-F238E27FC236}">
                <a16:creationId xmlns:a16="http://schemas.microsoft.com/office/drawing/2014/main" id="{2A592962-12AB-BEC6-6E7D-0656E81E9911}"/>
              </a:ext>
            </a:extLst>
          </p:cNvPr>
          <p:cNvSpPr>
            <a:spLocks noGrp="1"/>
          </p:cNvSpPr>
          <p:nvPr>
            <p:ph type="body" sz="quarter" idx="20" hasCustomPrompt="1"/>
          </p:nvPr>
        </p:nvSpPr>
        <p:spPr>
          <a:xfrm>
            <a:off x="494333" y="2180155"/>
            <a:ext cx="5497327" cy="215444"/>
          </a:xfrm>
        </p:spPr>
        <p:txBody>
          <a:bodyPr>
            <a:spAutoFit/>
          </a:bodyPr>
          <a:lstStyle>
            <a:lvl1pPr marL="0" marR="0" indent="0" algn="l" defTabSz="914400" rtl="0" eaLnBrk="1" fontAlgn="auto" latinLnBrk="0" hangingPunct="1">
              <a:lnSpc>
                <a:spcPts val="1600"/>
              </a:lnSpc>
              <a:spcBef>
                <a:spcPts val="0"/>
              </a:spcBef>
              <a:spcAft>
                <a:spcPts val="0"/>
              </a:spcAft>
              <a:buClrTx/>
              <a:buSzTx/>
              <a:buFont typeface="Arial" panose="020B0604020202020204" pitchFamily="34" charset="0"/>
              <a:buNone/>
              <a:tabLst/>
              <a:defRPr lang="en-US" sz="1400" b="0" i="0" kern="100" spc="0" baseline="0" dirty="0">
                <a:solidFill>
                  <a:srgbClr val="000075"/>
                </a:solidFill>
                <a:latin typeface="Wallace Sans BETA Light" pitchFamily="2" charset="77"/>
                <a:ea typeface="+mn-ea"/>
                <a:cs typeface="Wallace Sans BETA Light" pitchFamily="2" charset="77"/>
              </a:defRPr>
            </a:lvl1pPr>
          </a:lstStyle>
          <a:p>
            <a:r>
              <a:rPr lang="en-US" sz="1400" spc="0">
                <a:latin typeface="Wallace Sans BETA Light" pitchFamily="2" charset="77"/>
                <a:cs typeface="Wallace Sans BETA Light" pitchFamily="2" charset="77"/>
              </a:rPr>
              <a:t>Subtitle in Wallace Sans size 14 pt, 1 line only</a:t>
            </a:r>
          </a:p>
        </p:txBody>
      </p:sp>
    </p:spTree>
    <p:extLst>
      <p:ext uri="{BB962C8B-B14F-4D97-AF65-F5344CB8AC3E}">
        <p14:creationId xmlns:p14="http://schemas.microsoft.com/office/powerpoint/2010/main" val="1058894970"/>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losing slide 1 (print friendly)">
    <p:bg>
      <p:bgPr>
        <a:solidFill>
          <a:schemeClr val="bg1"/>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DABCE37-7CCB-78D3-DB18-04C7C063E1C8}"/>
              </a:ext>
            </a:extLst>
          </p:cNvPr>
          <p:cNvCxnSpPr>
            <a:cxnSpLocks/>
          </p:cNvCxnSpPr>
          <p:nvPr userDrawn="1"/>
        </p:nvCxnSpPr>
        <p:spPr>
          <a:xfrm>
            <a:off x="511429" y="4167620"/>
            <a:ext cx="11173487" cy="0"/>
          </a:xfrm>
          <a:prstGeom prst="line">
            <a:avLst/>
          </a:prstGeom>
          <a:noFill/>
          <a:ln w="6350" cap="flat">
            <a:solidFill>
              <a:srgbClr val="000075"/>
            </a:solidFill>
            <a:prstDash val="solid"/>
            <a:miter lim="800000"/>
          </a:ln>
          <a:effectLst/>
          <a:sp3d/>
        </p:spPr>
      </p:cxnSp>
      <p:pic>
        <p:nvPicPr>
          <p:cNvPr id="5" name="Picture 4">
            <a:extLst>
              <a:ext uri="{FF2B5EF4-FFF2-40B4-BE49-F238E27FC236}">
                <a16:creationId xmlns:a16="http://schemas.microsoft.com/office/drawing/2014/main" id="{9E35C5B6-3BF0-B2CB-ADDD-1F2181AD7A61}"/>
              </a:ext>
            </a:extLst>
          </p:cNvPr>
          <p:cNvPicPr>
            <a:picLocks noChangeAspect="1"/>
          </p:cNvPicPr>
          <p:nvPr userDrawn="1"/>
        </p:nvPicPr>
        <p:blipFill>
          <a:blip r:embed="rId2"/>
          <a:stretch>
            <a:fillRect/>
          </a:stretch>
        </p:blipFill>
        <p:spPr>
          <a:xfrm>
            <a:off x="523184" y="4642899"/>
            <a:ext cx="11166064" cy="1726545"/>
          </a:xfrm>
          <a:prstGeom prst="rect">
            <a:avLst/>
          </a:prstGeom>
        </p:spPr>
      </p:pic>
      <p:sp>
        <p:nvSpPr>
          <p:cNvPr id="2" name="Title 5">
            <a:extLst>
              <a:ext uri="{FF2B5EF4-FFF2-40B4-BE49-F238E27FC236}">
                <a16:creationId xmlns:a16="http://schemas.microsoft.com/office/drawing/2014/main" id="{C1FD0E27-16FD-06B3-648E-6F66E6721F68}"/>
              </a:ext>
            </a:extLst>
          </p:cNvPr>
          <p:cNvSpPr>
            <a:spLocks noGrp="1"/>
          </p:cNvSpPr>
          <p:nvPr>
            <p:ph type="title" hasCustomPrompt="1"/>
          </p:nvPr>
        </p:nvSpPr>
        <p:spPr>
          <a:xfrm>
            <a:off x="515937" y="3511316"/>
            <a:ext cx="6436191" cy="199285"/>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accent1"/>
                </a:solidFill>
                <a:latin typeface="Wallace Sans Light" pitchFamily="2" charset="0"/>
                <a:ea typeface="+mn-ea"/>
                <a:cs typeface="Wallace Sans Light" pitchFamily="2" charset="0"/>
              </a:defRPr>
            </a:lvl1pPr>
          </a:lstStyle>
          <a:p>
            <a:pPr marL="0" lvl="0" indent="0">
              <a:lnSpc>
                <a:spcPct val="90000"/>
              </a:lnSpc>
              <a:spcBef>
                <a:spcPts val="0"/>
              </a:spcBef>
              <a:buFont typeface="Arial" panose="020B0604020202020204" pitchFamily="34" charset="0"/>
            </a:pPr>
            <a:r>
              <a:rPr lang="en-US"/>
              <a:t>Contact information in Wallace Sans, size 14 pt, 1 line only</a:t>
            </a:r>
          </a:p>
        </p:txBody>
      </p:sp>
    </p:spTree>
    <p:extLst>
      <p:ext uri="{BB962C8B-B14F-4D97-AF65-F5344CB8AC3E}">
        <p14:creationId xmlns:p14="http://schemas.microsoft.com/office/powerpoint/2010/main" val="26355338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losing slide 2 (print friendly)">
    <p:bg>
      <p:bgPr>
        <a:solidFill>
          <a:schemeClr val="bg1"/>
        </a:solid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003C80ED-ECE6-0138-1816-BFECD06081D1}"/>
              </a:ext>
            </a:extLst>
          </p:cNvPr>
          <p:cNvCxnSpPr>
            <a:cxnSpLocks/>
          </p:cNvCxnSpPr>
          <p:nvPr userDrawn="1"/>
        </p:nvCxnSpPr>
        <p:spPr>
          <a:xfrm>
            <a:off x="514350" y="5374024"/>
            <a:ext cx="11155680"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pic>
        <p:nvPicPr>
          <p:cNvPr id="3" name="Picture 2">
            <a:extLst>
              <a:ext uri="{FF2B5EF4-FFF2-40B4-BE49-F238E27FC236}">
                <a16:creationId xmlns:a16="http://schemas.microsoft.com/office/drawing/2014/main" id="{3EC7874C-0997-404C-42D8-149C32681D24}"/>
              </a:ext>
            </a:extLst>
          </p:cNvPr>
          <p:cNvPicPr>
            <a:picLocks noChangeAspect="1"/>
          </p:cNvPicPr>
          <p:nvPr userDrawn="1"/>
        </p:nvPicPr>
        <p:blipFill>
          <a:blip r:embed="rId2"/>
          <a:stretch>
            <a:fillRect/>
          </a:stretch>
        </p:blipFill>
        <p:spPr>
          <a:xfrm>
            <a:off x="524256" y="5822676"/>
            <a:ext cx="11153394" cy="539270"/>
          </a:xfrm>
          <a:prstGeom prst="rect">
            <a:avLst/>
          </a:prstGeom>
        </p:spPr>
      </p:pic>
      <p:sp>
        <p:nvSpPr>
          <p:cNvPr id="2" name="Title 5">
            <a:extLst>
              <a:ext uri="{FF2B5EF4-FFF2-40B4-BE49-F238E27FC236}">
                <a16:creationId xmlns:a16="http://schemas.microsoft.com/office/drawing/2014/main" id="{8AF1893C-3760-04B6-847A-552756D78D7E}"/>
              </a:ext>
            </a:extLst>
          </p:cNvPr>
          <p:cNvSpPr>
            <a:spLocks noGrp="1"/>
          </p:cNvSpPr>
          <p:nvPr>
            <p:ph type="title" hasCustomPrompt="1"/>
          </p:nvPr>
        </p:nvSpPr>
        <p:spPr>
          <a:xfrm>
            <a:off x="515937" y="4774245"/>
            <a:ext cx="6436191" cy="199285"/>
          </a:xfrm>
        </p:spPr>
        <p:txBody>
          <a:bodyPr vert="horz" wrap="square" lIns="0" tIns="0" rIns="0" bIns="0" rtlCol="0">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accent1"/>
                </a:solidFill>
                <a:latin typeface="Wallace Sans Light" pitchFamily="2" charset="0"/>
                <a:ea typeface="+mn-ea"/>
                <a:cs typeface="Wallace Sans Light" pitchFamily="2" charset="0"/>
              </a:defRPr>
            </a:lvl1pPr>
          </a:lstStyle>
          <a:p>
            <a:pPr marL="0" lvl="0" indent="0">
              <a:lnSpc>
                <a:spcPct val="90000"/>
              </a:lnSpc>
              <a:spcBef>
                <a:spcPts val="0"/>
              </a:spcBef>
              <a:buFont typeface="Arial" panose="020B0604020202020204" pitchFamily="34" charset="0"/>
            </a:pPr>
            <a:r>
              <a:rPr lang="en-US"/>
              <a:t>Contact information in Wallace Sans, size 14 pt, 1 line only</a:t>
            </a:r>
          </a:p>
        </p:txBody>
      </p:sp>
    </p:spTree>
    <p:extLst>
      <p:ext uri="{BB962C8B-B14F-4D97-AF65-F5344CB8AC3E}">
        <p14:creationId xmlns:p14="http://schemas.microsoft.com/office/powerpoint/2010/main" val="560475468"/>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Closing slide 3 (print friendly)">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39BA03-6F12-1103-F3FC-686634635076}"/>
              </a:ext>
            </a:extLst>
          </p:cNvPr>
          <p:cNvPicPr>
            <a:picLocks noChangeAspect="1"/>
          </p:cNvPicPr>
          <p:nvPr userDrawn="1"/>
        </p:nvPicPr>
        <p:blipFill>
          <a:blip r:embed="rId2"/>
          <a:stretch>
            <a:fillRect/>
          </a:stretch>
        </p:blipFill>
        <p:spPr>
          <a:xfrm>
            <a:off x="524256" y="506114"/>
            <a:ext cx="11153394" cy="539270"/>
          </a:xfrm>
          <a:prstGeom prst="rect">
            <a:avLst/>
          </a:prstGeom>
        </p:spPr>
      </p:pic>
      <p:cxnSp>
        <p:nvCxnSpPr>
          <p:cNvPr id="2" name="Straight Connector 1">
            <a:extLst>
              <a:ext uri="{FF2B5EF4-FFF2-40B4-BE49-F238E27FC236}">
                <a16:creationId xmlns:a16="http://schemas.microsoft.com/office/drawing/2014/main" id="{090B7426-8D4F-3395-0A2B-3F53BAC23B8D}"/>
              </a:ext>
            </a:extLst>
          </p:cNvPr>
          <p:cNvCxnSpPr>
            <a:cxnSpLocks/>
          </p:cNvCxnSpPr>
          <p:nvPr userDrawn="1"/>
        </p:nvCxnSpPr>
        <p:spPr>
          <a:xfrm>
            <a:off x="515937" y="5724926"/>
            <a:ext cx="11155680" cy="0"/>
          </a:xfrm>
          <a:prstGeom prst="line">
            <a:avLst/>
          </a:prstGeom>
          <a:ln w="6350">
            <a:solidFill>
              <a:srgbClr val="000075"/>
            </a:solidFill>
          </a:ln>
        </p:spPr>
        <p:style>
          <a:lnRef idx="2">
            <a:schemeClr val="accent1"/>
          </a:lnRef>
          <a:fillRef idx="0">
            <a:schemeClr val="accent1"/>
          </a:fillRef>
          <a:effectRef idx="1">
            <a:schemeClr val="accent1"/>
          </a:effectRef>
          <a:fontRef idx="minor">
            <a:schemeClr val="tx1"/>
          </a:fontRef>
        </p:style>
      </p:cxnSp>
      <p:sp>
        <p:nvSpPr>
          <p:cNvPr id="8" name="Text Placeholder 9">
            <a:extLst>
              <a:ext uri="{FF2B5EF4-FFF2-40B4-BE49-F238E27FC236}">
                <a16:creationId xmlns:a16="http://schemas.microsoft.com/office/drawing/2014/main" id="{80567E17-8929-7C6B-40EE-AE69CA0DFA07}"/>
              </a:ext>
            </a:extLst>
          </p:cNvPr>
          <p:cNvSpPr>
            <a:spLocks noGrp="1"/>
          </p:cNvSpPr>
          <p:nvPr>
            <p:ph type="body" sz="quarter" idx="12" hasCustomPrompt="1"/>
          </p:nvPr>
        </p:nvSpPr>
        <p:spPr>
          <a:xfrm>
            <a:off x="515936" y="6068500"/>
            <a:ext cx="8335961" cy="199285"/>
          </a:xfrm>
        </p:spPr>
        <p:txBody>
          <a:bodyPr wrap="square">
            <a:spAutoFit/>
          </a:bodyPr>
          <a:lstStyle>
            <a:lvl1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accent1"/>
                </a:solidFill>
                <a:latin typeface="Wallace Sans Light" pitchFamily="2" charset="0"/>
                <a:ea typeface="+mn-ea"/>
                <a:cs typeface="Wallace Sans Light" pitchFamily="2" charset="0"/>
              </a:defRPr>
            </a:lvl1pPr>
            <a:lvl2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2pPr>
            <a:lvl3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3pPr>
            <a:lvl4pPr marL="0" indent="0" algn="l" defTabSz="914400" rtl="0" eaLnBrk="1" latinLnBrk="0" hangingPunct="1">
              <a:lnSpc>
                <a:spcPct val="90000"/>
              </a:lnSpc>
              <a:spcBef>
                <a:spcPts val="0"/>
              </a:spcBef>
              <a:buFont typeface="Arial" panose="020B0604020202020204" pitchFamily="34" charset="0"/>
              <a:buNone/>
              <a:defRPr lang="en-US" sz="1400" b="0" i="0" kern="100" spc="0" baseline="0" dirty="0" smtClean="0">
                <a:solidFill>
                  <a:schemeClr val="bg1"/>
                </a:solidFill>
                <a:latin typeface="Abbott Wallace Sans Light" pitchFamily="2" charset="77"/>
                <a:ea typeface="+mn-ea"/>
                <a:cs typeface="Abbott Wallace Sans Light" pitchFamily="2" charset="77"/>
              </a:defRPr>
            </a:lvl4pPr>
            <a:lvl5pPr marL="0" indent="0" algn="l" defTabSz="914400" rtl="0" eaLnBrk="1" latinLnBrk="0" hangingPunct="1">
              <a:lnSpc>
                <a:spcPct val="90000"/>
              </a:lnSpc>
              <a:spcBef>
                <a:spcPts val="0"/>
              </a:spcBef>
              <a:buFont typeface="Arial" panose="020B0604020202020204" pitchFamily="34" charset="0"/>
              <a:buNone/>
              <a:defRPr lang="en-US" sz="1400" b="0" i="0" kern="100" spc="0" baseline="0" dirty="0">
                <a:solidFill>
                  <a:schemeClr val="bg1"/>
                </a:solidFill>
                <a:latin typeface="Abbott Wallace Sans Light" pitchFamily="2" charset="77"/>
                <a:ea typeface="+mn-ea"/>
                <a:cs typeface="Abbott Wallace Sans Light" pitchFamily="2" charset="77"/>
              </a:defRPr>
            </a:lvl5pPr>
          </a:lstStyle>
          <a:p>
            <a:r>
              <a:rPr lang="en-US"/>
              <a:t>Contact information in Wallace Sans, size 14 pt, 1 line only</a:t>
            </a:r>
          </a:p>
        </p:txBody>
      </p:sp>
    </p:spTree>
    <p:extLst>
      <p:ext uri="{BB962C8B-B14F-4D97-AF65-F5344CB8AC3E}">
        <p14:creationId xmlns:p14="http://schemas.microsoft.com/office/powerpoint/2010/main" val="73694924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GRID (standard)">
    <p:spTree>
      <p:nvGrpSpPr>
        <p:cNvPr id="1" name=""/>
        <p:cNvGrpSpPr/>
        <p:nvPr/>
      </p:nvGrpSpPr>
      <p:grpSpPr>
        <a:xfrm>
          <a:off x="0" y="0"/>
          <a:ext cx="0" cy="0"/>
          <a:chOff x="0" y="0"/>
          <a:chExt cx="0" cy="0"/>
        </a:xfrm>
      </p:grpSpPr>
      <p:pic>
        <p:nvPicPr>
          <p:cNvPr id="2" name="Picture 1" descr="A blue and white striped background&#10;&#10;AI-generated content may be incorrect.">
            <a:extLst>
              <a:ext uri="{FF2B5EF4-FFF2-40B4-BE49-F238E27FC236}">
                <a16:creationId xmlns:a16="http://schemas.microsoft.com/office/drawing/2014/main" id="{0498760C-BF2F-BB25-0A3A-42D126B033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1999" cy="6857999"/>
          </a:xfrm>
          <a:prstGeom prst="rect">
            <a:avLst/>
          </a:prstGeom>
        </p:spPr>
      </p:pic>
      <p:pic>
        <p:nvPicPr>
          <p:cNvPr id="3" name="Picture 2">
            <a:extLst>
              <a:ext uri="{FF2B5EF4-FFF2-40B4-BE49-F238E27FC236}">
                <a16:creationId xmlns:a16="http://schemas.microsoft.com/office/drawing/2014/main" id="{5355C61F-313A-5F7F-F779-85A7C2D9974E}"/>
              </a:ext>
            </a:extLst>
          </p:cNvPr>
          <p:cNvPicPr>
            <a:picLocks noChangeAspect="1"/>
          </p:cNvPicPr>
          <p:nvPr userDrawn="1"/>
        </p:nvPicPr>
        <p:blipFill>
          <a:blip r:embed="rId3"/>
          <a:stretch>
            <a:fillRect/>
          </a:stretch>
        </p:blipFill>
        <p:spPr>
          <a:xfrm>
            <a:off x="48209" y="0"/>
            <a:ext cx="336722" cy="336722"/>
          </a:xfrm>
          <a:prstGeom prst="rect">
            <a:avLst/>
          </a:prstGeom>
        </p:spPr>
      </p:pic>
      <p:pic>
        <p:nvPicPr>
          <p:cNvPr id="4" name="Picture 3">
            <a:extLst>
              <a:ext uri="{FF2B5EF4-FFF2-40B4-BE49-F238E27FC236}">
                <a16:creationId xmlns:a16="http://schemas.microsoft.com/office/drawing/2014/main" id="{D6BA33F4-E34B-C131-7B08-9A74CCB2AF11}"/>
              </a:ext>
            </a:extLst>
          </p:cNvPr>
          <p:cNvPicPr>
            <a:picLocks noChangeAspect="1"/>
          </p:cNvPicPr>
          <p:nvPr userDrawn="1"/>
        </p:nvPicPr>
        <p:blipFill>
          <a:blip r:embed="rId3"/>
          <a:stretch>
            <a:fillRect/>
          </a:stretch>
        </p:blipFill>
        <p:spPr>
          <a:xfrm>
            <a:off x="-1" y="494674"/>
            <a:ext cx="504635" cy="504635"/>
          </a:xfrm>
          <a:prstGeom prst="rect">
            <a:avLst/>
          </a:prstGeom>
        </p:spPr>
      </p:pic>
      <p:pic>
        <p:nvPicPr>
          <p:cNvPr id="5" name="Picture 4">
            <a:extLst>
              <a:ext uri="{FF2B5EF4-FFF2-40B4-BE49-F238E27FC236}">
                <a16:creationId xmlns:a16="http://schemas.microsoft.com/office/drawing/2014/main" id="{463B5059-9425-1E80-1672-65EDC5DE52B7}"/>
              </a:ext>
            </a:extLst>
          </p:cNvPr>
          <p:cNvPicPr>
            <a:picLocks noChangeAspect="1"/>
          </p:cNvPicPr>
          <p:nvPr userDrawn="1"/>
        </p:nvPicPr>
        <p:blipFill>
          <a:blip r:embed="rId3"/>
          <a:stretch>
            <a:fillRect/>
          </a:stretch>
        </p:blipFill>
        <p:spPr>
          <a:xfrm>
            <a:off x="0" y="1378131"/>
            <a:ext cx="163286" cy="336722"/>
          </a:xfrm>
          <a:prstGeom prst="rect">
            <a:avLst/>
          </a:prstGeom>
        </p:spPr>
      </p:pic>
      <p:pic>
        <p:nvPicPr>
          <p:cNvPr id="6" name="Picture 5">
            <a:extLst>
              <a:ext uri="{FF2B5EF4-FFF2-40B4-BE49-F238E27FC236}">
                <a16:creationId xmlns:a16="http://schemas.microsoft.com/office/drawing/2014/main" id="{35FC86F5-772B-96C7-59FB-92B13D9B25DF}"/>
              </a:ext>
            </a:extLst>
          </p:cNvPr>
          <p:cNvPicPr>
            <a:picLocks noChangeAspect="1"/>
          </p:cNvPicPr>
          <p:nvPr userDrawn="1"/>
        </p:nvPicPr>
        <p:blipFill>
          <a:blip r:embed="rId3"/>
          <a:stretch>
            <a:fillRect/>
          </a:stretch>
        </p:blipFill>
        <p:spPr>
          <a:xfrm>
            <a:off x="170673" y="1963448"/>
            <a:ext cx="163286" cy="173436"/>
          </a:xfrm>
          <a:prstGeom prst="rect">
            <a:avLst/>
          </a:prstGeom>
        </p:spPr>
      </p:pic>
      <p:pic>
        <p:nvPicPr>
          <p:cNvPr id="8" name="Picture 7">
            <a:extLst>
              <a:ext uri="{FF2B5EF4-FFF2-40B4-BE49-F238E27FC236}">
                <a16:creationId xmlns:a16="http://schemas.microsoft.com/office/drawing/2014/main" id="{79108B17-3AA6-9B3C-563D-9E2B54149ADC}"/>
              </a:ext>
            </a:extLst>
          </p:cNvPr>
          <p:cNvPicPr>
            <a:picLocks noChangeAspect="1"/>
          </p:cNvPicPr>
          <p:nvPr userDrawn="1"/>
        </p:nvPicPr>
        <p:blipFill>
          <a:blip r:embed="rId4"/>
          <a:stretch>
            <a:fillRect/>
          </a:stretch>
        </p:blipFill>
        <p:spPr>
          <a:xfrm>
            <a:off x="5640294" y="0"/>
            <a:ext cx="911412" cy="6858000"/>
          </a:xfrm>
          <a:prstGeom prst="rect">
            <a:avLst/>
          </a:prstGeom>
        </p:spPr>
      </p:pic>
    </p:spTree>
    <p:extLst>
      <p:ext uri="{BB962C8B-B14F-4D97-AF65-F5344CB8AC3E}">
        <p14:creationId xmlns:p14="http://schemas.microsoft.com/office/powerpoint/2010/main" val="4168134687"/>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3547119"/>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FAC207-09BF-1D11-6FD4-0728766CCD70}"/>
              </a:ext>
            </a:extLst>
          </p:cNvPr>
          <p:cNvSpPr>
            <a:spLocks noGrp="1"/>
          </p:cNvSpPr>
          <p:nvPr>
            <p:ph type="title"/>
          </p:nvPr>
        </p:nvSpPr>
        <p:spPr>
          <a:xfrm>
            <a:off x="515937" y="419510"/>
            <a:ext cx="11160125" cy="1098205"/>
          </a:xfrm>
          <a:prstGeom prst="rect">
            <a:avLst/>
          </a:prstGeom>
        </p:spPr>
        <p:txBody>
          <a:bodyPr vert="horz" lIns="0" tIns="0" rIns="0" bIns="0" rtlCol="0" anchor="t">
            <a:normAutofit/>
          </a:bodyPr>
          <a:lstStyle/>
          <a:p>
            <a:r>
              <a:rPr lang="en-US"/>
              <a:t>Heading set in Wallace Sans Regular,</a:t>
            </a:r>
            <a:br>
              <a:rPr lang="en-US"/>
            </a:br>
            <a:r>
              <a:rPr lang="en-US"/>
              <a:t>28 points, max 2 lines</a:t>
            </a:r>
          </a:p>
        </p:txBody>
      </p:sp>
      <p:sp>
        <p:nvSpPr>
          <p:cNvPr id="7" name="Text Placeholder 6">
            <a:extLst>
              <a:ext uri="{FF2B5EF4-FFF2-40B4-BE49-F238E27FC236}">
                <a16:creationId xmlns:a16="http://schemas.microsoft.com/office/drawing/2014/main" id="{4CFAC9E3-5B4A-B4A5-5CA8-B481062250AB}"/>
              </a:ext>
            </a:extLst>
          </p:cNvPr>
          <p:cNvSpPr>
            <a:spLocks noGrp="1"/>
          </p:cNvSpPr>
          <p:nvPr>
            <p:ph type="body" idx="1"/>
          </p:nvPr>
        </p:nvSpPr>
        <p:spPr>
          <a:xfrm>
            <a:off x="515938" y="1628774"/>
            <a:ext cx="11160124"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085662234"/>
      </p:ext>
    </p:extLst>
  </p:cSld>
  <p:clrMap bg1="lt1" tx1="dk1" bg2="lt2" tx2="dk2" accent1="accent1" accent2="accent2" accent3="accent3" accent4="accent4" accent5="accent5" accent6="accent6" hlink="hlink" folHlink="folHlink"/>
  <p:sldLayoutIdLst>
    <p:sldLayoutId id="2147483986" r:id="rId1"/>
    <p:sldLayoutId id="2147484048" r:id="rId2"/>
    <p:sldLayoutId id="2147484034" r:id="rId3"/>
    <p:sldLayoutId id="2147484132" r:id="rId4"/>
    <p:sldLayoutId id="2147484131" r:id="rId5"/>
    <p:sldLayoutId id="2147484069" r:id="rId6"/>
    <p:sldLayoutId id="2147484070" r:id="rId7"/>
    <p:sldLayoutId id="2147484072" r:id="rId8"/>
    <p:sldLayoutId id="2147484059" r:id="rId9"/>
    <p:sldLayoutId id="2147484057" r:id="rId10"/>
    <p:sldLayoutId id="2147484056" r:id="rId11"/>
    <p:sldLayoutId id="2147484055" r:id="rId12"/>
    <p:sldLayoutId id="2147483972" r:id="rId13"/>
    <p:sldLayoutId id="2147484073" r:id="rId14"/>
    <p:sldLayoutId id="2147484139" r:id="rId15"/>
    <p:sldLayoutId id="2147484074" r:id="rId16"/>
    <p:sldLayoutId id="2147484075" r:id="rId17"/>
    <p:sldLayoutId id="2147484078" r:id="rId18"/>
    <p:sldLayoutId id="2147484079" r:id="rId19"/>
    <p:sldLayoutId id="2147484080" r:id="rId20"/>
    <p:sldLayoutId id="2147484081" r:id="rId21"/>
    <p:sldLayoutId id="2147484082" r:id="rId22"/>
    <p:sldLayoutId id="2147484083" r:id="rId23"/>
    <p:sldLayoutId id="2147484084" r:id="rId24"/>
    <p:sldLayoutId id="2147484085" r:id="rId25"/>
    <p:sldLayoutId id="2147484128" r:id="rId26"/>
    <p:sldLayoutId id="2147484086" r:id="rId27"/>
    <p:sldLayoutId id="2147484140" r:id="rId28"/>
    <p:sldLayoutId id="2147484087" r:id="rId29"/>
    <p:sldLayoutId id="2147484138" r:id="rId30"/>
    <p:sldLayoutId id="2147484137" r:id="rId31"/>
    <p:sldLayoutId id="2147484136" r:id="rId32"/>
    <p:sldLayoutId id="2147484135" r:id="rId33"/>
    <p:sldLayoutId id="2147484088" r:id="rId34"/>
    <p:sldLayoutId id="2147484089" r:id="rId35"/>
    <p:sldLayoutId id="2147484090" r:id="rId36"/>
    <p:sldLayoutId id="2147484077" r:id="rId37"/>
    <p:sldLayoutId id="2147484060" r:id="rId38"/>
    <p:sldLayoutId id="2147484061" r:id="rId39"/>
    <p:sldLayoutId id="2147484111" r:id="rId40"/>
    <p:sldLayoutId id="2147484062" r:id="rId41"/>
    <p:sldLayoutId id="2147484063" r:id="rId42"/>
    <p:sldLayoutId id="2147484112" r:id="rId43"/>
    <p:sldLayoutId id="2147484113" r:id="rId44"/>
    <p:sldLayoutId id="2147484114" r:id="rId45"/>
    <p:sldLayoutId id="2147484115" r:id="rId46"/>
    <p:sldLayoutId id="2147484116" r:id="rId47"/>
    <p:sldLayoutId id="2147484126" r:id="rId48"/>
    <p:sldLayoutId id="2147484127" r:id="rId49"/>
    <p:sldLayoutId id="2147484125" r:id="rId50"/>
    <p:sldLayoutId id="2147484124" r:id="rId51"/>
    <p:sldLayoutId id="2147484117" r:id="rId52"/>
    <p:sldLayoutId id="2147484118" r:id="rId53"/>
    <p:sldLayoutId id="2147484119" r:id="rId54"/>
    <p:sldLayoutId id="2147484120" r:id="rId55"/>
    <p:sldLayoutId id="2147484121" r:id="rId56"/>
    <p:sldLayoutId id="2147484122" r:id="rId57"/>
    <p:sldLayoutId id="2147484123" r:id="rId58"/>
    <p:sldLayoutId id="2147484129" r:id="rId59"/>
    <p:sldLayoutId id="2147484130" r:id="rId60"/>
    <p:sldLayoutId id="2147484071" r:id="rId61"/>
    <p:sldLayoutId id="2147484133" r:id="rId62"/>
    <p:sldLayoutId id="2147484050" r:id="rId63"/>
    <p:sldLayoutId id="2147484051" r:id="rId64"/>
    <p:sldLayoutId id="2147484053" r:id="rId65"/>
    <p:sldLayoutId id="2147484054" r:id="rId66"/>
    <p:sldLayoutId id="2147483700" r:id="rId67"/>
    <p:sldLayoutId id="2147484141" r:id="rId68"/>
  </p:sldLayoutIdLst>
  <p:hf hdr="0" ftr="0" dt="0"/>
  <p:txStyles>
    <p:titleStyle>
      <a:lvl1pPr marL="0" algn="l" defTabSz="914400" rtl="0" eaLnBrk="1" latinLnBrk="0" hangingPunct="1">
        <a:lnSpc>
          <a:spcPts val="3000"/>
        </a:lnSpc>
        <a:spcBef>
          <a:spcPts val="0"/>
        </a:spcBef>
        <a:buNone/>
        <a:defRPr lang="en-US" sz="2600" b="0" i="0" kern="1200" spc="-100" baseline="0" dirty="0">
          <a:solidFill>
            <a:srgbClr val="303030"/>
          </a:solidFill>
          <a:latin typeface="Wallace Serif" pitchFamily="2" charset="0"/>
          <a:ea typeface="+mj-ea"/>
          <a:cs typeface="Wallace Serif" pitchFamily="2" charset="0"/>
        </a:defRPr>
      </a:lvl1pPr>
    </p:titleStyle>
    <p:bodyStyle>
      <a:lvl1pPr marL="0" marR="0" indent="0" algn="l" defTabSz="914400" rtl="0" eaLnBrk="1" fontAlgn="auto" latinLnBrk="0" hangingPunct="1">
        <a:lnSpc>
          <a:spcPct val="100000"/>
        </a:lnSpc>
        <a:spcBef>
          <a:spcPts val="600"/>
        </a:spcBef>
        <a:spcAft>
          <a:spcPts val="0"/>
        </a:spcAft>
        <a:buClrTx/>
        <a:buSzTx/>
        <a:buFont typeface="Abbott Wallace Sans Light" pitchFamily="50" charset="0"/>
        <a:buNone/>
        <a:tabLst/>
        <a:defRPr sz="1600" b="0" i="0" kern="1200">
          <a:solidFill>
            <a:schemeClr val="tx1"/>
          </a:solidFill>
          <a:latin typeface="Wallace Sans Light" pitchFamily="2" charset="0"/>
          <a:ea typeface="+mn-ea"/>
          <a:cs typeface="Wallace Sans Light" pitchFamily="2" charset="0"/>
        </a:defRPr>
      </a:lvl1pPr>
      <a:lvl2pPr marL="219456" indent="-219456" algn="l" defTabSz="914400" rtl="0" eaLnBrk="1" latinLnBrk="0" hangingPunct="1">
        <a:lnSpc>
          <a:spcPct val="100000"/>
        </a:lnSpc>
        <a:spcBef>
          <a:spcPts val="1200"/>
        </a:spcBef>
        <a:buFont typeface="Arial" panose="020B0604020202020204" pitchFamily="34" charset="0"/>
        <a:buChar char="•"/>
        <a:defRPr sz="1400" b="0" i="0" kern="1200">
          <a:solidFill>
            <a:schemeClr val="tx1"/>
          </a:solidFill>
          <a:latin typeface="Wallace Sans Light" pitchFamily="2" charset="0"/>
          <a:ea typeface="+mn-ea"/>
          <a:cs typeface="Wallace Sans Light" pitchFamily="2" charset="0"/>
        </a:defRPr>
      </a:lvl2pPr>
      <a:lvl3pPr marL="414000" indent="-192024" algn="l" defTabSz="914400" rtl="0" eaLnBrk="1" latinLnBrk="0" hangingPunct="1">
        <a:lnSpc>
          <a:spcPct val="100000"/>
        </a:lnSpc>
        <a:spcBef>
          <a:spcPts val="900"/>
        </a:spcBef>
        <a:buFont typeface="Abbott Wallace Sans" pitchFamily="50" charset="0"/>
        <a:buChar char="−"/>
        <a:tabLst>
          <a:tab pos="357188" algn="l"/>
        </a:tabLst>
        <a:defRPr sz="1200" b="0" i="0" kern="1200">
          <a:solidFill>
            <a:schemeClr val="tx1"/>
          </a:solidFill>
          <a:latin typeface="Wallace Sans Light" pitchFamily="2" charset="0"/>
          <a:ea typeface="+mn-ea"/>
          <a:cs typeface="Wallace Sans Light" pitchFamily="2" charset="0"/>
        </a:defRPr>
      </a:lvl3pPr>
      <a:lvl4pPr marL="576000" indent="-164592" algn="l" defTabSz="914400" rtl="0" eaLnBrk="1" latinLnBrk="0" hangingPunct="1">
        <a:lnSpc>
          <a:spcPct val="100000"/>
        </a:lnSpc>
        <a:spcBef>
          <a:spcPts val="600"/>
        </a:spcBef>
        <a:buFont typeface="Abbott Wallace Sans" pitchFamily="50" charset="0"/>
        <a:buChar char="−"/>
        <a:defRPr sz="1100" b="0" i="0" kern="1200">
          <a:solidFill>
            <a:schemeClr val="tx1"/>
          </a:solidFill>
          <a:latin typeface="Wallace Sans Light" pitchFamily="2" charset="0"/>
          <a:ea typeface="+mn-ea"/>
          <a:cs typeface="Wallace Sans Light" pitchFamily="2" charset="0"/>
        </a:defRPr>
      </a:lvl4pPr>
      <a:lvl5pPr marL="738000" indent="-164592" algn="l" defTabSz="914400" rtl="0" eaLnBrk="1" latinLnBrk="0" hangingPunct="1">
        <a:lnSpc>
          <a:spcPct val="100000"/>
        </a:lnSpc>
        <a:spcBef>
          <a:spcPts val="600"/>
        </a:spcBef>
        <a:buFont typeface="Abbott Wallace Sans" pitchFamily="50" charset="0"/>
        <a:buChar char="−"/>
        <a:defRPr sz="1100" b="0" i="0" kern="1200">
          <a:solidFill>
            <a:schemeClr val="tx1"/>
          </a:solidFill>
          <a:latin typeface="Wallace Sans Light" pitchFamily="2" charset="0"/>
          <a:ea typeface="+mn-ea"/>
          <a:cs typeface="Wallace Sans Light"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23" userDrawn="1">
          <p15:clr>
            <a:srgbClr val="F26B43"/>
          </p15:clr>
        </p15:guide>
        <p15:guide id="2" pos="325" userDrawn="1">
          <p15:clr>
            <a:srgbClr val="F26B43"/>
          </p15:clr>
        </p15:guide>
        <p15:guide id="3" pos="7355" userDrawn="1">
          <p15:clr>
            <a:srgbClr val="F26B43"/>
          </p15:clr>
        </p15:guide>
        <p15:guide id="4" orient="horz" pos="3997" userDrawn="1">
          <p15:clr>
            <a:srgbClr val="F26B43"/>
          </p15:clr>
        </p15:guide>
        <p15:guide id="9" orient="horz" pos="1026" userDrawn="1">
          <p15:clr>
            <a:srgbClr val="F26B43"/>
          </p15:clr>
        </p15:guide>
        <p15:guide id="10" pos="3840" userDrawn="1">
          <p15:clr>
            <a:srgbClr val="F26B43"/>
          </p15:clr>
        </p15:guide>
        <p15:guide id="11" orient="horz" pos="754" userDrawn="1">
          <p15:clr>
            <a:srgbClr val="F26B43"/>
          </p15:clr>
        </p15:guide>
        <p15:guide id="12" orient="horz" pos="127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7BABA-578F-298C-E5E7-D47341E62D9D}"/>
              </a:ext>
            </a:extLst>
          </p:cNvPr>
          <p:cNvSpPr>
            <a:spLocks noGrp="1"/>
          </p:cNvSpPr>
          <p:nvPr>
            <p:ph type="title"/>
          </p:nvPr>
        </p:nvSpPr>
        <p:spPr>
          <a:xfrm>
            <a:off x="598672" y="1824946"/>
            <a:ext cx="11349487" cy="3550331"/>
          </a:xfrm>
        </p:spPr>
        <p:txBody>
          <a:bodyPr/>
          <a:lstStyle/>
          <a:p>
            <a:r>
              <a:rPr lang="en-US" dirty="0"/>
              <a:t>The Hidden Balance Sheet </a:t>
            </a:r>
            <a:br>
              <a:rPr lang="en-US" dirty="0"/>
            </a:br>
            <a:r>
              <a:rPr lang="en-US" sz="2800" i="1" dirty="0"/>
              <a:t>Cultural Debt with AI &amp; what it can Cost You</a:t>
            </a:r>
            <a:br>
              <a:rPr lang="en-US" sz="2800" i="1" dirty="0"/>
            </a:br>
            <a:r>
              <a:rPr lang="en-US" sz="2800" i="1" dirty="0"/>
              <a:t> </a:t>
            </a:r>
            <a:br>
              <a:rPr lang="en-US" dirty="0"/>
            </a:br>
            <a:br>
              <a:rPr lang="en-US" dirty="0"/>
            </a:br>
            <a:endParaRPr lang="en-US" dirty="0"/>
          </a:p>
        </p:txBody>
      </p:sp>
      <p:sp>
        <p:nvSpPr>
          <p:cNvPr id="3" name="Text Placeholder 2">
            <a:extLst>
              <a:ext uri="{FF2B5EF4-FFF2-40B4-BE49-F238E27FC236}">
                <a16:creationId xmlns:a16="http://schemas.microsoft.com/office/drawing/2014/main" id="{AEE91B18-078F-5120-5552-36F3F64E2856}"/>
              </a:ext>
            </a:extLst>
          </p:cNvPr>
          <p:cNvSpPr>
            <a:spLocks noGrp="1"/>
          </p:cNvSpPr>
          <p:nvPr>
            <p:ph type="body" sz="quarter" idx="20"/>
          </p:nvPr>
        </p:nvSpPr>
        <p:spPr>
          <a:xfrm>
            <a:off x="598673" y="4117614"/>
            <a:ext cx="5497327" cy="215444"/>
          </a:xfrm>
        </p:spPr>
        <p:txBody>
          <a:bodyPr/>
          <a:lstStyle/>
          <a:p>
            <a:r>
              <a:rPr lang="en-US" i="1" dirty="0"/>
              <a:t>A case for treating culture as infrastructure</a:t>
            </a:r>
          </a:p>
        </p:txBody>
      </p:sp>
    </p:spTree>
    <p:extLst>
      <p:ext uri="{BB962C8B-B14F-4D97-AF65-F5344CB8AC3E}">
        <p14:creationId xmlns:p14="http://schemas.microsoft.com/office/powerpoint/2010/main" val="31818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mj-lt"/>
              </a:rPr>
              <a:t>Executive Summary</a:t>
            </a:r>
          </a:p>
        </p:txBody>
      </p:sp>
      <p:sp>
        <p:nvSpPr>
          <p:cNvPr id="3" name="TextBox 2"/>
          <p:cNvSpPr txBox="1"/>
          <p:nvPr/>
        </p:nvSpPr>
        <p:spPr>
          <a:xfrm>
            <a:off x="375920" y="1190506"/>
            <a:ext cx="11440160" cy="338554"/>
          </a:xfrm>
          <a:prstGeom prst="rect">
            <a:avLst/>
          </a:prstGeom>
          <a:noFill/>
        </p:spPr>
        <p:txBody>
          <a:bodyPr wrap="square">
            <a:spAutoFit/>
          </a:bodyPr>
          <a:lstStyle/>
          <a:p>
            <a:pPr algn="l">
              <a:defRPr sz="1400" b="0" i="0">
                <a:solidFill>
                  <a:srgbClr val="1A1A1A"/>
                </a:solidFill>
                <a:latin typeface="Helvetica Neue"/>
              </a:defRPr>
            </a:pPr>
            <a:r>
              <a:rPr sz="1600" dirty="0">
                <a:latin typeface="+mj-lt"/>
              </a:rPr>
              <a:t>AI initiatives </a:t>
            </a:r>
            <a:r>
              <a:rPr lang="en-US" sz="1600" dirty="0">
                <a:latin typeface="+mj-lt"/>
              </a:rPr>
              <a:t>stall</a:t>
            </a:r>
            <a:r>
              <a:rPr sz="1600" dirty="0">
                <a:latin typeface="+mj-lt"/>
              </a:rPr>
              <a:t> at 70-85%</a:t>
            </a:r>
            <a:r>
              <a:rPr lang="en-US" sz="1600" dirty="0">
                <a:latin typeface="+mj-lt"/>
              </a:rPr>
              <a:t>, </a:t>
            </a:r>
            <a:r>
              <a:rPr sz="1600" dirty="0">
                <a:latin typeface="+mj-lt"/>
              </a:rPr>
              <a:t>not from bad technology, but from cultural debt that compounds with every </a:t>
            </a:r>
            <a:r>
              <a:rPr lang="en-US" sz="1600" dirty="0">
                <a:latin typeface="+mj-lt"/>
              </a:rPr>
              <a:t>mis-step </a:t>
            </a:r>
            <a:r>
              <a:rPr sz="1600" dirty="0">
                <a:latin typeface="+mj-lt"/>
              </a:rPr>
              <a:t>attempt.</a:t>
            </a:r>
          </a:p>
        </p:txBody>
      </p:sp>
      <p:graphicFrame>
        <p:nvGraphicFramePr>
          <p:cNvPr id="4" name="Table 3"/>
          <p:cNvGraphicFramePr>
            <a:graphicFrameLocks noGrp="1"/>
          </p:cNvGraphicFramePr>
          <p:nvPr>
            <p:extLst>
              <p:ext uri="{D42A27DB-BD31-4B8C-83A1-F6EECF244321}">
                <p14:modId xmlns:p14="http://schemas.microsoft.com/office/powerpoint/2010/main" val="307334947"/>
              </p:ext>
            </p:extLst>
          </p:nvPr>
        </p:nvGraphicFramePr>
        <p:xfrm>
          <a:off x="609600" y="2040842"/>
          <a:ext cx="10972800" cy="3079798"/>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582319">
                <a:tc>
                  <a:txBody>
                    <a:bodyPr/>
                    <a:lstStyle/>
                    <a:p>
                      <a:pPr>
                        <a:spcAft>
                          <a:spcPts val="200"/>
                        </a:spcAft>
                        <a:defRPr sz="1100" b="1">
                          <a:solidFill>
                            <a:srgbClr val="000050"/>
                          </a:solidFill>
                          <a:latin typeface="Helvetica Neue"/>
                        </a:defRPr>
                      </a:pPr>
                      <a:r>
                        <a:rPr sz="2000" dirty="0">
                          <a:latin typeface="+mn-lt"/>
                        </a:rPr>
                        <a:t>The Problem</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tc>
                  <a:txBody>
                    <a:bodyPr/>
                    <a:lstStyle/>
                    <a:p>
                      <a:pPr>
                        <a:spcAft>
                          <a:spcPts val="200"/>
                        </a:spcAft>
                        <a:defRPr sz="1100" b="1">
                          <a:solidFill>
                            <a:srgbClr val="000050"/>
                          </a:solidFill>
                          <a:latin typeface="Helvetica Neue"/>
                        </a:defRPr>
                      </a:pPr>
                      <a:r>
                        <a:rPr sz="2000" dirty="0">
                          <a:latin typeface="+mn-lt"/>
                        </a:rPr>
                        <a:t>The Hidden Cost</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tc>
                  <a:txBody>
                    <a:bodyPr/>
                    <a:lstStyle/>
                    <a:p>
                      <a:pPr>
                        <a:spcAft>
                          <a:spcPts val="200"/>
                        </a:spcAft>
                        <a:defRPr sz="1100" b="1">
                          <a:solidFill>
                            <a:srgbClr val="000050"/>
                          </a:solidFill>
                          <a:latin typeface="Helvetica Neue"/>
                        </a:defRPr>
                      </a:pPr>
                      <a:r>
                        <a:rPr sz="2000" dirty="0">
                          <a:latin typeface="+mn-lt"/>
                        </a:rPr>
                        <a:t>The Path Forward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DDDF8"/>
                    </a:solidFill>
                  </a:tcPr>
                </a:tc>
                <a:extLst>
                  <a:ext uri="{0D108BD9-81ED-4DB2-BD59-A6C34878D82A}">
                    <a16:rowId xmlns:a16="http://schemas.microsoft.com/office/drawing/2014/main" val="10000"/>
                  </a:ext>
                </a:extLst>
              </a:tr>
              <a:tr h="582319">
                <a:tc>
                  <a:txBody>
                    <a:bodyPr/>
                    <a:lstStyle/>
                    <a:p>
                      <a:pPr>
                        <a:spcAft>
                          <a:spcPts val="200"/>
                        </a:spcAft>
                        <a:defRPr sz="1100">
                          <a:solidFill>
                            <a:srgbClr val="1A1A1A"/>
                          </a:solidFill>
                          <a:latin typeface="Helvetica Neue"/>
                        </a:defRPr>
                      </a:pPr>
                      <a:r>
                        <a:rPr sz="1600" dirty="0">
                          <a:solidFill>
                            <a:schemeClr val="accent1"/>
                          </a:solidFill>
                          <a:latin typeface="+mn-lt"/>
                        </a:rPr>
                        <a:t>70-85%</a:t>
                      </a:r>
                      <a:r>
                        <a:rPr lang="en-US" sz="1600" dirty="0">
                          <a:solidFill>
                            <a:schemeClr val="accent1"/>
                          </a:solidFill>
                          <a:latin typeface="+mn-lt"/>
                        </a:rPr>
                        <a:t> </a:t>
                      </a:r>
                      <a:r>
                        <a:rPr lang="en-US" sz="1600" dirty="0">
                          <a:latin typeface="+mn-lt"/>
                        </a:rPr>
                        <a:t>Failure rate</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solidFill>
                            <a:schemeClr val="accent1"/>
                          </a:solidFill>
                          <a:latin typeface="+mn-lt"/>
                        </a:rPr>
                        <a:t>3x</a:t>
                      </a:r>
                      <a:r>
                        <a:rPr lang="en-US" sz="1600" dirty="0">
                          <a:latin typeface="+mn-lt"/>
                        </a:rPr>
                        <a:t> the initial cost</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lang="en-US" sz="1600" dirty="0">
                          <a:solidFill>
                            <a:schemeClr val="accent1"/>
                          </a:solidFill>
                          <a:latin typeface="+mn-lt"/>
                        </a:rPr>
                        <a:t>Invest in </a:t>
                      </a:r>
                      <a:r>
                        <a:rPr sz="1600" dirty="0">
                          <a:solidFill>
                            <a:schemeClr val="accent1"/>
                          </a:solidFill>
                          <a:latin typeface="+mn-lt"/>
                        </a:rPr>
                        <a:t>Culture </a:t>
                      </a:r>
                      <a:r>
                        <a:rPr sz="1600" dirty="0">
                          <a:latin typeface="+mn-lt"/>
                        </a:rPr>
                        <a:t>before code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623913">
                <a:tc>
                  <a:txBody>
                    <a:bodyPr/>
                    <a:lstStyle/>
                    <a:p>
                      <a:pPr>
                        <a:spcAft>
                          <a:spcPts val="200"/>
                        </a:spcAft>
                        <a:defRPr sz="1100">
                          <a:solidFill>
                            <a:srgbClr val="1A1A1A"/>
                          </a:solidFill>
                          <a:latin typeface="Helvetica Neue"/>
                        </a:defRPr>
                      </a:pPr>
                      <a:r>
                        <a:rPr sz="1600" dirty="0">
                          <a:latin typeface="+mn-lt"/>
                        </a:rPr>
                        <a:t>AI initiative failure rate across industries. </a:t>
                      </a:r>
                      <a:r>
                        <a:rPr sz="1600" b="0" dirty="0">
                          <a:latin typeface="+mn-lt"/>
                        </a:rPr>
                        <a:t>Technology</a:t>
                      </a:r>
                      <a:r>
                        <a:rPr sz="1600" dirty="0">
                          <a:latin typeface="+mn-lt"/>
                        </a:rPr>
                        <a:t> is rarely the cause.</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lang="en-US" sz="1600" dirty="0">
                          <a:latin typeface="+mn-lt"/>
                        </a:rPr>
                        <a:t>Research reveals h</a:t>
                      </a:r>
                      <a:r>
                        <a:rPr sz="1600" dirty="0">
                          <a:latin typeface="+mn-lt"/>
                        </a:rPr>
                        <a:t>igher failure rate on second attempt when cultural debt is unaddressed.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latin typeface="+mn-lt"/>
                        </a:rPr>
                        <a:t>Organizations that invest in cultural readiness see 2-3x higher adoption.</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828032">
                <a:tc>
                  <a:txBody>
                    <a:bodyPr/>
                    <a:lstStyle/>
                    <a:p>
                      <a:pPr marL="0" marR="0" lvl="0" indent="0" algn="l" defTabSz="457200" rtl="0" eaLnBrk="1" fontAlgn="auto" latinLnBrk="0" hangingPunct="1">
                        <a:lnSpc>
                          <a:spcPct val="100000"/>
                        </a:lnSpc>
                        <a:spcBef>
                          <a:spcPts val="0"/>
                        </a:spcBef>
                        <a:spcAft>
                          <a:spcPts val="200"/>
                        </a:spcAft>
                        <a:buClrTx/>
                        <a:buSzTx/>
                        <a:buFontTx/>
                        <a:buNone/>
                        <a:tabLst/>
                        <a:defRPr sz="1100">
                          <a:solidFill>
                            <a:srgbClr val="1A1A1A"/>
                          </a:solidFill>
                          <a:latin typeface="Helvetica Neue"/>
                        </a:defRPr>
                      </a:pPr>
                      <a:r>
                        <a:rPr sz="1600" b="1" dirty="0">
                          <a:latin typeface="+mn-lt"/>
                        </a:rPr>
                        <a:t>What's failing</a:t>
                      </a:r>
                      <a:r>
                        <a:rPr lang="en-US" sz="1600" b="1" dirty="0">
                          <a:latin typeface="+mn-lt"/>
                        </a:rPr>
                        <a:t> </a:t>
                      </a:r>
                      <a:r>
                        <a:rPr lang="en-US" sz="1600" dirty="0">
                          <a:latin typeface="+mn-lt"/>
                        </a:rPr>
                        <a:t>: Not the models, not the data, not the platforms , but the organization itself.</a:t>
                      </a:r>
                    </a:p>
                    <a:p>
                      <a:pPr>
                        <a:spcAft>
                          <a:spcPts val="200"/>
                        </a:spcAft>
                        <a:defRPr sz="1100">
                          <a:solidFill>
                            <a:srgbClr val="1A1A1A"/>
                          </a:solidFill>
                          <a:latin typeface="Helvetica Neue"/>
                        </a:defRPr>
                      </a:pP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spcAft>
                          <a:spcPts val="200"/>
                        </a:spcAft>
                        <a:defRPr sz="1100">
                          <a:solidFill>
                            <a:srgbClr val="1A1A1A"/>
                          </a:solidFill>
                          <a:latin typeface="Helvetica Neue"/>
                        </a:defRPr>
                      </a:pPr>
                      <a:r>
                        <a:rPr sz="1600" dirty="0">
                          <a:latin typeface="+mn-lt"/>
                        </a:rPr>
                        <a:t>What's compounding</a:t>
                      </a:r>
                      <a:r>
                        <a:rPr lang="en-US" sz="1600" dirty="0">
                          <a:latin typeface="+mn-lt"/>
                        </a:rPr>
                        <a:t>: Each failure breeds cynicism, shadow processes, and passive resistance</a:t>
                      </a: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457200" rtl="0" eaLnBrk="1" fontAlgn="auto" latinLnBrk="0" hangingPunct="1">
                        <a:lnSpc>
                          <a:spcPct val="100000"/>
                        </a:lnSpc>
                        <a:spcBef>
                          <a:spcPts val="0"/>
                        </a:spcBef>
                        <a:spcAft>
                          <a:spcPts val="200"/>
                        </a:spcAft>
                        <a:buClrTx/>
                        <a:buSzTx/>
                        <a:buFontTx/>
                        <a:buNone/>
                        <a:tabLst/>
                        <a:defRPr sz="1100">
                          <a:solidFill>
                            <a:srgbClr val="1A1A1A"/>
                          </a:solidFill>
                          <a:latin typeface="Helvetica Neue"/>
                        </a:defRPr>
                      </a:pPr>
                      <a:r>
                        <a:rPr sz="1600" dirty="0">
                          <a:latin typeface="+mn-lt"/>
                        </a:rPr>
                        <a:t>What works</a:t>
                      </a:r>
                      <a:r>
                        <a:rPr lang="en-US" sz="1600" dirty="0">
                          <a:latin typeface="+mn-lt"/>
                        </a:rPr>
                        <a:t>: Psychological safety, aligned incentives, and visible leadership commitment.</a:t>
                      </a:r>
                    </a:p>
                    <a:p>
                      <a:pPr>
                        <a:spcAft>
                          <a:spcPts val="200"/>
                        </a:spcAft>
                        <a:defRPr sz="1100">
                          <a:solidFill>
                            <a:srgbClr val="1A1A1A"/>
                          </a:solidFill>
                          <a:latin typeface="Helvetica Neue"/>
                        </a:defRPr>
                      </a:pPr>
                      <a:endParaRPr sz="1600" dirty="0">
                        <a:latin typeface="+mn-lt"/>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bl>
          </a:graphicData>
        </a:graphic>
      </p:graphicFrame>
      <p:sp>
        <p:nvSpPr>
          <p:cNvPr id="5" name="TextBox 4"/>
          <p:cNvSpPr txBox="1"/>
          <p:nvPr/>
        </p:nvSpPr>
        <p:spPr>
          <a:xfrm>
            <a:off x="548640" y="557784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Global Institute (2023); Gartner AI in the Enterprise (2024); MIT CISR (2024)</a:t>
            </a:r>
          </a:p>
        </p:txBody>
      </p:sp>
      <p:sp>
        <p:nvSpPr>
          <p:cNvPr id="6" name="TextBox 5"/>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mj-lt"/>
              </a:rPr>
              <a:t>What We'll Explore Today</a:t>
            </a:r>
          </a:p>
        </p:txBody>
      </p:sp>
      <p:sp>
        <p:nvSpPr>
          <p:cNvPr id="3" name="TextBox 2"/>
          <p:cNvSpPr txBox="1"/>
          <p:nvPr/>
        </p:nvSpPr>
        <p:spPr>
          <a:xfrm>
            <a:off x="1280160" y="18405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01</a:t>
            </a:r>
          </a:p>
        </p:txBody>
      </p:sp>
      <p:sp>
        <p:nvSpPr>
          <p:cNvPr id="4" name="TextBox 3"/>
          <p:cNvSpPr txBox="1"/>
          <p:nvPr/>
        </p:nvSpPr>
        <p:spPr>
          <a:xfrm>
            <a:off x="2743200" y="18405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Numbers</a:t>
            </a:r>
          </a:p>
        </p:txBody>
      </p:sp>
      <p:sp>
        <p:nvSpPr>
          <p:cNvPr id="5" name="TextBox 4"/>
          <p:cNvSpPr txBox="1"/>
          <p:nvPr/>
        </p:nvSpPr>
        <p:spPr>
          <a:xfrm>
            <a:off x="2743200" y="21605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Why 70-85% of AI initiatives fail </a:t>
            </a:r>
            <a:r>
              <a:rPr lang="en-US" dirty="0">
                <a:latin typeface="Wallace Sans Light" pitchFamily="2" charset="0"/>
              </a:rPr>
              <a:t>, </a:t>
            </a:r>
            <a:r>
              <a:rPr dirty="0">
                <a:latin typeface="Wallace Sans Light" pitchFamily="2" charset="0"/>
              </a:rPr>
              <a:t>and technology isn't the reason</a:t>
            </a:r>
          </a:p>
        </p:txBody>
      </p:sp>
      <p:sp>
        <p:nvSpPr>
          <p:cNvPr id="6" name="Rectangle 5"/>
          <p:cNvSpPr/>
          <p:nvPr/>
        </p:nvSpPr>
        <p:spPr>
          <a:xfrm>
            <a:off x="1280160" y="25720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27549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02</a:t>
            </a:r>
          </a:p>
        </p:txBody>
      </p:sp>
      <p:sp>
        <p:nvSpPr>
          <p:cNvPr id="8" name="TextBox 7"/>
          <p:cNvSpPr txBox="1"/>
          <p:nvPr/>
        </p:nvSpPr>
        <p:spPr>
          <a:xfrm>
            <a:off x="2743200" y="27549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Root Cause</a:t>
            </a:r>
          </a:p>
        </p:txBody>
      </p:sp>
      <p:sp>
        <p:nvSpPr>
          <p:cNvPr id="9" name="TextBox 8"/>
          <p:cNvSpPr txBox="1"/>
          <p:nvPr/>
        </p:nvSpPr>
        <p:spPr>
          <a:xfrm>
            <a:off x="2743200" y="30749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cultural debt is, how it compounds, and why no one tracks it</a:t>
            </a:r>
          </a:p>
        </p:txBody>
      </p:sp>
      <p:sp>
        <p:nvSpPr>
          <p:cNvPr id="10" name="Rectangle 9"/>
          <p:cNvSpPr/>
          <p:nvPr/>
        </p:nvSpPr>
        <p:spPr>
          <a:xfrm>
            <a:off x="1280160" y="34864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80160" y="36693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03</a:t>
            </a:r>
          </a:p>
        </p:txBody>
      </p:sp>
      <p:sp>
        <p:nvSpPr>
          <p:cNvPr id="12" name="TextBox 11"/>
          <p:cNvSpPr txBox="1"/>
          <p:nvPr/>
        </p:nvSpPr>
        <p:spPr>
          <a:xfrm>
            <a:off x="2743200" y="36693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Diagnosis</a:t>
            </a:r>
          </a:p>
        </p:txBody>
      </p:sp>
      <p:sp>
        <p:nvSpPr>
          <p:cNvPr id="13" name="TextBox 12"/>
          <p:cNvSpPr txBox="1"/>
          <p:nvPr/>
        </p:nvSpPr>
        <p:spPr>
          <a:xfrm>
            <a:off x="2743200" y="3989357"/>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Five cultural patterns </a:t>
            </a:r>
            <a:r>
              <a:rPr lang="en-US" dirty="0">
                <a:latin typeface="Wallace Sans Light" pitchFamily="2" charset="0"/>
              </a:rPr>
              <a:t>to monitor</a:t>
            </a:r>
            <a:endParaRPr dirty="0">
              <a:latin typeface="Wallace Sans Light" pitchFamily="2" charset="0"/>
            </a:endParaRPr>
          </a:p>
        </p:txBody>
      </p:sp>
      <p:sp>
        <p:nvSpPr>
          <p:cNvPr id="14" name="Rectangle 13"/>
          <p:cNvSpPr/>
          <p:nvPr/>
        </p:nvSpPr>
        <p:spPr>
          <a:xfrm>
            <a:off x="1280160" y="44008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280160" y="4583717"/>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04</a:t>
            </a:r>
          </a:p>
        </p:txBody>
      </p:sp>
      <p:sp>
        <p:nvSpPr>
          <p:cNvPr id="16" name="TextBox 15"/>
          <p:cNvSpPr txBox="1"/>
          <p:nvPr/>
        </p:nvSpPr>
        <p:spPr>
          <a:xfrm>
            <a:off x="2743200" y="4583717"/>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Path Forward</a:t>
            </a:r>
          </a:p>
        </p:txBody>
      </p:sp>
      <p:sp>
        <p:nvSpPr>
          <p:cNvPr id="17" name="TextBox 16"/>
          <p:cNvSpPr txBox="1"/>
          <p:nvPr/>
        </p:nvSpPr>
        <p:spPr>
          <a:xfrm>
            <a:off x="2743200" y="4903757"/>
            <a:ext cx="8229600" cy="292388"/>
          </a:xfrm>
          <a:prstGeom prst="rect">
            <a:avLst/>
          </a:prstGeom>
          <a:noFill/>
        </p:spPr>
        <p:txBody>
          <a:bodyPr wrap="square">
            <a:spAutoFit/>
          </a:bodyPr>
          <a:lstStyle/>
          <a:p>
            <a:pPr algn="l">
              <a:defRPr sz="1300" b="0" i="0">
                <a:solidFill>
                  <a:srgbClr val="1A1A1A"/>
                </a:solidFill>
                <a:latin typeface="Helvetica Neue"/>
              </a:defRPr>
            </a:pPr>
            <a:r>
              <a:rPr lang="en-US" dirty="0">
                <a:latin typeface="Wallace Sans Light" pitchFamily="2" charset="0"/>
              </a:rPr>
              <a:t>How</a:t>
            </a:r>
            <a:r>
              <a:rPr dirty="0">
                <a:latin typeface="Wallace Sans Light" pitchFamily="2" charset="0"/>
              </a:rPr>
              <a:t> organizations </a:t>
            </a:r>
            <a:r>
              <a:rPr lang="en-US" dirty="0">
                <a:latin typeface="Wallace Sans Light" pitchFamily="2" charset="0"/>
              </a:rPr>
              <a:t>can break the cultural debt Jam</a:t>
            </a:r>
            <a:endParaRPr dirty="0">
              <a:latin typeface="Wallace Sans Light" pitchFamily="2" charset="0"/>
            </a:endParaRPr>
          </a:p>
        </p:txBody>
      </p:sp>
      <p:sp>
        <p:nvSpPr>
          <p:cNvPr id="18" name="Rectangle 17"/>
          <p:cNvSpPr/>
          <p:nvPr/>
        </p:nvSpPr>
        <p:spPr>
          <a:xfrm>
            <a:off x="1280160" y="5315237"/>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lang="en-US" dirty="0">
                <a:latin typeface="Wallace Sans Light" pitchFamily="2" charset="0"/>
              </a:rPr>
              <a:t>State of Metrics &amp; Gaps</a:t>
            </a:r>
            <a:endParaRPr dirty="0">
              <a:latin typeface="Wallace Sans Light" pitchFamily="2" charset="0"/>
            </a:endParaRPr>
          </a:p>
        </p:txBody>
      </p:sp>
      <p:sp>
        <p:nvSpPr>
          <p:cNvPr id="3" name="TextBox 2"/>
          <p:cNvSpPr txBox="1"/>
          <p:nvPr/>
        </p:nvSpPr>
        <p:spPr>
          <a:xfrm>
            <a:off x="548640" y="1010615"/>
            <a:ext cx="10972800" cy="307777"/>
          </a:xfrm>
          <a:prstGeom prst="rect">
            <a:avLst/>
          </a:prstGeom>
          <a:noFill/>
        </p:spPr>
        <p:txBody>
          <a:bodyPr wrap="square">
            <a:spAutoFit/>
          </a:bodyPr>
          <a:lstStyle/>
          <a:p>
            <a:pPr algn="ctr">
              <a:defRPr sz="1400" b="0" i="0">
                <a:solidFill>
                  <a:srgbClr val="1A1A1A"/>
                </a:solidFill>
                <a:latin typeface="Helvetica Neue"/>
              </a:defRPr>
            </a:pPr>
            <a:r>
              <a:rPr b="1" dirty="0">
                <a:latin typeface="Wallace Sans Light" pitchFamily="2" charset="0"/>
              </a:rPr>
              <a:t>The technology works. The organization doesn’t change.</a:t>
            </a:r>
          </a:p>
        </p:txBody>
      </p:sp>
      <p:sp>
        <p:nvSpPr>
          <p:cNvPr id="4" name="TextBox 3"/>
          <p:cNvSpPr txBox="1"/>
          <p:nvPr/>
        </p:nvSpPr>
        <p:spPr>
          <a:xfrm>
            <a:off x="54864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70-85%</a:t>
            </a:r>
          </a:p>
        </p:txBody>
      </p:sp>
      <p:sp>
        <p:nvSpPr>
          <p:cNvPr id="5" name="TextBox 4"/>
          <p:cNvSpPr txBox="1"/>
          <p:nvPr/>
        </p:nvSpPr>
        <p:spPr>
          <a:xfrm>
            <a:off x="54864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 to deliver</a:t>
            </a:r>
            <a:br>
              <a:rPr dirty="0">
                <a:latin typeface="Wallace Sans Light" pitchFamily="2" charset="0"/>
              </a:rPr>
            </a:br>
            <a:r>
              <a:rPr dirty="0">
                <a:latin typeface="Wallace Sans Light" pitchFamily="2" charset="0"/>
              </a:rPr>
              <a:t>expected value</a:t>
            </a:r>
          </a:p>
        </p:txBody>
      </p:sp>
      <p:sp>
        <p:nvSpPr>
          <p:cNvPr id="6" name="TextBox 5"/>
          <p:cNvSpPr txBox="1"/>
          <p:nvPr/>
        </p:nvSpPr>
        <p:spPr>
          <a:xfrm>
            <a:off x="54864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latin typeface="Wallace Sans Light" pitchFamily="2" charset="0"/>
              </a:rPr>
              <a:t>Consistent across industries,</a:t>
            </a:r>
            <a:br>
              <a:rPr sz="1400" dirty="0">
                <a:latin typeface="Wallace Sans Light" pitchFamily="2" charset="0"/>
              </a:rPr>
            </a:br>
            <a:r>
              <a:rPr sz="1400" dirty="0">
                <a:latin typeface="Wallace Sans Light" pitchFamily="2" charset="0"/>
              </a:rPr>
              <a:t>company sizes, and geographies</a:t>
            </a:r>
          </a:p>
        </p:txBody>
      </p:sp>
      <p:sp>
        <p:nvSpPr>
          <p:cNvPr id="7" name="TextBox 6"/>
          <p:cNvSpPr txBox="1"/>
          <p:nvPr/>
        </p:nvSpPr>
        <p:spPr>
          <a:xfrm>
            <a:off x="338328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&lt;15%</a:t>
            </a:r>
          </a:p>
        </p:txBody>
      </p:sp>
      <p:sp>
        <p:nvSpPr>
          <p:cNvPr id="8" name="TextBox 7"/>
          <p:cNvSpPr txBox="1"/>
          <p:nvPr/>
        </p:nvSpPr>
        <p:spPr>
          <a:xfrm>
            <a:off x="338328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Failures attributed</a:t>
            </a:r>
            <a:br>
              <a:rPr dirty="0">
                <a:latin typeface="Wallace Sans Light" pitchFamily="2" charset="0"/>
              </a:rPr>
            </a:br>
            <a:r>
              <a:rPr dirty="0">
                <a:latin typeface="Wallace Sans Light" pitchFamily="2" charset="0"/>
              </a:rPr>
              <a:t>to technology</a:t>
            </a:r>
          </a:p>
        </p:txBody>
      </p:sp>
      <p:sp>
        <p:nvSpPr>
          <p:cNvPr id="9" name="TextBox 8"/>
          <p:cNvSpPr txBox="1"/>
          <p:nvPr/>
        </p:nvSpPr>
        <p:spPr>
          <a:xfrm>
            <a:off x="3383280" y="3383280"/>
            <a:ext cx="2560320" cy="954107"/>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Models work. Infrastructure works.</a:t>
            </a:r>
            <a:br>
              <a:rPr sz="1400" dirty="0">
                <a:solidFill>
                  <a:srgbClr val="1A1A1A"/>
                </a:solidFill>
                <a:latin typeface="Wallace Sans Light" pitchFamily="2" charset="0"/>
              </a:rPr>
            </a:br>
            <a:r>
              <a:rPr sz="1400" dirty="0">
                <a:solidFill>
                  <a:srgbClr val="1A1A1A"/>
                </a:solidFill>
                <a:latin typeface="Wallace Sans Light" pitchFamily="2" charset="0"/>
              </a:rPr>
              <a:t>The organization doesn’t adopt</a:t>
            </a:r>
            <a:r>
              <a:rPr dirty="0">
                <a:latin typeface="Wallace Sans Light" pitchFamily="2" charset="0"/>
              </a:rPr>
              <a:t>.</a:t>
            </a:r>
          </a:p>
        </p:txBody>
      </p:sp>
      <p:sp>
        <p:nvSpPr>
          <p:cNvPr id="10" name="TextBox 9"/>
          <p:cNvSpPr txBox="1"/>
          <p:nvPr/>
        </p:nvSpPr>
        <p:spPr>
          <a:xfrm>
            <a:off x="6248402" y="1588693"/>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#1 Cause</a:t>
            </a:r>
          </a:p>
        </p:txBody>
      </p:sp>
      <p:sp>
        <p:nvSpPr>
          <p:cNvPr id="11" name="TextBox 10"/>
          <p:cNvSpPr txBox="1"/>
          <p:nvPr/>
        </p:nvSpPr>
        <p:spPr>
          <a:xfrm>
            <a:off x="621792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Organizational and</a:t>
            </a:r>
            <a:br>
              <a:rPr dirty="0">
                <a:latin typeface="Wallace Sans Light" pitchFamily="2" charset="0"/>
              </a:rPr>
            </a:br>
            <a:r>
              <a:rPr dirty="0">
                <a:latin typeface="Wallace Sans Light" pitchFamily="2" charset="0"/>
              </a:rPr>
              <a:t>cultural resistance</a:t>
            </a:r>
          </a:p>
        </p:txBody>
      </p:sp>
      <p:sp>
        <p:nvSpPr>
          <p:cNvPr id="12" name="TextBox 11"/>
          <p:cNvSpPr txBox="1"/>
          <p:nvPr/>
        </p:nvSpPr>
        <p:spPr>
          <a:xfrm>
            <a:off x="621792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Change resistance, skill gaps,</a:t>
            </a:r>
            <a:br>
              <a:rPr sz="1400" dirty="0">
                <a:solidFill>
                  <a:srgbClr val="1A1A1A"/>
                </a:solidFill>
                <a:latin typeface="Wallace Sans Light" pitchFamily="2" charset="0"/>
              </a:rPr>
            </a:br>
            <a:r>
              <a:rPr sz="1400" dirty="0">
                <a:solidFill>
                  <a:srgbClr val="1A1A1A"/>
                </a:solidFill>
                <a:latin typeface="Wallace Sans Light" pitchFamily="2" charset="0"/>
              </a:rPr>
              <a:t>misaligned incentives, lack of trust</a:t>
            </a:r>
          </a:p>
        </p:txBody>
      </p:sp>
      <p:sp>
        <p:nvSpPr>
          <p:cNvPr id="13" name="TextBox 12"/>
          <p:cNvSpPr txBox="1"/>
          <p:nvPr/>
        </p:nvSpPr>
        <p:spPr>
          <a:xfrm>
            <a:off x="905256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$4.6T</a:t>
            </a:r>
          </a:p>
        </p:txBody>
      </p:sp>
      <p:sp>
        <p:nvSpPr>
          <p:cNvPr id="14" name="TextBox 13"/>
          <p:cNvSpPr txBox="1"/>
          <p:nvPr/>
        </p:nvSpPr>
        <p:spPr>
          <a:xfrm>
            <a:off x="905256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Projected global AI</a:t>
            </a:r>
            <a:br>
              <a:rPr dirty="0">
                <a:latin typeface="Wallace Sans Light" pitchFamily="2" charset="0"/>
              </a:rPr>
            </a:br>
            <a:r>
              <a:rPr dirty="0">
                <a:latin typeface="Wallace Sans Light" pitchFamily="2" charset="0"/>
              </a:rPr>
              <a:t>investment by 2027</a:t>
            </a:r>
          </a:p>
        </p:txBody>
      </p:sp>
      <p:sp>
        <p:nvSpPr>
          <p:cNvPr id="15" name="TextBox 14"/>
          <p:cNvSpPr txBox="1"/>
          <p:nvPr/>
        </p:nvSpPr>
        <p:spPr>
          <a:xfrm>
            <a:off x="9052560" y="3503369"/>
            <a:ext cx="2560320" cy="523220"/>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The majority at risk of</a:t>
            </a:r>
            <a:br>
              <a:rPr sz="1400" dirty="0">
                <a:solidFill>
                  <a:srgbClr val="1A1A1A"/>
                </a:solidFill>
                <a:latin typeface="Wallace Sans Light" pitchFamily="2" charset="0"/>
              </a:rPr>
            </a:br>
            <a:r>
              <a:rPr sz="1400" dirty="0">
                <a:solidFill>
                  <a:srgbClr val="1A1A1A"/>
                </a:solidFill>
                <a:latin typeface="Wallace Sans Light" pitchFamily="2" charset="0"/>
              </a:rPr>
              <a:t>delivering no return</a:t>
            </a:r>
          </a:p>
        </p:txBody>
      </p:sp>
      <p:sp>
        <p:nvSpPr>
          <p:cNvPr id="16" name="Rectangle 15"/>
          <p:cNvSpPr/>
          <p:nvPr/>
        </p:nvSpPr>
        <p:spPr>
          <a:xfrm>
            <a:off x="548640" y="461384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33600" y="470528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The gap between AI capability and organizational readiness is where value dies.</a:t>
            </a:r>
          </a:p>
        </p:txBody>
      </p:sp>
      <p:sp>
        <p:nvSpPr>
          <p:cNvPr id="18" name="TextBox 17"/>
          <p:cNvSpPr txBox="1"/>
          <p:nvPr/>
        </p:nvSpPr>
        <p:spPr>
          <a:xfrm>
            <a:off x="548640" y="566928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(2023); BCG AI Adoption Survey (2024); IDC AI Spending Guide (2025)</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Cultural Debt Compounds Like Technical Debt</a:t>
            </a:r>
            <a:r>
              <a:rPr lang="en-US" dirty="0">
                <a:latin typeface="Wallace Sans Light" pitchFamily="2" charset="0"/>
              </a:rPr>
              <a:t>; </a:t>
            </a:r>
            <a:r>
              <a:rPr dirty="0">
                <a:latin typeface="Wallace Sans Light" pitchFamily="2" charset="0"/>
              </a:rPr>
              <a:t>But No One Tracks It</a:t>
            </a:r>
          </a:p>
        </p:txBody>
      </p:sp>
      <p:sp>
        <p:nvSpPr>
          <p:cNvPr id="3" name="Rectangle 2"/>
          <p:cNvSpPr/>
          <p:nvPr/>
        </p:nvSpPr>
        <p:spPr>
          <a:xfrm>
            <a:off x="548640" y="1188720"/>
            <a:ext cx="5303520" cy="3474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80160"/>
            <a:ext cx="4754880" cy="461665"/>
          </a:xfrm>
          <a:prstGeom prst="rect">
            <a:avLst/>
          </a:prstGeom>
          <a:noFill/>
        </p:spPr>
        <p:txBody>
          <a:bodyPr wrap="square">
            <a:spAutoFit/>
          </a:bodyPr>
          <a:lstStyle/>
          <a:p>
            <a:pPr algn="l">
              <a:defRPr sz="2000" b="1" i="0">
                <a:solidFill>
                  <a:srgbClr val="000050"/>
                </a:solidFill>
                <a:latin typeface="Helvetica Neue"/>
              </a:defRPr>
            </a:pPr>
            <a:r>
              <a:rPr sz="2400" dirty="0">
                <a:latin typeface="Wallace Sans Light" pitchFamily="2" charset="0"/>
              </a:rPr>
              <a:t>Technical Debt</a:t>
            </a:r>
          </a:p>
        </p:txBody>
      </p:sp>
      <p:sp>
        <p:nvSpPr>
          <p:cNvPr id="5" name="TextBox 4"/>
          <p:cNvSpPr txBox="1"/>
          <p:nvPr/>
        </p:nvSpPr>
        <p:spPr>
          <a:xfrm>
            <a:off x="822960" y="18288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code that create future rework</a:t>
            </a:r>
          </a:p>
        </p:txBody>
      </p:sp>
      <p:sp>
        <p:nvSpPr>
          <p:cNvPr id="6" name="TextBox 5"/>
          <p:cNvSpPr txBox="1"/>
          <p:nvPr/>
        </p:nvSpPr>
        <p:spPr>
          <a:xfrm>
            <a:off x="82296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Visible in code reviews, build times, bug rates</a:t>
            </a:r>
          </a:p>
        </p:txBody>
      </p:sp>
      <p:sp>
        <p:nvSpPr>
          <p:cNvPr id="7" name="TextBox 6"/>
          <p:cNvSpPr txBox="1"/>
          <p:nvPr/>
        </p:nvSpPr>
        <p:spPr>
          <a:xfrm>
            <a:off x="82296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Tracked, measured, budgeted for</a:t>
            </a:r>
          </a:p>
        </p:txBody>
      </p:sp>
      <p:sp>
        <p:nvSpPr>
          <p:cNvPr id="8" name="TextBox 7"/>
          <p:cNvSpPr txBox="1"/>
          <p:nvPr/>
        </p:nvSpPr>
        <p:spPr>
          <a:xfrm>
            <a:off x="82296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system complexity grows</a:t>
            </a:r>
          </a:p>
        </p:txBody>
      </p:sp>
      <p:sp>
        <p:nvSpPr>
          <p:cNvPr id="9" name="TextBox 8"/>
          <p:cNvSpPr txBox="1"/>
          <p:nvPr/>
        </p:nvSpPr>
        <p:spPr>
          <a:xfrm>
            <a:off x="82296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refactor the code</a:t>
            </a:r>
          </a:p>
        </p:txBody>
      </p:sp>
      <p:sp>
        <p:nvSpPr>
          <p:cNvPr id="10" name="Rectangle 9"/>
          <p:cNvSpPr/>
          <p:nvPr/>
        </p:nvSpPr>
        <p:spPr>
          <a:xfrm>
            <a:off x="6217920" y="1188720"/>
            <a:ext cx="5303520" cy="347472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280160"/>
            <a:ext cx="4754880" cy="461665"/>
          </a:xfrm>
          <a:prstGeom prst="rect">
            <a:avLst/>
          </a:prstGeom>
          <a:noFill/>
        </p:spPr>
        <p:txBody>
          <a:bodyPr wrap="square">
            <a:spAutoFit/>
          </a:bodyPr>
          <a:lstStyle/>
          <a:p>
            <a:pPr algn="l">
              <a:defRPr sz="2000" b="1" i="0">
                <a:solidFill>
                  <a:srgbClr val="000050"/>
                </a:solidFill>
                <a:latin typeface="Helvetica Neue"/>
              </a:defRPr>
            </a:pPr>
            <a:r>
              <a:rPr sz="2400" dirty="0">
                <a:latin typeface="Wallace Sans Light" pitchFamily="2" charset="0"/>
              </a:rPr>
              <a:t>Cultural Debt</a:t>
            </a:r>
          </a:p>
        </p:txBody>
      </p:sp>
      <p:sp>
        <p:nvSpPr>
          <p:cNvPr id="12" name="TextBox 11"/>
          <p:cNvSpPr txBox="1"/>
          <p:nvPr/>
        </p:nvSpPr>
        <p:spPr>
          <a:xfrm>
            <a:off x="6492240" y="1828800"/>
            <a:ext cx="4754880" cy="492443"/>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change management that create future resistance</a:t>
            </a:r>
          </a:p>
        </p:txBody>
      </p:sp>
      <p:sp>
        <p:nvSpPr>
          <p:cNvPr id="13" name="TextBox 12"/>
          <p:cNvSpPr txBox="1"/>
          <p:nvPr/>
        </p:nvSpPr>
        <p:spPr>
          <a:xfrm>
            <a:off x="649224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Invisible until the next initiative stalls</a:t>
            </a:r>
          </a:p>
        </p:txBody>
      </p:sp>
      <p:sp>
        <p:nvSpPr>
          <p:cNvPr id="14" name="TextBox 13"/>
          <p:cNvSpPr txBox="1"/>
          <p:nvPr/>
        </p:nvSpPr>
        <p:spPr>
          <a:xfrm>
            <a:off x="649224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Untracked, unmeasured, unbudgeted</a:t>
            </a:r>
          </a:p>
        </p:txBody>
      </p:sp>
      <p:sp>
        <p:nvSpPr>
          <p:cNvPr id="15" name="TextBox 14"/>
          <p:cNvSpPr txBox="1"/>
          <p:nvPr/>
        </p:nvSpPr>
        <p:spPr>
          <a:xfrm>
            <a:off x="649224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organizational cynicism grows</a:t>
            </a:r>
          </a:p>
        </p:txBody>
      </p:sp>
      <p:sp>
        <p:nvSpPr>
          <p:cNvPr id="16" name="TextBox 15"/>
          <p:cNvSpPr txBox="1"/>
          <p:nvPr/>
        </p:nvSpPr>
        <p:spPr>
          <a:xfrm>
            <a:off x="649224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rebuild trust, realign incentives, invest in people</a:t>
            </a:r>
          </a:p>
        </p:txBody>
      </p:sp>
      <p:sp>
        <p:nvSpPr>
          <p:cNvPr id="17" name="Rectangle 16"/>
          <p:cNvSpPr/>
          <p:nvPr/>
        </p:nvSpPr>
        <p:spPr>
          <a:xfrm>
            <a:off x="548640" y="5085397"/>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latin typeface="Wallace Sans Light" pitchFamily="2" charset="0"/>
              </a:rPr>
              <a:t>Cultural debt accrues every time an organization deploys technology without investing in the humans who must adopt it</a:t>
            </a:r>
            <a:endParaRPr dirty="0"/>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a:t>
            </a:r>
            <a:r>
              <a:rPr lang="en-US" dirty="0">
                <a:latin typeface="Wallace Sans Light" pitchFamily="2" charset="0"/>
              </a:rPr>
              <a:t>Debt </a:t>
            </a:r>
            <a:r>
              <a:rPr dirty="0">
                <a:latin typeface="Wallace Sans Light" pitchFamily="2" charset="0"/>
              </a:rPr>
              <a:t>Patterns </a:t>
            </a:r>
            <a:r>
              <a:rPr lang="en-US" dirty="0">
                <a:latin typeface="Wallace Sans Light" pitchFamily="2" charset="0"/>
              </a:rPr>
              <a:t>&amp; their Implications</a:t>
            </a:r>
            <a:endParaRPr dirty="0">
              <a:latin typeface="Wallace Sans Light" pitchFamily="2" charset="0"/>
            </a:endParaRPr>
          </a:p>
        </p:txBody>
      </p:sp>
      <p:graphicFrame>
        <p:nvGraphicFramePr>
          <p:cNvPr id="3" name="Table 2"/>
          <p:cNvGraphicFramePr>
            <a:graphicFrameLocks noGrp="1"/>
          </p:cNvGraphicFramePr>
          <p:nvPr>
            <p:extLst>
              <p:ext uri="{D42A27DB-BD31-4B8C-83A1-F6EECF244321}">
                <p14:modId xmlns:p14="http://schemas.microsoft.com/office/powerpoint/2010/main" val="3203988812"/>
              </p:ext>
            </p:extLst>
          </p:nvPr>
        </p:nvGraphicFramePr>
        <p:xfrm>
          <a:off x="548640" y="1322592"/>
          <a:ext cx="10972800" cy="3921762"/>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53627">
                <a:tc>
                  <a:txBody>
                    <a:bodyPr/>
                    <a:lstStyle/>
                    <a:p>
                      <a:pPr>
                        <a:spcAft>
                          <a:spcPts val="200"/>
                        </a:spcAft>
                        <a:defRPr sz="1200" b="1">
                          <a:solidFill>
                            <a:srgbClr val="000050"/>
                          </a:solidFill>
                          <a:latin typeface="Helvetica Neue"/>
                        </a:defRPr>
                      </a:pPr>
                      <a:r>
                        <a:rPr sz="1400" b="1" i="0" dirty="0">
                          <a:latin typeface="Wallace Sans Light" pitchFamily="2" charset="0"/>
                        </a:rPr>
                        <a:t>Pattern</a:t>
                      </a:r>
                    </a:p>
                  </a:txBody>
                  <a:tcPr>
                    <a:solidFill>
                      <a:srgbClr val="DDDDF8"/>
                    </a:solidFill>
                  </a:tcPr>
                </a:tc>
                <a:tc>
                  <a:txBody>
                    <a:bodyPr/>
                    <a:lstStyle/>
                    <a:p>
                      <a:pPr>
                        <a:spcAft>
                          <a:spcPts val="200"/>
                        </a:spcAft>
                        <a:defRPr sz="1200" b="1">
                          <a:solidFill>
                            <a:srgbClr val="000050"/>
                          </a:solidFill>
                          <a:latin typeface="Helvetica Neue"/>
                        </a:defRPr>
                      </a:pPr>
                      <a:r>
                        <a:rPr sz="1400" b="1" i="0" dirty="0">
                          <a:latin typeface="Wallace Sans Light" pitchFamily="2" charset="0"/>
                        </a:rPr>
                        <a:t>What It Looks Like</a:t>
                      </a:r>
                    </a:p>
                  </a:txBody>
                  <a:tcPr>
                    <a:solidFill>
                      <a:srgbClr val="DDDDF8"/>
                    </a:solidFill>
                  </a:tcPr>
                </a:tc>
                <a:tc>
                  <a:txBody>
                    <a:bodyPr/>
                    <a:lstStyle/>
                    <a:p>
                      <a:pPr>
                        <a:spcAft>
                          <a:spcPts val="200"/>
                        </a:spcAft>
                        <a:defRPr sz="1200" b="1">
                          <a:solidFill>
                            <a:srgbClr val="000050"/>
                          </a:solidFill>
                          <a:latin typeface="Helvetica Neue"/>
                        </a:defRPr>
                      </a:pPr>
                      <a:r>
                        <a:rPr sz="1400" b="1" i="0" dirty="0">
                          <a:latin typeface="Wallace Sans Light" pitchFamily="2" charset="0"/>
                        </a:rPr>
                        <a:t>What It Costs</a:t>
                      </a:r>
                    </a:p>
                  </a:txBody>
                  <a:tcPr>
                    <a:solidFill>
                      <a:srgbClr val="DDDDF8"/>
                    </a:solidFill>
                  </a:tcPr>
                </a:tc>
                <a:extLst>
                  <a:ext uri="{0D108BD9-81ED-4DB2-BD59-A6C34878D82A}">
                    <a16:rowId xmlns:a16="http://schemas.microsoft.com/office/drawing/2014/main" val="10000"/>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Permission Culture</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wait for approval before experimenting</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Innovation dies in committee; competitors move faster</a:t>
                      </a:r>
                    </a:p>
                  </a:txBody>
                  <a:tcPr>
                    <a:noFill/>
                  </a:tcPr>
                </a:tc>
                <a:extLst>
                  <a:ext uri="{0D108BD9-81ED-4DB2-BD59-A6C34878D82A}">
                    <a16:rowId xmlns:a16="http://schemas.microsoft.com/office/drawing/2014/main" val="10001"/>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Metric Misalignment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AI success measured by deployment, not adoption</a:t>
                      </a:r>
                      <a:r>
                        <a:rPr lang="en-US" sz="1400" b="0" i="0" dirty="0">
                          <a:latin typeface="Wallace Sans Light" pitchFamily="2" charset="0"/>
                        </a:rPr>
                        <a:t>, value</a:t>
                      </a:r>
                      <a:endParaRPr sz="1400" b="0" i="0" dirty="0">
                        <a:latin typeface="Wallace Sans Light" pitchFamily="2" charset="0"/>
                      </a:endParaRP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ship models no one uses; declare victory anyway</a:t>
                      </a:r>
                    </a:p>
                  </a:txBody>
                  <a:tcPr>
                    <a:noFill/>
                  </a:tcPr>
                </a:tc>
                <a:extLst>
                  <a:ext uri="{0D108BD9-81ED-4DB2-BD59-A6C34878D82A}">
                    <a16:rowId xmlns:a16="http://schemas.microsoft.com/office/drawing/2014/main" val="10002"/>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Invisible Middle</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Middle management neither sponsors nor blocks</a:t>
                      </a:r>
                      <a:r>
                        <a:rPr lang="en-US" sz="1400" b="0" i="0" dirty="0">
                          <a:latin typeface="Wallace Sans Light" pitchFamily="2" charset="0"/>
                        </a:rPr>
                        <a:t>;</a:t>
                      </a:r>
                      <a:r>
                        <a:rPr sz="1400" b="0" i="0" dirty="0">
                          <a:latin typeface="Wallace Sans Light" pitchFamily="2" charset="0"/>
                        </a:rPr>
                        <a:t> they wait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Initiatives lose momentum in the layer that controls execution</a:t>
                      </a:r>
                    </a:p>
                  </a:txBody>
                  <a:tcPr>
                    <a:noFill/>
                  </a:tcPr>
                </a:tc>
                <a:extLst>
                  <a:ext uri="{0D108BD9-81ED-4DB2-BD59-A6C34878D82A}">
                    <a16:rowId xmlns:a16="http://schemas.microsoft.com/office/drawing/2014/main" val="10003"/>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Skills Theater</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Training programs check boxes but don’t build capability</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Teams attend workshops, return to old workflows Monday morning</a:t>
                      </a:r>
                    </a:p>
                  </a:txBody>
                  <a:tcPr>
                    <a:noFill/>
                  </a:tcPr>
                </a:tc>
                <a:extLst>
                  <a:ext uri="{0D108BD9-81ED-4DB2-BD59-A6C34878D82A}">
                    <a16:rowId xmlns:a16="http://schemas.microsoft.com/office/drawing/2014/main" val="10004"/>
                  </a:ext>
                </a:extLst>
              </a:tr>
              <a:tr h="653627">
                <a:tc>
                  <a:txBody>
                    <a:bodyPr/>
                    <a:lstStyle/>
                    <a:p>
                      <a:pPr>
                        <a:spcAft>
                          <a:spcPts val="200"/>
                        </a:spcAft>
                        <a:defRPr sz="1200">
                          <a:solidFill>
                            <a:srgbClr val="1A1A1A"/>
                          </a:solidFill>
                          <a:latin typeface="Helvetica Neue"/>
                        </a:defRPr>
                      </a:pPr>
                      <a:r>
                        <a:rPr sz="1400" b="0" i="0" dirty="0">
                          <a:latin typeface="Wallace Sans Light" pitchFamily="2" charset="0"/>
                        </a:rPr>
                        <a:t>Trust Deficit</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“AI will replace us” narrative goes unaddressed</a:t>
                      </a:r>
                    </a:p>
                  </a:txBody>
                  <a:tcPr>
                    <a:noFill/>
                  </a:tcPr>
                </a:tc>
                <a:tc>
                  <a:txBody>
                    <a:bodyPr/>
                    <a:lstStyle/>
                    <a:p>
                      <a:pPr>
                        <a:spcAft>
                          <a:spcPts val="200"/>
                        </a:spcAft>
                        <a:defRPr sz="1200">
                          <a:solidFill>
                            <a:srgbClr val="1A1A1A"/>
                          </a:solidFill>
                          <a:latin typeface="Helvetica Neue"/>
                        </a:defRPr>
                      </a:pPr>
                      <a:r>
                        <a:rPr sz="1400" b="0" i="0" dirty="0">
                          <a:latin typeface="Wallace Sans Light" pitchFamily="2" charset="0"/>
                        </a:rPr>
                        <a:t>Best talent disengages or leaves; adoption becomes coercion</a:t>
                      </a:r>
                    </a:p>
                  </a:txBody>
                  <a:tcPr>
                    <a:noFill/>
                  </a:tcPr>
                </a:tc>
                <a:extLst>
                  <a:ext uri="{0D108BD9-81ED-4DB2-BD59-A6C34878D82A}">
                    <a16:rowId xmlns:a16="http://schemas.microsoft.com/office/drawing/2014/main" val="10005"/>
                  </a:ext>
                </a:extLst>
              </a:tr>
            </a:tbl>
          </a:graphicData>
        </a:graphic>
      </p:graphicFrame>
      <p:sp>
        <p:nvSpPr>
          <p:cNvPr id="6" name="TextBox 5"/>
          <p:cNvSpPr txBox="1"/>
          <p:nvPr/>
        </p:nvSpPr>
        <p:spPr>
          <a:xfrm>
            <a:off x="548640" y="629920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6</a:t>
            </a:r>
          </a:p>
        </p:txBody>
      </p:sp>
      <p:sp>
        <p:nvSpPr>
          <p:cNvPr id="8" name="Rectangle 7">
            <a:extLst>
              <a:ext uri="{FF2B5EF4-FFF2-40B4-BE49-F238E27FC236}">
                <a16:creationId xmlns:a16="http://schemas.microsoft.com/office/drawing/2014/main" id="{45CBC60C-28B1-538E-69E3-F1FB4A2D1B42}"/>
              </a:ext>
            </a:extLst>
          </p:cNvPr>
          <p:cNvSpPr/>
          <p:nvPr/>
        </p:nvSpPr>
        <p:spPr>
          <a:xfrm>
            <a:off x="548640" y="512064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AE009815-B448-6612-327F-C96D3D279400}"/>
              </a:ext>
            </a:extLst>
          </p:cNvPr>
          <p:cNvSpPr txBox="1"/>
          <p:nvPr/>
        </p:nvSpPr>
        <p:spPr>
          <a:xfrm>
            <a:off x="914400" y="521208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10" name="TextBox 9">
            <a:extLst>
              <a:ext uri="{FF2B5EF4-FFF2-40B4-BE49-F238E27FC236}">
                <a16:creationId xmlns:a16="http://schemas.microsoft.com/office/drawing/2014/main" id="{C9973553-233C-908A-ECBB-EE94258BA341}"/>
              </a:ext>
            </a:extLst>
          </p:cNvPr>
          <p:cNvSpPr txBox="1"/>
          <p:nvPr/>
        </p:nvSpPr>
        <p:spPr>
          <a:xfrm>
            <a:off x="2286000" y="524435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Healthy skepticism — “Let’s see if this works”</a:t>
            </a:r>
          </a:p>
        </p:txBody>
      </p:sp>
      <p:sp>
        <p:nvSpPr>
          <p:cNvPr id="11" name="TextBox 10">
            <a:extLst>
              <a:ext uri="{FF2B5EF4-FFF2-40B4-BE49-F238E27FC236}">
                <a16:creationId xmlns:a16="http://schemas.microsoft.com/office/drawing/2014/main" id="{791D1557-CDA5-51E1-90EB-04E9F23404D6}"/>
              </a:ext>
            </a:extLst>
          </p:cNvPr>
          <p:cNvSpPr txBox="1"/>
          <p:nvPr/>
        </p:nvSpPr>
        <p:spPr>
          <a:xfrm>
            <a:off x="914400" y="546811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12" name="TextBox 11">
            <a:extLst>
              <a:ext uri="{FF2B5EF4-FFF2-40B4-BE49-F238E27FC236}">
                <a16:creationId xmlns:a16="http://schemas.microsoft.com/office/drawing/2014/main" id="{0C569D95-C474-274E-BD0A-22BEBB1AF0B6}"/>
              </a:ext>
            </a:extLst>
          </p:cNvPr>
          <p:cNvSpPr txBox="1"/>
          <p:nvPr/>
        </p:nvSpPr>
        <p:spPr>
          <a:xfrm>
            <a:off x="2286000" y="5468112"/>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Active resistance — “We tried this before”</a:t>
            </a:r>
          </a:p>
        </p:txBody>
      </p:sp>
      <p:sp>
        <p:nvSpPr>
          <p:cNvPr id="13" name="TextBox 12">
            <a:extLst>
              <a:ext uri="{FF2B5EF4-FFF2-40B4-BE49-F238E27FC236}">
                <a16:creationId xmlns:a16="http://schemas.microsoft.com/office/drawing/2014/main" id="{856D7A0F-0B98-67F3-2BF2-D7A420EBEF33}"/>
              </a:ext>
            </a:extLst>
          </p:cNvPr>
          <p:cNvSpPr txBox="1"/>
          <p:nvPr/>
        </p:nvSpPr>
        <p:spPr>
          <a:xfrm>
            <a:off x="914400" y="572414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14" name="TextBox 13">
            <a:extLst>
              <a:ext uri="{FF2B5EF4-FFF2-40B4-BE49-F238E27FC236}">
                <a16:creationId xmlns:a16="http://schemas.microsoft.com/office/drawing/2014/main" id="{7BF01A85-4F5B-EF23-8518-FBAE4F566706}"/>
              </a:ext>
            </a:extLst>
          </p:cNvPr>
          <p:cNvSpPr txBox="1"/>
          <p:nvPr/>
        </p:nvSpPr>
        <p:spPr>
          <a:xfrm>
            <a:off x="2286000" y="572414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Organizational antibodies — “AI doesn’t work here”</a:t>
            </a:r>
          </a:p>
        </p:txBody>
      </p:sp>
      <p:sp>
        <p:nvSpPr>
          <p:cNvPr id="15" name="TextBox 14">
            <a:extLst>
              <a:ext uri="{FF2B5EF4-FFF2-40B4-BE49-F238E27FC236}">
                <a16:creationId xmlns:a16="http://schemas.microsoft.com/office/drawing/2014/main" id="{09D9E1B8-523B-E091-52DE-E0CB514D93B3}"/>
              </a:ext>
            </a:extLst>
          </p:cNvPr>
          <p:cNvSpPr txBox="1"/>
          <p:nvPr/>
        </p:nvSpPr>
        <p:spPr>
          <a:xfrm>
            <a:off x="914400" y="598017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16" name="TextBox 15">
            <a:extLst>
              <a:ext uri="{FF2B5EF4-FFF2-40B4-BE49-F238E27FC236}">
                <a16:creationId xmlns:a16="http://schemas.microsoft.com/office/drawing/2014/main" id="{FC067FF7-D7BB-BA90-7D4B-4B9416720142}"/>
              </a:ext>
            </a:extLst>
          </p:cNvPr>
          <p:cNvSpPr txBox="1"/>
          <p:nvPr/>
        </p:nvSpPr>
        <p:spPr>
          <a:xfrm>
            <a:off x="2286000" y="5980176"/>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Structural inability — the best people have stopped engaging</a:t>
            </a:r>
          </a:p>
        </p:txBody>
      </p:sp>
      <p:sp>
        <p:nvSpPr>
          <p:cNvPr id="17" name="TextBox 16">
            <a:extLst>
              <a:ext uri="{FF2B5EF4-FFF2-40B4-BE49-F238E27FC236}">
                <a16:creationId xmlns:a16="http://schemas.microsoft.com/office/drawing/2014/main" id="{FEB505C5-D3E4-7283-92F5-3079DF499EBB}"/>
              </a:ext>
            </a:extLst>
          </p:cNvPr>
          <p:cNvSpPr txBox="1"/>
          <p:nvPr/>
        </p:nvSpPr>
        <p:spPr>
          <a:xfrm>
            <a:off x="8971280" y="612590"/>
            <a:ext cx="3027680" cy="584775"/>
          </a:xfrm>
          <a:prstGeom prst="rect">
            <a:avLst/>
          </a:prstGeom>
          <a:noFill/>
        </p:spPr>
        <p:txBody>
          <a:bodyPr wrap="square">
            <a:spAutoFit/>
          </a:bodyPr>
          <a:lstStyle/>
          <a:p>
            <a:pPr algn="ctr">
              <a:defRPr sz="1400" b="1" i="0">
                <a:solidFill>
                  <a:srgbClr val="000050"/>
                </a:solidFill>
                <a:latin typeface="Helvetica Neue"/>
              </a:defRPr>
            </a:pPr>
            <a:r>
              <a:rPr sz="1600" i="1" dirty="0">
                <a:latin typeface="Wallace Sans Light" pitchFamily="2" charset="0"/>
              </a:rPr>
              <a:t>If even two of these patterns are present, the initiative is at risk.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7547E1B-9D6E-AE87-86CC-E1F56E797B7D}"/>
              </a:ext>
            </a:extLst>
          </p:cNvPr>
          <p:cNvSpPr txBox="1"/>
          <p:nvPr/>
        </p:nvSpPr>
        <p:spPr>
          <a:xfrm>
            <a:off x="457200" y="411480"/>
            <a:ext cx="11277600" cy="584775"/>
          </a:xfrm>
          <a:prstGeom prst="rect">
            <a:avLst/>
          </a:prstGeom>
          <a:noFill/>
        </p:spPr>
        <p:txBody>
          <a:bodyPr wrap="square">
            <a:spAutoFit/>
          </a:bodyPr>
          <a:lstStyle/>
          <a:p>
            <a:pPr>
              <a:defRPr sz="2400" b="0" i="0">
                <a:solidFill>
                  <a:srgbClr val="000050"/>
                </a:solidFill>
                <a:latin typeface="Helvetica Neue"/>
              </a:defRPr>
            </a:pPr>
            <a:r>
              <a:rPr sz="3200" dirty="0">
                <a:solidFill>
                  <a:srgbClr val="000050"/>
                </a:solidFill>
                <a:latin typeface="Wallace Sans Light" pitchFamily="2" charset="0"/>
              </a:rPr>
              <a:t>Behaviorally Agile Organizations Adopt AI 12× Faster</a:t>
            </a:r>
          </a:p>
        </p:txBody>
      </p:sp>
      <p:sp>
        <p:nvSpPr>
          <p:cNvPr id="15" name="TextBox 14">
            <a:extLst>
              <a:ext uri="{FF2B5EF4-FFF2-40B4-BE49-F238E27FC236}">
                <a16:creationId xmlns:a16="http://schemas.microsoft.com/office/drawing/2014/main" id="{4EDB8727-7BFF-B6B3-463A-B1173B747589}"/>
              </a:ext>
            </a:extLst>
          </p:cNvPr>
          <p:cNvSpPr txBox="1"/>
          <p:nvPr/>
        </p:nvSpPr>
        <p:spPr>
          <a:xfrm>
            <a:off x="736600" y="1348740"/>
            <a:ext cx="11277600" cy="338554"/>
          </a:xfrm>
          <a:prstGeom prst="rect">
            <a:avLst/>
          </a:prstGeom>
          <a:noFill/>
        </p:spPr>
        <p:txBody>
          <a:bodyPr wrap="square">
            <a:spAutoFit/>
          </a:bodyPr>
          <a:lstStyle/>
          <a:p>
            <a:pPr algn="ctr">
              <a:defRPr sz="1400" b="1" i="0">
                <a:solidFill>
                  <a:srgbClr val="3333AA"/>
                </a:solidFill>
                <a:latin typeface="Helvetica Neue"/>
              </a:defRPr>
            </a:pPr>
            <a:r>
              <a:rPr sz="1600" b="1" i="1" dirty="0">
                <a:solidFill>
                  <a:srgbClr val="3333AA"/>
                </a:solidFill>
                <a:latin typeface="Wallace Sans Light" pitchFamily="2" charset="0"/>
              </a:rPr>
              <a:t>The human system not the technology determines who wins the AI race.</a:t>
            </a:r>
          </a:p>
        </p:txBody>
      </p:sp>
      <p:sp>
        <p:nvSpPr>
          <p:cNvPr id="16" name="Rectangle 15">
            <a:extLst>
              <a:ext uri="{FF2B5EF4-FFF2-40B4-BE49-F238E27FC236}">
                <a16:creationId xmlns:a16="http://schemas.microsoft.com/office/drawing/2014/main" id="{C7B50F39-F5E1-DC99-5752-BB05C9B92D9A}"/>
              </a:ext>
            </a:extLst>
          </p:cNvPr>
          <p:cNvSpPr/>
          <p:nvPr/>
        </p:nvSpPr>
        <p:spPr>
          <a:xfrm>
            <a:off x="1684020" y="2390140"/>
            <a:ext cx="2377440" cy="2560320"/>
          </a:xfrm>
          <a:prstGeom prst="rect">
            <a:avLst/>
          </a:prstGeom>
          <a:solidFill>
            <a:schemeClr val="bg2"/>
          </a:solidFill>
          <a:ln>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E676570B-8BB8-3B88-4321-A56CE8DE3D98}"/>
              </a:ext>
            </a:extLst>
          </p:cNvPr>
          <p:cNvSpPr txBox="1"/>
          <p:nvPr/>
        </p:nvSpPr>
        <p:spPr>
          <a:xfrm>
            <a:off x="1684020" y="2573020"/>
            <a:ext cx="2377440" cy="1097280"/>
          </a:xfrm>
          <a:prstGeom prst="rect">
            <a:avLst/>
          </a:prstGeom>
          <a:noFill/>
        </p:spPr>
        <p:txBody>
          <a:bodyPr wrap="none">
            <a:spAutoFit/>
          </a:bodyPr>
          <a:lstStyle/>
          <a:p>
            <a:pPr algn="ctr"/>
            <a:r>
              <a:rPr sz="5200" b="1">
                <a:solidFill>
                  <a:srgbClr val="007AC2"/>
                </a:solidFill>
              </a:rPr>
              <a:t>12×</a:t>
            </a:r>
          </a:p>
        </p:txBody>
      </p:sp>
      <p:sp>
        <p:nvSpPr>
          <p:cNvPr id="18" name="TextBox 17">
            <a:extLst>
              <a:ext uri="{FF2B5EF4-FFF2-40B4-BE49-F238E27FC236}">
                <a16:creationId xmlns:a16="http://schemas.microsoft.com/office/drawing/2014/main" id="{DB1C9215-E257-8BD1-E8E4-0BC7FD1DFAB5}"/>
              </a:ext>
            </a:extLst>
          </p:cNvPr>
          <p:cNvSpPr txBox="1"/>
          <p:nvPr/>
        </p:nvSpPr>
        <p:spPr>
          <a:xfrm>
            <a:off x="1821180" y="3578860"/>
            <a:ext cx="2103120" cy="523220"/>
          </a:xfrm>
          <a:prstGeom prst="rect">
            <a:avLst/>
          </a:prstGeom>
          <a:noFill/>
        </p:spPr>
        <p:txBody>
          <a:bodyPr wrap="square">
            <a:spAutoFit/>
          </a:bodyPr>
          <a:lstStyle/>
          <a:p>
            <a:pPr algn="ctr"/>
            <a:r>
              <a:rPr sz="1400" dirty="0"/>
              <a:t>Faster adoption
vs. slowest orgs</a:t>
            </a:r>
          </a:p>
        </p:txBody>
      </p:sp>
      <p:sp>
        <p:nvSpPr>
          <p:cNvPr id="19" name="Rectangle 18">
            <a:extLst>
              <a:ext uri="{FF2B5EF4-FFF2-40B4-BE49-F238E27FC236}">
                <a16:creationId xmlns:a16="http://schemas.microsoft.com/office/drawing/2014/main" id="{082EEB5D-3C13-5B58-D2F2-2AA9C9C21F46}"/>
              </a:ext>
            </a:extLst>
          </p:cNvPr>
          <p:cNvSpPr/>
          <p:nvPr/>
        </p:nvSpPr>
        <p:spPr>
          <a:xfrm>
            <a:off x="4335780" y="2390140"/>
            <a:ext cx="2377440" cy="2560320"/>
          </a:xfrm>
          <a:prstGeom prst="rect">
            <a:avLst/>
          </a:prstGeom>
          <a:solidFill>
            <a:schemeClr val="bg2"/>
          </a:solidFill>
          <a:ln>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642ECDE9-DA17-5ED9-95FB-0D7D46E7328A}"/>
              </a:ext>
            </a:extLst>
          </p:cNvPr>
          <p:cNvSpPr txBox="1"/>
          <p:nvPr/>
        </p:nvSpPr>
        <p:spPr>
          <a:xfrm>
            <a:off x="4335780" y="2573020"/>
            <a:ext cx="2377440" cy="1097280"/>
          </a:xfrm>
          <a:prstGeom prst="rect">
            <a:avLst/>
          </a:prstGeom>
          <a:noFill/>
        </p:spPr>
        <p:txBody>
          <a:bodyPr wrap="none">
            <a:spAutoFit/>
          </a:bodyPr>
          <a:lstStyle/>
          <a:p>
            <a:pPr algn="ctr"/>
            <a:r>
              <a:rPr sz="5200" b="1" dirty="0">
                <a:solidFill>
                  <a:srgbClr val="F0A500"/>
                </a:solidFill>
              </a:rPr>
              <a:t>6×</a:t>
            </a:r>
          </a:p>
        </p:txBody>
      </p:sp>
      <p:sp>
        <p:nvSpPr>
          <p:cNvPr id="21" name="TextBox 20">
            <a:extLst>
              <a:ext uri="{FF2B5EF4-FFF2-40B4-BE49-F238E27FC236}">
                <a16:creationId xmlns:a16="http://schemas.microsoft.com/office/drawing/2014/main" id="{451C3EFC-8E8F-781A-DCC8-B4339F5F3E7E}"/>
              </a:ext>
            </a:extLst>
          </p:cNvPr>
          <p:cNvSpPr txBox="1"/>
          <p:nvPr/>
        </p:nvSpPr>
        <p:spPr>
          <a:xfrm>
            <a:off x="4472940" y="3578860"/>
            <a:ext cx="2103120" cy="738664"/>
          </a:xfrm>
          <a:prstGeom prst="rect">
            <a:avLst/>
          </a:prstGeom>
          <a:noFill/>
        </p:spPr>
        <p:txBody>
          <a:bodyPr wrap="square">
            <a:spAutoFit/>
          </a:bodyPr>
          <a:lstStyle/>
          <a:p>
            <a:pPr algn="ctr"/>
            <a:r>
              <a:rPr sz="1400" dirty="0"/>
              <a:t>More likely to achieve
full breakthrough adoption</a:t>
            </a:r>
          </a:p>
        </p:txBody>
      </p:sp>
      <p:sp>
        <p:nvSpPr>
          <p:cNvPr id="22" name="Rectangle 21">
            <a:extLst>
              <a:ext uri="{FF2B5EF4-FFF2-40B4-BE49-F238E27FC236}">
                <a16:creationId xmlns:a16="http://schemas.microsoft.com/office/drawing/2014/main" id="{1B2B1599-CA2B-A5FF-75C7-72EE9B0DCBFB}"/>
              </a:ext>
            </a:extLst>
          </p:cNvPr>
          <p:cNvSpPr/>
          <p:nvPr/>
        </p:nvSpPr>
        <p:spPr>
          <a:xfrm>
            <a:off x="6987540" y="2390140"/>
            <a:ext cx="2377440" cy="2560320"/>
          </a:xfrm>
          <a:prstGeom prst="rect">
            <a:avLst/>
          </a:prstGeom>
          <a:solidFill>
            <a:schemeClr val="bg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B9B4352-F1EF-9C82-85BF-78F38D590495}"/>
              </a:ext>
            </a:extLst>
          </p:cNvPr>
          <p:cNvSpPr txBox="1"/>
          <p:nvPr/>
        </p:nvSpPr>
        <p:spPr>
          <a:xfrm>
            <a:off x="7620226" y="2573020"/>
            <a:ext cx="1112068" cy="706120"/>
          </a:xfrm>
          <a:prstGeom prst="rect">
            <a:avLst/>
          </a:prstGeom>
          <a:solidFill>
            <a:schemeClr val="bg2"/>
          </a:solidFill>
          <a:ln>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algn="ctr">
              <a:defRPr>
                <a:solidFill>
                  <a:schemeClr val="lt1"/>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sz="3200" dirty="0">
                <a:solidFill>
                  <a:schemeClr val="accent1">
                    <a:lumMod val="75000"/>
                  </a:schemeClr>
                </a:solidFill>
              </a:rPr>
              <a:t>2×</a:t>
            </a:r>
          </a:p>
        </p:txBody>
      </p:sp>
      <p:sp>
        <p:nvSpPr>
          <p:cNvPr id="24" name="TextBox 23">
            <a:extLst>
              <a:ext uri="{FF2B5EF4-FFF2-40B4-BE49-F238E27FC236}">
                <a16:creationId xmlns:a16="http://schemas.microsoft.com/office/drawing/2014/main" id="{BBFFC42D-B739-A8C8-3615-7F25A6A92E79}"/>
              </a:ext>
            </a:extLst>
          </p:cNvPr>
          <p:cNvSpPr txBox="1"/>
          <p:nvPr/>
        </p:nvSpPr>
        <p:spPr>
          <a:xfrm>
            <a:off x="7124700" y="3578860"/>
            <a:ext cx="2103120" cy="738664"/>
          </a:xfrm>
          <a:prstGeom prst="rect">
            <a:avLst/>
          </a:prstGeom>
          <a:noFill/>
        </p:spPr>
        <p:txBody>
          <a:bodyPr wrap="square">
            <a:spAutoFit/>
          </a:bodyPr>
          <a:lstStyle/>
          <a:p>
            <a:pPr algn="ctr"/>
            <a:r>
              <a:rPr sz="1400" dirty="0"/>
              <a:t>More likely to build
a habit of continuous improvement</a:t>
            </a:r>
          </a:p>
        </p:txBody>
      </p:sp>
    </p:spTree>
    <p:extLst>
      <p:ext uri="{BB962C8B-B14F-4D97-AF65-F5344CB8AC3E}">
        <p14:creationId xmlns:p14="http://schemas.microsoft.com/office/powerpoint/2010/main" val="3483912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38F5A7-2AA3-4D0A-E763-A300D5F71080}"/>
              </a:ext>
            </a:extLst>
          </p:cNvPr>
          <p:cNvSpPr txBox="1"/>
          <p:nvPr/>
        </p:nvSpPr>
        <p:spPr>
          <a:xfrm>
            <a:off x="457200" y="411480"/>
            <a:ext cx="11277600" cy="584775"/>
          </a:xfrm>
          <a:prstGeom prst="rect">
            <a:avLst/>
          </a:prstGeom>
          <a:noFill/>
        </p:spPr>
        <p:txBody>
          <a:bodyPr wrap="square">
            <a:spAutoFit/>
          </a:bodyPr>
          <a:lstStyle/>
          <a:p>
            <a:pPr algn="l"/>
            <a:r>
              <a:rPr sz="3200" dirty="0">
                <a:solidFill>
                  <a:srgbClr val="000050"/>
                </a:solidFill>
                <a:latin typeface="Wallace Sans Light" pitchFamily="2" charset="0"/>
              </a:rPr>
              <a:t>The Workforce Disruption Is Already Underway</a:t>
            </a:r>
          </a:p>
        </p:txBody>
      </p:sp>
      <p:sp>
        <p:nvSpPr>
          <p:cNvPr id="3" name="TextBox 2">
            <a:extLst>
              <a:ext uri="{FF2B5EF4-FFF2-40B4-BE49-F238E27FC236}">
                <a16:creationId xmlns:a16="http://schemas.microsoft.com/office/drawing/2014/main" id="{78F3955F-C3C1-6873-0644-70637167DAF6}"/>
              </a:ext>
            </a:extLst>
          </p:cNvPr>
          <p:cNvSpPr txBox="1"/>
          <p:nvPr/>
        </p:nvSpPr>
        <p:spPr>
          <a:xfrm>
            <a:off x="457200" y="1051560"/>
            <a:ext cx="11277600" cy="307777"/>
          </a:xfrm>
          <a:prstGeom prst="rect">
            <a:avLst/>
          </a:prstGeom>
          <a:noFill/>
        </p:spPr>
        <p:txBody>
          <a:bodyPr wrap="square">
            <a:spAutoFit/>
          </a:bodyPr>
          <a:lstStyle/>
          <a:p>
            <a:pPr algn="l"/>
            <a:r>
              <a:rPr sz="1400" b="0" i="1" dirty="0"/>
              <a:t>Organizations that delay transformation investment won't just fall behind — they'll face compounding talent shortages.</a:t>
            </a:r>
          </a:p>
        </p:txBody>
      </p:sp>
      <p:sp>
        <p:nvSpPr>
          <p:cNvPr id="4" name="Rectangle 3">
            <a:extLst>
              <a:ext uri="{FF2B5EF4-FFF2-40B4-BE49-F238E27FC236}">
                <a16:creationId xmlns:a16="http://schemas.microsoft.com/office/drawing/2014/main" id="{A57F70F6-54C5-EC29-E98B-E4EFC11B7E23}"/>
              </a:ext>
            </a:extLst>
          </p:cNvPr>
          <p:cNvSpPr/>
          <p:nvPr/>
        </p:nvSpPr>
        <p:spPr>
          <a:xfrm>
            <a:off x="2200656" y="2548890"/>
            <a:ext cx="1828800" cy="2194560"/>
          </a:xfrm>
          <a:prstGeom prst="rect">
            <a:avLst/>
          </a:prstGeom>
          <a:solidFill>
            <a:schemeClr val="bg2"/>
          </a:solidFill>
          <a:ln w="25400">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94BA7E13-2882-50F2-BA17-A4AF6BF87DAF}"/>
              </a:ext>
            </a:extLst>
          </p:cNvPr>
          <p:cNvSpPr txBox="1"/>
          <p:nvPr/>
        </p:nvSpPr>
        <p:spPr>
          <a:xfrm>
            <a:off x="2292096" y="2686050"/>
            <a:ext cx="1645920" cy="646331"/>
          </a:xfrm>
          <a:prstGeom prst="rect">
            <a:avLst/>
          </a:prstGeom>
          <a:solidFill>
            <a:schemeClr val="bg2"/>
          </a:solidFill>
        </p:spPr>
        <p:txBody>
          <a:bodyPr wrap="square">
            <a:spAutoFit/>
          </a:bodyPr>
          <a:lstStyle/>
          <a:p>
            <a:pPr algn="ctr"/>
            <a:r>
              <a:rPr sz="3600" b="1" dirty="0">
                <a:solidFill>
                  <a:srgbClr val="007AC2"/>
                </a:solidFill>
              </a:rPr>
              <a:t>32M</a:t>
            </a:r>
          </a:p>
        </p:txBody>
      </p:sp>
      <p:sp>
        <p:nvSpPr>
          <p:cNvPr id="6" name="TextBox 5">
            <a:extLst>
              <a:ext uri="{FF2B5EF4-FFF2-40B4-BE49-F238E27FC236}">
                <a16:creationId xmlns:a16="http://schemas.microsoft.com/office/drawing/2014/main" id="{07D3D022-6876-9508-E3F9-530E427D6EE4}"/>
              </a:ext>
            </a:extLst>
          </p:cNvPr>
          <p:cNvSpPr txBox="1"/>
          <p:nvPr/>
        </p:nvSpPr>
        <p:spPr>
          <a:xfrm>
            <a:off x="2292096" y="3554730"/>
            <a:ext cx="1645920" cy="646331"/>
          </a:xfrm>
          <a:prstGeom prst="rect">
            <a:avLst/>
          </a:prstGeom>
          <a:solidFill>
            <a:schemeClr val="bg2"/>
          </a:solidFill>
        </p:spPr>
        <p:txBody>
          <a:bodyPr wrap="square">
            <a:spAutoFit/>
          </a:bodyPr>
          <a:lstStyle/>
          <a:p>
            <a:pPr algn="ctr"/>
            <a:r>
              <a:rPr sz="1200" dirty="0">
                <a:solidFill>
                  <a:schemeClr val="accent1">
                    <a:lumMod val="75000"/>
                  </a:schemeClr>
                </a:solidFill>
              </a:rPr>
              <a:t>Jobs redesigned annually
through 2031</a:t>
            </a:r>
          </a:p>
        </p:txBody>
      </p:sp>
      <p:sp>
        <p:nvSpPr>
          <p:cNvPr id="7" name="Rectangle 6">
            <a:extLst>
              <a:ext uri="{FF2B5EF4-FFF2-40B4-BE49-F238E27FC236}">
                <a16:creationId xmlns:a16="http://schemas.microsoft.com/office/drawing/2014/main" id="{B5FB6DB4-B496-6E42-6B3F-0BC790DF3A76}"/>
              </a:ext>
            </a:extLst>
          </p:cNvPr>
          <p:cNvSpPr/>
          <p:nvPr/>
        </p:nvSpPr>
        <p:spPr>
          <a:xfrm>
            <a:off x="4267200" y="2548890"/>
            <a:ext cx="1828800" cy="2194560"/>
          </a:xfrm>
          <a:prstGeom prst="rect">
            <a:avLst/>
          </a:prstGeom>
          <a:solidFill>
            <a:schemeClr val="bg2"/>
          </a:solidFill>
          <a:ln w="25400">
            <a:solidFill>
              <a:srgbClr val="F0A5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a:extLst>
              <a:ext uri="{FF2B5EF4-FFF2-40B4-BE49-F238E27FC236}">
                <a16:creationId xmlns:a16="http://schemas.microsoft.com/office/drawing/2014/main" id="{70FEA119-27F8-D5ED-FCDA-9B10DAB22CEF}"/>
              </a:ext>
            </a:extLst>
          </p:cNvPr>
          <p:cNvSpPr txBox="1"/>
          <p:nvPr/>
        </p:nvSpPr>
        <p:spPr>
          <a:xfrm>
            <a:off x="4358640" y="2686050"/>
            <a:ext cx="1737360" cy="646331"/>
          </a:xfrm>
          <a:prstGeom prst="rect">
            <a:avLst/>
          </a:prstGeom>
          <a:solidFill>
            <a:schemeClr val="bg2"/>
          </a:solidFill>
        </p:spPr>
        <p:txBody>
          <a:bodyPr wrap="square">
            <a:spAutoFit/>
          </a:bodyPr>
          <a:lstStyle/>
          <a:p>
            <a:pPr algn="ctr"/>
            <a:r>
              <a:rPr sz="3600" b="1" dirty="0">
                <a:solidFill>
                  <a:srgbClr val="F0A500"/>
                </a:solidFill>
              </a:rPr>
              <a:t>39%</a:t>
            </a:r>
          </a:p>
        </p:txBody>
      </p:sp>
      <p:sp>
        <p:nvSpPr>
          <p:cNvPr id="9" name="TextBox 8">
            <a:extLst>
              <a:ext uri="{FF2B5EF4-FFF2-40B4-BE49-F238E27FC236}">
                <a16:creationId xmlns:a16="http://schemas.microsoft.com/office/drawing/2014/main" id="{FE626A01-8A24-098E-3E8C-3819FF3DB7A4}"/>
              </a:ext>
            </a:extLst>
          </p:cNvPr>
          <p:cNvSpPr txBox="1"/>
          <p:nvPr/>
        </p:nvSpPr>
        <p:spPr>
          <a:xfrm>
            <a:off x="4358640" y="3554730"/>
            <a:ext cx="1645920" cy="646331"/>
          </a:xfrm>
          <a:prstGeom prst="rect">
            <a:avLst/>
          </a:prstGeom>
          <a:solidFill>
            <a:schemeClr val="bg2"/>
          </a:solidFill>
        </p:spPr>
        <p:txBody>
          <a:bodyPr wrap="square">
            <a:spAutoFit/>
          </a:bodyPr>
          <a:lstStyle/>
          <a:p>
            <a:pPr algn="ctr"/>
            <a:r>
              <a:rPr sz="1200" dirty="0">
                <a:solidFill>
                  <a:schemeClr val="accent1">
                    <a:lumMod val="75000"/>
                  </a:schemeClr>
                </a:solidFill>
              </a:rPr>
              <a:t>Of workers' core skills
changing by 2030</a:t>
            </a:r>
          </a:p>
        </p:txBody>
      </p:sp>
      <p:sp>
        <p:nvSpPr>
          <p:cNvPr id="10" name="Rectangle 9">
            <a:extLst>
              <a:ext uri="{FF2B5EF4-FFF2-40B4-BE49-F238E27FC236}">
                <a16:creationId xmlns:a16="http://schemas.microsoft.com/office/drawing/2014/main" id="{DBCAB22D-C494-0EFA-E568-4AD98D839BA3}"/>
              </a:ext>
            </a:extLst>
          </p:cNvPr>
          <p:cNvSpPr/>
          <p:nvPr/>
        </p:nvSpPr>
        <p:spPr>
          <a:xfrm>
            <a:off x="6333744" y="2548890"/>
            <a:ext cx="1828800" cy="2194560"/>
          </a:xfrm>
          <a:prstGeom prst="rect">
            <a:avLst/>
          </a:prstGeom>
          <a:solidFill>
            <a:schemeClr val="bg2"/>
          </a:solidFill>
          <a:ln w="25400">
            <a:solidFill>
              <a:srgbClr val="FF6B3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D9A3B88D-8306-FC38-E239-860CC457A58C}"/>
              </a:ext>
            </a:extLst>
          </p:cNvPr>
          <p:cNvSpPr txBox="1"/>
          <p:nvPr/>
        </p:nvSpPr>
        <p:spPr>
          <a:xfrm>
            <a:off x="6425184" y="2686050"/>
            <a:ext cx="1737360" cy="646331"/>
          </a:xfrm>
          <a:prstGeom prst="rect">
            <a:avLst/>
          </a:prstGeom>
          <a:solidFill>
            <a:schemeClr val="bg2"/>
          </a:solidFill>
        </p:spPr>
        <p:txBody>
          <a:bodyPr wrap="square">
            <a:spAutoFit/>
          </a:bodyPr>
          <a:lstStyle/>
          <a:p>
            <a:pPr algn="ctr"/>
            <a:r>
              <a:rPr sz="3600" b="1">
                <a:solidFill>
                  <a:srgbClr val="FF6B35"/>
                </a:solidFill>
              </a:rPr>
              <a:t>2–5 yr</a:t>
            </a:r>
          </a:p>
        </p:txBody>
      </p:sp>
      <p:sp>
        <p:nvSpPr>
          <p:cNvPr id="12" name="TextBox 11">
            <a:extLst>
              <a:ext uri="{FF2B5EF4-FFF2-40B4-BE49-F238E27FC236}">
                <a16:creationId xmlns:a16="http://schemas.microsoft.com/office/drawing/2014/main" id="{30D2EE2C-7FDC-4D5E-9DAC-6368A52347AF}"/>
              </a:ext>
            </a:extLst>
          </p:cNvPr>
          <p:cNvSpPr txBox="1"/>
          <p:nvPr/>
        </p:nvSpPr>
        <p:spPr>
          <a:xfrm>
            <a:off x="6425184" y="3554730"/>
            <a:ext cx="1645920" cy="646331"/>
          </a:xfrm>
          <a:prstGeom prst="rect">
            <a:avLst/>
          </a:prstGeom>
          <a:solidFill>
            <a:schemeClr val="bg2"/>
          </a:solidFill>
        </p:spPr>
        <p:txBody>
          <a:bodyPr wrap="square">
            <a:spAutoFit/>
          </a:bodyPr>
          <a:lstStyle/>
          <a:p>
            <a:pPr algn="ctr"/>
            <a:r>
              <a:rPr sz="1200" dirty="0">
                <a:solidFill>
                  <a:schemeClr val="accent1">
                    <a:lumMod val="75000"/>
                  </a:schemeClr>
                </a:solidFill>
              </a:rPr>
              <a:t>New half-life of technical
skills (was 8–12 yrs)</a:t>
            </a:r>
          </a:p>
        </p:txBody>
      </p:sp>
      <p:sp>
        <p:nvSpPr>
          <p:cNvPr id="13" name="Rectangle 12">
            <a:extLst>
              <a:ext uri="{FF2B5EF4-FFF2-40B4-BE49-F238E27FC236}">
                <a16:creationId xmlns:a16="http://schemas.microsoft.com/office/drawing/2014/main" id="{0880336D-A6B5-8F55-2FBD-C256B0A7BE4E}"/>
              </a:ext>
            </a:extLst>
          </p:cNvPr>
          <p:cNvSpPr/>
          <p:nvPr/>
        </p:nvSpPr>
        <p:spPr>
          <a:xfrm>
            <a:off x="8400288" y="2568892"/>
            <a:ext cx="1828800" cy="2194560"/>
          </a:xfrm>
          <a:prstGeom prst="rect">
            <a:avLst/>
          </a:prstGeom>
          <a:solidFill>
            <a:schemeClr val="bg2"/>
          </a:solidFill>
          <a:ln w="25400">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C96D4861-3956-CD86-3A7E-4F2A509281AE}"/>
              </a:ext>
            </a:extLst>
          </p:cNvPr>
          <p:cNvSpPr txBox="1"/>
          <p:nvPr/>
        </p:nvSpPr>
        <p:spPr>
          <a:xfrm>
            <a:off x="8519160" y="2686050"/>
            <a:ext cx="1591056" cy="646331"/>
          </a:xfrm>
          <a:prstGeom prst="rect">
            <a:avLst/>
          </a:prstGeom>
          <a:solidFill>
            <a:schemeClr val="bg2"/>
          </a:solidFill>
        </p:spPr>
        <p:txBody>
          <a:bodyPr wrap="square">
            <a:spAutoFit/>
          </a:bodyPr>
          <a:lstStyle/>
          <a:p>
            <a:pPr algn="ctr"/>
            <a:r>
              <a:rPr sz="3600" b="1" dirty="0">
                <a:solidFill>
                  <a:srgbClr val="2E7D32"/>
                </a:solidFill>
              </a:rPr>
              <a:t>30%</a:t>
            </a:r>
          </a:p>
        </p:txBody>
      </p:sp>
      <p:sp>
        <p:nvSpPr>
          <p:cNvPr id="15" name="TextBox 14">
            <a:extLst>
              <a:ext uri="{FF2B5EF4-FFF2-40B4-BE49-F238E27FC236}">
                <a16:creationId xmlns:a16="http://schemas.microsoft.com/office/drawing/2014/main" id="{6C16D0CA-BAC3-C695-B628-3E313C7D7280}"/>
              </a:ext>
            </a:extLst>
          </p:cNvPr>
          <p:cNvSpPr txBox="1"/>
          <p:nvPr/>
        </p:nvSpPr>
        <p:spPr>
          <a:xfrm>
            <a:off x="8491728" y="3554730"/>
            <a:ext cx="1645920" cy="646331"/>
          </a:xfrm>
          <a:prstGeom prst="rect">
            <a:avLst/>
          </a:prstGeom>
          <a:solidFill>
            <a:schemeClr val="bg2"/>
          </a:solidFill>
        </p:spPr>
        <p:txBody>
          <a:bodyPr wrap="square">
            <a:spAutoFit/>
          </a:bodyPr>
          <a:lstStyle/>
          <a:p>
            <a:pPr algn="ctr"/>
            <a:r>
              <a:rPr sz="1200" dirty="0">
                <a:solidFill>
                  <a:schemeClr val="accent1">
                    <a:lumMod val="75000"/>
                  </a:schemeClr>
                </a:solidFill>
              </a:rPr>
              <a:t>Terminated-by-AI employees
rehired at higher cost</a:t>
            </a:r>
          </a:p>
        </p:txBody>
      </p:sp>
      <p:sp>
        <p:nvSpPr>
          <p:cNvPr id="16" name="Rectangle 15">
            <a:extLst>
              <a:ext uri="{FF2B5EF4-FFF2-40B4-BE49-F238E27FC236}">
                <a16:creationId xmlns:a16="http://schemas.microsoft.com/office/drawing/2014/main" id="{F6963845-8284-B73C-3D66-0501E4147367}"/>
              </a:ext>
            </a:extLst>
          </p:cNvPr>
          <p:cNvSpPr/>
          <p:nvPr/>
        </p:nvSpPr>
        <p:spPr>
          <a:xfrm>
            <a:off x="576072" y="4926330"/>
            <a:ext cx="11277600" cy="6400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5F0B8971-E147-5BB2-BA73-0646F1C17ADE}"/>
              </a:ext>
            </a:extLst>
          </p:cNvPr>
          <p:cNvSpPr txBox="1"/>
          <p:nvPr/>
        </p:nvSpPr>
        <p:spPr>
          <a:xfrm>
            <a:off x="758952" y="4972050"/>
            <a:ext cx="10911840" cy="400110"/>
          </a:xfrm>
          <a:prstGeom prst="rect">
            <a:avLst/>
          </a:prstGeom>
          <a:solidFill>
            <a:schemeClr val="bg2"/>
          </a:solidFill>
        </p:spPr>
        <p:txBody>
          <a:bodyPr wrap="square">
            <a:spAutoFit/>
          </a:bodyPr>
          <a:lstStyle/>
          <a:p>
            <a:pPr algn="ctr"/>
            <a:r>
              <a:rPr lang="en-US" sz="2000" b="1" i="0" dirty="0">
                <a:solidFill>
                  <a:schemeClr val="accent1">
                    <a:lumMod val="75000"/>
                  </a:schemeClr>
                </a:solidFill>
              </a:rPr>
              <a:t>B</a:t>
            </a:r>
            <a:r>
              <a:rPr sz="2000" b="1" i="0" dirty="0">
                <a:solidFill>
                  <a:schemeClr val="accent1">
                    <a:lumMod val="75000"/>
                  </a:schemeClr>
                </a:solidFill>
              </a:rPr>
              <a:t>uild the human system before competitors do or spend 3× more to fix it later.</a:t>
            </a:r>
          </a:p>
        </p:txBody>
      </p:sp>
    </p:spTree>
    <p:extLst>
      <p:ext uri="{BB962C8B-B14F-4D97-AF65-F5344CB8AC3E}">
        <p14:creationId xmlns:p14="http://schemas.microsoft.com/office/powerpoint/2010/main" val="174174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Organizations That Break the Cycle Invest in Culture Before Code</a:t>
            </a:r>
          </a:p>
        </p:txBody>
      </p:sp>
      <p:graphicFrame>
        <p:nvGraphicFramePr>
          <p:cNvPr id="3" name="Table 2"/>
          <p:cNvGraphicFramePr>
            <a:graphicFrameLocks noGrp="1"/>
          </p:cNvGraphicFramePr>
          <p:nvPr>
            <p:extLst>
              <p:ext uri="{D42A27DB-BD31-4B8C-83A1-F6EECF244321}">
                <p14:modId xmlns:p14="http://schemas.microsoft.com/office/powerpoint/2010/main" val="2114466892"/>
              </p:ext>
            </p:extLst>
          </p:nvPr>
        </p:nvGraphicFramePr>
        <p:xfrm>
          <a:off x="548640" y="1097280"/>
          <a:ext cx="10972800" cy="34747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pPr>
                        <a:spcAft>
                          <a:spcPts val="200"/>
                        </a:spcAft>
                        <a:defRPr sz="1100" b="1">
                          <a:solidFill>
                            <a:srgbClr val="000050"/>
                          </a:solidFill>
                          <a:latin typeface="Helvetica Neue"/>
                        </a:defRPr>
                      </a:pPr>
                      <a:r>
                        <a:rPr sz="2000" b="1" i="0" dirty="0">
                          <a:latin typeface="Wallace Sans Light" pitchFamily="2" charset="0"/>
                        </a:rPr>
                        <a:t>What They Do</a:t>
                      </a:r>
                    </a:p>
                  </a:txBody>
                  <a:tcPr>
                    <a:solidFill>
                      <a:srgbClr val="DDDDF8"/>
                    </a:solidFill>
                  </a:tcPr>
                </a:tc>
                <a:tc>
                  <a:txBody>
                    <a:bodyPr/>
                    <a:lstStyle/>
                    <a:p>
                      <a:pPr>
                        <a:spcAft>
                          <a:spcPts val="200"/>
                        </a:spcAft>
                        <a:defRPr sz="1100" b="1">
                          <a:solidFill>
                            <a:srgbClr val="000050"/>
                          </a:solidFill>
                          <a:latin typeface="Helvetica Neue"/>
                        </a:defRPr>
                      </a:pPr>
                      <a:r>
                        <a:rPr sz="2000" b="1" i="0" dirty="0">
                          <a:latin typeface="Wallace Sans Light" pitchFamily="2" charset="0"/>
                        </a:rPr>
                        <a:t>Why It Works</a:t>
                      </a:r>
                    </a:p>
                  </a:txBody>
                  <a:tcPr>
                    <a:solidFill>
                      <a:srgbClr val="DDDDF8"/>
                    </a:solidFill>
                  </a:tcPr>
                </a:tc>
                <a:tc>
                  <a:txBody>
                    <a:bodyPr/>
                    <a:lstStyle/>
                    <a:p>
                      <a:pPr>
                        <a:spcAft>
                          <a:spcPts val="200"/>
                        </a:spcAft>
                        <a:defRPr sz="1100" b="1">
                          <a:solidFill>
                            <a:srgbClr val="000050"/>
                          </a:solidFill>
                          <a:latin typeface="Helvetica Neue"/>
                        </a:defRPr>
                      </a:pPr>
                      <a:r>
                        <a:rPr sz="2000" b="1" i="0" dirty="0">
                          <a:latin typeface="Wallace Sans Light" pitchFamily="2" charset="0"/>
                        </a:rPr>
                        <a:t>Evidence</a:t>
                      </a:r>
                    </a:p>
                  </a:txBody>
                  <a:tcPr>
                    <a:solidFill>
                      <a:srgbClr val="DDDDF8"/>
                    </a:solidFill>
                  </a:tcPr>
                </a:tc>
                <a:extLst>
                  <a:ext uri="{0D108BD9-81ED-4DB2-BD59-A6C34878D82A}">
                    <a16:rowId xmlns:a16="http://schemas.microsoft.com/office/drawing/2014/main" val="10000"/>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Psychological safety first</a:t>
                      </a:r>
                      <a:r>
                        <a:rPr lang="en-US" sz="1400" b="0" i="0" dirty="0">
                          <a:latin typeface="Wallace Sans Light" pitchFamily="2" charset="0"/>
                        </a:rPr>
                        <a:t>;</a:t>
                      </a:r>
                      <a:endParaRPr sz="1400" b="0" i="0" dirty="0">
                        <a:latin typeface="Wallace Sans Light" pitchFamily="2" charset="0"/>
                      </a:endParaRPr>
                    </a:p>
                    <a:p>
                      <a:pPr>
                        <a:spcAft>
                          <a:spcPts val="200"/>
                        </a:spcAft>
                        <a:defRPr sz="1100">
                          <a:solidFill>
                            <a:srgbClr val="1A1A1A"/>
                          </a:solidFill>
                          <a:latin typeface="Helvetica Neue"/>
                        </a:defRPr>
                      </a:pPr>
                      <a:r>
                        <a:rPr sz="1400" b="0" i="0" dirty="0">
                          <a:latin typeface="Wallace Sans Light" pitchFamily="2" charset="0"/>
                        </a:rPr>
                        <a:t>create space for experimentation</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People adopt what they help build; fear</a:t>
                      </a:r>
                    </a:p>
                    <a:p>
                      <a:pPr>
                        <a:spcAft>
                          <a:spcPts val="200"/>
                        </a:spcAft>
                        <a:defRPr sz="1100">
                          <a:solidFill>
                            <a:srgbClr val="1A1A1A"/>
                          </a:solidFill>
                          <a:latin typeface="Helvetica Neue"/>
                        </a:defRPr>
                      </a:pPr>
                      <a:r>
                        <a:rPr sz="1400" b="0" i="0" dirty="0">
                          <a:latin typeface="Wallace Sans Light" pitchFamily="2" charset="0"/>
                        </a:rPr>
                        <a:t>of failure kills adoption faster than bad tech</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Google Project Aristotle: psychological</a:t>
                      </a:r>
                    </a:p>
                    <a:p>
                      <a:pPr>
                        <a:spcAft>
                          <a:spcPts val="200"/>
                        </a:spcAft>
                        <a:defRPr sz="1100">
                          <a:solidFill>
                            <a:srgbClr val="1A1A1A"/>
                          </a:solidFill>
                          <a:latin typeface="Helvetica Neue"/>
                        </a:defRPr>
                      </a:pPr>
                      <a:r>
                        <a:rPr sz="1400" b="0" i="0" dirty="0">
                          <a:latin typeface="Wallace Sans Light" pitchFamily="2" charset="0"/>
                        </a:rPr>
                        <a:t>safety is #1 predictor of team effectiveness</a:t>
                      </a:r>
                    </a:p>
                  </a:txBody>
                  <a:tcPr>
                    <a:noFill/>
                  </a:tcPr>
                </a:tc>
                <a:extLst>
                  <a:ext uri="{0D108BD9-81ED-4DB2-BD59-A6C34878D82A}">
                    <a16:rowId xmlns:a16="http://schemas.microsoft.com/office/drawing/2014/main" val="10001"/>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Aligned incentives</a:t>
                      </a:r>
                      <a:r>
                        <a:rPr lang="en-US" sz="1400" b="0" i="0" dirty="0">
                          <a:latin typeface="Wallace Sans Light" pitchFamily="2" charset="0"/>
                        </a:rPr>
                        <a:t>, </a:t>
                      </a:r>
                      <a:r>
                        <a:rPr sz="1400" b="0" i="0" dirty="0">
                          <a:latin typeface="Wallace Sans Light" pitchFamily="2" charset="0"/>
                        </a:rPr>
                        <a:t> measure</a:t>
                      </a:r>
                    </a:p>
                    <a:p>
                      <a:pPr>
                        <a:spcAft>
                          <a:spcPts val="200"/>
                        </a:spcAft>
                        <a:defRPr sz="1100">
                          <a:solidFill>
                            <a:srgbClr val="1A1A1A"/>
                          </a:solidFill>
                          <a:latin typeface="Helvetica Neue"/>
                        </a:defRPr>
                      </a:pPr>
                      <a:r>
                        <a:rPr sz="1400" b="0" i="0" dirty="0">
                          <a:latin typeface="Wallace Sans Light" pitchFamily="2" charset="0"/>
                        </a:rPr>
                        <a:t>adoption and impact, not deployment</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What gets measured gets done; if the metric</a:t>
                      </a:r>
                    </a:p>
                    <a:p>
                      <a:pPr>
                        <a:spcAft>
                          <a:spcPts val="200"/>
                        </a:spcAft>
                        <a:defRPr sz="1100">
                          <a:solidFill>
                            <a:srgbClr val="1A1A1A"/>
                          </a:solidFill>
                          <a:latin typeface="Helvetica Neue"/>
                        </a:defRPr>
                      </a:pPr>
                      <a:r>
                        <a:rPr sz="1400" b="0" i="0" dirty="0">
                          <a:latin typeface="Wallace Sans Light" pitchFamily="2" charset="0"/>
                        </a:rPr>
                        <a:t>is “model deployed” nobody owns adoption</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Microsoft AI transformation: shifted KPIs</a:t>
                      </a:r>
                    </a:p>
                    <a:p>
                      <a:pPr>
                        <a:spcAft>
                          <a:spcPts val="200"/>
                        </a:spcAft>
                        <a:defRPr sz="1100">
                          <a:solidFill>
                            <a:srgbClr val="1A1A1A"/>
                          </a:solidFill>
                          <a:latin typeface="Helvetica Neue"/>
                        </a:defRPr>
                      </a:pPr>
                      <a:r>
                        <a:rPr sz="1400" b="0" i="0" dirty="0">
                          <a:latin typeface="Wallace Sans Light" pitchFamily="2" charset="0"/>
                        </a:rPr>
                        <a:t>from deployment to outcome</a:t>
                      </a:r>
                      <a:r>
                        <a:rPr lang="en-US" sz="1400" b="0" i="0" dirty="0">
                          <a:latin typeface="Wallace Sans Light" pitchFamily="2" charset="0"/>
                        </a:rPr>
                        <a:t>, </a:t>
                      </a:r>
                      <a:r>
                        <a:rPr sz="1400" b="0" i="0" dirty="0">
                          <a:latin typeface="Wallace Sans Light" pitchFamily="2" charset="0"/>
                        </a:rPr>
                        <a:t> adoption +40%</a:t>
                      </a:r>
                    </a:p>
                  </a:txBody>
                  <a:tcPr>
                    <a:noFill/>
                  </a:tcPr>
                </a:tc>
                <a:extLst>
                  <a:ext uri="{0D108BD9-81ED-4DB2-BD59-A6C34878D82A}">
                    <a16:rowId xmlns:a16="http://schemas.microsoft.com/office/drawing/2014/main" val="10002"/>
                  </a:ext>
                </a:extLst>
              </a:tr>
              <a:tr h="868680">
                <a:tc>
                  <a:txBody>
                    <a:bodyPr/>
                    <a:lstStyle/>
                    <a:p>
                      <a:pPr>
                        <a:spcAft>
                          <a:spcPts val="200"/>
                        </a:spcAft>
                        <a:defRPr sz="1100">
                          <a:solidFill>
                            <a:srgbClr val="1A1A1A"/>
                          </a:solidFill>
                          <a:latin typeface="Helvetica Neue"/>
                        </a:defRPr>
                      </a:pPr>
                      <a:r>
                        <a:rPr sz="1400" b="0" i="0" dirty="0">
                          <a:latin typeface="Wallace Sans Light" pitchFamily="2" charset="0"/>
                        </a:rPr>
                        <a:t>Visible leadership commitment</a:t>
                      </a:r>
                      <a:r>
                        <a:rPr lang="en-US" sz="1400" b="0" i="0" dirty="0">
                          <a:latin typeface="Wallace Sans Light" pitchFamily="2" charset="0"/>
                        </a:rPr>
                        <a:t>, </a:t>
                      </a:r>
                      <a:endParaRPr sz="1400" b="0" i="0" dirty="0">
                        <a:latin typeface="Wallace Sans Light" pitchFamily="2" charset="0"/>
                      </a:endParaRPr>
                    </a:p>
                    <a:p>
                      <a:pPr>
                        <a:spcAft>
                          <a:spcPts val="200"/>
                        </a:spcAft>
                        <a:defRPr sz="1100">
                          <a:solidFill>
                            <a:srgbClr val="1A1A1A"/>
                          </a:solidFill>
                          <a:latin typeface="Helvetica Neue"/>
                        </a:defRPr>
                      </a:pPr>
                      <a:r>
                        <a:rPr sz="1400" b="0" i="0" dirty="0">
                          <a:latin typeface="Wallace Sans Light" pitchFamily="2" charset="0"/>
                        </a:rPr>
                        <a:t>leaders use the tools publicly</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Permission flows downward; if the VP doesn’t</a:t>
                      </a:r>
                    </a:p>
                    <a:p>
                      <a:pPr>
                        <a:spcAft>
                          <a:spcPts val="200"/>
                        </a:spcAft>
                        <a:defRPr sz="1100">
                          <a:solidFill>
                            <a:srgbClr val="1A1A1A"/>
                          </a:solidFill>
                          <a:latin typeface="Helvetica Neue"/>
                        </a:defRPr>
                      </a:pPr>
                      <a:r>
                        <a:rPr sz="1400" b="0" i="0" dirty="0">
                          <a:latin typeface="Wallace Sans Light" pitchFamily="2" charset="0"/>
                        </a:rPr>
                        <a:t>use it, the team won’t either</a:t>
                      </a:r>
                    </a:p>
                  </a:txBody>
                  <a:tcPr>
                    <a:noFill/>
                  </a:tcPr>
                </a:tc>
                <a:tc>
                  <a:txBody>
                    <a:bodyPr/>
                    <a:lstStyle/>
                    <a:p>
                      <a:pPr>
                        <a:spcAft>
                          <a:spcPts val="200"/>
                        </a:spcAft>
                        <a:defRPr sz="1100">
                          <a:solidFill>
                            <a:srgbClr val="1A1A1A"/>
                          </a:solidFill>
                          <a:latin typeface="Helvetica Neue"/>
                        </a:defRPr>
                      </a:pPr>
                      <a:r>
                        <a:rPr sz="1400" b="0" i="0" dirty="0">
                          <a:latin typeface="Wallace Sans Light" pitchFamily="2" charset="0"/>
                        </a:rPr>
                        <a:t>MIT CISR: executive engagement is the</a:t>
                      </a:r>
                    </a:p>
                    <a:p>
                      <a:pPr>
                        <a:spcAft>
                          <a:spcPts val="200"/>
                        </a:spcAft>
                        <a:defRPr sz="1100">
                          <a:solidFill>
                            <a:srgbClr val="1A1A1A"/>
                          </a:solidFill>
                          <a:latin typeface="Helvetica Neue"/>
                        </a:defRPr>
                      </a:pPr>
                      <a:r>
                        <a:rPr sz="1400" b="0" i="0" dirty="0">
                          <a:latin typeface="Wallace Sans Light" pitchFamily="2" charset="0"/>
                        </a:rPr>
                        <a:t>strongest predictor of transformation success</a:t>
                      </a:r>
                    </a:p>
                  </a:txBody>
                  <a:tcPr>
                    <a:noFill/>
                  </a:tcPr>
                </a:tc>
                <a:extLst>
                  <a:ext uri="{0D108BD9-81ED-4DB2-BD59-A6C34878D82A}">
                    <a16:rowId xmlns:a16="http://schemas.microsoft.com/office/drawing/2014/main" val="10003"/>
                  </a:ext>
                </a:extLst>
              </a:tr>
            </a:tbl>
          </a:graphicData>
        </a:graphic>
      </p:graphicFrame>
      <p:sp>
        <p:nvSpPr>
          <p:cNvPr id="4" name="Rectangle 3"/>
          <p:cNvSpPr/>
          <p:nvPr/>
        </p:nvSpPr>
        <p:spPr>
          <a:xfrm>
            <a:off x="548640" y="4846320"/>
            <a:ext cx="10972800" cy="109728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937760"/>
            <a:ext cx="10058400" cy="292388"/>
          </a:xfrm>
          <a:prstGeom prst="rect">
            <a:avLst/>
          </a:prstGeom>
          <a:noFill/>
        </p:spPr>
        <p:txBody>
          <a:bodyPr wrap="square">
            <a:spAutoFit/>
          </a:bodyPr>
          <a:lstStyle/>
          <a:p>
            <a:pPr algn="l">
              <a:defRPr sz="1300" b="0" i="0">
                <a:solidFill>
                  <a:srgbClr val="9999CC"/>
                </a:solidFill>
                <a:latin typeface="Helvetica Neue"/>
              </a:defRPr>
            </a:pPr>
            <a:r>
              <a:rPr dirty="0">
                <a:latin typeface="Wallace Sans Light" pitchFamily="2" charset="0"/>
              </a:rPr>
              <a:t>The common thread:</a:t>
            </a:r>
          </a:p>
        </p:txBody>
      </p:sp>
      <p:sp>
        <p:nvSpPr>
          <p:cNvPr id="6" name="TextBox 5"/>
          <p:cNvSpPr txBox="1"/>
          <p:nvPr/>
        </p:nvSpPr>
        <p:spPr>
          <a:xfrm>
            <a:off x="914400" y="530352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They treat culture as infrastructure </a:t>
            </a:r>
            <a:r>
              <a:rPr lang="en-US" dirty="0">
                <a:latin typeface="Wallace Sans Light" pitchFamily="2" charset="0"/>
              </a:rPr>
              <a:t>, </a:t>
            </a:r>
            <a:r>
              <a:rPr dirty="0">
                <a:latin typeface="Wallace Sans Light" pitchFamily="2" charset="0"/>
              </a:rPr>
              <a:t>something you build and maintain</a:t>
            </a:r>
            <a:r>
              <a:rPr lang="en-US" dirty="0">
                <a:latin typeface="Wallace Sans Light" pitchFamily="2" charset="0"/>
              </a:rPr>
              <a:t>, </a:t>
            </a:r>
            <a:r>
              <a:rPr dirty="0">
                <a:latin typeface="Wallace Sans Light" pitchFamily="2" charset="0"/>
              </a:rPr>
              <a:t>not as a side effect of technology deployment.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7</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55D259-D846-9FA8-8D19-04AA2565831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0693DBF-F6EB-2CC7-3AC9-4512A8BB29F4}"/>
              </a:ext>
            </a:extLst>
          </p:cNvPr>
          <p:cNvSpPr txBox="1"/>
          <p:nvPr/>
        </p:nvSpPr>
        <p:spPr>
          <a:xfrm>
            <a:off x="268941" y="274320"/>
            <a:ext cx="11618259" cy="523220"/>
          </a:xfrm>
          <a:prstGeom prst="rect">
            <a:avLst/>
          </a:prstGeom>
          <a:noFill/>
        </p:spPr>
        <p:txBody>
          <a:bodyPr wrap="square">
            <a:spAutoFit/>
          </a:bodyPr>
          <a:lstStyle/>
          <a:p>
            <a:pPr algn="l">
              <a:defRPr sz="2400" b="0" i="0">
                <a:solidFill>
                  <a:srgbClr val="000050"/>
                </a:solidFill>
                <a:latin typeface="Helvetica Neue"/>
              </a:defRPr>
            </a:pPr>
            <a:r>
              <a:rPr sz="2800" dirty="0">
                <a:latin typeface="Wallace Sans Light" pitchFamily="2" charset="0"/>
              </a:rPr>
              <a:t>The Shift Requires People, Process, and Technology</a:t>
            </a:r>
            <a:r>
              <a:rPr lang="en-US" sz="2800" dirty="0">
                <a:latin typeface="Wallace Sans Light" pitchFamily="2" charset="0"/>
              </a:rPr>
              <a:t> -&gt; </a:t>
            </a:r>
            <a:r>
              <a:rPr sz="2800" dirty="0">
                <a:latin typeface="Wallace Sans Light" pitchFamily="2" charset="0"/>
              </a:rPr>
              <a:t>In That Order</a:t>
            </a:r>
          </a:p>
        </p:txBody>
      </p:sp>
      <p:sp>
        <p:nvSpPr>
          <p:cNvPr id="3" name="TextBox 2">
            <a:extLst>
              <a:ext uri="{FF2B5EF4-FFF2-40B4-BE49-F238E27FC236}">
                <a16:creationId xmlns:a16="http://schemas.microsoft.com/office/drawing/2014/main" id="{2C821691-5D98-34D2-E824-05DA199CE39B}"/>
              </a:ext>
            </a:extLst>
          </p:cNvPr>
          <p:cNvSpPr txBox="1"/>
          <p:nvPr/>
        </p:nvSpPr>
        <p:spPr>
          <a:xfrm>
            <a:off x="548640" y="1363236"/>
            <a:ext cx="10972800" cy="338554"/>
          </a:xfrm>
          <a:prstGeom prst="rect">
            <a:avLst/>
          </a:prstGeom>
          <a:noFill/>
        </p:spPr>
        <p:txBody>
          <a:bodyPr wrap="square">
            <a:spAutoFit/>
          </a:bodyPr>
          <a:lstStyle/>
          <a:p>
            <a:pPr algn="ctr">
              <a:defRPr sz="1400" b="1" i="0">
                <a:solidFill>
                  <a:srgbClr val="3333AA"/>
                </a:solidFill>
                <a:latin typeface="Helvetica Neue"/>
              </a:defRPr>
            </a:pPr>
            <a:r>
              <a:rPr sz="1600" dirty="0">
                <a:latin typeface="Wallace Sans Light" pitchFamily="2" charset="0"/>
              </a:rPr>
              <a:t>Most organizations invest in reverse order. That sequence is the source of cultural debt.</a:t>
            </a:r>
          </a:p>
        </p:txBody>
      </p:sp>
      <p:sp>
        <p:nvSpPr>
          <p:cNvPr id="22" name="Rectangle 21">
            <a:extLst>
              <a:ext uri="{FF2B5EF4-FFF2-40B4-BE49-F238E27FC236}">
                <a16:creationId xmlns:a16="http://schemas.microsoft.com/office/drawing/2014/main" id="{15FE6B12-D55B-AC0E-FD64-E9FECDD211D0}"/>
              </a:ext>
            </a:extLst>
          </p:cNvPr>
          <p:cNvSpPr/>
          <p:nvPr/>
        </p:nvSpPr>
        <p:spPr>
          <a:xfrm>
            <a:off x="548640" y="5669280"/>
            <a:ext cx="10972800" cy="4572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8647E8F2-FC38-20F6-5C38-D69E34F1D539}"/>
              </a:ext>
            </a:extLst>
          </p:cNvPr>
          <p:cNvSpPr txBox="1"/>
          <p:nvPr/>
        </p:nvSpPr>
        <p:spPr>
          <a:xfrm>
            <a:off x="914400" y="5715000"/>
            <a:ext cx="10058400" cy="292388"/>
          </a:xfrm>
          <a:prstGeom prst="rect">
            <a:avLst/>
          </a:prstGeom>
          <a:noFill/>
        </p:spPr>
        <p:txBody>
          <a:bodyPr wrap="square">
            <a:spAutoFit/>
          </a:bodyPr>
          <a:lstStyle/>
          <a:p>
            <a:pPr algn="ctr">
              <a:defRPr sz="1300" b="1" i="0">
                <a:solidFill>
                  <a:srgbClr val="FFFFFF"/>
                </a:solidFill>
                <a:latin typeface="Helvetica Neue"/>
              </a:defRPr>
            </a:pPr>
            <a:r>
              <a:rPr dirty="0">
                <a:latin typeface="Wallace Sans Light" pitchFamily="2" charset="0"/>
              </a:rPr>
              <a:t>Start with People </a:t>
            </a:r>
            <a:r>
              <a:rPr lang="en-US" dirty="0">
                <a:latin typeface="Wallace Sans Light" pitchFamily="2" charset="0"/>
              </a:rPr>
              <a:t>|</a:t>
            </a:r>
            <a:r>
              <a:rPr dirty="0">
                <a:latin typeface="Wallace Sans Light" pitchFamily="2" charset="0"/>
              </a:rPr>
              <a:t> Redesign Process around adoption |  Then select Technology</a:t>
            </a:r>
          </a:p>
        </p:txBody>
      </p:sp>
      <p:sp>
        <p:nvSpPr>
          <p:cNvPr id="24" name="TextBox 23">
            <a:extLst>
              <a:ext uri="{FF2B5EF4-FFF2-40B4-BE49-F238E27FC236}">
                <a16:creationId xmlns:a16="http://schemas.microsoft.com/office/drawing/2014/main" id="{96922801-3782-376E-4F0D-4FDF873E17B7}"/>
              </a:ext>
            </a:extLst>
          </p:cNvPr>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5" name="TextBox 24">
            <a:extLst>
              <a:ext uri="{FF2B5EF4-FFF2-40B4-BE49-F238E27FC236}">
                <a16:creationId xmlns:a16="http://schemas.microsoft.com/office/drawing/2014/main" id="{C20147D0-2ED4-0CBE-4DE4-88723588BED6}"/>
              </a:ext>
            </a:extLst>
          </p:cNvPr>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8</a:t>
            </a:r>
          </a:p>
        </p:txBody>
      </p:sp>
      <p:sp>
        <p:nvSpPr>
          <p:cNvPr id="26" name="Rectangle 25">
            <a:extLst>
              <a:ext uri="{FF2B5EF4-FFF2-40B4-BE49-F238E27FC236}">
                <a16:creationId xmlns:a16="http://schemas.microsoft.com/office/drawing/2014/main" id="{33285CFC-22B0-5BD2-587D-BADBF6B7290E}"/>
              </a:ext>
            </a:extLst>
          </p:cNvPr>
          <p:cNvSpPr/>
          <p:nvPr/>
        </p:nvSpPr>
        <p:spPr>
          <a:xfrm>
            <a:off x="548640" y="1788134"/>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C0511C92-2412-745A-4E19-E8C51C5AA016}"/>
              </a:ext>
            </a:extLst>
          </p:cNvPr>
          <p:cNvSpPr txBox="1"/>
          <p:nvPr/>
        </p:nvSpPr>
        <p:spPr>
          <a:xfrm>
            <a:off x="731520" y="1879574"/>
            <a:ext cx="3108960" cy="365760"/>
          </a:xfrm>
          <a:prstGeom prst="rect">
            <a:avLst/>
          </a:prstGeom>
          <a:noFill/>
        </p:spPr>
        <p:txBody>
          <a:bodyPr wrap="square">
            <a:spAutoFit/>
          </a:bodyPr>
          <a:lstStyle/>
          <a:p>
            <a:pPr algn="ctr">
              <a:defRPr sz="1800" b="1" i="0">
                <a:solidFill>
                  <a:srgbClr val="000050"/>
                </a:solidFill>
                <a:latin typeface="Helvetica Neue"/>
              </a:defRPr>
            </a:pPr>
            <a:r>
              <a:rPr dirty="0">
                <a:latin typeface="+mj-lt"/>
              </a:rPr>
              <a:t>People</a:t>
            </a:r>
          </a:p>
        </p:txBody>
      </p:sp>
      <p:sp>
        <p:nvSpPr>
          <p:cNvPr id="28" name="TextBox 27">
            <a:extLst>
              <a:ext uri="{FF2B5EF4-FFF2-40B4-BE49-F238E27FC236}">
                <a16:creationId xmlns:a16="http://schemas.microsoft.com/office/drawing/2014/main" id="{4F9B47B2-12B8-E689-FAAB-D715187AFC0F}"/>
              </a:ext>
            </a:extLst>
          </p:cNvPr>
          <p:cNvSpPr txBox="1"/>
          <p:nvPr/>
        </p:nvSpPr>
        <p:spPr>
          <a:xfrm>
            <a:off x="731520" y="2382494"/>
            <a:ext cx="3108960" cy="276999"/>
          </a:xfrm>
          <a:prstGeom prst="rect">
            <a:avLst/>
          </a:prstGeom>
          <a:noFill/>
        </p:spPr>
        <p:txBody>
          <a:bodyPr wrap="square">
            <a:spAutoFit/>
          </a:bodyPr>
          <a:lstStyle/>
          <a:p>
            <a:pPr algn="l">
              <a:defRPr sz="1000" b="1" i="0">
                <a:solidFill>
                  <a:srgbClr val="000050"/>
                </a:solidFill>
                <a:latin typeface="Helvetica Neue"/>
              </a:defRPr>
            </a:pPr>
            <a:r>
              <a:rPr sz="1200" dirty="0">
                <a:latin typeface="+mj-lt"/>
              </a:rPr>
              <a:t>From: AI as threat → To: AI as multiplier</a:t>
            </a:r>
          </a:p>
        </p:txBody>
      </p:sp>
      <p:sp>
        <p:nvSpPr>
          <p:cNvPr id="29" name="TextBox 28">
            <a:extLst>
              <a:ext uri="{FF2B5EF4-FFF2-40B4-BE49-F238E27FC236}">
                <a16:creationId xmlns:a16="http://schemas.microsoft.com/office/drawing/2014/main" id="{464E7102-4287-8CCD-E892-4E72366AF8C6}"/>
              </a:ext>
            </a:extLst>
          </p:cNvPr>
          <p:cNvSpPr txBox="1"/>
          <p:nvPr/>
        </p:nvSpPr>
        <p:spPr>
          <a:xfrm>
            <a:off x="731520" y="2917741"/>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latin typeface="+mj-lt"/>
              </a:rPr>
              <a:t>Invest in capability, not just training. Redefine roles around Human + AI.</a:t>
            </a:r>
            <a:endParaRPr dirty="0">
              <a:latin typeface="+mj-lt"/>
            </a:endParaRPr>
          </a:p>
        </p:txBody>
      </p:sp>
      <p:sp>
        <p:nvSpPr>
          <p:cNvPr id="30" name="TextBox 29">
            <a:extLst>
              <a:ext uri="{FF2B5EF4-FFF2-40B4-BE49-F238E27FC236}">
                <a16:creationId xmlns:a16="http://schemas.microsoft.com/office/drawing/2014/main" id="{0D5BFC7F-8B0B-3648-F12C-4B2AEF362914}"/>
              </a:ext>
            </a:extLst>
          </p:cNvPr>
          <p:cNvSpPr txBox="1"/>
          <p:nvPr/>
        </p:nvSpPr>
        <p:spPr>
          <a:xfrm>
            <a:off x="731520" y="3556065"/>
            <a:ext cx="3108960" cy="261610"/>
          </a:xfrm>
          <a:prstGeom prst="rect">
            <a:avLst/>
          </a:prstGeom>
          <a:noFill/>
        </p:spPr>
        <p:txBody>
          <a:bodyPr wrap="square">
            <a:spAutoFit/>
          </a:bodyPr>
          <a:lstStyle/>
          <a:p>
            <a:pPr algn="l">
              <a:defRPr sz="1000" b="1" i="0">
                <a:solidFill>
                  <a:srgbClr val="000050"/>
                </a:solidFill>
                <a:latin typeface="Helvetica Neue"/>
              </a:defRPr>
            </a:pPr>
            <a:r>
              <a:rPr sz="1100" dirty="0">
                <a:latin typeface="+mj-lt"/>
              </a:rPr>
              <a:t>From: Skills theater → To: Apprenticeship</a:t>
            </a:r>
          </a:p>
        </p:txBody>
      </p:sp>
      <p:sp>
        <p:nvSpPr>
          <p:cNvPr id="31" name="TextBox 30">
            <a:extLst>
              <a:ext uri="{FF2B5EF4-FFF2-40B4-BE49-F238E27FC236}">
                <a16:creationId xmlns:a16="http://schemas.microsoft.com/office/drawing/2014/main" id="{833F495D-301A-37D1-14A5-29721B4FC7FD}"/>
              </a:ext>
            </a:extLst>
          </p:cNvPr>
          <p:cNvSpPr txBox="1"/>
          <p:nvPr/>
        </p:nvSpPr>
        <p:spPr>
          <a:xfrm>
            <a:off x="731520" y="3914114"/>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latin typeface="+mj-lt"/>
              </a:rPr>
              <a:t>Learn by doing, not by </a:t>
            </a:r>
            <a:r>
              <a:rPr lang="en-US" sz="1200" dirty="0">
                <a:latin typeface="+mj-lt"/>
              </a:rPr>
              <a:t>watching, reading </a:t>
            </a:r>
            <a:r>
              <a:rPr sz="1200" dirty="0">
                <a:latin typeface="+mj-lt"/>
              </a:rPr>
              <a:t>slide deck. Build internal multipliers.</a:t>
            </a:r>
            <a:endParaRPr dirty="0">
              <a:latin typeface="+mj-lt"/>
            </a:endParaRPr>
          </a:p>
        </p:txBody>
      </p:sp>
      <p:sp>
        <p:nvSpPr>
          <p:cNvPr id="32" name="Rectangle 31">
            <a:extLst>
              <a:ext uri="{FF2B5EF4-FFF2-40B4-BE49-F238E27FC236}">
                <a16:creationId xmlns:a16="http://schemas.microsoft.com/office/drawing/2014/main" id="{60F7D12A-9E5F-7849-F61A-6487D8361E5F}"/>
              </a:ext>
            </a:extLst>
          </p:cNvPr>
          <p:cNvSpPr/>
          <p:nvPr/>
        </p:nvSpPr>
        <p:spPr>
          <a:xfrm>
            <a:off x="4206240" y="1820882"/>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BF725C18-29AA-B9E8-B9E5-213EEB1797BC}"/>
              </a:ext>
            </a:extLst>
          </p:cNvPr>
          <p:cNvSpPr txBox="1"/>
          <p:nvPr/>
        </p:nvSpPr>
        <p:spPr>
          <a:xfrm>
            <a:off x="4389120" y="1912322"/>
            <a:ext cx="3108960" cy="365760"/>
          </a:xfrm>
          <a:prstGeom prst="rect">
            <a:avLst/>
          </a:prstGeom>
          <a:noFill/>
        </p:spPr>
        <p:txBody>
          <a:bodyPr wrap="square">
            <a:spAutoFit/>
          </a:bodyPr>
          <a:lstStyle/>
          <a:p>
            <a:pPr algn="ctr">
              <a:defRPr sz="1800" b="1" i="0">
                <a:solidFill>
                  <a:srgbClr val="000050"/>
                </a:solidFill>
                <a:latin typeface="Helvetica Neue"/>
              </a:defRPr>
            </a:pPr>
            <a:r>
              <a:rPr dirty="0">
                <a:latin typeface="+mj-lt"/>
              </a:rPr>
              <a:t>Process</a:t>
            </a:r>
          </a:p>
        </p:txBody>
      </p:sp>
      <p:sp>
        <p:nvSpPr>
          <p:cNvPr id="34" name="TextBox 33">
            <a:extLst>
              <a:ext uri="{FF2B5EF4-FFF2-40B4-BE49-F238E27FC236}">
                <a16:creationId xmlns:a16="http://schemas.microsoft.com/office/drawing/2014/main" id="{E833A2FF-D5F7-74F4-045C-B43E1C5CE40B}"/>
              </a:ext>
            </a:extLst>
          </p:cNvPr>
          <p:cNvSpPr txBox="1"/>
          <p:nvPr/>
        </p:nvSpPr>
        <p:spPr>
          <a:xfrm>
            <a:off x="4389120" y="2415242"/>
            <a:ext cx="3108960" cy="461665"/>
          </a:xfrm>
          <a:prstGeom prst="rect">
            <a:avLst/>
          </a:prstGeom>
          <a:noFill/>
        </p:spPr>
        <p:txBody>
          <a:bodyPr wrap="square">
            <a:spAutoFit/>
          </a:bodyPr>
          <a:lstStyle/>
          <a:p>
            <a:pPr>
              <a:defRPr sz="1000" b="1" i="0">
                <a:solidFill>
                  <a:srgbClr val="000050"/>
                </a:solidFill>
                <a:latin typeface="Helvetica Neue"/>
              </a:defRPr>
            </a:pPr>
            <a:r>
              <a:rPr sz="1200" b="1" dirty="0">
                <a:solidFill>
                  <a:srgbClr val="000050"/>
                </a:solidFill>
                <a:latin typeface="+mj-lt"/>
              </a:rPr>
              <a:t>From: Deploy then adopt → To: Co-design then deploy</a:t>
            </a:r>
          </a:p>
        </p:txBody>
      </p:sp>
      <p:sp>
        <p:nvSpPr>
          <p:cNvPr id="35" name="TextBox 34">
            <a:extLst>
              <a:ext uri="{FF2B5EF4-FFF2-40B4-BE49-F238E27FC236}">
                <a16:creationId xmlns:a16="http://schemas.microsoft.com/office/drawing/2014/main" id="{54BF2288-F2E3-8337-41E8-218BF12C57D9}"/>
              </a:ext>
            </a:extLst>
          </p:cNvPr>
          <p:cNvSpPr txBox="1"/>
          <p:nvPr/>
        </p:nvSpPr>
        <p:spPr>
          <a:xfrm>
            <a:off x="4389120" y="2985099"/>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latin typeface="+mj-lt"/>
              </a:rPr>
              <a:t>Embed adoption into delivery. Measure outcomes, not outputs.</a:t>
            </a:r>
            <a:endParaRPr dirty="0">
              <a:latin typeface="+mj-lt"/>
            </a:endParaRPr>
          </a:p>
        </p:txBody>
      </p:sp>
      <p:sp>
        <p:nvSpPr>
          <p:cNvPr id="36" name="TextBox 35">
            <a:extLst>
              <a:ext uri="{FF2B5EF4-FFF2-40B4-BE49-F238E27FC236}">
                <a16:creationId xmlns:a16="http://schemas.microsoft.com/office/drawing/2014/main" id="{28EF9938-76E1-C122-32EE-5EB0C8B3D0CD}"/>
              </a:ext>
            </a:extLst>
          </p:cNvPr>
          <p:cNvSpPr txBox="1"/>
          <p:nvPr/>
        </p:nvSpPr>
        <p:spPr>
          <a:xfrm>
            <a:off x="4389120" y="3583924"/>
            <a:ext cx="3108960" cy="261610"/>
          </a:xfrm>
          <a:prstGeom prst="rect">
            <a:avLst/>
          </a:prstGeom>
          <a:noFill/>
        </p:spPr>
        <p:txBody>
          <a:bodyPr wrap="square">
            <a:spAutoFit/>
          </a:bodyPr>
          <a:lstStyle/>
          <a:p>
            <a:pPr algn="l">
              <a:defRPr sz="1000" b="1" i="0">
                <a:solidFill>
                  <a:srgbClr val="000050"/>
                </a:solidFill>
                <a:latin typeface="Helvetica Neue"/>
              </a:defRPr>
            </a:pPr>
            <a:r>
              <a:rPr sz="1100" b="1" dirty="0">
                <a:solidFill>
                  <a:srgbClr val="000050"/>
                </a:solidFill>
                <a:latin typeface="+mj-lt"/>
              </a:rPr>
              <a:t>From: IT-led → To: Business-led, IT-enabled</a:t>
            </a:r>
          </a:p>
        </p:txBody>
      </p:sp>
      <p:sp>
        <p:nvSpPr>
          <p:cNvPr id="37" name="TextBox 36">
            <a:extLst>
              <a:ext uri="{FF2B5EF4-FFF2-40B4-BE49-F238E27FC236}">
                <a16:creationId xmlns:a16="http://schemas.microsoft.com/office/drawing/2014/main" id="{DB6D426D-8CF2-1CDB-0BE1-CB37BA93A3AA}"/>
              </a:ext>
            </a:extLst>
          </p:cNvPr>
          <p:cNvSpPr txBox="1"/>
          <p:nvPr/>
        </p:nvSpPr>
        <p:spPr>
          <a:xfrm>
            <a:off x="4389120" y="3949237"/>
            <a:ext cx="3108960" cy="461665"/>
          </a:xfrm>
          <a:prstGeom prst="rect">
            <a:avLst/>
          </a:prstGeom>
          <a:noFill/>
        </p:spPr>
        <p:txBody>
          <a:bodyPr wrap="square">
            <a:spAutoFit/>
          </a:bodyPr>
          <a:lstStyle/>
          <a:p>
            <a:pPr algn="l">
              <a:defRPr sz="1000" b="0" i="0">
                <a:solidFill>
                  <a:srgbClr val="1A1A1A"/>
                </a:solidFill>
                <a:latin typeface="Helvetica Neue"/>
              </a:defRPr>
            </a:pPr>
            <a:r>
              <a:rPr dirty="0"/>
              <a:t>  </a:t>
            </a:r>
            <a:r>
              <a:rPr sz="1200" dirty="0">
                <a:solidFill>
                  <a:srgbClr val="1A1A1A"/>
                </a:solidFill>
                <a:latin typeface="+mj-lt"/>
              </a:rPr>
              <a:t>Business owns the outcome. Technology teams enable.</a:t>
            </a:r>
          </a:p>
        </p:txBody>
      </p:sp>
      <p:sp>
        <p:nvSpPr>
          <p:cNvPr id="38" name="Rectangle 37">
            <a:extLst>
              <a:ext uri="{FF2B5EF4-FFF2-40B4-BE49-F238E27FC236}">
                <a16:creationId xmlns:a16="http://schemas.microsoft.com/office/drawing/2014/main" id="{6CA5951C-42AD-7743-8636-B7DCF31BB6E3}"/>
              </a:ext>
            </a:extLst>
          </p:cNvPr>
          <p:cNvSpPr/>
          <p:nvPr/>
        </p:nvSpPr>
        <p:spPr>
          <a:xfrm>
            <a:off x="7863840" y="1820882"/>
            <a:ext cx="3474720" cy="3216235"/>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a:extLst>
              <a:ext uri="{FF2B5EF4-FFF2-40B4-BE49-F238E27FC236}">
                <a16:creationId xmlns:a16="http://schemas.microsoft.com/office/drawing/2014/main" id="{4BB902AB-4CDB-23E2-9BD4-849D37C464FF}"/>
              </a:ext>
            </a:extLst>
          </p:cNvPr>
          <p:cNvSpPr txBox="1"/>
          <p:nvPr/>
        </p:nvSpPr>
        <p:spPr>
          <a:xfrm>
            <a:off x="8046720" y="1912322"/>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mj-lt"/>
              </a:rPr>
              <a:t>Technology</a:t>
            </a:r>
          </a:p>
        </p:txBody>
      </p:sp>
      <p:sp>
        <p:nvSpPr>
          <p:cNvPr id="40" name="TextBox 39">
            <a:extLst>
              <a:ext uri="{FF2B5EF4-FFF2-40B4-BE49-F238E27FC236}">
                <a16:creationId xmlns:a16="http://schemas.microsoft.com/office/drawing/2014/main" id="{E2FB214F-26BB-EB9E-F9C8-105777FD73CE}"/>
              </a:ext>
            </a:extLst>
          </p:cNvPr>
          <p:cNvSpPr txBox="1"/>
          <p:nvPr/>
        </p:nvSpPr>
        <p:spPr>
          <a:xfrm>
            <a:off x="8046720" y="2415242"/>
            <a:ext cx="3108960" cy="430887"/>
          </a:xfrm>
          <a:prstGeom prst="rect">
            <a:avLst/>
          </a:prstGeom>
          <a:noFill/>
        </p:spPr>
        <p:txBody>
          <a:bodyPr wrap="square">
            <a:spAutoFit/>
          </a:bodyPr>
          <a:lstStyle/>
          <a:p>
            <a:pPr algn="l">
              <a:defRPr sz="1000" b="1" i="0">
                <a:solidFill>
                  <a:srgbClr val="000050"/>
                </a:solidFill>
                <a:latin typeface="Helvetica Neue"/>
              </a:defRPr>
            </a:pPr>
            <a:r>
              <a:rPr sz="1100" b="1">
                <a:solidFill>
                  <a:srgbClr val="000050"/>
                </a:solidFill>
                <a:latin typeface="+mj-lt"/>
              </a:rPr>
              <a:t>From</a:t>
            </a:r>
            <a:r>
              <a:rPr sz="1100" b="1" dirty="0">
                <a:solidFill>
                  <a:srgbClr val="000050"/>
                </a:solidFill>
                <a:latin typeface="+mj-lt"/>
              </a:rPr>
              <a:t>: Build it, they will come → To: Build what they asked for</a:t>
            </a:r>
          </a:p>
        </p:txBody>
      </p:sp>
      <p:sp>
        <p:nvSpPr>
          <p:cNvPr id="41" name="TextBox 40">
            <a:extLst>
              <a:ext uri="{FF2B5EF4-FFF2-40B4-BE49-F238E27FC236}">
                <a16:creationId xmlns:a16="http://schemas.microsoft.com/office/drawing/2014/main" id="{852D5334-47C5-0443-6746-8FDA5BBEF265}"/>
              </a:ext>
            </a:extLst>
          </p:cNvPr>
          <p:cNvSpPr txBox="1"/>
          <p:nvPr/>
        </p:nvSpPr>
        <p:spPr>
          <a:xfrm>
            <a:off x="8046720" y="2826722"/>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solidFill>
                  <a:srgbClr val="1A1A1A"/>
                </a:solidFill>
                <a:latin typeface="+mj-lt"/>
              </a:rPr>
              <a:t>Meet people where they are. Integrate into existing workflows</a:t>
            </a:r>
            <a:r>
              <a:rPr dirty="0"/>
              <a:t>.</a:t>
            </a:r>
          </a:p>
        </p:txBody>
      </p:sp>
      <p:sp>
        <p:nvSpPr>
          <p:cNvPr id="42" name="TextBox 41">
            <a:extLst>
              <a:ext uri="{FF2B5EF4-FFF2-40B4-BE49-F238E27FC236}">
                <a16:creationId xmlns:a16="http://schemas.microsoft.com/office/drawing/2014/main" id="{780C137A-A33E-B1B8-D718-04582AF307F4}"/>
              </a:ext>
            </a:extLst>
          </p:cNvPr>
          <p:cNvSpPr txBox="1"/>
          <p:nvPr/>
        </p:nvSpPr>
        <p:spPr>
          <a:xfrm>
            <a:off x="8046720" y="3565149"/>
            <a:ext cx="3108960" cy="430887"/>
          </a:xfrm>
          <a:prstGeom prst="rect">
            <a:avLst/>
          </a:prstGeom>
          <a:noFill/>
        </p:spPr>
        <p:txBody>
          <a:bodyPr wrap="square">
            <a:spAutoFit/>
          </a:bodyPr>
          <a:lstStyle/>
          <a:p>
            <a:pPr algn="l">
              <a:defRPr sz="1000" b="1" i="0">
                <a:solidFill>
                  <a:srgbClr val="000050"/>
                </a:solidFill>
                <a:latin typeface="Helvetica Neue"/>
              </a:defRPr>
            </a:pPr>
            <a:r>
              <a:rPr sz="1100" b="1" dirty="0">
                <a:solidFill>
                  <a:srgbClr val="000050"/>
                </a:solidFill>
                <a:latin typeface="+mj-lt"/>
              </a:rPr>
              <a:t>From: Centralized tools → To: Contextual guardrails</a:t>
            </a:r>
          </a:p>
        </p:txBody>
      </p:sp>
      <p:sp>
        <p:nvSpPr>
          <p:cNvPr id="43" name="TextBox 42">
            <a:extLst>
              <a:ext uri="{FF2B5EF4-FFF2-40B4-BE49-F238E27FC236}">
                <a16:creationId xmlns:a16="http://schemas.microsoft.com/office/drawing/2014/main" id="{435D686A-8BDE-80A0-FF3F-F41C0BFD3681}"/>
              </a:ext>
            </a:extLst>
          </p:cNvPr>
          <p:cNvSpPr txBox="1"/>
          <p:nvPr/>
        </p:nvSpPr>
        <p:spPr>
          <a:xfrm>
            <a:off x="8046720" y="3996036"/>
            <a:ext cx="3108960" cy="430887"/>
          </a:xfrm>
          <a:prstGeom prst="rect">
            <a:avLst/>
          </a:prstGeom>
          <a:noFill/>
        </p:spPr>
        <p:txBody>
          <a:bodyPr wrap="square">
            <a:spAutoFit/>
          </a:bodyPr>
          <a:lstStyle/>
          <a:p>
            <a:pPr algn="l">
              <a:defRPr sz="1000" b="0" i="0">
                <a:solidFill>
                  <a:srgbClr val="1A1A1A"/>
                </a:solidFill>
                <a:latin typeface="Helvetica Neue"/>
              </a:defRPr>
            </a:pPr>
            <a:r>
              <a:rPr dirty="0"/>
              <a:t>  </a:t>
            </a:r>
            <a:r>
              <a:rPr sz="1100" dirty="0">
                <a:solidFill>
                  <a:srgbClr val="1A1A1A"/>
                </a:solidFill>
                <a:latin typeface="+mj-lt"/>
              </a:rPr>
              <a:t>Responsible AI at platform level. Teams focus on value.</a:t>
            </a:r>
          </a:p>
        </p:txBody>
      </p:sp>
    </p:spTree>
    <p:extLst>
      <p:ext uri="{BB962C8B-B14F-4D97-AF65-F5344CB8AC3E}">
        <p14:creationId xmlns:p14="http://schemas.microsoft.com/office/powerpoint/2010/main" val="64369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2626323-34FE-B718-2359-81A904438D64}"/>
              </a:ext>
            </a:extLst>
          </p:cNvPr>
          <p:cNvSpPr txBox="1"/>
          <p:nvPr/>
        </p:nvSpPr>
        <p:spPr>
          <a:xfrm>
            <a:off x="457200" y="411480"/>
            <a:ext cx="11277600" cy="523220"/>
          </a:xfrm>
          <a:prstGeom prst="rect">
            <a:avLst/>
          </a:prstGeom>
          <a:noFill/>
        </p:spPr>
        <p:txBody>
          <a:bodyPr wrap="square">
            <a:spAutoFit/>
          </a:bodyPr>
          <a:lstStyle/>
          <a:p>
            <a:pPr>
              <a:defRPr sz="2600" b="0" i="0">
                <a:solidFill>
                  <a:srgbClr val="000050"/>
                </a:solidFill>
                <a:latin typeface="Helvetica Neue"/>
              </a:defRPr>
            </a:pPr>
            <a:r>
              <a:rPr sz="2800" dirty="0">
                <a:solidFill>
                  <a:srgbClr val="000050"/>
                </a:solidFill>
                <a:latin typeface="Wallace Sans Light" pitchFamily="2" charset="0"/>
              </a:rPr>
              <a:t>Four Behaviors That Separate Fast Adopters from Slow Ones</a:t>
            </a:r>
          </a:p>
        </p:txBody>
      </p:sp>
      <p:sp>
        <p:nvSpPr>
          <p:cNvPr id="4" name="TextBox 3">
            <a:extLst>
              <a:ext uri="{FF2B5EF4-FFF2-40B4-BE49-F238E27FC236}">
                <a16:creationId xmlns:a16="http://schemas.microsoft.com/office/drawing/2014/main" id="{43D2F6B5-6DDF-23AD-BBD4-168F2F7D5B3A}"/>
              </a:ext>
            </a:extLst>
          </p:cNvPr>
          <p:cNvSpPr txBox="1"/>
          <p:nvPr/>
        </p:nvSpPr>
        <p:spPr>
          <a:xfrm>
            <a:off x="494333" y="1371600"/>
            <a:ext cx="11277600" cy="954107"/>
          </a:xfrm>
          <a:prstGeom prst="rect">
            <a:avLst/>
          </a:prstGeom>
          <a:noFill/>
        </p:spPr>
        <p:txBody>
          <a:bodyPr wrap="square">
            <a:spAutoFit/>
          </a:bodyPr>
          <a:lstStyle/>
          <a:p>
            <a:pPr algn="l"/>
            <a:r>
              <a:rPr sz="2800" b="0" i="0" dirty="0">
                <a:solidFill>
                  <a:schemeClr val="accent1">
                    <a:lumMod val="75000"/>
                  </a:schemeClr>
                </a:solidFill>
              </a:rPr>
              <a:t>Behaviorally agile organizations share four measurable communication patterns absent in slow adopters.</a:t>
            </a:r>
          </a:p>
        </p:txBody>
      </p:sp>
      <p:sp>
        <p:nvSpPr>
          <p:cNvPr id="5" name="Rectangle 4">
            <a:extLst>
              <a:ext uri="{FF2B5EF4-FFF2-40B4-BE49-F238E27FC236}">
                <a16:creationId xmlns:a16="http://schemas.microsoft.com/office/drawing/2014/main" id="{C6AA2FCA-0BD0-D999-DFA9-A860C0DBFDE2}"/>
              </a:ext>
            </a:extLst>
          </p:cNvPr>
          <p:cNvSpPr/>
          <p:nvPr/>
        </p:nvSpPr>
        <p:spPr>
          <a:xfrm>
            <a:off x="494333" y="2606040"/>
            <a:ext cx="5501640" cy="1417320"/>
          </a:xfrm>
          <a:prstGeom prst="rect">
            <a:avLst/>
          </a:prstGeom>
          <a:solidFill>
            <a:schemeClr val="accent2">
              <a:lumMod val="20000"/>
              <a:lumOff val="80000"/>
            </a:schemeClr>
          </a:solidFill>
          <a:ln w="19050">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6" name="TextBox 5">
            <a:extLst>
              <a:ext uri="{FF2B5EF4-FFF2-40B4-BE49-F238E27FC236}">
                <a16:creationId xmlns:a16="http://schemas.microsoft.com/office/drawing/2014/main" id="{C34244F0-2721-EB94-04A2-E526B9C10D5D}"/>
              </a:ext>
            </a:extLst>
          </p:cNvPr>
          <p:cNvSpPr txBox="1"/>
          <p:nvPr/>
        </p:nvSpPr>
        <p:spPr>
          <a:xfrm>
            <a:off x="631493" y="2697480"/>
            <a:ext cx="5227320" cy="400110"/>
          </a:xfrm>
          <a:prstGeom prst="rect">
            <a:avLst/>
          </a:prstGeom>
          <a:solidFill>
            <a:schemeClr val="accent2">
              <a:lumMod val="20000"/>
              <a:lumOff val="80000"/>
            </a:schemeClr>
          </a:solidFill>
        </p:spPr>
        <p:txBody>
          <a:bodyPr wrap="square">
            <a:spAutoFit/>
          </a:bodyPr>
          <a:lstStyle/>
          <a:p>
            <a:r>
              <a:rPr b="1" dirty="0">
                <a:solidFill>
                  <a:srgbClr val="1A2B4A"/>
                </a:solidFill>
              </a:rPr>
              <a:t>1. Speak Up </a:t>
            </a:r>
            <a:r>
              <a:rPr lang="en-US" b="1" dirty="0">
                <a:solidFill>
                  <a:srgbClr val="1A2B4A"/>
                </a:solidFill>
              </a:rPr>
              <a:t> -  </a:t>
            </a:r>
            <a:r>
              <a:rPr sz="2000" b="1" dirty="0">
                <a:solidFill>
                  <a:srgbClr val="007AC2"/>
                </a:solidFill>
              </a:rPr>
              <a:t>3×</a:t>
            </a:r>
          </a:p>
        </p:txBody>
      </p:sp>
      <p:sp>
        <p:nvSpPr>
          <p:cNvPr id="7" name="TextBox 6">
            <a:extLst>
              <a:ext uri="{FF2B5EF4-FFF2-40B4-BE49-F238E27FC236}">
                <a16:creationId xmlns:a16="http://schemas.microsoft.com/office/drawing/2014/main" id="{973741CB-7B49-E99E-EBF4-41E10062467F}"/>
              </a:ext>
            </a:extLst>
          </p:cNvPr>
          <p:cNvSpPr txBox="1"/>
          <p:nvPr/>
        </p:nvSpPr>
        <p:spPr>
          <a:xfrm>
            <a:off x="631493" y="3081528"/>
            <a:ext cx="5227320" cy="584775"/>
          </a:xfrm>
          <a:prstGeom prst="rect">
            <a:avLst/>
          </a:prstGeom>
          <a:solidFill>
            <a:schemeClr val="accent2">
              <a:lumMod val="20000"/>
              <a:lumOff val="80000"/>
            </a:schemeClr>
          </a:solidFill>
        </p:spPr>
        <p:txBody>
          <a:bodyPr wrap="square">
            <a:spAutoFit/>
          </a:bodyPr>
          <a:lstStyle/>
          <a:p>
            <a:r>
              <a:rPr sz="1600">
                <a:solidFill>
                  <a:srgbClr val="1F1F1F"/>
                </a:solidFill>
              </a:rPr>
              <a:t>more likely to raise concerns
or surface new ideas early</a:t>
            </a:r>
          </a:p>
        </p:txBody>
      </p:sp>
      <p:sp>
        <p:nvSpPr>
          <p:cNvPr id="8" name="TextBox 7">
            <a:extLst>
              <a:ext uri="{FF2B5EF4-FFF2-40B4-BE49-F238E27FC236}">
                <a16:creationId xmlns:a16="http://schemas.microsoft.com/office/drawing/2014/main" id="{67431A34-A2AE-94DC-7FC8-78A4CFEF164A}"/>
              </a:ext>
            </a:extLst>
          </p:cNvPr>
          <p:cNvSpPr txBox="1"/>
          <p:nvPr/>
        </p:nvSpPr>
        <p:spPr>
          <a:xfrm>
            <a:off x="631493" y="3611880"/>
            <a:ext cx="5227320" cy="338554"/>
          </a:xfrm>
          <a:prstGeom prst="rect">
            <a:avLst/>
          </a:prstGeom>
          <a:solidFill>
            <a:schemeClr val="accent2">
              <a:lumMod val="20000"/>
              <a:lumOff val="80000"/>
            </a:schemeClr>
          </a:solidFill>
        </p:spPr>
        <p:txBody>
          <a:bodyPr wrap="square">
            <a:spAutoFit/>
          </a:bodyPr>
          <a:lstStyle/>
          <a:p>
            <a:r>
              <a:rPr sz="1600" i="1" dirty="0">
                <a:solidFill>
                  <a:srgbClr val="606060"/>
                </a:solidFill>
              </a:rPr>
              <a:t>Silence lets fear and uncertainty stall adoption.</a:t>
            </a:r>
          </a:p>
        </p:txBody>
      </p:sp>
      <p:sp>
        <p:nvSpPr>
          <p:cNvPr id="9" name="Rectangle 8">
            <a:extLst>
              <a:ext uri="{FF2B5EF4-FFF2-40B4-BE49-F238E27FC236}">
                <a16:creationId xmlns:a16="http://schemas.microsoft.com/office/drawing/2014/main" id="{68D10A12-1307-3DFD-1437-00348D4C005B}"/>
              </a:ext>
            </a:extLst>
          </p:cNvPr>
          <p:cNvSpPr/>
          <p:nvPr/>
        </p:nvSpPr>
        <p:spPr>
          <a:xfrm>
            <a:off x="6270293" y="2606040"/>
            <a:ext cx="5501640" cy="1417320"/>
          </a:xfrm>
          <a:prstGeom prst="rect">
            <a:avLst/>
          </a:prstGeom>
          <a:solidFill>
            <a:schemeClr val="accent2">
              <a:lumMod val="20000"/>
              <a:lumOff val="80000"/>
            </a:schemeClr>
          </a:solidFill>
          <a:ln w="19050">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0" name="TextBox 9">
            <a:extLst>
              <a:ext uri="{FF2B5EF4-FFF2-40B4-BE49-F238E27FC236}">
                <a16:creationId xmlns:a16="http://schemas.microsoft.com/office/drawing/2014/main" id="{DE352FAC-50C8-2AFF-CD7C-DFC8F29598FC}"/>
              </a:ext>
            </a:extLst>
          </p:cNvPr>
          <p:cNvSpPr txBox="1"/>
          <p:nvPr/>
        </p:nvSpPr>
        <p:spPr>
          <a:xfrm>
            <a:off x="6407453" y="2697480"/>
            <a:ext cx="5227320" cy="400110"/>
          </a:xfrm>
          <a:prstGeom prst="rect">
            <a:avLst/>
          </a:prstGeom>
          <a:solidFill>
            <a:schemeClr val="accent2">
              <a:lumMod val="20000"/>
              <a:lumOff val="80000"/>
            </a:schemeClr>
          </a:solidFill>
        </p:spPr>
        <p:txBody>
          <a:bodyPr wrap="square">
            <a:spAutoFit/>
          </a:bodyPr>
          <a:lstStyle/>
          <a:p>
            <a:r>
              <a:rPr b="1" dirty="0">
                <a:solidFill>
                  <a:srgbClr val="1A2B4A"/>
                </a:solidFill>
              </a:rPr>
              <a:t>2. Remind </a:t>
            </a:r>
            <a:r>
              <a:rPr lang="en-US" b="1" dirty="0">
                <a:solidFill>
                  <a:srgbClr val="1A2B4A"/>
                </a:solidFill>
              </a:rPr>
              <a:t>- </a:t>
            </a:r>
            <a:r>
              <a:rPr sz="2000" b="1" dirty="0">
                <a:solidFill>
                  <a:srgbClr val="007AC2"/>
                </a:solidFill>
              </a:rPr>
              <a:t>5×</a:t>
            </a:r>
          </a:p>
        </p:txBody>
      </p:sp>
      <p:sp>
        <p:nvSpPr>
          <p:cNvPr id="11" name="TextBox 10">
            <a:extLst>
              <a:ext uri="{FF2B5EF4-FFF2-40B4-BE49-F238E27FC236}">
                <a16:creationId xmlns:a16="http://schemas.microsoft.com/office/drawing/2014/main" id="{0810C142-CD99-7108-06D3-1F9D5317BCD4}"/>
              </a:ext>
            </a:extLst>
          </p:cNvPr>
          <p:cNvSpPr txBox="1"/>
          <p:nvPr/>
        </p:nvSpPr>
        <p:spPr>
          <a:xfrm>
            <a:off x="6407453" y="3081528"/>
            <a:ext cx="5227320" cy="584775"/>
          </a:xfrm>
          <a:prstGeom prst="rect">
            <a:avLst/>
          </a:prstGeom>
          <a:solidFill>
            <a:schemeClr val="accent2">
              <a:lumMod val="20000"/>
              <a:lumOff val="80000"/>
            </a:schemeClr>
          </a:solidFill>
        </p:spPr>
        <p:txBody>
          <a:bodyPr wrap="square">
            <a:spAutoFit/>
          </a:bodyPr>
          <a:lstStyle/>
          <a:p>
            <a:r>
              <a:rPr sz="1600">
                <a:solidFill>
                  <a:srgbClr val="1F1F1F"/>
                </a:solidFill>
              </a:rPr>
              <a:t>more likely to call out peers
who skip new approaches</a:t>
            </a:r>
          </a:p>
        </p:txBody>
      </p:sp>
      <p:sp>
        <p:nvSpPr>
          <p:cNvPr id="12" name="TextBox 11">
            <a:extLst>
              <a:ext uri="{FF2B5EF4-FFF2-40B4-BE49-F238E27FC236}">
                <a16:creationId xmlns:a16="http://schemas.microsoft.com/office/drawing/2014/main" id="{0F2346B9-FF6A-4FE1-9447-61A8B14CCDB6}"/>
              </a:ext>
            </a:extLst>
          </p:cNvPr>
          <p:cNvSpPr txBox="1"/>
          <p:nvPr/>
        </p:nvSpPr>
        <p:spPr>
          <a:xfrm>
            <a:off x="6407453" y="3611880"/>
            <a:ext cx="5227320" cy="276999"/>
          </a:xfrm>
          <a:prstGeom prst="rect">
            <a:avLst/>
          </a:prstGeom>
          <a:solidFill>
            <a:schemeClr val="accent2">
              <a:lumMod val="20000"/>
              <a:lumOff val="80000"/>
            </a:schemeClr>
          </a:solidFill>
        </p:spPr>
        <p:txBody>
          <a:bodyPr wrap="square">
            <a:spAutoFit/>
          </a:bodyPr>
          <a:lstStyle/>
          <a:p>
            <a:r>
              <a:rPr sz="1200" i="1">
                <a:solidFill>
                  <a:srgbClr val="606060"/>
                </a:solidFill>
              </a:rPr>
              <a:t>Peer accountability sustains adoption after launch.</a:t>
            </a:r>
          </a:p>
        </p:txBody>
      </p:sp>
      <p:sp>
        <p:nvSpPr>
          <p:cNvPr id="13" name="Rectangle 12">
            <a:extLst>
              <a:ext uri="{FF2B5EF4-FFF2-40B4-BE49-F238E27FC236}">
                <a16:creationId xmlns:a16="http://schemas.microsoft.com/office/drawing/2014/main" id="{9690FDF3-3F8A-2D3C-D922-275C17C4602F}"/>
              </a:ext>
            </a:extLst>
          </p:cNvPr>
          <p:cNvSpPr/>
          <p:nvPr/>
        </p:nvSpPr>
        <p:spPr>
          <a:xfrm>
            <a:off x="494333" y="4206240"/>
            <a:ext cx="5501640" cy="1417320"/>
          </a:xfrm>
          <a:prstGeom prst="rect">
            <a:avLst/>
          </a:prstGeom>
          <a:solidFill>
            <a:schemeClr val="accent2">
              <a:lumMod val="20000"/>
              <a:lumOff val="80000"/>
            </a:schemeClr>
          </a:solidFill>
          <a:ln w="19050">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4" name="TextBox 13">
            <a:extLst>
              <a:ext uri="{FF2B5EF4-FFF2-40B4-BE49-F238E27FC236}">
                <a16:creationId xmlns:a16="http://schemas.microsoft.com/office/drawing/2014/main" id="{7FC91B11-C39D-C1DB-9C23-C3C5E5427D76}"/>
              </a:ext>
            </a:extLst>
          </p:cNvPr>
          <p:cNvSpPr txBox="1"/>
          <p:nvPr/>
        </p:nvSpPr>
        <p:spPr>
          <a:xfrm>
            <a:off x="631493" y="4297680"/>
            <a:ext cx="5227320" cy="400110"/>
          </a:xfrm>
          <a:prstGeom prst="rect">
            <a:avLst/>
          </a:prstGeom>
          <a:solidFill>
            <a:schemeClr val="accent2">
              <a:lumMod val="20000"/>
              <a:lumOff val="80000"/>
            </a:schemeClr>
          </a:solidFill>
        </p:spPr>
        <p:txBody>
          <a:bodyPr wrap="square">
            <a:spAutoFit/>
          </a:bodyPr>
          <a:lstStyle/>
          <a:p>
            <a:r>
              <a:rPr b="1" dirty="0">
                <a:solidFill>
                  <a:srgbClr val="1A2B4A"/>
                </a:solidFill>
              </a:rPr>
              <a:t>3. Confront </a:t>
            </a:r>
            <a:r>
              <a:rPr lang="en-US" b="1" dirty="0">
                <a:solidFill>
                  <a:srgbClr val="1A2B4A"/>
                </a:solidFill>
              </a:rPr>
              <a:t>  - </a:t>
            </a:r>
            <a:r>
              <a:rPr sz="2000" b="1" dirty="0">
                <a:solidFill>
                  <a:srgbClr val="007AC2"/>
                </a:solidFill>
              </a:rPr>
              <a:t>2.5×</a:t>
            </a:r>
          </a:p>
        </p:txBody>
      </p:sp>
      <p:sp>
        <p:nvSpPr>
          <p:cNvPr id="15" name="TextBox 14">
            <a:extLst>
              <a:ext uri="{FF2B5EF4-FFF2-40B4-BE49-F238E27FC236}">
                <a16:creationId xmlns:a16="http://schemas.microsoft.com/office/drawing/2014/main" id="{26C80A96-06A0-B46C-1453-967D923DFDFE}"/>
              </a:ext>
            </a:extLst>
          </p:cNvPr>
          <p:cNvSpPr txBox="1"/>
          <p:nvPr/>
        </p:nvSpPr>
        <p:spPr>
          <a:xfrm>
            <a:off x="631493" y="4681728"/>
            <a:ext cx="5227320" cy="646331"/>
          </a:xfrm>
          <a:prstGeom prst="rect">
            <a:avLst/>
          </a:prstGeom>
          <a:solidFill>
            <a:schemeClr val="accent2">
              <a:lumMod val="20000"/>
              <a:lumOff val="80000"/>
            </a:schemeClr>
          </a:solidFill>
        </p:spPr>
        <p:txBody>
          <a:bodyPr wrap="square">
            <a:spAutoFit/>
          </a:bodyPr>
          <a:lstStyle/>
          <a:p>
            <a:r>
              <a:rPr dirty="0">
                <a:solidFill>
                  <a:srgbClr val="1F1F1F"/>
                </a:solidFill>
              </a:rPr>
              <a:t>more likely to hold resistors
accountable for non-adoption</a:t>
            </a:r>
          </a:p>
        </p:txBody>
      </p:sp>
      <p:sp>
        <p:nvSpPr>
          <p:cNvPr id="16" name="TextBox 15">
            <a:extLst>
              <a:ext uri="{FF2B5EF4-FFF2-40B4-BE49-F238E27FC236}">
                <a16:creationId xmlns:a16="http://schemas.microsoft.com/office/drawing/2014/main" id="{82061B92-BA9C-A196-372E-A4F021E41786}"/>
              </a:ext>
            </a:extLst>
          </p:cNvPr>
          <p:cNvSpPr txBox="1"/>
          <p:nvPr/>
        </p:nvSpPr>
        <p:spPr>
          <a:xfrm>
            <a:off x="631493" y="5337310"/>
            <a:ext cx="5227320" cy="276999"/>
          </a:xfrm>
          <a:prstGeom prst="rect">
            <a:avLst/>
          </a:prstGeom>
          <a:solidFill>
            <a:schemeClr val="accent2">
              <a:lumMod val="20000"/>
              <a:lumOff val="80000"/>
            </a:schemeClr>
          </a:solidFill>
        </p:spPr>
        <p:txBody>
          <a:bodyPr wrap="square">
            <a:spAutoFit/>
          </a:bodyPr>
          <a:lstStyle/>
          <a:p>
            <a:r>
              <a:rPr sz="1200" i="1" dirty="0">
                <a:solidFill>
                  <a:srgbClr val="606060"/>
                </a:solidFill>
              </a:rPr>
              <a:t>Silence in the face of resistance signals the initiative doesn't matter.</a:t>
            </a:r>
          </a:p>
        </p:txBody>
      </p:sp>
      <p:sp>
        <p:nvSpPr>
          <p:cNvPr id="17" name="Rectangle 16">
            <a:extLst>
              <a:ext uri="{FF2B5EF4-FFF2-40B4-BE49-F238E27FC236}">
                <a16:creationId xmlns:a16="http://schemas.microsoft.com/office/drawing/2014/main" id="{6C8E3FBE-7DFF-D391-6AA6-9C5B95472E8A}"/>
              </a:ext>
            </a:extLst>
          </p:cNvPr>
          <p:cNvSpPr/>
          <p:nvPr/>
        </p:nvSpPr>
        <p:spPr>
          <a:xfrm>
            <a:off x="6270293" y="4206240"/>
            <a:ext cx="5501640" cy="1417320"/>
          </a:xfrm>
          <a:prstGeom prst="rect">
            <a:avLst/>
          </a:prstGeom>
          <a:solidFill>
            <a:schemeClr val="accent2">
              <a:lumMod val="20000"/>
              <a:lumOff val="80000"/>
            </a:schemeClr>
          </a:solidFill>
          <a:ln w="19050">
            <a:solidFill>
              <a:srgbClr val="007AC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2800"/>
          </a:p>
        </p:txBody>
      </p:sp>
      <p:sp>
        <p:nvSpPr>
          <p:cNvPr id="18" name="TextBox 17">
            <a:extLst>
              <a:ext uri="{FF2B5EF4-FFF2-40B4-BE49-F238E27FC236}">
                <a16:creationId xmlns:a16="http://schemas.microsoft.com/office/drawing/2014/main" id="{8F3F6D65-B2FA-A0AB-C379-6B66D4F48F3F}"/>
              </a:ext>
            </a:extLst>
          </p:cNvPr>
          <p:cNvSpPr txBox="1"/>
          <p:nvPr/>
        </p:nvSpPr>
        <p:spPr>
          <a:xfrm>
            <a:off x="6407453" y="4297680"/>
            <a:ext cx="5227320" cy="400110"/>
          </a:xfrm>
          <a:prstGeom prst="rect">
            <a:avLst/>
          </a:prstGeom>
          <a:solidFill>
            <a:schemeClr val="accent2">
              <a:lumMod val="20000"/>
              <a:lumOff val="80000"/>
            </a:schemeClr>
          </a:solidFill>
        </p:spPr>
        <p:txBody>
          <a:bodyPr wrap="square">
            <a:spAutoFit/>
          </a:bodyPr>
          <a:lstStyle/>
          <a:p>
            <a:r>
              <a:rPr b="1" dirty="0">
                <a:solidFill>
                  <a:srgbClr val="1A2B4A"/>
                </a:solidFill>
              </a:rPr>
              <a:t>4. Challenge </a:t>
            </a:r>
            <a:r>
              <a:rPr lang="en-US" b="1" dirty="0">
                <a:solidFill>
                  <a:srgbClr val="1A2B4A"/>
                </a:solidFill>
              </a:rPr>
              <a:t>- </a:t>
            </a:r>
            <a:r>
              <a:rPr sz="2000" b="1" dirty="0">
                <a:solidFill>
                  <a:srgbClr val="007AC2"/>
                </a:solidFill>
              </a:rPr>
              <a:t>4×</a:t>
            </a:r>
          </a:p>
        </p:txBody>
      </p:sp>
      <p:sp>
        <p:nvSpPr>
          <p:cNvPr id="19" name="TextBox 18">
            <a:extLst>
              <a:ext uri="{FF2B5EF4-FFF2-40B4-BE49-F238E27FC236}">
                <a16:creationId xmlns:a16="http://schemas.microsoft.com/office/drawing/2014/main" id="{D7E42AF8-B4F1-CC2F-F326-4082EF2A76BE}"/>
              </a:ext>
            </a:extLst>
          </p:cNvPr>
          <p:cNvSpPr txBox="1"/>
          <p:nvPr/>
        </p:nvSpPr>
        <p:spPr>
          <a:xfrm>
            <a:off x="6407453" y="4681728"/>
            <a:ext cx="5227320" cy="584775"/>
          </a:xfrm>
          <a:prstGeom prst="rect">
            <a:avLst/>
          </a:prstGeom>
          <a:solidFill>
            <a:schemeClr val="accent2">
              <a:lumMod val="20000"/>
              <a:lumOff val="80000"/>
            </a:schemeClr>
          </a:solidFill>
        </p:spPr>
        <p:txBody>
          <a:bodyPr wrap="square">
            <a:spAutoFit/>
          </a:bodyPr>
          <a:lstStyle/>
          <a:p>
            <a:r>
              <a:rPr sz="1600">
                <a:solidFill>
                  <a:srgbClr val="1F1F1F"/>
                </a:solidFill>
              </a:rPr>
              <a:t>more likely to challenge assumptions,
even when leaders are invested</a:t>
            </a:r>
          </a:p>
        </p:txBody>
      </p:sp>
      <p:sp>
        <p:nvSpPr>
          <p:cNvPr id="20" name="TextBox 19">
            <a:extLst>
              <a:ext uri="{FF2B5EF4-FFF2-40B4-BE49-F238E27FC236}">
                <a16:creationId xmlns:a16="http://schemas.microsoft.com/office/drawing/2014/main" id="{B749734F-46CB-FFC1-CBEF-A97C05C6F411}"/>
              </a:ext>
            </a:extLst>
          </p:cNvPr>
          <p:cNvSpPr txBox="1"/>
          <p:nvPr/>
        </p:nvSpPr>
        <p:spPr>
          <a:xfrm>
            <a:off x="6407453" y="5212080"/>
            <a:ext cx="5227320" cy="276999"/>
          </a:xfrm>
          <a:prstGeom prst="rect">
            <a:avLst/>
          </a:prstGeom>
          <a:solidFill>
            <a:schemeClr val="accent2">
              <a:lumMod val="20000"/>
              <a:lumOff val="80000"/>
            </a:schemeClr>
          </a:solidFill>
        </p:spPr>
        <p:txBody>
          <a:bodyPr wrap="square">
            <a:spAutoFit/>
          </a:bodyPr>
          <a:lstStyle/>
          <a:p>
            <a:r>
              <a:rPr sz="1200" i="1">
                <a:solidFill>
                  <a:srgbClr val="606060"/>
                </a:solidFill>
              </a:rPr>
              <a:t>Sacred cows survive when dissent is unsafe.</a:t>
            </a:r>
          </a:p>
        </p:txBody>
      </p:sp>
    </p:spTree>
    <p:extLst>
      <p:ext uri="{BB962C8B-B14F-4D97-AF65-F5344CB8AC3E}">
        <p14:creationId xmlns:p14="http://schemas.microsoft.com/office/powerpoint/2010/main" val="27882903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AFE29D-A2FE-21EC-AFE9-4AB3E477E95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5DCE244-D617-12D6-39D1-91DB92F01873}"/>
              </a:ext>
            </a:extLst>
          </p:cNvPr>
          <p:cNvSpPr txBox="1"/>
          <p:nvPr/>
        </p:nvSpPr>
        <p:spPr>
          <a:xfrm>
            <a:off x="504508" y="228601"/>
            <a:ext cx="11183112" cy="523220"/>
          </a:xfrm>
          <a:prstGeom prst="rect">
            <a:avLst/>
          </a:prstGeom>
          <a:noFill/>
        </p:spPr>
        <p:txBody>
          <a:bodyPr wrap="square">
            <a:spAutoFit/>
          </a:bodyPr>
          <a:lstStyle/>
          <a:p>
            <a:pPr>
              <a:defRPr sz="2600" b="0" i="0">
                <a:solidFill>
                  <a:srgbClr val="000050"/>
                </a:solidFill>
                <a:latin typeface="Helvetica Neue"/>
              </a:defRPr>
            </a:pPr>
            <a:r>
              <a:rPr lang="en-US" sz="2800" dirty="0">
                <a:solidFill>
                  <a:srgbClr val="000050"/>
                </a:solidFill>
                <a:latin typeface="Wallace Sans Light" pitchFamily="2" charset="0"/>
              </a:rPr>
              <a:t>AI Execution Diagnostic for Gap Assessment</a:t>
            </a:r>
            <a:endParaRPr sz="2800" dirty="0">
              <a:solidFill>
                <a:srgbClr val="000050"/>
              </a:solidFill>
              <a:latin typeface="Wallace Sans Light" pitchFamily="2" charset="0"/>
            </a:endParaRPr>
          </a:p>
        </p:txBody>
      </p:sp>
      <p:sp>
        <p:nvSpPr>
          <p:cNvPr id="5" name="Rectangle 4">
            <a:extLst>
              <a:ext uri="{FF2B5EF4-FFF2-40B4-BE49-F238E27FC236}">
                <a16:creationId xmlns:a16="http://schemas.microsoft.com/office/drawing/2014/main" id="{294E29C5-01BD-13E9-4A7B-0C9FE4425F33}"/>
              </a:ext>
            </a:extLst>
          </p:cNvPr>
          <p:cNvSpPr/>
          <p:nvPr/>
        </p:nvSpPr>
        <p:spPr>
          <a:xfrm>
            <a:off x="504508" y="1417320"/>
            <a:ext cx="2692908" cy="3840480"/>
          </a:xfrm>
          <a:prstGeom prst="rect">
            <a:avLst/>
          </a:prstGeom>
          <a:solidFill>
            <a:schemeClr val="accent2">
              <a:lumMod val="20000"/>
              <a:lumOff val="80000"/>
            </a:schemeClr>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362A1E77-BAD8-ADE1-1079-C840808236EB}"/>
              </a:ext>
            </a:extLst>
          </p:cNvPr>
          <p:cNvSpPr/>
          <p:nvPr/>
        </p:nvSpPr>
        <p:spPr>
          <a:xfrm>
            <a:off x="504508" y="1417320"/>
            <a:ext cx="2692908" cy="6858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BF7730E-82E4-E63C-7950-C6381323C42A}"/>
              </a:ext>
            </a:extLst>
          </p:cNvPr>
          <p:cNvSpPr txBox="1"/>
          <p:nvPr/>
        </p:nvSpPr>
        <p:spPr>
          <a:xfrm>
            <a:off x="614236" y="1481328"/>
            <a:ext cx="2473452" cy="292388"/>
          </a:xfrm>
          <a:prstGeom prst="rect">
            <a:avLst/>
          </a:prstGeom>
          <a:solidFill>
            <a:schemeClr val="accent2">
              <a:lumMod val="20000"/>
              <a:lumOff val="80000"/>
            </a:schemeClr>
          </a:solidFill>
        </p:spPr>
        <p:txBody>
          <a:bodyPr wrap="square">
            <a:spAutoFit/>
          </a:bodyPr>
          <a:lstStyle/>
          <a:p>
            <a:pPr algn="l"/>
            <a:r>
              <a:rPr sz="1300" b="1" dirty="0">
                <a:solidFill>
                  <a:schemeClr val="accent1"/>
                </a:solidFill>
              </a:rPr>
              <a:t>VISIBILITY</a:t>
            </a:r>
          </a:p>
        </p:txBody>
      </p:sp>
      <p:sp>
        <p:nvSpPr>
          <p:cNvPr id="8" name="TextBox 7">
            <a:extLst>
              <a:ext uri="{FF2B5EF4-FFF2-40B4-BE49-F238E27FC236}">
                <a16:creationId xmlns:a16="http://schemas.microsoft.com/office/drawing/2014/main" id="{0EED9EAB-F1BE-C9F9-DADC-C40595464238}"/>
              </a:ext>
            </a:extLst>
          </p:cNvPr>
          <p:cNvSpPr txBox="1"/>
          <p:nvPr/>
        </p:nvSpPr>
        <p:spPr>
          <a:xfrm>
            <a:off x="614236" y="1828800"/>
            <a:ext cx="2473452" cy="261610"/>
          </a:xfrm>
          <a:prstGeom prst="rect">
            <a:avLst/>
          </a:prstGeom>
          <a:solidFill>
            <a:schemeClr val="accent2">
              <a:lumMod val="20000"/>
              <a:lumOff val="80000"/>
            </a:schemeClr>
          </a:solidFill>
        </p:spPr>
        <p:txBody>
          <a:bodyPr wrap="square">
            <a:spAutoFit/>
          </a:bodyPr>
          <a:lstStyle/>
          <a:p>
            <a:pPr algn="l"/>
            <a:r>
              <a:rPr sz="1100" i="1">
                <a:solidFill>
                  <a:schemeClr val="accent1"/>
                </a:solidFill>
              </a:rPr>
              <a:t>What don't we see?</a:t>
            </a:r>
          </a:p>
        </p:txBody>
      </p:sp>
      <p:sp>
        <p:nvSpPr>
          <p:cNvPr id="9" name="Rectangle 8">
            <a:extLst>
              <a:ext uri="{FF2B5EF4-FFF2-40B4-BE49-F238E27FC236}">
                <a16:creationId xmlns:a16="http://schemas.microsoft.com/office/drawing/2014/main" id="{F4111669-4201-DB7D-F3D2-E1F544C844B0}"/>
              </a:ext>
            </a:extLst>
          </p:cNvPr>
          <p:cNvSpPr/>
          <p:nvPr/>
        </p:nvSpPr>
        <p:spPr>
          <a:xfrm>
            <a:off x="614236" y="228600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AB6E6422-16AA-0289-4475-49808A03D081}"/>
              </a:ext>
            </a:extLst>
          </p:cNvPr>
          <p:cNvSpPr txBox="1"/>
          <p:nvPr/>
        </p:nvSpPr>
        <p:spPr>
          <a:xfrm>
            <a:off x="915989" y="2286001"/>
            <a:ext cx="2171701" cy="246221"/>
          </a:xfrm>
          <a:prstGeom prst="rect">
            <a:avLst/>
          </a:prstGeom>
          <a:solidFill>
            <a:schemeClr val="accent2">
              <a:lumMod val="20000"/>
              <a:lumOff val="80000"/>
            </a:schemeClr>
          </a:solidFill>
        </p:spPr>
        <p:txBody>
          <a:bodyPr wrap="square">
            <a:spAutoFit/>
          </a:bodyPr>
          <a:lstStyle/>
          <a:p>
            <a:pPr algn="l"/>
            <a:r>
              <a:rPr sz="1000" b="1">
                <a:solidFill>
                  <a:srgbClr val="CC0000"/>
                </a:solidFill>
              </a:rPr>
              <a:t>RED LIGHT</a:t>
            </a:r>
          </a:p>
        </p:txBody>
      </p:sp>
      <p:sp>
        <p:nvSpPr>
          <p:cNvPr id="11" name="TextBox 10">
            <a:extLst>
              <a:ext uri="{FF2B5EF4-FFF2-40B4-BE49-F238E27FC236}">
                <a16:creationId xmlns:a16="http://schemas.microsoft.com/office/drawing/2014/main" id="{5F5ABD53-1D00-1E9F-5831-E9EF1325E221}"/>
              </a:ext>
            </a:extLst>
          </p:cNvPr>
          <p:cNvSpPr txBox="1"/>
          <p:nvPr/>
        </p:nvSpPr>
        <p:spPr>
          <a:xfrm>
            <a:off x="614236" y="260604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Fragmented inputs,
hidden dependencies</a:t>
            </a:r>
          </a:p>
        </p:txBody>
      </p:sp>
      <p:sp>
        <p:nvSpPr>
          <p:cNvPr id="12" name="Rectangle 11">
            <a:extLst>
              <a:ext uri="{FF2B5EF4-FFF2-40B4-BE49-F238E27FC236}">
                <a16:creationId xmlns:a16="http://schemas.microsoft.com/office/drawing/2014/main" id="{1FDE65D7-FC67-0F3A-FCA6-5BAB51DEFA6D}"/>
              </a:ext>
            </a:extLst>
          </p:cNvPr>
          <p:cNvSpPr/>
          <p:nvPr/>
        </p:nvSpPr>
        <p:spPr>
          <a:xfrm>
            <a:off x="614236" y="356616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71F05918-3FAB-37AC-FB25-CBA04CFBC777}"/>
              </a:ext>
            </a:extLst>
          </p:cNvPr>
          <p:cNvSpPr txBox="1"/>
          <p:nvPr/>
        </p:nvSpPr>
        <p:spPr>
          <a:xfrm>
            <a:off x="915989" y="3566161"/>
            <a:ext cx="2171701" cy="246221"/>
          </a:xfrm>
          <a:prstGeom prst="rect">
            <a:avLst/>
          </a:prstGeom>
          <a:solidFill>
            <a:schemeClr val="accent2">
              <a:lumMod val="20000"/>
              <a:lumOff val="80000"/>
            </a:schemeClr>
          </a:solidFill>
        </p:spPr>
        <p:txBody>
          <a:bodyPr wrap="square">
            <a:spAutoFit/>
          </a:bodyPr>
          <a:lstStyle/>
          <a:p>
            <a:pPr algn="l"/>
            <a:r>
              <a:rPr sz="1000" b="1">
                <a:solidFill>
                  <a:srgbClr val="2E7D32"/>
                </a:solidFill>
              </a:rPr>
              <a:t>GREEN LIGHT</a:t>
            </a:r>
          </a:p>
        </p:txBody>
      </p:sp>
      <p:sp>
        <p:nvSpPr>
          <p:cNvPr id="14" name="TextBox 13">
            <a:extLst>
              <a:ext uri="{FF2B5EF4-FFF2-40B4-BE49-F238E27FC236}">
                <a16:creationId xmlns:a16="http://schemas.microsoft.com/office/drawing/2014/main" id="{354C9303-643C-81F3-C839-4D6AA21E1D5B}"/>
              </a:ext>
            </a:extLst>
          </p:cNvPr>
          <p:cNvSpPr txBox="1"/>
          <p:nvPr/>
        </p:nvSpPr>
        <p:spPr>
          <a:xfrm>
            <a:off x="614236" y="388620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Same inputs,
shared visibility</a:t>
            </a:r>
          </a:p>
        </p:txBody>
      </p:sp>
      <p:sp>
        <p:nvSpPr>
          <p:cNvPr id="15" name="Rectangle 14">
            <a:extLst>
              <a:ext uri="{FF2B5EF4-FFF2-40B4-BE49-F238E27FC236}">
                <a16:creationId xmlns:a16="http://schemas.microsoft.com/office/drawing/2014/main" id="{CA92C756-648A-6B8C-30F5-B6AB11B88893}"/>
              </a:ext>
            </a:extLst>
          </p:cNvPr>
          <p:cNvSpPr/>
          <p:nvPr/>
        </p:nvSpPr>
        <p:spPr>
          <a:xfrm>
            <a:off x="3334576" y="1417320"/>
            <a:ext cx="2692908" cy="3840480"/>
          </a:xfrm>
          <a:prstGeom prst="rect">
            <a:avLst/>
          </a:prstGeom>
          <a:solidFill>
            <a:schemeClr val="accent2">
              <a:lumMod val="20000"/>
              <a:lumOff val="80000"/>
            </a:schemeClr>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437AF9A7-5187-E865-127F-62EC79036B97}"/>
              </a:ext>
            </a:extLst>
          </p:cNvPr>
          <p:cNvSpPr/>
          <p:nvPr/>
        </p:nvSpPr>
        <p:spPr>
          <a:xfrm>
            <a:off x="3334576" y="1417320"/>
            <a:ext cx="2692908" cy="6858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204FC4C-F895-E2D3-7948-AE886C778873}"/>
              </a:ext>
            </a:extLst>
          </p:cNvPr>
          <p:cNvSpPr txBox="1"/>
          <p:nvPr/>
        </p:nvSpPr>
        <p:spPr>
          <a:xfrm>
            <a:off x="3444304" y="1481328"/>
            <a:ext cx="2473452" cy="292388"/>
          </a:xfrm>
          <a:prstGeom prst="rect">
            <a:avLst/>
          </a:prstGeom>
          <a:solidFill>
            <a:schemeClr val="accent2">
              <a:lumMod val="20000"/>
              <a:lumOff val="80000"/>
            </a:schemeClr>
          </a:solidFill>
        </p:spPr>
        <p:txBody>
          <a:bodyPr wrap="square">
            <a:spAutoFit/>
          </a:bodyPr>
          <a:lstStyle/>
          <a:p>
            <a:pPr algn="l"/>
            <a:r>
              <a:rPr sz="1300" b="1">
                <a:solidFill>
                  <a:schemeClr val="accent1"/>
                </a:solidFill>
              </a:rPr>
              <a:t>ADOPTION</a:t>
            </a:r>
          </a:p>
        </p:txBody>
      </p:sp>
      <p:sp>
        <p:nvSpPr>
          <p:cNvPr id="18" name="TextBox 17">
            <a:extLst>
              <a:ext uri="{FF2B5EF4-FFF2-40B4-BE49-F238E27FC236}">
                <a16:creationId xmlns:a16="http://schemas.microsoft.com/office/drawing/2014/main" id="{AF5B5A60-27CD-D521-0DC9-44C2F62A3F0B}"/>
              </a:ext>
            </a:extLst>
          </p:cNvPr>
          <p:cNvSpPr txBox="1"/>
          <p:nvPr/>
        </p:nvSpPr>
        <p:spPr>
          <a:xfrm>
            <a:off x="3444304" y="1828800"/>
            <a:ext cx="2473452" cy="261610"/>
          </a:xfrm>
          <a:prstGeom prst="rect">
            <a:avLst/>
          </a:prstGeom>
          <a:solidFill>
            <a:schemeClr val="accent2">
              <a:lumMod val="20000"/>
              <a:lumOff val="80000"/>
            </a:schemeClr>
          </a:solidFill>
        </p:spPr>
        <p:txBody>
          <a:bodyPr wrap="square">
            <a:spAutoFit/>
          </a:bodyPr>
          <a:lstStyle/>
          <a:p>
            <a:pPr algn="l"/>
            <a:r>
              <a:rPr sz="1100" i="1">
                <a:solidFill>
                  <a:schemeClr val="accent1"/>
                </a:solidFill>
              </a:rPr>
              <a:t>Are people using it?</a:t>
            </a:r>
          </a:p>
        </p:txBody>
      </p:sp>
      <p:sp>
        <p:nvSpPr>
          <p:cNvPr id="19" name="Rectangle 18">
            <a:extLst>
              <a:ext uri="{FF2B5EF4-FFF2-40B4-BE49-F238E27FC236}">
                <a16:creationId xmlns:a16="http://schemas.microsoft.com/office/drawing/2014/main" id="{D3D757D9-C685-79A4-E4F0-8C63E3064517}"/>
              </a:ext>
            </a:extLst>
          </p:cNvPr>
          <p:cNvSpPr/>
          <p:nvPr/>
        </p:nvSpPr>
        <p:spPr>
          <a:xfrm>
            <a:off x="3444304" y="228600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9B4504D0-98C4-8C36-4629-1F35844380EA}"/>
              </a:ext>
            </a:extLst>
          </p:cNvPr>
          <p:cNvSpPr txBox="1"/>
          <p:nvPr/>
        </p:nvSpPr>
        <p:spPr>
          <a:xfrm>
            <a:off x="3746057" y="2286001"/>
            <a:ext cx="2171701" cy="246221"/>
          </a:xfrm>
          <a:prstGeom prst="rect">
            <a:avLst/>
          </a:prstGeom>
          <a:solidFill>
            <a:schemeClr val="accent2">
              <a:lumMod val="20000"/>
              <a:lumOff val="80000"/>
            </a:schemeClr>
          </a:solidFill>
        </p:spPr>
        <p:txBody>
          <a:bodyPr wrap="square">
            <a:spAutoFit/>
          </a:bodyPr>
          <a:lstStyle/>
          <a:p>
            <a:pPr algn="l"/>
            <a:r>
              <a:rPr sz="1000" b="1">
                <a:solidFill>
                  <a:srgbClr val="CC0000"/>
                </a:solidFill>
              </a:rPr>
              <a:t>RED LIGHT</a:t>
            </a:r>
          </a:p>
        </p:txBody>
      </p:sp>
      <p:sp>
        <p:nvSpPr>
          <p:cNvPr id="21" name="TextBox 20">
            <a:extLst>
              <a:ext uri="{FF2B5EF4-FFF2-40B4-BE49-F238E27FC236}">
                <a16:creationId xmlns:a16="http://schemas.microsoft.com/office/drawing/2014/main" id="{5A5460A9-6BB9-CBC5-369E-0A58D702BD77}"/>
              </a:ext>
            </a:extLst>
          </p:cNvPr>
          <p:cNvSpPr txBox="1"/>
          <p:nvPr/>
        </p:nvSpPr>
        <p:spPr>
          <a:xfrm>
            <a:off x="3444304" y="260604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Workarounds,
parallel workflows</a:t>
            </a:r>
          </a:p>
        </p:txBody>
      </p:sp>
      <p:sp>
        <p:nvSpPr>
          <p:cNvPr id="22" name="Rectangle 21">
            <a:extLst>
              <a:ext uri="{FF2B5EF4-FFF2-40B4-BE49-F238E27FC236}">
                <a16:creationId xmlns:a16="http://schemas.microsoft.com/office/drawing/2014/main" id="{689AEE3C-74A4-C74F-9E8E-5EF449C99873}"/>
              </a:ext>
            </a:extLst>
          </p:cNvPr>
          <p:cNvSpPr/>
          <p:nvPr/>
        </p:nvSpPr>
        <p:spPr>
          <a:xfrm>
            <a:off x="3444304" y="356616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CC447DD1-6024-CF5C-3357-B0CB51D56EDD}"/>
              </a:ext>
            </a:extLst>
          </p:cNvPr>
          <p:cNvSpPr txBox="1"/>
          <p:nvPr/>
        </p:nvSpPr>
        <p:spPr>
          <a:xfrm>
            <a:off x="3746057" y="3566161"/>
            <a:ext cx="2171701" cy="246221"/>
          </a:xfrm>
          <a:prstGeom prst="rect">
            <a:avLst/>
          </a:prstGeom>
          <a:solidFill>
            <a:schemeClr val="accent2">
              <a:lumMod val="20000"/>
              <a:lumOff val="80000"/>
            </a:schemeClr>
          </a:solidFill>
        </p:spPr>
        <p:txBody>
          <a:bodyPr wrap="square">
            <a:spAutoFit/>
          </a:bodyPr>
          <a:lstStyle/>
          <a:p>
            <a:pPr algn="l"/>
            <a:r>
              <a:rPr sz="1000" b="1">
                <a:solidFill>
                  <a:srgbClr val="2E7D32"/>
                </a:solidFill>
              </a:rPr>
              <a:t>GREEN LIGHT</a:t>
            </a:r>
          </a:p>
        </p:txBody>
      </p:sp>
      <p:sp>
        <p:nvSpPr>
          <p:cNvPr id="24" name="TextBox 23">
            <a:extLst>
              <a:ext uri="{FF2B5EF4-FFF2-40B4-BE49-F238E27FC236}">
                <a16:creationId xmlns:a16="http://schemas.microsoft.com/office/drawing/2014/main" id="{CF944F0C-7E79-74F0-A6A2-7C1508E15DE2}"/>
              </a:ext>
            </a:extLst>
          </p:cNvPr>
          <p:cNvSpPr txBox="1"/>
          <p:nvPr/>
        </p:nvSpPr>
        <p:spPr>
          <a:xfrm>
            <a:off x="3444304" y="388620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Same workflow,
consistent use</a:t>
            </a:r>
          </a:p>
        </p:txBody>
      </p:sp>
      <p:sp>
        <p:nvSpPr>
          <p:cNvPr id="25" name="Rectangle 24">
            <a:extLst>
              <a:ext uri="{FF2B5EF4-FFF2-40B4-BE49-F238E27FC236}">
                <a16:creationId xmlns:a16="http://schemas.microsoft.com/office/drawing/2014/main" id="{8FC83391-E76C-2A68-B11D-3442EDD98564}"/>
              </a:ext>
            </a:extLst>
          </p:cNvPr>
          <p:cNvSpPr/>
          <p:nvPr/>
        </p:nvSpPr>
        <p:spPr>
          <a:xfrm>
            <a:off x="6164644" y="1417320"/>
            <a:ext cx="2692908" cy="3840480"/>
          </a:xfrm>
          <a:prstGeom prst="rect">
            <a:avLst/>
          </a:prstGeom>
          <a:solidFill>
            <a:schemeClr val="accent2">
              <a:lumMod val="20000"/>
              <a:lumOff val="80000"/>
            </a:schemeClr>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a:extLst>
              <a:ext uri="{FF2B5EF4-FFF2-40B4-BE49-F238E27FC236}">
                <a16:creationId xmlns:a16="http://schemas.microsoft.com/office/drawing/2014/main" id="{6B113523-98B8-C8FA-4DAC-A16DAEA13595}"/>
              </a:ext>
            </a:extLst>
          </p:cNvPr>
          <p:cNvSpPr/>
          <p:nvPr/>
        </p:nvSpPr>
        <p:spPr>
          <a:xfrm>
            <a:off x="6164644" y="1417320"/>
            <a:ext cx="2692908" cy="6858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a:extLst>
              <a:ext uri="{FF2B5EF4-FFF2-40B4-BE49-F238E27FC236}">
                <a16:creationId xmlns:a16="http://schemas.microsoft.com/office/drawing/2014/main" id="{3605CF8C-CEA6-7CE3-03BD-3C54ED739E65}"/>
              </a:ext>
            </a:extLst>
          </p:cNvPr>
          <p:cNvSpPr txBox="1"/>
          <p:nvPr/>
        </p:nvSpPr>
        <p:spPr>
          <a:xfrm>
            <a:off x="6274372" y="1481328"/>
            <a:ext cx="2473452" cy="292388"/>
          </a:xfrm>
          <a:prstGeom prst="rect">
            <a:avLst/>
          </a:prstGeom>
          <a:solidFill>
            <a:schemeClr val="accent2">
              <a:lumMod val="20000"/>
              <a:lumOff val="80000"/>
            </a:schemeClr>
          </a:solidFill>
        </p:spPr>
        <p:txBody>
          <a:bodyPr wrap="square">
            <a:spAutoFit/>
          </a:bodyPr>
          <a:lstStyle/>
          <a:p>
            <a:pPr algn="l"/>
            <a:r>
              <a:rPr sz="1300" b="1">
                <a:solidFill>
                  <a:schemeClr val="accent1"/>
                </a:solidFill>
              </a:rPr>
              <a:t>ACCOUNTABILITY</a:t>
            </a:r>
          </a:p>
        </p:txBody>
      </p:sp>
      <p:sp>
        <p:nvSpPr>
          <p:cNvPr id="28" name="TextBox 27">
            <a:extLst>
              <a:ext uri="{FF2B5EF4-FFF2-40B4-BE49-F238E27FC236}">
                <a16:creationId xmlns:a16="http://schemas.microsoft.com/office/drawing/2014/main" id="{3046AE47-8E51-27AA-5D82-A45F015D730A}"/>
              </a:ext>
            </a:extLst>
          </p:cNvPr>
          <p:cNvSpPr txBox="1"/>
          <p:nvPr/>
        </p:nvSpPr>
        <p:spPr>
          <a:xfrm>
            <a:off x="6274372" y="1828800"/>
            <a:ext cx="2473452" cy="261610"/>
          </a:xfrm>
          <a:prstGeom prst="rect">
            <a:avLst/>
          </a:prstGeom>
          <a:solidFill>
            <a:schemeClr val="accent2">
              <a:lumMod val="20000"/>
              <a:lumOff val="80000"/>
            </a:schemeClr>
          </a:solidFill>
        </p:spPr>
        <p:txBody>
          <a:bodyPr wrap="square">
            <a:spAutoFit/>
          </a:bodyPr>
          <a:lstStyle/>
          <a:p>
            <a:pPr algn="l"/>
            <a:r>
              <a:rPr sz="1100" i="1">
                <a:solidFill>
                  <a:schemeClr val="accent1"/>
                </a:solidFill>
              </a:rPr>
              <a:t>Is it really working?</a:t>
            </a:r>
          </a:p>
        </p:txBody>
      </p:sp>
      <p:sp>
        <p:nvSpPr>
          <p:cNvPr id="29" name="Rectangle 28">
            <a:extLst>
              <a:ext uri="{FF2B5EF4-FFF2-40B4-BE49-F238E27FC236}">
                <a16:creationId xmlns:a16="http://schemas.microsoft.com/office/drawing/2014/main" id="{C9C4BDCD-E9A0-81BA-0E17-5622D3D49E22}"/>
              </a:ext>
            </a:extLst>
          </p:cNvPr>
          <p:cNvSpPr/>
          <p:nvPr/>
        </p:nvSpPr>
        <p:spPr>
          <a:xfrm>
            <a:off x="6274372" y="228600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a:extLst>
              <a:ext uri="{FF2B5EF4-FFF2-40B4-BE49-F238E27FC236}">
                <a16:creationId xmlns:a16="http://schemas.microsoft.com/office/drawing/2014/main" id="{C66E5115-1460-ABFC-C9F7-3F4C79839EA7}"/>
              </a:ext>
            </a:extLst>
          </p:cNvPr>
          <p:cNvSpPr txBox="1"/>
          <p:nvPr/>
        </p:nvSpPr>
        <p:spPr>
          <a:xfrm>
            <a:off x="6576125" y="2286001"/>
            <a:ext cx="2171701" cy="246221"/>
          </a:xfrm>
          <a:prstGeom prst="rect">
            <a:avLst/>
          </a:prstGeom>
          <a:solidFill>
            <a:schemeClr val="accent2">
              <a:lumMod val="20000"/>
              <a:lumOff val="80000"/>
            </a:schemeClr>
          </a:solidFill>
        </p:spPr>
        <p:txBody>
          <a:bodyPr wrap="square">
            <a:spAutoFit/>
          </a:bodyPr>
          <a:lstStyle/>
          <a:p>
            <a:pPr algn="l"/>
            <a:r>
              <a:rPr sz="1000" b="1">
                <a:solidFill>
                  <a:srgbClr val="CC0000"/>
                </a:solidFill>
              </a:rPr>
              <a:t>RED LIGHT</a:t>
            </a:r>
          </a:p>
        </p:txBody>
      </p:sp>
      <p:sp>
        <p:nvSpPr>
          <p:cNvPr id="31" name="TextBox 30">
            <a:extLst>
              <a:ext uri="{FF2B5EF4-FFF2-40B4-BE49-F238E27FC236}">
                <a16:creationId xmlns:a16="http://schemas.microsoft.com/office/drawing/2014/main" id="{BE0F96AA-003D-6A64-490B-DAE662F1211F}"/>
              </a:ext>
            </a:extLst>
          </p:cNvPr>
          <p:cNvSpPr txBox="1"/>
          <p:nvPr/>
        </p:nvSpPr>
        <p:spPr>
          <a:xfrm>
            <a:off x="6274372" y="260604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Different data,
different stories</a:t>
            </a:r>
          </a:p>
        </p:txBody>
      </p:sp>
      <p:sp>
        <p:nvSpPr>
          <p:cNvPr id="32" name="Rectangle 31">
            <a:extLst>
              <a:ext uri="{FF2B5EF4-FFF2-40B4-BE49-F238E27FC236}">
                <a16:creationId xmlns:a16="http://schemas.microsoft.com/office/drawing/2014/main" id="{B507A0EA-0C62-9B82-148C-60918A8D1794}"/>
              </a:ext>
            </a:extLst>
          </p:cNvPr>
          <p:cNvSpPr/>
          <p:nvPr/>
        </p:nvSpPr>
        <p:spPr>
          <a:xfrm>
            <a:off x="6274372" y="356616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a:extLst>
              <a:ext uri="{FF2B5EF4-FFF2-40B4-BE49-F238E27FC236}">
                <a16:creationId xmlns:a16="http://schemas.microsoft.com/office/drawing/2014/main" id="{79A68198-B0AF-225F-4D7B-F770E657F2F8}"/>
              </a:ext>
            </a:extLst>
          </p:cNvPr>
          <p:cNvSpPr txBox="1"/>
          <p:nvPr/>
        </p:nvSpPr>
        <p:spPr>
          <a:xfrm>
            <a:off x="6576125" y="3566161"/>
            <a:ext cx="2171701" cy="246221"/>
          </a:xfrm>
          <a:prstGeom prst="rect">
            <a:avLst/>
          </a:prstGeom>
          <a:solidFill>
            <a:schemeClr val="accent2">
              <a:lumMod val="20000"/>
              <a:lumOff val="80000"/>
            </a:schemeClr>
          </a:solidFill>
        </p:spPr>
        <p:txBody>
          <a:bodyPr wrap="square">
            <a:spAutoFit/>
          </a:bodyPr>
          <a:lstStyle/>
          <a:p>
            <a:pPr algn="l"/>
            <a:r>
              <a:rPr sz="1000" b="1">
                <a:solidFill>
                  <a:srgbClr val="2E7D32"/>
                </a:solidFill>
              </a:rPr>
              <a:t>GREEN LIGHT</a:t>
            </a:r>
          </a:p>
        </p:txBody>
      </p:sp>
      <p:sp>
        <p:nvSpPr>
          <p:cNvPr id="34" name="TextBox 33">
            <a:extLst>
              <a:ext uri="{FF2B5EF4-FFF2-40B4-BE49-F238E27FC236}">
                <a16:creationId xmlns:a16="http://schemas.microsoft.com/office/drawing/2014/main" id="{25701A47-413E-76BB-5D8C-E09245D0E548}"/>
              </a:ext>
            </a:extLst>
          </p:cNvPr>
          <p:cNvSpPr txBox="1"/>
          <p:nvPr/>
        </p:nvSpPr>
        <p:spPr>
          <a:xfrm>
            <a:off x="6274372" y="388620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Same data,
same story</a:t>
            </a:r>
          </a:p>
        </p:txBody>
      </p:sp>
      <p:sp>
        <p:nvSpPr>
          <p:cNvPr id="35" name="Rectangle 34">
            <a:extLst>
              <a:ext uri="{FF2B5EF4-FFF2-40B4-BE49-F238E27FC236}">
                <a16:creationId xmlns:a16="http://schemas.microsoft.com/office/drawing/2014/main" id="{850C91EB-4EA9-2D4C-CEA8-43F24F3A52C6}"/>
              </a:ext>
            </a:extLst>
          </p:cNvPr>
          <p:cNvSpPr/>
          <p:nvPr/>
        </p:nvSpPr>
        <p:spPr>
          <a:xfrm>
            <a:off x="8994712" y="1417320"/>
            <a:ext cx="2692908" cy="3840480"/>
          </a:xfrm>
          <a:prstGeom prst="rect">
            <a:avLst/>
          </a:prstGeom>
          <a:solidFill>
            <a:schemeClr val="accent2">
              <a:lumMod val="20000"/>
              <a:lumOff val="80000"/>
            </a:schemeClr>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F1946AC2-35F3-E0BE-BA52-DA54D066FC01}"/>
              </a:ext>
            </a:extLst>
          </p:cNvPr>
          <p:cNvSpPr/>
          <p:nvPr/>
        </p:nvSpPr>
        <p:spPr>
          <a:xfrm>
            <a:off x="8994712" y="1417320"/>
            <a:ext cx="2692908" cy="6858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6522159F-65B1-D89A-FF0B-D7A5A6143AF6}"/>
              </a:ext>
            </a:extLst>
          </p:cNvPr>
          <p:cNvSpPr txBox="1"/>
          <p:nvPr/>
        </p:nvSpPr>
        <p:spPr>
          <a:xfrm>
            <a:off x="9104440" y="1481328"/>
            <a:ext cx="2473452" cy="292388"/>
          </a:xfrm>
          <a:prstGeom prst="rect">
            <a:avLst/>
          </a:prstGeom>
          <a:solidFill>
            <a:schemeClr val="accent2">
              <a:lumMod val="20000"/>
              <a:lumOff val="80000"/>
            </a:schemeClr>
          </a:solidFill>
        </p:spPr>
        <p:txBody>
          <a:bodyPr wrap="square">
            <a:spAutoFit/>
          </a:bodyPr>
          <a:lstStyle/>
          <a:p>
            <a:pPr algn="l"/>
            <a:r>
              <a:rPr sz="1300" b="1">
                <a:solidFill>
                  <a:schemeClr val="accent1"/>
                </a:solidFill>
              </a:rPr>
              <a:t>ASSUMPTIONS</a:t>
            </a:r>
          </a:p>
        </p:txBody>
      </p:sp>
      <p:sp>
        <p:nvSpPr>
          <p:cNvPr id="38" name="TextBox 37">
            <a:extLst>
              <a:ext uri="{FF2B5EF4-FFF2-40B4-BE49-F238E27FC236}">
                <a16:creationId xmlns:a16="http://schemas.microsoft.com/office/drawing/2014/main" id="{63AA4FA5-EF00-DE0E-953F-99267514FCA2}"/>
              </a:ext>
            </a:extLst>
          </p:cNvPr>
          <p:cNvSpPr txBox="1"/>
          <p:nvPr/>
        </p:nvSpPr>
        <p:spPr>
          <a:xfrm>
            <a:off x="9104440" y="1828800"/>
            <a:ext cx="2473452" cy="261610"/>
          </a:xfrm>
          <a:prstGeom prst="rect">
            <a:avLst/>
          </a:prstGeom>
          <a:solidFill>
            <a:schemeClr val="accent2">
              <a:lumMod val="20000"/>
              <a:lumOff val="80000"/>
            </a:schemeClr>
          </a:solidFill>
        </p:spPr>
        <p:txBody>
          <a:bodyPr wrap="square">
            <a:spAutoFit/>
          </a:bodyPr>
          <a:lstStyle/>
          <a:p>
            <a:pPr algn="l"/>
            <a:r>
              <a:rPr sz="1100" i="1">
                <a:solidFill>
                  <a:srgbClr val="D0D0D0"/>
                </a:solidFill>
              </a:rPr>
              <a:t>What are we assuming?</a:t>
            </a:r>
          </a:p>
        </p:txBody>
      </p:sp>
      <p:sp>
        <p:nvSpPr>
          <p:cNvPr id="39" name="Rectangle 38">
            <a:extLst>
              <a:ext uri="{FF2B5EF4-FFF2-40B4-BE49-F238E27FC236}">
                <a16:creationId xmlns:a16="http://schemas.microsoft.com/office/drawing/2014/main" id="{DB3ECA29-1B7E-A03A-9948-ED21D672C233}"/>
              </a:ext>
            </a:extLst>
          </p:cNvPr>
          <p:cNvSpPr/>
          <p:nvPr/>
        </p:nvSpPr>
        <p:spPr>
          <a:xfrm>
            <a:off x="9104440" y="228600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32D4DE17-D2D7-3FDE-30EC-F19C6070B66C}"/>
              </a:ext>
            </a:extLst>
          </p:cNvPr>
          <p:cNvSpPr txBox="1"/>
          <p:nvPr/>
        </p:nvSpPr>
        <p:spPr>
          <a:xfrm>
            <a:off x="9406193" y="2286001"/>
            <a:ext cx="2171701" cy="246221"/>
          </a:xfrm>
          <a:prstGeom prst="rect">
            <a:avLst/>
          </a:prstGeom>
          <a:solidFill>
            <a:schemeClr val="accent2">
              <a:lumMod val="20000"/>
              <a:lumOff val="80000"/>
            </a:schemeClr>
          </a:solidFill>
        </p:spPr>
        <p:txBody>
          <a:bodyPr wrap="square">
            <a:spAutoFit/>
          </a:bodyPr>
          <a:lstStyle/>
          <a:p>
            <a:pPr algn="l"/>
            <a:r>
              <a:rPr sz="1000" b="1">
                <a:solidFill>
                  <a:srgbClr val="CC0000"/>
                </a:solidFill>
              </a:rPr>
              <a:t>RED LIGHT</a:t>
            </a:r>
          </a:p>
        </p:txBody>
      </p:sp>
      <p:sp>
        <p:nvSpPr>
          <p:cNvPr id="41" name="TextBox 40">
            <a:extLst>
              <a:ext uri="{FF2B5EF4-FFF2-40B4-BE49-F238E27FC236}">
                <a16:creationId xmlns:a16="http://schemas.microsoft.com/office/drawing/2014/main" id="{087D01ED-95D2-6F7E-D9D0-3E6342041628}"/>
              </a:ext>
            </a:extLst>
          </p:cNvPr>
          <p:cNvSpPr txBox="1"/>
          <p:nvPr/>
        </p:nvSpPr>
        <p:spPr>
          <a:xfrm>
            <a:off x="9104440" y="260604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Model trusted
over reality</a:t>
            </a:r>
          </a:p>
        </p:txBody>
      </p:sp>
      <p:sp>
        <p:nvSpPr>
          <p:cNvPr id="42" name="Rectangle 41">
            <a:extLst>
              <a:ext uri="{FF2B5EF4-FFF2-40B4-BE49-F238E27FC236}">
                <a16:creationId xmlns:a16="http://schemas.microsoft.com/office/drawing/2014/main" id="{12C6C46D-8B78-0B35-0954-E5BD11A7FD71}"/>
              </a:ext>
            </a:extLst>
          </p:cNvPr>
          <p:cNvSpPr/>
          <p:nvPr/>
        </p:nvSpPr>
        <p:spPr>
          <a:xfrm>
            <a:off x="9104440" y="3566160"/>
            <a:ext cx="228600" cy="22860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a:extLst>
              <a:ext uri="{FF2B5EF4-FFF2-40B4-BE49-F238E27FC236}">
                <a16:creationId xmlns:a16="http://schemas.microsoft.com/office/drawing/2014/main" id="{30186C4E-79AB-BA08-C878-3B8A40714F5A}"/>
              </a:ext>
            </a:extLst>
          </p:cNvPr>
          <p:cNvSpPr txBox="1"/>
          <p:nvPr/>
        </p:nvSpPr>
        <p:spPr>
          <a:xfrm>
            <a:off x="9406193" y="3566161"/>
            <a:ext cx="2171701" cy="246221"/>
          </a:xfrm>
          <a:prstGeom prst="rect">
            <a:avLst/>
          </a:prstGeom>
          <a:solidFill>
            <a:schemeClr val="accent2">
              <a:lumMod val="20000"/>
              <a:lumOff val="80000"/>
            </a:schemeClr>
          </a:solidFill>
        </p:spPr>
        <p:txBody>
          <a:bodyPr wrap="square">
            <a:spAutoFit/>
          </a:bodyPr>
          <a:lstStyle/>
          <a:p>
            <a:pPr algn="l"/>
            <a:r>
              <a:rPr sz="1000" b="1">
                <a:solidFill>
                  <a:srgbClr val="2E7D32"/>
                </a:solidFill>
              </a:rPr>
              <a:t>GREEN LIGHT</a:t>
            </a:r>
          </a:p>
        </p:txBody>
      </p:sp>
      <p:sp>
        <p:nvSpPr>
          <p:cNvPr id="44" name="TextBox 43">
            <a:extLst>
              <a:ext uri="{FF2B5EF4-FFF2-40B4-BE49-F238E27FC236}">
                <a16:creationId xmlns:a16="http://schemas.microsoft.com/office/drawing/2014/main" id="{80D74D5F-882D-DDBF-41FF-72EB367D98CD}"/>
              </a:ext>
            </a:extLst>
          </p:cNvPr>
          <p:cNvSpPr txBox="1"/>
          <p:nvPr/>
        </p:nvSpPr>
        <p:spPr>
          <a:xfrm>
            <a:off x="9104440" y="3886201"/>
            <a:ext cx="2473452" cy="430887"/>
          </a:xfrm>
          <a:prstGeom prst="rect">
            <a:avLst/>
          </a:prstGeom>
          <a:solidFill>
            <a:schemeClr val="accent2">
              <a:lumMod val="20000"/>
              <a:lumOff val="80000"/>
            </a:schemeClr>
          </a:solidFill>
        </p:spPr>
        <p:txBody>
          <a:bodyPr wrap="square">
            <a:spAutoFit/>
          </a:bodyPr>
          <a:lstStyle/>
          <a:p>
            <a:pPr algn="l"/>
            <a:r>
              <a:rPr sz="1100">
                <a:solidFill>
                  <a:srgbClr val="555555"/>
                </a:solidFill>
              </a:rPr>
              <a:t>Reality tested,
assumptions exposed</a:t>
            </a:r>
          </a:p>
        </p:txBody>
      </p:sp>
      <p:sp>
        <p:nvSpPr>
          <p:cNvPr id="47" name="TextBox 46">
            <a:extLst>
              <a:ext uri="{FF2B5EF4-FFF2-40B4-BE49-F238E27FC236}">
                <a16:creationId xmlns:a16="http://schemas.microsoft.com/office/drawing/2014/main" id="{AF518CEC-FA79-5D1A-1882-B6959E3D96ED}"/>
              </a:ext>
            </a:extLst>
          </p:cNvPr>
          <p:cNvSpPr txBox="1"/>
          <p:nvPr/>
        </p:nvSpPr>
        <p:spPr>
          <a:xfrm>
            <a:off x="6988629" y="5839097"/>
            <a:ext cx="4153988" cy="215444"/>
          </a:xfrm>
          <a:prstGeom prst="rect">
            <a:avLst/>
          </a:prstGeom>
          <a:noFill/>
        </p:spPr>
        <p:txBody>
          <a:bodyPr wrap="square" rtlCol="0">
            <a:spAutoFit/>
          </a:bodyPr>
          <a:lstStyle/>
          <a:p>
            <a:r>
              <a:rPr lang="en-US" sz="800" i="1" dirty="0"/>
              <a:t>Source: Crucial Conversations Ai Delivers</a:t>
            </a:r>
          </a:p>
        </p:txBody>
      </p:sp>
    </p:spTree>
    <p:extLst>
      <p:ext uri="{BB962C8B-B14F-4D97-AF65-F5344CB8AC3E}">
        <p14:creationId xmlns:p14="http://schemas.microsoft.com/office/powerpoint/2010/main" val="12249649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6A42A7-6B51-5CE2-59DF-53C078C1689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15B4EA7-980B-BB65-595A-15DFE19197F0}"/>
              </a:ext>
            </a:extLst>
          </p:cNvPr>
          <p:cNvSpPr txBox="1"/>
          <p:nvPr/>
        </p:nvSpPr>
        <p:spPr>
          <a:xfrm>
            <a:off x="504508" y="228601"/>
            <a:ext cx="11183112" cy="523220"/>
          </a:xfrm>
          <a:prstGeom prst="rect">
            <a:avLst/>
          </a:prstGeom>
          <a:noFill/>
        </p:spPr>
        <p:txBody>
          <a:bodyPr wrap="square">
            <a:spAutoFit/>
          </a:bodyPr>
          <a:lstStyle/>
          <a:p>
            <a:pPr>
              <a:defRPr sz="2600" b="0" i="0">
                <a:solidFill>
                  <a:srgbClr val="000050"/>
                </a:solidFill>
                <a:latin typeface="Helvetica Neue"/>
              </a:defRPr>
            </a:pPr>
            <a:r>
              <a:rPr lang="en-US" sz="2800" dirty="0">
                <a:solidFill>
                  <a:srgbClr val="000050"/>
                </a:solidFill>
                <a:latin typeface="Wallace Sans Light" pitchFamily="2" charset="0"/>
              </a:rPr>
              <a:t>Path Forward</a:t>
            </a:r>
            <a:endParaRPr sz="2800" dirty="0">
              <a:solidFill>
                <a:srgbClr val="000050"/>
              </a:solidFill>
              <a:latin typeface="Wallace Sans Light" pitchFamily="2" charset="0"/>
            </a:endParaRPr>
          </a:p>
        </p:txBody>
      </p:sp>
      <p:sp>
        <p:nvSpPr>
          <p:cNvPr id="4" name="TextBox 3">
            <a:extLst>
              <a:ext uri="{FF2B5EF4-FFF2-40B4-BE49-F238E27FC236}">
                <a16:creationId xmlns:a16="http://schemas.microsoft.com/office/drawing/2014/main" id="{40C209D9-7CF9-857A-F8A6-9ABEDC9FDC23}"/>
              </a:ext>
            </a:extLst>
          </p:cNvPr>
          <p:cNvSpPr txBox="1"/>
          <p:nvPr/>
        </p:nvSpPr>
        <p:spPr>
          <a:xfrm>
            <a:off x="504508" y="868681"/>
            <a:ext cx="11183112" cy="323165"/>
          </a:xfrm>
          <a:prstGeom prst="rect">
            <a:avLst/>
          </a:prstGeom>
          <a:noFill/>
        </p:spPr>
        <p:txBody>
          <a:bodyPr wrap="square">
            <a:spAutoFit/>
          </a:bodyPr>
          <a:lstStyle/>
          <a:p>
            <a:pPr algn="l"/>
            <a:r>
              <a:rPr sz="1500" i="1" dirty="0">
                <a:solidFill>
                  <a:schemeClr val="accent1"/>
                </a:solidFill>
              </a:rPr>
              <a:t>Concrete actions for each execution gap</a:t>
            </a:r>
          </a:p>
        </p:txBody>
      </p:sp>
      <p:sp>
        <p:nvSpPr>
          <p:cNvPr id="5" name="Rectangle 4">
            <a:extLst>
              <a:ext uri="{FF2B5EF4-FFF2-40B4-BE49-F238E27FC236}">
                <a16:creationId xmlns:a16="http://schemas.microsoft.com/office/drawing/2014/main" id="{09B8CE6D-3AE9-96D3-A7EE-5226D448AC7A}"/>
              </a:ext>
            </a:extLst>
          </p:cNvPr>
          <p:cNvSpPr/>
          <p:nvPr/>
        </p:nvSpPr>
        <p:spPr>
          <a:xfrm>
            <a:off x="504508" y="1371600"/>
            <a:ext cx="11183112"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7162C07-F556-3900-FD07-9275D2A8D1A4}"/>
              </a:ext>
            </a:extLst>
          </p:cNvPr>
          <p:cNvSpPr/>
          <p:nvPr/>
        </p:nvSpPr>
        <p:spPr>
          <a:xfrm>
            <a:off x="504508" y="1371600"/>
            <a:ext cx="54864"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FC7760F-E888-3836-100D-74BB6E8AC73E}"/>
              </a:ext>
            </a:extLst>
          </p:cNvPr>
          <p:cNvSpPr txBox="1"/>
          <p:nvPr/>
        </p:nvSpPr>
        <p:spPr>
          <a:xfrm>
            <a:off x="641668" y="1463040"/>
            <a:ext cx="2560320" cy="292388"/>
          </a:xfrm>
          <a:prstGeom prst="rect">
            <a:avLst/>
          </a:prstGeom>
          <a:solidFill>
            <a:schemeClr val="accent2">
              <a:lumMod val="20000"/>
              <a:lumOff val="80000"/>
            </a:schemeClr>
          </a:solidFill>
        </p:spPr>
        <p:txBody>
          <a:bodyPr wrap="square">
            <a:spAutoFit/>
          </a:bodyPr>
          <a:lstStyle/>
          <a:p>
            <a:pPr algn="l"/>
            <a:r>
              <a:rPr sz="1300" b="1">
                <a:solidFill>
                  <a:srgbClr val="101010"/>
                </a:solidFill>
              </a:rPr>
              <a:t>VISIBILITY GAP</a:t>
            </a:r>
          </a:p>
        </p:txBody>
      </p:sp>
      <p:sp>
        <p:nvSpPr>
          <p:cNvPr id="8" name="TextBox 7">
            <a:extLst>
              <a:ext uri="{FF2B5EF4-FFF2-40B4-BE49-F238E27FC236}">
                <a16:creationId xmlns:a16="http://schemas.microsoft.com/office/drawing/2014/main" id="{E0E37761-08DE-798C-C3E2-4CB41B9FE925}"/>
              </a:ext>
            </a:extLst>
          </p:cNvPr>
          <p:cNvSpPr txBox="1"/>
          <p:nvPr/>
        </p:nvSpPr>
        <p:spPr>
          <a:xfrm>
            <a:off x="641668" y="1874521"/>
            <a:ext cx="2560320" cy="430887"/>
          </a:xfrm>
          <a:prstGeom prst="rect">
            <a:avLst/>
          </a:prstGeom>
          <a:solidFill>
            <a:schemeClr val="accent2">
              <a:lumMod val="20000"/>
              <a:lumOff val="80000"/>
            </a:schemeClr>
          </a:solidFill>
        </p:spPr>
        <p:txBody>
          <a:bodyPr wrap="square">
            <a:spAutoFit/>
          </a:bodyPr>
          <a:lstStyle/>
          <a:p>
            <a:pPr algn="l"/>
            <a:r>
              <a:rPr sz="1100" i="1">
                <a:solidFill>
                  <a:srgbClr val="555555"/>
                </a:solidFill>
              </a:rPr>
              <a:t>Fragmented inputs, hidden dependencies</a:t>
            </a:r>
          </a:p>
        </p:txBody>
      </p:sp>
      <p:sp>
        <p:nvSpPr>
          <p:cNvPr id="9" name="TextBox 8">
            <a:extLst>
              <a:ext uri="{FF2B5EF4-FFF2-40B4-BE49-F238E27FC236}">
                <a16:creationId xmlns:a16="http://schemas.microsoft.com/office/drawing/2014/main" id="{341E0741-DB5C-242F-B1EB-7AB663ACE2A6}"/>
              </a:ext>
            </a:extLst>
          </p:cNvPr>
          <p:cNvSpPr txBox="1"/>
          <p:nvPr/>
        </p:nvSpPr>
        <p:spPr>
          <a:xfrm>
            <a:off x="3293428" y="1508761"/>
            <a:ext cx="8348472" cy="461665"/>
          </a:xfrm>
          <a:prstGeom prst="rect">
            <a:avLst/>
          </a:prstGeom>
          <a:solidFill>
            <a:schemeClr val="accent2">
              <a:lumMod val="20000"/>
              <a:lumOff val="80000"/>
            </a:schemeClr>
          </a:solidFill>
        </p:spPr>
        <p:txBody>
          <a:bodyPr wrap="square">
            <a:spAutoFit/>
          </a:bodyPr>
          <a:lstStyle/>
          <a:p>
            <a:pPr algn="l"/>
            <a:r>
              <a:rPr sz="1200">
                <a:solidFill>
                  <a:srgbClr val="101010"/>
                </a:solidFill>
              </a:rPr>
              <a:t>• Map inputs end-to-end (who creates, changes, consumes)
• Assign ownership for each dependency — no invisible handoffs</a:t>
            </a:r>
          </a:p>
        </p:txBody>
      </p:sp>
      <p:sp>
        <p:nvSpPr>
          <p:cNvPr id="10" name="Rectangle 9">
            <a:extLst>
              <a:ext uri="{FF2B5EF4-FFF2-40B4-BE49-F238E27FC236}">
                <a16:creationId xmlns:a16="http://schemas.microsoft.com/office/drawing/2014/main" id="{A70E177D-3C07-BB84-B0DF-27D5F09E006B}"/>
              </a:ext>
            </a:extLst>
          </p:cNvPr>
          <p:cNvSpPr/>
          <p:nvPr/>
        </p:nvSpPr>
        <p:spPr>
          <a:xfrm>
            <a:off x="504508" y="2560320"/>
            <a:ext cx="11183112"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a:extLst>
              <a:ext uri="{FF2B5EF4-FFF2-40B4-BE49-F238E27FC236}">
                <a16:creationId xmlns:a16="http://schemas.microsoft.com/office/drawing/2014/main" id="{3C3BD6D6-6A33-898F-754A-66927D00871F}"/>
              </a:ext>
            </a:extLst>
          </p:cNvPr>
          <p:cNvSpPr/>
          <p:nvPr/>
        </p:nvSpPr>
        <p:spPr>
          <a:xfrm>
            <a:off x="504508" y="2560320"/>
            <a:ext cx="54864"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5766EA21-DE6D-0052-531A-E99158373FA9}"/>
              </a:ext>
            </a:extLst>
          </p:cNvPr>
          <p:cNvSpPr txBox="1"/>
          <p:nvPr/>
        </p:nvSpPr>
        <p:spPr>
          <a:xfrm>
            <a:off x="641668" y="2651760"/>
            <a:ext cx="2560320" cy="292388"/>
          </a:xfrm>
          <a:prstGeom prst="rect">
            <a:avLst/>
          </a:prstGeom>
          <a:solidFill>
            <a:schemeClr val="accent2">
              <a:lumMod val="20000"/>
              <a:lumOff val="80000"/>
            </a:schemeClr>
          </a:solidFill>
        </p:spPr>
        <p:txBody>
          <a:bodyPr wrap="square">
            <a:spAutoFit/>
          </a:bodyPr>
          <a:lstStyle/>
          <a:p>
            <a:pPr algn="l"/>
            <a:r>
              <a:rPr sz="1300" b="1">
                <a:solidFill>
                  <a:srgbClr val="101010"/>
                </a:solidFill>
              </a:rPr>
              <a:t>ADOPTION GAP</a:t>
            </a:r>
          </a:p>
        </p:txBody>
      </p:sp>
      <p:sp>
        <p:nvSpPr>
          <p:cNvPr id="13" name="TextBox 12">
            <a:extLst>
              <a:ext uri="{FF2B5EF4-FFF2-40B4-BE49-F238E27FC236}">
                <a16:creationId xmlns:a16="http://schemas.microsoft.com/office/drawing/2014/main" id="{45302DD7-8FBF-27A4-2B07-E6A59727B299}"/>
              </a:ext>
            </a:extLst>
          </p:cNvPr>
          <p:cNvSpPr txBox="1"/>
          <p:nvPr/>
        </p:nvSpPr>
        <p:spPr>
          <a:xfrm>
            <a:off x="641668" y="3063240"/>
            <a:ext cx="2560320" cy="261610"/>
          </a:xfrm>
          <a:prstGeom prst="rect">
            <a:avLst/>
          </a:prstGeom>
          <a:solidFill>
            <a:schemeClr val="accent2">
              <a:lumMod val="20000"/>
              <a:lumOff val="80000"/>
            </a:schemeClr>
          </a:solidFill>
        </p:spPr>
        <p:txBody>
          <a:bodyPr wrap="square">
            <a:spAutoFit/>
          </a:bodyPr>
          <a:lstStyle/>
          <a:p>
            <a:pPr algn="l"/>
            <a:r>
              <a:rPr sz="1100" i="1">
                <a:solidFill>
                  <a:srgbClr val="555555"/>
                </a:solidFill>
              </a:rPr>
              <a:t>Workarounds, parallel workflows</a:t>
            </a:r>
          </a:p>
        </p:txBody>
      </p:sp>
      <p:sp>
        <p:nvSpPr>
          <p:cNvPr id="14" name="TextBox 13">
            <a:extLst>
              <a:ext uri="{FF2B5EF4-FFF2-40B4-BE49-F238E27FC236}">
                <a16:creationId xmlns:a16="http://schemas.microsoft.com/office/drawing/2014/main" id="{9323877A-528F-6EE7-FCD0-9847948BBBF3}"/>
              </a:ext>
            </a:extLst>
          </p:cNvPr>
          <p:cNvSpPr txBox="1"/>
          <p:nvPr/>
        </p:nvSpPr>
        <p:spPr>
          <a:xfrm>
            <a:off x="3293428" y="2697481"/>
            <a:ext cx="8348472" cy="461665"/>
          </a:xfrm>
          <a:prstGeom prst="rect">
            <a:avLst/>
          </a:prstGeom>
          <a:solidFill>
            <a:schemeClr val="accent2">
              <a:lumMod val="20000"/>
              <a:lumOff val="80000"/>
            </a:schemeClr>
          </a:solidFill>
        </p:spPr>
        <p:txBody>
          <a:bodyPr wrap="square">
            <a:spAutoFit/>
          </a:bodyPr>
          <a:lstStyle/>
          <a:p>
            <a:pPr algn="l"/>
            <a:r>
              <a:rPr sz="1200">
                <a:solidFill>
                  <a:srgbClr val="101010"/>
                </a:solidFill>
              </a:rPr>
              <a:t>• Standardize one way of working (remove optional paths)
• Make AI outputs explainable — users understand why, not just what</a:t>
            </a:r>
          </a:p>
        </p:txBody>
      </p:sp>
      <p:sp>
        <p:nvSpPr>
          <p:cNvPr id="15" name="Rectangle 14">
            <a:extLst>
              <a:ext uri="{FF2B5EF4-FFF2-40B4-BE49-F238E27FC236}">
                <a16:creationId xmlns:a16="http://schemas.microsoft.com/office/drawing/2014/main" id="{B6A38788-DC91-E2FA-D16F-16D3F86EDFAC}"/>
              </a:ext>
            </a:extLst>
          </p:cNvPr>
          <p:cNvSpPr/>
          <p:nvPr/>
        </p:nvSpPr>
        <p:spPr>
          <a:xfrm>
            <a:off x="504508" y="3749040"/>
            <a:ext cx="11183112"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a:extLst>
              <a:ext uri="{FF2B5EF4-FFF2-40B4-BE49-F238E27FC236}">
                <a16:creationId xmlns:a16="http://schemas.microsoft.com/office/drawing/2014/main" id="{06CF38F3-52F4-86AD-74FF-7C63084BC4B5}"/>
              </a:ext>
            </a:extLst>
          </p:cNvPr>
          <p:cNvSpPr/>
          <p:nvPr/>
        </p:nvSpPr>
        <p:spPr>
          <a:xfrm>
            <a:off x="504508" y="3749040"/>
            <a:ext cx="54864"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93C40F7A-1F37-D87F-816B-226E850945E7}"/>
              </a:ext>
            </a:extLst>
          </p:cNvPr>
          <p:cNvSpPr txBox="1"/>
          <p:nvPr/>
        </p:nvSpPr>
        <p:spPr>
          <a:xfrm>
            <a:off x="641668" y="3840480"/>
            <a:ext cx="2560320" cy="292388"/>
          </a:xfrm>
          <a:prstGeom prst="rect">
            <a:avLst/>
          </a:prstGeom>
          <a:solidFill>
            <a:schemeClr val="accent2">
              <a:lumMod val="20000"/>
              <a:lumOff val="80000"/>
            </a:schemeClr>
          </a:solidFill>
        </p:spPr>
        <p:txBody>
          <a:bodyPr wrap="square">
            <a:spAutoFit/>
          </a:bodyPr>
          <a:lstStyle/>
          <a:p>
            <a:pPr algn="l"/>
            <a:r>
              <a:rPr sz="1300" b="1">
                <a:solidFill>
                  <a:srgbClr val="101010"/>
                </a:solidFill>
              </a:rPr>
              <a:t>ACCOUNTABILITY GAP</a:t>
            </a:r>
          </a:p>
        </p:txBody>
      </p:sp>
      <p:sp>
        <p:nvSpPr>
          <p:cNvPr id="18" name="TextBox 17">
            <a:extLst>
              <a:ext uri="{FF2B5EF4-FFF2-40B4-BE49-F238E27FC236}">
                <a16:creationId xmlns:a16="http://schemas.microsoft.com/office/drawing/2014/main" id="{E750DCC8-B742-DA63-0AAF-82ACE745BA0F}"/>
              </a:ext>
            </a:extLst>
          </p:cNvPr>
          <p:cNvSpPr txBox="1"/>
          <p:nvPr/>
        </p:nvSpPr>
        <p:spPr>
          <a:xfrm>
            <a:off x="641668" y="4251960"/>
            <a:ext cx="2560320" cy="261610"/>
          </a:xfrm>
          <a:prstGeom prst="rect">
            <a:avLst/>
          </a:prstGeom>
          <a:solidFill>
            <a:schemeClr val="accent2">
              <a:lumMod val="20000"/>
              <a:lumOff val="80000"/>
            </a:schemeClr>
          </a:solidFill>
        </p:spPr>
        <p:txBody>
          <a:bodyPr wrap="square">
            <a:spAutoFit/>
          </a:bodyPr>
          <a:lstStyle/>
          <a:p>
            <a:pPr algn="l"/>
            <a:r>
              <a:rPr sz="1100" i="1">
                <a:solidFill>
                  <a:srgbClr val="555555"/>
                </a:solidFill>
              </a:rPr>
              <a:t>Different data, different stories</a:t>
            </a:r>
          </a:p>
        </p:txBody>
      </p:sp>
      <p:sp>
        <p:nvSpPr>
          <p:cNvPr id="19" name="TextBox 18">
            <a:extLst>
              <a:ext uri="{FF2B5EF4-FFF2-40B4-BE49-F238E27FC236}">
                <a16:creationId xmlns:a16="http://schemas.microsoft.com/office/drawing/2014/main" id="{DAAC4FA6-A2D2-6B27-8A7B-F68C89827053}"/>
              </a:ext>
            </a:extLst>
          </p:cNvPr>
          <p:cNvSpPr txBox="1"/>
          <p:nvPr/>
        </p:nvSpPr>
        <p:spPr>
          <a:xfrm>
            <a:off x="3293428" y="3886201"/>
            <a:ext cx="8348472" cy="461665"/>
          </a:xfrm>
          <a:prstGeom prst="rect">
            <a:avLst/>
          </a:prstGeom>
          <a:solidFill>
            <a:schemeClr val="accent2">
              <a:lumMod val="20000"/>
              <a:lumOff val="80000"/>
            </a:schemeClr>
          </a:solidFill>
        </p:spPr>
        <p:txBody>
          <a:bodyPr wrap="square">
            <a:spAutoFit/>
          </a:bodyPr>
          <a:lstStyle/>
          <a:p>
            <a:pPr algn="l"/>
            <a:r>
              <a:rPr sz="1200">
                <a:solidFill>
                  <a:srgbClr val="101010"/>
                </a:solidFill>
              </a:rPr>
              <a:t>• Define one shared metric of success (visible to all stakeholders)
• Review results in one forum — same data, same conversation</a:t>
            </a:r>
          </a:p>
        </p:txBody>
      </p:sp>
      <p:sp>
        <p:nvSpPr>
          <p:cNvPr id="20" name="Rectangle 19">
            <a:extLst>
              <a:ext uri="{FF2B5EF4-FFF2-40B4-BE49-F238E27FC236}">
                <a16:creationId xmlns:a16="http://schemas.microsoft.com/office/drawing/2014/main" id="{2B056E01-0C43-437D-2B38-CBB142DCD25D}"/>
              </a:ext>
            </a:extLst>
          </p:cNvPr>
          <p:cNvSpPr/>
          <p:nvPr/>
        </p:nvSpPr>
        <p:spPr>
          <a:xfrm>
            <a:off x="504508" y="4937760"/>
            <a:ext cx="11183112"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a:extLst>
              <a:ext uri="{FF2B5EF4-FFF2-40B4-BE49-F238E27FC236}">
                <a16:creationId xmlns:a16="http://schemas.microsoft.com/office/drawing/2014/main" id="{E36FD699-75F8-9D34-6EE2-6F6F611D5E35}"/>
              </a:ext>
            </a:extLst>
          </p:cNvPr>
          <p:cNvSpPr/>
          <p:nvPr/>
        </p:nvSpPr>
        <p:spPr>
          <a:xfrm>
            <a:off x="504508" y="4937760"/>
            <a:ext cx="54864" cy="10972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F929B872-A91E-5F26-8B20-9F61D1420545}"/>
              </a:ext>
            </a:extLst>
          </p:cNvPr>
          <p:cNvSpPr txBox="1"/>
          <p:nvPr/>
        </p:nvSpPr>
        <p:spPr>
          <a:xfrm>
            <a:off x="641668" y="5029200"/>
            <a:ext cx="2560320" cy="292388"/>
          </a:xfrm>
          <a:prstGeom prst="rect">
            <a:avLst/>
          </a:prstGeom>
          <a:solidFill>
            <a:schemeClr val="accent2">
              <a:lumMod val="20000"/>
              <a:lumOff val="80000"/>
            </a:schemeClr>
          </a:solidFill>
        </p:spPr>
        <p:txBody>
          <a:bodyPr wrap="square">
            <a:spAutoFit/>
          </a:bodyPr>
          <a:lstStyle/>
          <a:p>
            <a:pPr algn="l"/>
            <a:r>
              <a:rPr sz="1300" b="1">
                <a:solidFill>
                  <a:srgbClr val="101010"/>
                </a:solidFill>
              </a:rPr>
              <a:t>ASSUMPTION GAP</a:t>
            </a:r>
          </a:p>
        </p:txBody>
      </p:sp>
      <p:sp>
        <p:nvSpPr>
          <p:cNvPr id="23" name="TextBox 22">
            <a:extLst>
              <a:ext uri="{FF2B5EF4-FFF2-40B4-BE49-F238E27FC236}">
                <a16:creationId xmlns:a16="http://schemas.microsoft.com/office/drawing/2014/main" id="{6D73677E-2A8C-DB1D-FFFE-E67518F4B708}"/>
              </a:ext>
            </a:extLst>
          </p:cNvPr>
          <p:cNvSpPr txBox="1"/>
          <p:nvPr/>
        </p:nvSpPr>
        <p:spPr>
          <a:xfrm>
            <a:off x="641668" y="5440680"/>
            <a:ext cx="2560320" cy="261610"/>
          </a:xfrm>
          <a:prstGeom prst="rect">
            <a:avLst/>
          </a:prstGeom>
          <a:solidFill>
            <a:schemeClr val="accent2">
              <a:lumMod val="20000"/>
              <a:lumOff val="80000"/>
            </a:schemeClr>
          </a:solidFill>
        </p:spPr>
        <p:txBody>
          <a:bodyPr wrap="square">
            <a:spAutoFit/>
          </a:bodyPr>
          <a:lstStyle/>
          <a:p>
            <a:pPr algn="l"/>
            <a:r>
              <a:rPr sz="1100" i="1">
                <a:solidFill>
                  <a:srgbClr val="555555"/>
                </a:solidFill>
              </a:rPr>
              <a:t>Model trusted over reality</a:t>
            </a:r>
          </a:p>
        </p:txBody>
      </p:sp>
      <p:sp>
        <p:nvSpPr>
          <p:cNvPr id="24" name="TextBox 23">
            <a:extLst>
              <a:ext uri="{FF2B5EF4-FFF2-40B4-BE49-F238E27FC236}">
                <a16:creationId xmlns:a16="http://schemas.microsoft.com/office/drawing/2014/main" id="{A8C51811-B349-F079-B7DC-639CA6CCF1F0}"/>
              </a:ext>
            </a:extLst>
          </p:cNvPr>
          <p:cNvSpPr txBox="1"/>
          <p:nvPr/>
        </p:nvSpPr>
        <p:spPr>
          <a:xfrm>
            <a:off x="3293428" y="5074921"/>
            <a:ext cx="8348472" cy="461665"/>
          </a:xfrm>
          <a:prstGeom prst="rect">
            <a:avLst/>
          </a:prstGeom>
          <a:solidFill>
            <a:schemeClr val="accent2">
              <a:lumMod val="20000"/>
              <a:lumOff val="80000"/>
            </a:schemeClr>
          </a:solidFill>
        </p:spPr>
        <p:txBody>
          <a:bodyPr wrap="square">
            <a:spAutoFit/>
          </a:bodyPr>
          <a:lstStyle/>
          <a:p>
            <a:pPr algn="l"/>
            <a:r>
              <a:rPr sz="1200">
                <a:solidFill>
                  <a:srgbClr val="101010"/>
                </a:solidFill>
              </a:rPr>
              <a:t>• Test outputs in real conditions, not just system data
• Create weekly feedback loop from frontline users — not ad hoc</a:t>
            </a:r>
          </a:p>
        </p:txBody>
      </p:sp>
      <p:sp>
        <p:nvSpPr>
          <p:cNvPr id="25" name="Rectangle 24">
            <a:extLst>
              <a:ext uri="{FF2B5EF4-FFF2-40B4-BE49-F238E27FC236}">
                <a16:creationId xmlns:a16="http://schemas.microsoft.com/office/drawing/2014/main" id="{10524938-6D8C-2A2A-38FA-18998605A205}"/>
              </a:ext>
            </a:extLst>
          </p:cNvPr>
          <p:cNvSpPr/>
          <p:nvPr/>
        </p:nvSpPr>
        <p:spPr>
          <a:xfrm>
            <a:off x="504508" y="6309360"/>
            <a:ext cx="11183112" cy="36576"/>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13117D69-AF8B-20CD-561A-A03A11C26356}"/>
              </a:ext>
            </a:extLst>
          </p:cNvPr>
          <p:cNvSpPr txBox="1"/>
          <p:nvPr/>
        </p:nvSpPr>
        <p:spPr>
          <a:xfrm>
            <a:off x="504508" y="6355080"/>
            <a:ext cx="11183112" cy="292388"/>
          </a:xfrm>
          <a:prstGeom prst="rect">
            <a:avLst/>
          </a:prstGeom>
          <a:solidFill>
            <a:schemeClr val="accent2">
              <a:lumMod val="20000"/>
              <a:lumOff val="80000"/>
            </a:schemeClr>
          </a:solidFill>
        </p:spPr>
        <p:txBody>
          <a:bodyPr wrap="square">
            <a:spAutoFit/>
          </a:bodyPr>
          <a:lstStyle/>
          <a:p>
            <a:pPr algn="ctr"/>
            <a:r>
              <a:rPr sz="1300" b="1" i="1" dirty="0">
                <a:solidFill>
                  <a:schemeClr val="accent1"/>
                </a:solidFill>
              </a:rPr>
              <a:t>AI succeeds where these conversations happen. It fails where they don't.</a:t>
            </a:r>
          </a:p>
        </p:txBody>
      </p:sp>
    </p:spTree>
    <p:extLst>
      <p:ext uri="{BB962C8B-B14F-4D97-AF65-F5344CB8AC3E}">
        <p14:creationId xmlns:p14="http://schemas.microsoft.com/office/powerpoint/2010/main" val="36504359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FE04E-628B-586E-6C9C-DE476318D997}"/>
              </a:ext>
            </a:extLst>
          </p:cNvPr>
          <p:cNvSpPr>
            <a:spLocks noGrp="1"/>
          </p:cNvSpPr>
          <p:nvPr>
            <p:ph type="title"/>
          </p:nvPr>
        </p:nvSpPr>
        <p:spPr>
          <a:xfrm>
            <a:off x="494333" y="453346"/>
            <a:ext cx="8322120" cy="729046"/>
          </a:xfrm>
        </p:spPr>
        <p:txBody>
          <a:bodyPr/>
          <a:lstStyle/>
          <a:p>
            <a:r>
              <a:rPr lang="en-US" dirty="0"/>
              <a:t>Take Aways</a:t>
            </a:r>
          </a:p>
        </p:txBody>
      </p:sp>
      <p:sp>
        <p:nvSpPr>
          <p:cNvPr id="4" name="TextBox 3">
            <a:extLst>
              <a:ext uri="{FF2B5EF4-FFF2-40B4-BE49-F238E27FC236}">
                <a16:creationId xmlns:a16="http://schemas.microsoft.com/office/drawing/2014/main" id="{4C83677D-06EE-5B40-A3C6-8B41D06041BB}"/>
              </a:ext>
            </a:extLst>
          </p:cNvPr>
          <p:cNvSpPr txBox="1"/>
          <p:nvPr/>
        </p:nvSpPr>
        <p:spPr>
          <a:xfrm>
            <a:off x="624180" y="1534694"/>
            <a:ext cx="10943639" cy="4154984"/>
          </a:xfrm>
          <a:prstGeom prst="rect">
            <a:avLst/>
          </a:prstGeom>
          <a:noFill/>
        </p:spPr>
        <p:txBody>
          <a:bodyPr wrap="square">
            <a:spAutoFit/>
          </a:bodyPr>
          <a:lstStyle/>
          <a:p>
            <a:pPr marL="342900" indent="-342900">
              <a:buFont typeface="Arial" panose="020B0604020202020204" pitchFamily="34" charset="0"/>
              <a:buChar char="•"/>
            </a:pPr>
            <a:r>
              <a:rPr lang="en-US" sz="2400" dirty="0"/>
              <a:t>Build adaptive learning ecosystems that are personalized for real-time reskilling</a:t>
            </a:r>
          </a:p>
          <a:p>
            <a:endParaRPr lang="en-US" sz="2400" dirty="0"/>
          </a:p>
          <a:p>
            <a:pPr marL="342900" indent="-342900">
              <a:buFont typeface="Arial" panose="020B0604020202020204" pitchFamily="34" charset="0"/>
              <a:buChar char="•"/>
            </a:pPr>
            <a:r>
              <a:rPr lang="en-US" sz="2400" dirty="0"/>
              <a:t>Design for human to agent collaboration where UX evolving for autonomous agent experiences</a:t>
            </a:r>
          </a:p>
          <a:p>
            <a:endParaRPr lang="en-US" sz="2400" dirty="0"/>
          </a:p>
          <a:p>
            <a:pPr marL="342900" indent="-342900">
              <a:buFont typeface="Arial" panose="020B0604020202020204" pitchFamily="34" charset="0"/>
              <a:buChar char="•"/>
            </a:pPr>
            <a:r>
              <a:rPr lang="en-US" sz="2400" dirty="0"/>
              <a:t>Lead the talent remix in the AI-First world to avoid gaps with new roles, skills, structure partnering with HR</a:t>
            </a:r>
          </a:p>
          <a:p>
            <a:endParaRPr lang="en-US" sz="2400" dirty="0"/>
          </a:p>
          <a:p>
            <a:pPr marL="342900" indent="-342900">
              <a:buFont typeface="Arial" panose="020B0604020202020204" pitchFamily="34" charset="0"/>
              <a:buChar char="•"/>
            </a:pPr>
            <a:r>
              <a:rPr lang="en-US" sz="2400" dirty="0"/>
              <a:t>Establish governance for AI, data, and digital identity and IT leads the way</a:t>
            </a:r>
          </a:p>
          <a:p>
            <a:endParaRPr lang="en-US" sz="2400" dirty="0"/>
          </a:p>
        </p:txBody>
      </p:sp>
      <p:sp>
        <p:nvSpPr>
          <p:cNvPr id="5" name="TextBox 4">
            <a:extLst>
              <a:ext uri="{FF2B5EF4-FFF2-40B4-BE49-F238E27FC236}">
                <a16:creationId xmlns:a16="http://schemas.microsoft.com/office/drawing/2014/main" id="{9592F6C2-5DC5-A9A5-4C5F-3C844F839F77}"/>
              </a:ext>
            </a:extLst>
          </p:cNvPr>
          <p:cNvSpPr txBox="1"/>
          <p:nvPr/>
        </p:nvSpPr>
        <p:spPr>
          <a:xfrm>
            <a:off x="955436" y="6041980"/>
            <a:ext cx="10943638" cy="369332"/>
          </a:xfrm>
          <a:prstGeom prst="rect">
            <a:avLst/>
          </a:prstGeom>
          <a:solidFill>
            <a:schemeClr val="tx2"/>
          </a:solidFill>
        </p:spPr>
        <p:txBody>
          <a:bodyPr wrap="square" rtlCol="0">
            <a:spAutoFit/>
          </a:bodyPr>
          <a:lstStyle/>
          <a:p>
            <a:pPr algn="ctr"/>
            <a:r>
              <a:rPr lang="en-US" dirty="0"/>
              <a:t>Goal: humans + AI amplifying each other</a:t>
            </a:r>
            <a:endParaRPr lang="en-US" sz="1050" dirty="0"/>
          </a:p>
        </p:txBody>
      </p:sp>
    </p:spTree>
    <p:extLst>
      <p:ext uri="{BB962C8B-B14F-4D97-AF65-F5344CB8AC3E}">
        <p14:creationId xmlns:p14="http://schemas.microsoft.com/office/powerpoint/2010/main" val="18183455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85834-5B36-E3F9-24FC-4F36CFC76498}"/>
              </a:ext>
            </a:extLst>
          </p:cNvPr>
          <p:cNvSpPr>
            <a:spLocks noGrp="1"/>
          </p:cNvSpPr>
          <p:nvPr>
            <p:ph type="title"/>
          </p:nvPr>
        </p:nvSpPr>
        <p:spPr>
          <a:xfrm>
            <a:off x="708088" y="3327175"/>
            <a:ext cx="8322120" cy="729046"/>
          </a:xfrm>
        </p:spPr>
        <p:txBody>
          <a:bodyPr/>
          <a:lstStyle/>
          <a:p>
            <a:r>
              <a:rPr lang="en-US" dirty="0"/>
              <a:t>Appendix</a:t>
            </a:r>
          </a:p>
        </p:txBody>
      </p:sp>
    </p:spTree>
    <p:extLst>
      <p:ext uri="{BB962C8B-B14F-4D97-AF65-F5344CB8AC3E}">
        <p14:creationId xmlns:p14="http://schemas.microsoft.com/office/powerpoint/2010/main" val="42839000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9454A-0D52-F21D-92AD-96E38C6BD1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C9B9D33-76EF-360E-9D97-B26661A464BF}"/>
              </a:ext>
            </a:extLst>
          </p:cNvPr>
          <p:cNvSpPr txBox="1"/>
          <p:nvPr/>
        </p:nvSpPr>
        <p:spPr>
          <a:xfrm>
            <a:off x="504508" y="228601"/>
            <a:ext cx="11183112" cy="523220"/>
          </a:xfrm>
          <a:prstGeom prst="rect">
            <a:avLst/>
          </a:prstGeom>
          <a:noFill/>
        </p:spPr>
        <p:txBody>
          <a:bodyPr wrap="square">
            <a:spAutoFit/>
          </a:bodyPr>
          <a:lstStyle/>
          <a:p>
            <a:pPr>
              <a:defRPr sz="2600" b="0" i="0">
                <a:solidFill>
                  <a:srgbClr val="000050"/>
                </a:solidFill>
                <a:latin typeface="Helvetica Neue"/>
              </a:defRPr>
            </a:pPr>
            <a:r>
              <a:rPr sz="2800" dirty="0">
                <a:solidFill>
                  <a:srgbClr val="000050"/>
                </a:solidFill>
                <a:latin typeface="Wallace Sans Light" pitchFamily="2" charset="0"/>
              </a:rPr>
              <a:t>Four </a:t>
            </a:r>
            <a:r>
              <a:rPr lang="en-US" sz="2800" dirty="0">
                <a:solidFill>
                  <a:srgbClr val="000050"/>
                </a:solidFill>
                <a:latin typeface="Wallace Sans Light" pitchFamily="2" charset="0"/>
              </a:rPr>
              <a:t>behaviors to </a:t>
            </a:r>
            <a:r>
              <a:rPr sz="2800" dirty="0">
                <a:solidFill>
                  <a:srgbClr val="000050"/>
                </a:solidFill>
                <a:latin typeface="Wallace Sans Light" pitchFamily="2" charset="0"/>
              </a:rPr>
              <a:t>Drive AI Adoption</a:t>
            </a:r>
          </a:p>
        </p:txBody>
      </p:sp>
      <p:sp>
        <p:nvSpPr>
          <p:cNvPr id="4" name="TextBox 3">
            <a:extLst>
              <a:ext uri="{FF2B5EF4-FFF2-40B4-BE49-F238E27FC236}">
                <a16:creationId xmlns:a16="http://schemas.microsoft.com/office/drawing/2014/main" id="{534399F1-1E97-6F03-5336-70B3B91C4562}"/>
              </a:ext>
            </a:extLst>
          </p:cNvPr>
          <p:cNvSpPr txBox="1"/>
          <p:nvPr/>
        </p:nvSpPr>
        <p:spPr>
          <a:xfrm>
            <a:off x="504508" y="960120"/>
            <a:ext cx="11183112" cy="338554"/>
          </a:xfrm>
          <a:prstGeom prst="rect">
            <a:avLst/>
          </a:prstGeom>
          <a:noFill/>
          <a:ln>
            <a:noFill/>
          </a:ln>
        </p:spPr>
        <p:txBody>
          <a:bodyPr wrap="square">
            <a:spAutoFit/>
          </a:bodyPr>
          <a:lstStyle/>
          <a:p>
            <a:pPr algn="ctr"/>
            <a:r>
              <a:rPr sz="1600" i="1" dirty="0">
                <a:solidFill>
                  <a:schemeClr val="accent1">
                    <a:lumMod val="75000"/>
                  </a:schemeClr>
                </a:solidFill>
              </a:rPr>
              <a:t>Behaviorally agile organizations have these conversations consistently. Others don't.</a:t>
            </a:r>
          </a:p>
        </p:txBody>
      </p:sp>
      <p:sp>
        <p:nvSpPr>
          <p:cNvPr id="5" name="Rectangle 4">
            <a:extLst>
              <a:ext uri="{FF2B5EF4-FFF2-40B4-BE49-F238E27FC236}">
                <a16:creationId xmlns:a16="http://schemas.microsoft.com/office/drawing/2014/main" id="{E1793E82-8C45-F7A3-1B5F-F3A07AB8B5FA}"/>
              </a:ext>
            </a:extLst>
          </p:cNvPr>
          <p:cNvSpPr/>
          <p:nvPr/>
        </p:nvSpPr>
        <p:spPr>
          <a:xfrm>
            <a:off x="504508" y="1554480"/>
            <a:ext cx="2692908" cy="420624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6" name="Rectangle 5">
            <a:extLst>
              <a:ext uri="{FF2B5EF4-FFF2-40B4-BE49-F238E27FC236}">
                <a16:creationId xmlns:a16="http://schemas.microsoft.com/office/drawing/2014/main" id="{20AB5E53-FB13-7FF3-F318-55B116683D33}"/>
              </a:ext>
            </a:extLst>
          </p:cNvPr>
          <p:cNvSpPr/>
          <p:nvPr/>
        </p:nvSpPr>
        <p:spPr>
          <a:xfrm>
            <a:off x="504508" y="1554480"/>
            <a:ext cx="2692908" cy="6400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7" name="TextBox 6">
            <a:extLst>
              <a:ext uri="{FF2B5EF4-FFF2-40B4-BE49-F238E27FC236}">
                <a16:creationId xmlns:a16="http://schemas.microsoft.com/office/drawing/2014/main" id="{B7858D39-1E0B-429C-0775-45D3908E48E2}"/>
              </a:ext>
            </a:extLst>
          </p:cNvPr>
          <p:cNvSpPr txBox="1"/>
          <p:nvPr/>
        </p:nvSpPr>
        <p:spPr>
          <a:xfrm>
            <a:off x="595948" y="1645921"/>
            <a:ext cx="2510028" cy="276999"/>
          </a:xfrm>
          <a:prstGeom prst="rect">
            <a:avLst/>
          </a:prstGeom>
          <a:solidFill>
            <a:schemeClr val="accent2">
              <a:lumMod val="20000"/>
              <a:lumOff val="80000"/>
            </a:schemeClr>
          </a:solidFill>
        </p:spPr>
        <p:txBody>
          <a:bodyPr wrap="square">
            <a:spAutoFit/>
          </a:bodyPr>
          <a:lstStyle/>
          <a:p>
            <a:pPr algn="l"/>
            <a:r>
              <a:rPr sz="1200" b="1">
                <a:solidFill>
                  <a:schemeClr val="accent1">
                    <a:lumMod val="75000"/>
                  </a:schemeClr>
                </a:solidFill>
              </a:rPr>
              <a:t>SPEAKING UP</a:t>
            </a:r>
          </a:p>
        </p:txBody>
      </p:sp>
      <p:sp>
        <p:nvSpPr>
          <p:cNvPr id="8" name="TextBox 7">
            <a:extLst>
              <a:ext uri="{FF2B5EF4-FFF2-40B4-BE49-F238E27FC236}">
                <a16:creationId xmlns:a16="http://schemas.microsoft.com/office/drawing/2014/main" id="{7E73F31C-DAB9-19B5-707C-CB62AB8CD747}"/>
              </a:ext>
            </a:extLst>
          </p:cNvPr>
          <p:cNvSpPr txBox="1"/>
          <p:nvPr/>
        </p:nvSpPr>
        <p:spPr>
          <a:xfrm>
            <a:off x="595948" y="2286001"/>
            <a:ext cx="2510028" cy="692497"/>
          </a:xfrm>
          <a:prstGeom prst="rect">
            <a:avLst/>
          </a:prstGeom>
          <a:solidFill>
            <a:schemeClr val="accent2">
              <a:lumMod val="20000"/>
              <a:lumOff val="80000"/>
            </a:schemeClr>
          </a:solidFill>
        </p:spPr>
        <p:txBody>
          <a:bodyPr wrap="square">
            <a:spAutoFit/>
          </a:bodyPr>
          <a:lstStyle/>
          <a:p>
            <a:pPr algn="l"/>
            <a:r>
              <a:rPr sz="1300">
                <a:solidFill>
                  <a:schemeClr val="accent1">
                    <a:lumMod val="75000"/>
                  </a:schemeClr>
                </a:solidFill>
              </a:rPr>
              <a:t>Openly name concerns
that signal a need for
innovation or course correction.</a:t>
            </a:r>
          </a:p>
        </p:txBody>
      </p:sp>
      <p:sp>
        <p:nvSpPr>
          <p:cNvPr id="9" name="Rectangle 8">
            <a:extLst>
              <a:ext uri="{FF2B5EF4-FFF2-40B4-BE49-F238E27FC236}">
                <a16:creationId xmlns:a16="http://schemas.microsoft.com/office/drawing/2014/main" id="{9CBF92F6-469D-9A14-442A-520A53AF1C7E}"/>
              </a:ext>
            </a:extLst>
          </p:cNvPr>
          <p:cNvSpPr/>
          <p:nvPr/>
        </p:nvSpPr>
        <p:spPr>
          <a:xfrm>
            <a:off x="504508" y="4023360"/>
            <a:ext cx="2692908" cy="15544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0" name="TextBox 9">
            <a:extLst>
              <a:ext uri="{FF2B5EF4-FFF2-40B4-BE49-F238E27FC236}">
                <a16:creationId xmlns:a16="http://schemas.microsoft.com/office/drawing/2014/main" id="{37B2163F-E330-2B2A-26A6-6FD7D94D6406}"/>
              </a:ext>
            </a:extLst>
          </p:cNvPr>
          <p:cNvSpPr txBox="1"/>
          <p:nvPr/>
        </p:nvSpPr>
        <p:spPr>
          <a:xfrm>
            <a:off x="595948" y="4160521"/>
            <a:ext cx="2510028" cy="492443"/>
          </a:xfrm>
          <a:prstGeom prst="rect">
            <a:avLst/>
          </a:prstGeom>
          <a:solidFill>
            <a:schemeClr val="accent2">
              <a:lumMod val="20000"/>
              <a:lumOff val="80000"/>
            </a:schemeClr>
          </a:solidFill>
        </p:spPr>
        <p:txBody>
          <a:bodyPr wrap="square">
            <a:spAutoFit/>
          </a:bodyPr>
          <a:lstStyle/>
          <a:p>
            <a:pPr algn="ctr"/>
            <a:r>
              <a:rPr sz="1300" b="1">
                <a:solidFill>
                  <a:schemeClr val="accent1">
                    <a:lumMod val="75000"/>
                  </a:schemeClr>
                </a:solidFill>
              </a:rPr>
              <a:t>3× more likely
to speak up quickly</a:t>
            </a:r>
          </a:p>
        </p:txBody>
      </p:sp>
      <p:sp>
        <p:nvSpPr>
          <p:cNvPr id="11" name="Rectangle 10">
            <a:extLst>
              <a:ext uri="{FF2B5EF4-FFF2-40B4-BE49-F238E27FC236}">
                <a16:creationId xmlns:a16="http://schemas.microsoft.com/office/drawing/2014/main" id="{EF8D2658-A4C6-E87A-8C1B-1441FB96190F}"/>
              </a:ext>
            </a:extLst>
          </p:cNvPr>
          <p:cNvSpPr/>
          <p:nvPr/>
        </p:nvSpPr>
        <p:spPr>
          <a:xfrm>
            <a:off x="3334576" y="1554480"/>
            <a:ext cx="2692908" cy="420624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2" name="Rectangle 11">
            <a:extLst>
              <a:ext uri="{FF2B5EF4-FFF2-40B4-BE49-F238E27FC236}">
                <a16:creationId xmlns:a16="http://schemas.microsoft.com/office/drawing/2014/main" id="{54777F51-ACBF-22B0-BA27-C43CF1E00D47}"/>
              </a:ext>
            </a:extLst>
          </p:cNvPr>
          <p:cNvSpPr/>
          <p:nvPr/>
        </p:nvSpPr>
        <p:spPr>
          <a:xfrm>
            <a:off x="3334576" y="1554480"/>
            <a:ext cx="2692908" cy="6400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3" name="TextBox 12">
            <a:extLst>
              <a:ext uri="{FF2B5EF4-FFF2-40B4-BE49-F238E27FC236}">
                <a16:creationId xmlns:a16="http://schemas.microsoft.com/office/drawing/2014/main" id="{AF42801C-0341-81D8-3EBD-2D084EC23318}"/>
              </a:ext>
            </a:extLst>
          </p:cNvPr>
          <p:cNvSpPr txBox="1"/>
          <p:nvPr/>
        </p:nvSpPr>
        <p:spPr>
          <a:xfrm>
            <a:off x="3426016" y="1645921"/>
            <a:ext cx="2510028" cy="276999"/>
          </a:xfrm>
          <a:prstGeom prst="rect">
            <a:avLst/>
          </a:prstGeom>
          <a:solidFill>
            <a:schemeClr val="accent2">
              <a:lumMod val="20000"/>
              <a:lumOff val="80000"/>
            </a:schemeClr>
          </a:solidFill>
        </p:spPr>
        <p:txBody>
          <a:bodyPr wrap="square">
            <a:spAutoFit/>
          </a:bodyPr>
          <a:lstStyle/>
          <a:p>
            <a:pPr algn="l"/>
            <a:r>
              <a:rPr sz="1200" b="1">
                <a:solidFill>
                  <a:schemeClr val="accent1">
                    <a:lumMod val="75000"/>
                  </a:schemeClr>
                </a:solidFill>
              </a:rPr>
              <a:t>REMINDING</a:t>
            </a:r>
          </a:p>
        </p:txBody>
      </p:sp>
      <p:sp>
        <p:nvSpPr>
          <p:cNvPr id="14" name="TextBox 13">
            <a:extLst>
              <a:ext uri="{FF2B5EF4-FFF2-40B4-BE49-F238E27FC236}">
                <a16:creationId xmlns:a16="http://schemas.microsoft.com/office/drawing/2014/main" id="{B26D9A06-A6FC-3634-F1A3-C39314F866A4}"/>
              </a:ext>
            </a:extLst>
          </p:cNvPr>
          <p:cNvSpPr txBox="1"/>
          <p:nvPr/>
        </p:nvSpPr>
        <p:spPr>
          <a:xfrm>
            <a:off x="3426016" y="2286000"/>
            <a:ext cx="2510028" cy="892552"/>
          </a:xfrm>
          <a:prstGeom prst="rect">
            <a:avLst/>
          </a:prstGeom>
          <a:solidFill>
            <a:schemeClr val="accent2">
              <a:lumMod val="20000"/>
              <a:lumOff val="80000"/>
            </a:schemeClr>
          </a:solidFill>
        </p:spPr>
        <p:txBody>
          <a:bodyPr wrap="square">
            <a:spAutoFit/>
          </a:bodyPr>
          <a:lstStyle/>
          <a:p>
            <a:pPr algn="l"/>
            <a:r>
              <a:rPr sz="1300">
                <a:solidFill>
                  <a:schemeClr val="accent1">
                    <a:lumMod val="75000"/>
                  </a:schemeClr>
                </a:solidFill>
              </a:rPr>
              <a:t>Nudge colleagues who
default to old routines
when new methods are called for.</a:t>
            </a:r>
          </a:p>
        </p:txBody>
      </p:sp>
      <p:sp>
        <p:nvSpPr>
          <p:cNvPr id="15" name="Rectangle 14">
            <a:extLst>
              <a:ext uri="{FF2B5EF4-FFF2-40B4-BE49-F238E27FC236}">
                <a16:creationId xmlns:a16="http://schemas.microsoft.com/office/drawing/2014/main" id="{CD1B01DB-9FA9-279A-AE85-C259D6941279}"/>
              </a:ext>
            </a:extLst>
          </p:cNvPr>
          <p:cNvSpPr/>
          <p:nvPr/>
        </p:nvSpPr>
        <p:spPr>
          <a:xfrm>
            <a:off x="3334576" y="4023360"/>
            <a:ext cx="2692908" cy="15544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6" name="TextBox 15">
            <a:extLst>
              <a:ext uri="{FF2B5EF4-FFF2-40B4-BE49-F238E27FC236}">
                <a16:creationId xmlns:a16="http://schemas.microsoft.com/office/drawing/2014/main" id="{E26BAC66-5EDE-F8B0-AAFF-E0C520869FB7}"/>
              </a:ext>
            </a:extLst>
          </p:cNvPr>
          <p:cNvSpPr txBox="1"/>
          <p:nvPr/>
        </p:nvSpPr>
        <p:spPr>
          <a:xfrm>
            <a:off x="3426016" y="4160521"/>
            <a:ext cx="2510028" cy="492443"/>
          </a:xfrm>
          <a:prstGeom prst="rect">
            <a:avLst/>
          </a:prstGeom>
          <a:solidFill>
            <a:schemeClr val="accent2">
              <a:lumMod val="20000"/>
              <a:lumOff val="80000"/>
            </a:schemeClr>
          </a:solidFill>
        </p:spPr>
        <p:txBody>
          <a:bodyPr wrap="square">
            <a:spAutoFit/>
          </a:bodyPr>
          <a:lstStyle/>
          <a:p>
            <a:pPr algn="ctr"/>
            <a:r>
              <a:rPr sz="1300" b="1">
                <a:solidFill>
                  <a:schemeClr val="accent1">
                    <a:lumMod val="75000"/>
                  </a:schemeClr>
                </a:solidFill>
              </a:rPr>
              <a:t>5× more likely
to remind peers</a:t>
            </a:r>
          </a:p>
        </p:txBody>
      </p:sp>
      <p:sp>
        <p:nvSpPr>
          <p:cNvPr id="17" name="Rectangle 16">
            <a:extLst>
              <a:ext uri="{FF2B5EF4-FFF2-40B4-BE49-F238E27FC236}">
                <a16:creationId xmlns:a16="http://schemas.microsoft.com/office/drawing/2014/main" id="{1823993A-FFA2-29DA-CC52-36A2CDD6FF51}"/>
              </a:ext>
            </a:extLst>
          </p:cNvPr>
          <p:cNvSpPr/>
          <p:nvPr/>
        </p:nvSpPr>
        <p:spPr>
          <a:xfrm>
            <a:off x="6164644" y="1554480"/>
            <a:ext cx="2692908" cy="420624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8" name="Rectangle 17">
            <a:extLst>
              <a:ext uri="{FF2B5EF4-FFF2-40B4-BE49-F238E27FC236}">
                <a16:creationId xmlns:a16="http://schemas.microsoft.com/office/drawing/2014/main" id="{825FC136-2D38-8CC0-E568-2660E58FAA92}"/>
              </a:ext>
            </a:extLst>
          </p:cNvPr>
          <p:cNvSpPr/>
          <p:nvPr/>
        </p:nvSpPr>
        <p:spPr>
          <a:xfrm>
            <a:off x="6164644" y="1554480"/>
            <a:ext cx="2692908" cy="6400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19" name="TextBox 18">
            <a:extLst>
              <a:ext uri="{FF2B5EF4-FFF2-40B4-BE49-F238E27FC236}">
                <a16:creationId xmlns:a16="http://schemas.microsoft.com/office/drawing/2014/main" id="{D00A102E-E7B2-336E-BF65-A0E91403C288}"/>
              </a:ext>
            </a:extLst>
          </p:cNvPr>
          <p:cNvSpPr txBox="1"/>
          <p:nvPr/>
        </p:nvSpPr>
        <p:spPr>
          <a:xfrm>
            <a:off x="6256084" y="1645921"/>
            <a:ext cx="2510028" cy="276999"/>
          </a:xfrm>
          <a:prstGeom prst="rect">
            <a:avLst/>
          </a:prstGeom>
          <a:solidFill>
            <a:schemeClr val="accent2">
              <a:lumMod val="20000"/>
              <a:lumOff val="80000"/>
            </a:schemeClr>
          </a:solidFill>
        </p:spPr>
        <p:txBody>
          <a:bodyPr wrap="square">
            <a:spAutoFit/>
          </a:bodyPr>
          <a:lstStyle/>
          <a:p>
            <a:pPr algn="l"/>
            <a:r>
              <a:rPr sz="1200" b="1">
                <a:solidFill>
                  <a:schemeClr val="accent1">
                    <a:lumMod val="75000"/>
                  </a:schemeClr>
                </a:solidFill>
              </a:rPr>
              <a:t>HOLDING ACCOUNTABLE</a:t>
            </a:r>
          </a:p>
        </p:txBody>
      </p:sp>
      <p:sp>
        <p:nvSpPr>
          <p:cNvPr id="20" name="TextBox 19">
            <a:extLst>
              <a:ext uri="{FF2B5EF4-FFF2-40B4-BE49-F238E27FC236}">
                <a16:creationId xmlns:a16="http://schemas.microsoft.com/office/drawing/2014/main" id="{9941C913-D5F5-BA42-4993-EDAF7BDC86F8}"/>
              </a:ext>
            </a:extLst>
          </p:cNvPr>
          <p:cNvSpPr txBox="1"/>
          <p:nvPr/>
        </p:nvSpPr>
        <p:spPr>
          <a:xfrm>
            <a:off x="6256084" y="2286001"/>
            <a:ext cx="2510028" cy="692497"/>
          </a:xfrm>
          <a:prstGeom prst="rect">
            <a:avLst/>
          </a:prstGeom>
          <a:solidFill>
            <a:schemeClr val="accent2">
              <a:lumMod val="20000"/>
              <a:lumOff val="80000"/>
            </a:schemeClr>
          </a:solidFill>
        </p:spPr>
        <p:txBody>
          <a:bodyPr wrap="square">
            <a:spAutoFit/>
          </a:bodyPr>
          <a:lstStyle/>
          <a:p>
            <a:pPr algn="l"/>
            <a:r>
              <a:rPr sz="1300">
                <a:solidFill>
                  <a:schemeClr val="accent1">
                    <a:lumMod val="75000"/>
                  </a:schemeClr>
                </a:solidFill>
              </a:rPr>
              <a:t>Direct, immediate correction
when someone violates agreed
behavioral norms.</a:t>
            </a:r>
          </a:p>
        </p:txBody>
      </p:sp>
      <p:sp>
        <p:nvSpPr>
          <p:cNvPr id="21" name="Rectangle 20">
            <a:extLst>
              <a:ext uri="{FF2B5EF4-FFF2-40B4-BE49-F238E27FC236}">
                <a16:creationId xmlns:a16="http://schemas.microsoft.com/office/drawing/2014/main" id="{D2B83944-FB4C-740D-1C47-7BE797A52978}"/>
              </a:ext>
            </a:extLst>
          </p:cNvPr>
          <p:cNvSpPr/>
          <p:nvPr/>
        </p:nvSpPr>
        <p:spPr>
          <a:xfrm>
            <a:off x="6164644" y="4023360"/>
            <a:ext cx="2692908" cy="15544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22" name="TextBox 21">
            <a:extLst>
              <a:ext uri="{FF2B5EF4-FFF2-40B4-BE49-F238E27FC236}">
                <a16:creationId xmlns:a16="http://schemas.microsoft.com/office/drawing/2014/main" id="{0B17D12F-FE82-887E-3419-384EBA6E1038}"/>
              </a:ext>
            </a:extLst>
          </p:cNvPr>
          <p:cNvSpPr txBox="1"/>
          <p:nvPr/>
        </p:nvSpPr>
        <p:spPr>
          <a:xfrm>
            <a:off x="6256084" y="4160521"/>
            <a:ext cx="2510028" cy="692497"/>
          </a:xfrm>
          <a:prstGeom prst="rect">
            <a:avLst/>
          </a:prstGeom>
          <a:solidFill>
            <a:schemeClr val="accent2">
              <a:lumMod val="20000"/>
              <a:lumOff val="80000"/>
            </a:schemeClr>
          </a:solidFill>
        </p:spPr>
        <p:txBody>
          <a:bodyPr wrap="square">
            <a:spAutoFit/>
          </a:bodyPr>
          <a:lstStyle/>
          <a:p>
            <a:pPr algn="ctr"/>
            <a:r>
              <a:rPr sz="1300" b="1">
                <a:solidFill>
                  <a:schemeClr val="accent1">
                    <a:lumMod val="75000"/>
                  </a:schemeClr>
                </a:solidFill>
              </a:rPr>
              <a:t>6× more likely to suggest
improvements without
fear of power dynamics</a:t>
            </a:r>
          </a:p>
        </p:txBody>
      </p:sp>
      <p:sp>
        <p:nvSpPr>
          <p:cNvPr id="23" name="Rectangle 22">
            <a:extLst>
              <a:ext uri="{FF2B5EF4-FFF2-40B4-BE49-F238E27FC236}">
                <a16:creationId xmlns:a16="http://schemas.microsoft.com/office/drawing/2014/main" id="{9870B79A-EB33-C079-6790-41C1FCC35D3A}"/>
              </a:ext>
            </a:extLst>
          </p:cNvPr>
          <p:cNvSpPr/>
          <p:nvPr/>
        </p:nvSpPr>
        <p:spPr>
          <a:xfrm>
            <a:off x="8994712" y="1554480"/>
            <a:ext cx="2692908" cy="420624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24" name="Rectangle 23">
            <a:extLst>
              <a:ext uri="{FF2B5EF4-FFF2-40B4-BE49-F238E27FC236}">
                <a16:creationId xmlns:a16="http://schemas.microsoft.com/office/drawing/2014/main" id="{EABF808C-E544-7B51-2109-1B4B50BB3703}"/>
              </a:ext>
            </a:extLst>
          </p:cNvPr>
          <p:cNvSpPr/>
          <p:nvPr/>
        </p:nvSpPr>
        <p:spPr>
          <a:xfrm>
            <a:off x="8994712" y="1554480"/>
            <a:ext cx="2692908" cy="6400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25" name="TextBox 24">
            <a:extLst>
              <a:ext uri="{FF2B5EF4-FFF2-40B4-BE49-F238E27FC236}">
                <a16:creationId xmlns:a16="http://schemas.microsoft.com/office/drawing/2014/main" id="{6A3B7019-FD52-22AF-C5AF-E29BC6BC9C96}"/>
              </a:ext>
            </a:extLst>
          </p:cNvPr>
          <p:cNvSpPr txBox="1"/>
          <p:nvPr/>
        </p:nvSpPr>
        <p:spPr>
          <a:xfrm>
            <a:off x="9086152" y="1645921"/>
            <a:ext cx="2510028" cy="461665"/>
          </a:xfrm>
          <a:prstGeom prst="rect">
            <a:avLst/>
          </a:prstGeom>
          <a:solidFill>
            <a:schemeClr val="accent2">
              <a:lumMod val="20000"/>
              <a:lumOff val="80000"/>
            </a:schemeClr>
          </a:solidFill>
        </p:spPr>
        <p:txBody>
          <a:bodyPr wrap="square">
            <a:spAutoFit/>
          </a:bodyPr>
          <a:lstStyle/>
          <a:p>
            <a:pPr algn="l"/>
            <a:r>
              <a:rPr sz="1200" b="1">
                <a:solidFill>
                  <a:schemeClr val="accent1">
                    <a:lumMod val="75000"/>
                  </a:schemeClr>
                </a:solidFill>
              </a:rPr>
              <a:t>CHALLENGING
SACRED COWS</a:t>
            </a:r>
          </a:p>
        </p:txBody>
      </p:sp>
      <p:sp>
        <p:nvSpPr>
          <p:cNvPr id="26" name="TextBox 25">
            <a:extLst>
              <a:ext uri="{FF2B5EF4-FFF2-40B4-BE49-F238E27FC236}">
                <a16:creationId xmlns:a16="http://schemas.microsoft.com/office/drawing/2014/main" id="{7DE1CA5E-D3B2-9106-ABA3-E497D08DF018}"/>
              </a:ext>
            </a:extLst>
          </p:cNvPr>
          <p:cNvSpPr txBox="1"/>
          <p:nvPr/>
        </p:nvSpPr>
        <p:spPr>
          <a:xfrm>
            <a:off x="9086152" y="2286001"/>
            <a:ext cx="2510028" cy="692497"/>
          </a:xfrm>
          <a:prstGeom prst="rect">
            <a:avLst/>
          </a:prstGeom>
          <a:solidFill>
            <a:schemeClr val="accent2">
              <a:lumMod val="20000"/>
              <a:lumOff val="80000"/>
            </a:schemeClr>
          </a:solidFill>
        </p:spPr>
        <p:txBody>
          <a:bodyPr wrap="square">
            <a:spAutoFit/>
          </a:bodyPr>
          <a:lstStyle/>
          <a:p>
            <a:pPr algn="l"/>
            <a:r>
              <a:rPr sz="1300">
                <a:solidFill>
                  <a:schemeClr val="accent1">
                    <a:lumMod val="75000"/>
                  </a:schemeClr>
                </a:solidFill>
              </a:rPr>
              <a:t>Follow the data — even when
it contradicts leadership
preferences or past practice.</a:t>
            </a:r>
          </a:p>
        </p:txBody>
      </p:sp>
      <p:sp>
        <p:nvSpPr>
          <p:cNvPr id="27" name="Rectangle 26">
            <a:extLst>
              <a:ext uri="{FF2B5EF4-FFF2-40B4-BE49-F238E27FC236}">
                <a16:creationId xmlns:a16="http://schemas.microsoft.com/office/drawing/2014/main" id="{E2B6F821-6886-FE2C-2AC5-6D4648E71443}"/>
              </a:ext>
            </a:extLst>
          </p:cNvPr>
          <p:cNvSpPr/>
          <p:nvPr/>
        </p:nvSpPr>
        <p:spPr>
          <a:xfrm>
            <a:off x="8994712" y="4023360"/>
            <a:ext cx="2692908" cy="1554480"/>
          </a:xfrm>
          <a:prstGeom prst="rect">
            <a:avLst/>
          </a:prstGeom>
          <a:solidFill>
            <a:schemeClr val="accent2">
              <a:lumMod val="20000"/>
              <a:lumOff val="80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1">
                  <a:lumMod val="75000"/>
                </a:schemeClr>
              </a:solidFill>
            </a:endParaRPr>
          </a:p>
        </p:txBody>
      </p:sp>
      <p:sp>
        <p:nvSpPr>
          <p:cNvPr id="28" name="TextBox 27">
            <a:extLst>
              <a:ext uri="{FF2B5EF4-FFF2-40B4-BE49-F238E27FC236}">
                <a16:creationId xmlns:a16="http://schemas.microsoft.com/office/drawing/2014/main" id="{A81C71D9-E50D-D148-9606-B8F87D491FF4}"/>
              </a:ext>
            </a:extLst>
          </p:cNvPr>
          <p:cNvSpPr txBox="1"/>
          <p:nvPr/>
        </p:nvSpPr>
        <p:spPr>
          <a:xfrm>
            <a:off x="9086152" y="4160521"/>
            <a:ext cx="2510028" cy="692497"/>
          </a:xfrm>
          <a:prstGeom prst="rect">
            <a:avLst/>
          </a:prstGeom>
          <a:solidFill>
            <a:schemeClr val="accent2">
              <a:lumMod val="20000"/>
              <a:lumOff val="80000"/>
            </a:schemeClr>
          </a:solidFill>
        </p:spPr>
        <p:txBody>
          <a:bodyPr wrap="square">
            <a:spAutoFit/>
          </a:bodyPr>
          <a:lstStyle/>
          <a:p>
            <a:pPr algn="ctr"/>
            <a:r>
              <a:rPr sz="1300" b="1">
                <a:solidFill>
                  <a:schemeClr val="accent1">
                    <a:lumMod val="75000"/>
                  </a:schemeClr>
                </a:solidFill>
              </a:rPr>
              <a:t>3× more likely peers
immediately correct
misuse of new approaches</a:t>
            </a:r>
          </a:p>
        </p:txBody>
      </p:sp>
    </p:spTree>
    <p:extLst>
      <p:ext uri="{BB962C8B-B14F-4D97-AF65-F5344CB8AC3E}">
        <p14:creationId xmlns:p14="http://schemas.microsoft.com/office/powerpoint/2010/main" val="3661172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10972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1463040"/>
            <a:ext cx="11183112" cy="892552"/>
          </a:xfrm>
          <a:prstGeom prst="rect">
            <a:avLst/>
          </a:prstGeom>
          <a:noFill/>
        </p:spPr>
        <p:txBody>
          <a:bodyPr wrap="square">
            <a:spAutoFit/>
          </a:bodyPr>
          <a:lstStyle/>
          <a:p>
            <a:pPr algn="l"/>
            <a:r>
              <a:rPr sz="5200" b="1">
                <a:solidFill>
                  <a:srgbClr val="FFFFFF"/>
                </a:solidFill>
              </a:rPr>
              <a:t>AI THAT DELIVERS</a:t>
            </a:r>
          </a:p>
        </p:txBody>
      </p:sp>
      <p:sp>
        <p:nvSpPr>
          <p:cNvPr id="4" name="TextBox 3"/>
          <p:cNvSpPr txBox="1"/>
          <p:nvPr/>
        </p:nvSpPr>
        <p:spPr>
          <a:xfrm>
            <a:off x="504508" y="2743200"/>
            <a:ext cx="11183112" cy="400110"/>
          </a:xfrm>
          <a:prstGeom prst="rect">
            <a:avLst/>
          </a:prstGeom>
          <a:noFill/>
        </p:spPr>
        <p:txBody>
          <a:bodyPr wrap="square">
            <a:spAutoFit/>
          </a:bodyPr>
          <a:lstStyle/>
          <a:p>
            <a:pPr algn="l"/>
            <a:r>
              <a:rPr sz="2000" b="1">
                <a:solidFill>
                  <a:srgbClr val="CC0000"/>
                </a:solidFill>
              </a:rPr>
              <a:t>ALIGNING TECHNOLOGY WITH HUMAN BEHAVIOR</a:t>
            </a:r>
          </a:p>
        </p:txBody>
      </p:sp>
      <p:sp>
        <p:nvSpPr>
          <p:cNvPr id="5" name="Rectangle 4"/>
          <p:cNvSpPr/>
          <p:nvPr/>
        </p:nvSpPr>
        <p:spPr>
          <a:xfrm>
            <a:off x="504508" y="3520440"/>
            <a:ext cx="548640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04508" y="3703320"/>
            <a:ext cx="6400800" cy="338554"/>
          </a:xfrm>
          <a:prstGeom prst="rect">
            <a:avLst/>
          </a:prstGeom>
          <a:noFill/>
        </p:spPr>
        <p:txBody>
          <a:bodyPr wrap="square">
            <a:spAutoFit/>
          </a:bodyPr>
          <a:lstStyle/>
          <a:p>
            <a:pPr algn="l"/>
            <a:r>
              <a:rPr sz="1600">
                <a:solidFill>
                  <a:srgbClr val="D0D0D0"/>
                </a:solidFill>
              </a:rPr>
              <a:t>Joseph Grenny &amp; JaeLynn Williams  |  Crucial Learning</a:t>
            </a:r>
          </a:p>
        </p:txBody>
      </p:sp>
      <p:sp>
        <p:nvSpPr>
          <p:cNvPr id="7" name="TextBox 6"/>
          <p:cNvSpPr txBox="1"/>
          <p:nvPr/>
        </p:nvSpPr>
        <p:spPr>
          <a:xfrm>
            <a:off x="504508" y="6217920"/>
            <a:ext cx="11183112" cy="261610"/>
          </a:xfrm>
          <a:prstGeom prst="rect">
            <a:avLst/>
          </a:prstGeom>
          <a:noFill/>
        </p:spPr>
        <p:txBody>
          <a:bodyPr wrap="square">
            <a:spAutoFit/>
          </a:bodyPr>
          <a:lstStyle/>
          <a:p>
            <a:pPr algn="l"/>
            <a:r>
              <a:rPr sz="1100" i="1">
                <a:solidFill>
                  <a:srgbClr val="555555"/>
                </a:solidFill>
              </a:rPr>
              <a:t>Source: AI Transformation — Crucial Conversations (April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74321"/>
            <a:ext cx="11183112" cy="615553"/>
          </a:xfrm>
          <a:prstGeom prst="rect">
            <a:avLst/>
          </a:prstGeom>
          <a:noFill/>
        </p:spPr>
        <p:txBody>
          <a:bodyPr wrap="square">
            <a:spAutoFit/>
          </a:bodyPr>
          <a:lstStyle/>
          <a:p>
            <a:pPr algn="l"/>
            <a:r>
              <a:rPr sz="3400" b="1">
                <a:solidFill>
                  <a:srgbClr val="101010"/>
                </a:solidFill>
              </a:rPr>
              <a:t>95% of Generative AI Pilots Are Failing</a:t>
            </a:r>
          </a:p>
        </p:txBody>
      </p:sp>
      <p:sp>
        <p:nvSpPr>
          <p:cNvPr id="4" name="TextBox 3"/>
          <p:cNvSpPr txBox="1"/>
          <p:nvPr/>
        </p:nvSpPr>
        <p:spPr>
          <a:xfrm>
            <a:off x="504508" y="1051560"/>
            <a:ext cx="11183112" cy="369332"/>
          </a:xfrm>
          <a:prstGeom prst="rect">
            <a:avLst/>
          </a:prstGeom>
          <a:noFill/>
        </p:spPr>
        <p:txBody>
          <a:bodyPr wrap="square">
            <a:spAutoFit/>
          </a:bodyPr>
          <a:lstStyle/>
          <a:p>
            <a:pPr algn="l"/>
            <a:r>
              <a:rPr i="1">
                <a:solidFill>
                  <a:srgbClr val="555555"/>
                </a:solidFill>
              </a:rPr>
              <a:t>The technology works. The human system doesn't change.</a:t>
            </a:r>
          </a:p>
        </p:txBody>
      </p:sp>
      <p:sp>
        <p:nvSpPr>
          <p:cNvPr id="5" name="Rectangle 4"/>
          <p:cNvSpPr/>
          <p:nvPr/>
        </p:nvSpPr>
        <p:spPr>
          <a:xfrm>
            <a:off x="504508" y="1691640"/>
            <a:ext cx="5303520" cy="347472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3108" y="1828801"/>
            <a:ext cx="4846320" cy="2400657"/>
          </a:xfrm>
          <a:prstGeom prst="rect">
            <a:avLst/>
          </a:prstGeom>
          <a:noFill/>
        </p:spPr>
        <p:txBody>
          <a:bodyPr wrap="square">
            <a:spAutoFit/>
          </a:bodyPr>
          <a:lstStyle/>
          <a:p>
            <a:pPr algn="l"/>
            <a:r>
              <a:rPr sz="1500" b="1">
                <a:solidFill>
                  <a:srgbClr val="101010"/>
                </a:solidFill>
              </a:rPr>
              <a:t>"The model was right.  The outcome was wrong."</a:t>
            </a:r>
          </a:p>
          <a:p>
            <a:pPr algn="l"/>
            <a:endParaRPr sz="1500" b="1">
              <a:solidFill>
                <a:srgbClr val="101010"/>
              </a:solidFill>
            </a:endParaRPr>
          </a:p>
          <a:p>
            <a:pPr algn="l"/>
            <a:r>
              <a:rPr sz="1500">
                <a:solidFill>
                  <a:srgbClr val="555555"/>
                </a:solidFill>
              </a:rPr>
              <a:t>Air Methods deployed an AI routing model to reduce crew drive time.</a:t>
            </a:r>
          </a:p>
          <a:p>
            <a:pPr algn="l"/>
            <a:r>
              <a:rPr sz="1500">
                <a:solidFill>
                  <a:srgbClr val="555555"/>
                </a:solidFill>
              </a:rPr>
              <a:t>Crews kept driving to their assigned base — 75 miles away —</a:t>
            </a:r>
          </a:p>
          <a:p>
            <a:pPr algn="l"/>
            <a:r>
              <a:rPr sz="1500">
                <a:solidFill>
                  <a:srgbClr val="555555"/>
                </a:solidFill>
              </a:rPr>
              <a:t>bypassing a nearby base 8 miles from home.</a:t>
            </a:r>
          </a:p>
          <a:p>
            <a:pPr algn="l"/>
            <a:endParaRPr sz="1500">
              <a:solidFill>
                <a:srgbClr val="555555"/>
              </a:solidFill>
            </a:endParaRPr>
          </a:p>
          <a:p>
            <a:pPr algn="l"/>
            <a:r>
              <a:rPr sz="1500">
                <a:solidFill>
                  <a:srgbClr val="555555"/>
                </a:solidFill>
              </a:rPr>
              <a:t>The model flagged a better route. Nobody acted on it.</a:t>
            </a:r>
          </a:p>
          <a:p>
            <a:pPr algn="l"/>
            <a:r>
              <a:rPr sz="1500">
                <a:solidFill>
                  <a:srgbClr val="555555"/>
                </a:solidFill>
              </a:rPr>
              <a:t>The conversation never happened.</a:t>
            </a:r>
          </a:p>
        </p:txBody>
      </p:sp>
      <p:sp>
        <p:nvSpPr>
          <p:cNvPr id="7" name="Rectangle 6"/>
          <p:cNvSpPr/>
          <p:nvPr/>
        </p:nvSpPr>
        <p:spPr>
          <a:xfrm>
            <a:off x="6585268" y="1691640"/>
            <a:ext cx="5029200" cy="14630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5268" y="1783080"/>
            <a:ext cx="5029200" cy="1077218"/>
          </a:xfrm>
          <a:prstGeom prst="rect">
            <a:avLst/>
          </a:prstGeom>
          <a:noFill/>
        </p:spPr>
        <p:txBody>
          <a:bodyPr wrap="square">
            <a:spAutoFit/>
          </a:bodyPr>
          <a:lstStyle/>
          <a:p>
            <a:pPr algn="ctr"/>
            <a:r>
              <a:rPr sz="6400" b="1">
                <a:solidFill>
                  <a:srgbClr val="FFFFFF"/>
                </a:solidFill>
              </a:rPr>
              <a:t>95%</a:t>
            </a:r>
          </a:p>
        </p:txBody>
      </p:sp>
      <p:sp>
        <p:nvSpPr>
          <p:cNvPr id="9" name="TextBox 8"/>
          <p:cNvSpPr txBox="1"/>
          <p:nvPr/>
        </p:nvSpPr>
        <p:spPr>
          <a:xfrm>
            <a:off x="6585268" y="2606041"/>
            <a:ext cx="5029200" cy="307777"/>
          </a:xfrm>
          <a:prstGeom prst="rect">
            <a:avLst/>
          </a:prstGeom>
          <a:noFill/>
        </p:spPr>
        <p:txBody>
          <a:bodyPr wrap="square">
            <a:spAutoFit/>
          </a:bodyPr>
          <a:lstStyle/>
          <a:p>
            <a:pPr algn="ctr"/>
            <a:r>
              <a:rPr sz="1400" b="1">
                <a:solidFill>
                  <a:srgbClr val="FFFFFF"/>
                </a:solidFill>
              </a:rPr>
              <a:t>of GenAI pilots at companies are failing</a:t>
            </a:r>
          </a:p>
        </p:txBody>
      </p:sp>
      <p:sp>
        <p:nvSpPr>
          <p:cNvPr id="10" name="TextBox 9"/>
          <p:cNvSpPr txBox="1"/>
          <p:nvPr/>
        </p:nvSpPr>
        <p:spPr>
          <a:xfrm>
            <a:off x="6585268" y="3017520"/>
            <a:ext cx="5029200" cy="261610"/>
          </a:xfrm>
          <a:prstGeom prst="rect">
            <a:avLst/>
          </a:prstGeom>
          <a:noFill/>
        </p:spPr>
        <p:txBody>
          <a:bodyPr wrap="square">
            <a:spAutoFit/>
          </a:bodyPr>
          <a:lstStyle/>
          <a:p>
            <a:pPr algn="ctr"/>
            <a:r>
              <a:rPr sz="1100" i="1">
                <a:solidFill>
                  <a:srgbClr val="FFFFFF"/>
                </a:solidFill>
              </a:rPr>
              <a:t>— MIT / Fortune (Aug 2025)</a:t>
            </a:r>
          </a:p>
        </p:txBody>
      </p:sp>
      <p:sp>
        <p:nvSpPr>
          <p:cNvPr id="11" name="Rectangle 10"/>
          <p:cNvSpPr/>
          <p:nvPr/>
        </p:nvSpPr>
        <p:spPr>
          <a:xfrm>
            <a:off x="6585268" y="3337560"/>
            <a:ext cx="5029200" cy="182880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68148" y="3429000"/>
            <a:ext cx="4663440" cy="1492716"/>
          </a:xfrm>
          <a:prstGeom prst="rect">
            <a:avLst/>
          </a:prstGeom>
          <a:noFill/>
        </p:spPr>
        <p:txBody>
          <a:bodyPr wrap="square">
            <a:spAutoFit/>
          </a:bodyPr>
          <a:lstStyle/>
          <a:p>
            <a:pPr algn="l"/>
            <a:r>
              <a:rPr sz="1300" b="1">
                <a:solidFill>
                  <a:srgbClr val="101010"/>
                </a:solidFill>
              </a:rPr>
              <a:t>AI is deployed as two different things:</a:t>
            </a:r>
          </a:p>
          <a:p>
            <a:pPr algn="l"/>
            <a:endParaRPr sz="1300" b="1">
              <a:solidFill>
                <a:srgbClr val="101010"/>
              </a:solidFill>
            </a:endParaRPr>
          </a:p>
          <a:p>
            <a:pPr algn="l"/>
            <a:r>
              <a:rPr sz="1300">
                <a:solidFill>
                  <a:srgbClr val="555555"/>
                </a:solidFill>
              </a:rPr>
              <a:t>• Productivity tool  (email, slides, summaries)</a:t>
            </a:r>
          </a:p>
          <a:p>
            <a:pPr algn="l"/>
            <a:r>
              <a:rPr sz="1300">
                <a:solidFill>
                  <a:srgbClr val="555555"/>
                </a:solidFill>
              </a:rPr>
              <a:t>• Business transformation tool  (decisions, predictions, redesigned workflows)</a:t>
            </a:r>
          </a:p>
          <a:p>
            <a:pPr algn="l"/>
            <a:endParaRPr sz="1300">
              <a:solidFill>
                <a:srgbClr val="555555"/>
              </a:solidFill>
            </a:endParaRPr>
          </a:p>
          <a:p>
            <a:pPr algn="l"/>
            <a:r>
              <a:rPr sz="1300" b="1">
                <a:solidFill>
                  <a:srgbClr val="CC0000"/>
                </a:solidFill>
              </a:rPr>
              <a:t>The gap between the two is behavioral — not technical.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74320"/>
            <a:ext cx="4572000" cy="1261884"/>
          </a:xfrm>
          <a:prstGeom prst="rect">
            <a:avLst/>
          </a:prstGeom>
          <a:noFill/>
        </p:spPr>
        <p:txBody>
          <a:bodyPr wrap="square">
            <a:spAutoFit/>
          </a:bodyPr>
          <a:lstStyle/>
          <a:p>
            <a:pPr algn="l"/>
            <a:r>
              <a:rPr sz="3800" b="1">
                <a:solidFill>
                  <a:srgbClr val="FFFFFF"/>
                </a:solidFill>
              </a:rPr>
              <a:t>BEHAVIORAL
AGILITY</a:t>
            </a:r>
          </a:p>
        </p:txBody>
      </p:sp>
      <p:sp>
        <p:nvSpPr>
          <p:cNvPr id="4" name="TextBox 3"/>
          <p:cNvSpPr txBox="1"/>
          <p:nvPr/>
        </p:nvSpPr>
        <p:spPr>
          <a:xfrm>
            <a:off x="504508" y="1828801"/>
            <a:ext cx="5303520" cy="1323439"/>
          </a:xfrm>
          <a:prstGeom prst="rect">
            <a:avLst/>
          </a:prstGeom>
          <a:noFill/>
        </p:spPr>
        <p:txBody>
          <a:bodyPr wrap="square">
            <a:spAutoFit/>
          </a:bodyPr>
          <a:lstStyle/>
          <a:p>
            <a:pPr algn="l"/>
            <a:r>
              <a:rPr sz="2000" i="1">
                <a:solidFill>
                  <a:srgbClr val="FFFFFF"/>
                </a:solidFill>
              </a:rPr>
              <a:t>The health of a relationship, team, or organization
is a function of the average lag time between
identifying and discussing problems.</a:t>
            </a:r>
          </a:p>
        </p:txBody>
      </p:sp>
      <p:sp>
        <p:nvSpPr>
          <p:cNvPr id="5" name="TextBox 4"/>
          <p:cNvSpPr txBox="1"/>
          <p:nvPr/>
        </p:nvSpPr>
        <p:spPr>
          <a:xfrm>
            <a:off x="504508" y="3840481"/>
            <a:ext cx="5303520" cy="584775"/>
          </a:xfrm>
          <a:prstGeom prst="rect">
            <a:avLst/>
          </a:prstGeom>
          <a:noFill/>
        </p:spPr>
        <p:txBody>
          <a:bodyPr wrap="square">
            <a:spAutoFit/>
          </a:bodyPr>
          <a:lstStyle/>
          <a:p>
            <a:pPr algn="l"/>
            <a:r>
              <a:rPr sz="1600">
                <a:solidFill>
                  <a:srgbClr val="D0D0D0"/>
                </a:solidFill>
              </a:rPr>
              <a:t>Organizations that act fast on new ideas consistently outperform those that don't.</a:t>
            </a:r>
          </a:p>
        </p:txBody>
      </p:sp>
      <p:sp>
        <p:nvSpPr>
          <p:cNvPr id="6" name="Rectangle 5"/>
          <p:cNvSpPr/>
          <p:nvPr/>
        </p:nvSpPr>
        <p:spPr>
          <a:xfrm>
            <a:off x="6402388" y="457200"/>
            <a:ext cx="5303520" cy="566928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5268" y="640080"/>
            <a:ext cx="4937760" cy="292388"/>
          </a:xfrm>
          <a:prstGeom prst="rect">
            <a:avLst/>
          </a:prstGeom>
          <a:noFill/>
        </p:spPr>
        <p:txBody>
          <a:bodyPr wrap="square">
            <a:spAutoFit/>
          </a:bodyPr>
          <a:lstStyle/>
          <a:p>
            <a:pPr algn="ctr"/>
            <a:r>
              <a:rPr sz="1300" i="1">
                <a:solidFill>
                  <a:srgbClr val="D0D0D0"/>
                </a:solidFill>
              </a:rPr>
              <a:t>Study of 1,700+ professionals</a:t>
            </a:r>
          </a:p>
        </p:txBody>
      </p:sp>
      <p:sp>
        <p:nvSpPr>
          <p:cNvPr id="8" name="TextBox 7"/>
          <p:cNvSpPr txBox="1"/>
          <p:nvPr/>
        </p:nvSpPr>
        <p:spPr>
          <a:xfrm>
            <a:off x="6585268" y="1188720"/>
            <a:ext cx="2011680" cy="892552"/>
          </a:xfrm>
          <a:prstGeom prst="rect">
            <a:avLst/>
          </a:prstGeom>
          <a:noFill/>
        </p:spPr>
        <p:txBody>
          <a:bodyPr wrap="square">
            <a:spAutoFit/>
          </a:bodyPr>
          <a:lstStyle/>
          <a:p>
            <a:pPr algn="ctr"/>
            <a:r>
              <a:rPr sz="5200" b="1">
                <a:solidFill>
                  <a:srgbClr val="CC0000"/>
                </a:solidFill>
              </a:rPr>
              <a:t>12×</a:t>
            </a:r>
          </a:p>
        </p:txBody>
      </p:sp>
      <p:sp>
        <p:nvSpPr>
          <p:cNvPr id="9" name="TextBox 8"/>
          <p:cNvSpPr txBox="1"/>
          <p:nvPr/>
        </p:nvSpPr>
        <p:spPr>
          <a:xfrm>
            <a:off x="8505508" y="1463041"/>
            <a:ext cx="3017520" cy="323165"/>
          </a:xfrm>
          <a:prstGeom prst="rect">
            <a:avLst/>
          </a:prstGeom>
          <a:noFill/>
        </p:spPr>
        <p:txBody>
          <a:bodyPr wrap="square">
            <a:spAutoFit/>
          </a:bodyPr>
          <a:lstStyle/>
          <a:p>
            <a:pPr algn="l"/>
            <a:r>
              <a:rPr sz="1500">
                <a:solidFill>
                  <a:srgbClr val="FFFFFF"/>
                </a:solidFill>
              </a:rPr>
              <a:t>faster to implement great ideas</a:t>
            </a:r>
          </a:p>
        </p:txBody>
      </p:sp>
      <p:sp>
        <p:nvSpPr>
          <p:cNvPr id="10" name="TextBox 9"/>
          <p:cNvSpPr txBox="1"/>
          <p:nvPr/>
        </p:nvSpPr>
        <p:spPr>
          <a:xfrm>
            <a:off x="6585268" y="2743200"/>
            <a:ext cx="2011680" cy="892552"/>
          </a:xfrm>
          <a:prstGeom prst="rect">
            <a:avLst/>
          </a:prstGeom>
          <a:noFill/>
        </p:spPr>
        <p:txBody>
          <a:bodyPr wrap="square">
            <a:spAutoFit/>
          </a:bodyPr>
          <a:lstStyle/>
          <a:p>
            <a:pPr algn="ctr"/>
            <a:r>
              <a:rPr sz="5200" b="1">
                <a:solidFill>
                  <a:srgbClr val="CC0000"/>
                </a:solidFill>
              </a:rPr>
              <a:t>6×</a:t>
            </a:r>
          </a:p>
        </p:txBody>
      </p:sp>
      <p:sp>
        <p:nvSpPr>
          <p:cNvPr id="11" name="TextBox 10"/>
          <p:cNvSpPr txBox="1"/>
          <p:nvPr/>
        </p:nvSpPr>
        <p:spPr>
          <a:xfrm>
            <a:off x="8505508" y="3017520"/>
            <a:ext cx="3017520" cy="553998"/>
          </a:xfrm>
          <a:prstGeom prst="rect">
            <a:avLst/>
          </a:prstGeom>
          <a:noFill/>
        </p:spPr>
        <p:txBody>
          <a:bodyPr wrap="square">
            <a:spAutoFit/>
          </a:bodyPr>
          <a:lstStyle/>
          <a:p>
            <a:pPr algn="l"/>
            <a:r>
              <a:rPr sz="1500">
                <a:solidFill>
                  <a:srgbClr val="FFFFFF"/>
                </a:solidFill>
              </a:rPr>
              <a:t>more consistent in adopting new methods</a:t>
            </a:r>
          </a:p>
        </p:txBody>
      </p:sp>
      <p:sp>
        <p:nvSpPr>
          <p:cNvPr id="12" name="TextBox 11"/>
          <p:cNvSpPr txBox="1"/>
          <p:nvPr/>
        </p:nvSpPr>
        <p:spPr>
          <a:xfrm>
            <a:off x="6585268" y="4297680"/>
            <a:ext cx="2011680" cy="892552"/>
          </a:xfrm>
          <a:prstGeom prst="rect">
            <a:avLst/>
          </a:prstGeom>
          <a:noFill/>
        </p:spPr>
        <p:txBody>
          <a:bodyPr wrap="square">
            <a:spAutoFit/>
          </a:bodyPr>
          <a:lstStyle/>
          <a:p>
            <a:pPr algn="ctr"/>
            <a:r>
              <a:rPr sz="5200" b="1">
                <a:solidFill>
                  <a:srgbClr val="CC0000"/>
                </a:solidFill>
              </a:rPr>
              <a:t>3×</a:t>
            </a:r>
          </a:p>
        </p:txBody>
      </p:sp>
      <p:sp>
        <p:nvSpPr>
          <p:cNvPr id="13" name="TextBox 12"/>
          <p:cNvSpPr txBox="1"/>
          <p:nvPr/>
        </p:nvSpPr>
        <p:spPr>
          <a:xfrm>
            <a:off x="8505508" y="4572001"/>
            <a:ext cx="3017520" cy="323165"/>
          </a:xfrm>
          <a:prstGeom prst="rect">
            <a:avLst/>
          </a:prstGeom>
          <a:noFill/>
        </p:spPr>
        <p:txBody>
          <a:bodyPr wrap="square">
            <a:spAutoFit/>
          </a:bodyPr>
          <a:lstStyle/>
          <a:p>
            <a:pPr algn="l"/>
            <a:r>
              <a:rPr sz="1500">
                <a:solidFill>
                  <a:srgbClr val="FFFFFF"/>
                </a:solidFill>
              </a:rPr>
              <a:t>more engaged at work</a:t>
            </a:r>
          </a:p>
        </p:txBody>
      </p:sp>
      <p:sp>
        <p:nvSpPr>
          <p:cNvPr id="14" name="TextBox 13"/>
          <p:cNvSpPr txBox="1"/>
          <p:nvPr/>
        </p:nvSpPr>
        <p:spPr>
          <a:xfrm>
            <a:off x="6585268" y="5623561"/>
            <a:ext cx="4937760" cy="307777"/>
          </a:xfrm>
          <a:prstGeom prst="rect">
            <a:avLst/>
          </a:prstGeom>
          <a:noFill/>
        </p:spPr>
        <p:txBody>
          <a:bodyPr wrap="square">
            <a:spAutoFit/>
          </a:bodyPr>
          <a:lstStyle/>
          <a:p>
            <a:pPr algn="ctr"/>
            <a:r>
              <a:rPr sz="1400" b="1" i="1">
                <a:solidFill>
                  <a:srgbClr val="CC0000"/>
                </a:solidFill>
              </a:rPr>
              <a:t>Behavioral agility is the bottleneck.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28601"/>
            <a:ext cx="11183112" cy="1015663"/>
          </a:xfrm>
          <a:prstGeom prst="rect">
            <a:avLst/>
          </a:prstGeom>
          <a:noFill/>
        </p:spPr>
        <p:txBody>
          <a:bodyPr wrap="square">
            <a:spAutoFit/>
          </a:bodyPr>
          <a:lstStyle/>
          <a:p>
            <a:pPr algn="l"/>
            <a:r>
              <a:rPr sz="3000" b="1">
                <a:solidFill>
                  <a:srgbClr val="101010"/>
                </a:solidFill>
              </a:rPr>
              <a:t>Even When AI Does Its Job, Humans Can Squander the Opportunity</a:t>
            </a:r>
          </a:p>
        </p:txBody>
      </p:sp>
      <p:sp>
        <p:nvSpPr>
          <p:cNvPr id="4" name="TextBox 3"/>
          <p:cNvSpPr txBox="1"/>
          <p:nvPr/>
        </p:nvSpPr>
        <p:spPr>
          <a:xfrm>
            <a:off x="504508" y="1051560"/>
            <a:ext cx="11183112" cy="338554"/>
          </a:xfrm>
          <a:prstGeom prst="rect">
            <a:avLst/>
          </a:prstGeom>
          <a:noFill/>
        </p:spPr>
        <p:txBody>
          <a:bodyPr wrap="square">
            <a:spAutoFit/>
          </a:bodyPr>
          <a:lstStyle/>
          <a:p>
            <a:pPr algn="l"/>
            <a:r>
              <a:rPr sz="1600" i="1">
                <a:solidFill>
                  <a:srgbClr val="CC0000"/>
                </a:solidFill>
              </a:rPr>
              <a:t>Example: AI for Loan &amp; Claim Decisions</a:t>
            </a:r>
          </a:p>
        </p:txBody>
      </p:sp>
      <p:sp>
        <p:nvSpPr>
          <p:cNvPr id="5" name="Rectangle 4"/>
          <p:cNvSpPr/>
          <p:nvPr/>
        </p:nvSpPr>
        <p:spPr>
          <a:xfrm>
            <a:off x="504508" y="1508760"/>
            <a:ext cx="4114800" cy="118872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7389" y="1600200"/>
            <a:ext cx="3749039" cy="738664"/>
          </a:xfrm>
          <a:prstGeom prst="rect">
            <a:avLst/>
          </a:prstGeom>
          <a:noFill/>
        </p:spPr>
        <p:txBody>
          <a:bodyPr wrap="square">
            <a:spAutoFit/>
          </a:bodyPr>
          <a:lstStyle/>
          <a:p>
            <a:pPr algn="l"/>
            <a:r>
              <a:rPr sz="1400">
                <a:solidFill>
                  <a:srgbClr val="101010"/>
                </a:solidFill>
              </a:rPr>
              <a:t>AI recommends approving a loan applicant who, under previous criteria, would have been denied.</a:t>
            </a:r>
          </a:p>
        </p:txBody>
      </p:sp>
      <p:sp>
        <p:nvSpPr>
          <p:cNvPr id="7" name="Rectangle 6"/>
          <p:cNvSpPr/>
          <p:nvPr/>
        </p:nvSpPr>
        <p:spPr>
          <a:xfrm>
            <a:off x="504508" y="292608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504508" y="292608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1668" y="2971800"/>
            <a:ext cx="5180076" cy="292388"/>
          </a:xfrm>
          <a:prstGeom prst="rect">
            <a:avLst/>
          </a:prstGeom>
          <a:noFill/>
        </p:spPr>
        <p:txBody>
          <a:bodyPr wrap="square">
            <a:spAutoFit/>
          </a:bodyPr>
          <a:lstStyle/>
          <a:p>
            <a:pPr algn="l"/>
            <a:r>
              <a:rPr sz="1300" b="1">
                <a:solidFill>
                  <a:srgbClr val="FFFFFF"/>
                </a:solidFill>
              </a:rPr>
              <a:t>1  Skepticism</a:t>
            </a:r>
          </a:p>
        </p:txBody>
      </p:sp>
      <p:sp>
        <p:nvSpPr>
          <p:cNvPr id="10" name="TextBox 9"/>
          <p:cNvSpPr txBox="1"/>
          <p:nvPr/>
        </p:nvSpPr>
        <p:spPr>
          <a:xfrm>
            <a:off x="641668" y="3383280"/>
            <a:ext cx="5180076" cy="292388"/>
          </a:xfrm>
          <a:prstGeom prst="rect">
            <a:avLst/>
          </a:prstGeom>
          <a:noFill/>
        </p:spPr>
        <p:txBody>
          <a:bodyPr wrap="square">
            <a:spAutoFit/>
          </a:bodyPr>
          <a:lstStyle/>
          <a:p>
            <a:pPr algn="l"/>
            <a:r>
              <a:rPr sz="1300">
                <a:solidFill>
                  <a:srgbClr val="101010"/>
                </a:solidFill>
              </a:rPr>
              <a:t>Busy underwriter delays action — 'let me think about it'</a:t>
            </a:r>
          </a:p>
        </p:txBody>
      </p:sp>
      <p:sp>
        <p:nvSpPr>
          <p:cNvPr id="11" name="Rectangle 10"/>
          <p:cNvSpPr/>
          <p:nvPr/>
        </p:nvSpPr>
        <p:spPr>
          <a:xfrm>
            <a:off x="6233224" y="292608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33224" y="292608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70384" y="2971800"/>
            <a:ext cx="5180076" cy="292388"/>
          </a:xfrm>
          <a:prstGeom prst="rect">
            <a:avLst/>
          </a:prstGeom>
          <a:noFill/>
        </p:spPr>
        <p:txBody>
          <a:bodyPr wrap="square">
            <a:spAutoFit/>
          </a:bodyPr>
          <a:lstStyle/>
          <a:p>
            <a:pPr algn="l"/>
            <a:r>
              <a:rPr sz="1300" b="1">
                <a:solidFill>
                  <a:srgbClr val="FFFFFF"/>
                </a:solidFill>
              </a:rPr>
              <a:t>2  Intuition Override</a:t>
            </a:r>
          </a:p>
        </p:txBody>
      </p:sp>
      <p:sp>
        <p:nvSpPr>
          <p:cNvPr id="14" name="TextBox 13"/>
          <p:cNvSpPr txBox="1"/>
          <p:nvPr/>
        </p:nvSpPr>
        <p:spPr>
          <a:xfrm>
            <a:off x="6370384" y="3383280"/>
            <a:ext cx="5180076" cy="292388"/>
          </a:xfrm>
          <a:prstGeom prst="rect">
            <a:avLst/>
          </a:prstGeom>
          <a:noFill/>
        </p:spPr>
        <p:txBody>
          <a:bodyPr wrap="square">
            <a:spAutoFit/>
          </a:bodyPr>
          <a:lstStyle/>
          <a:p>
            <a:pPr algn="l"/>
            <a:r>
              <a:rPr sz="1300">
                <a:solidFill>
                  <a:srgbClr val="101010"/>
                </a:solidFill>
              </a:rPr>
              <a:t>Past experience says risky → overrides AI 'to be safe'</a:t>
            </a:r>
          </a:p>
        </p:txBody>
      </p:sp>
      <p:sp>
        <p:nvSpPr>
          <p:cNvPr id="15" name="Rectangle 14"/>
          <p:cNvSpPr/>
          <p:nvPr/>
        </p:nvSpPr>
        <p:spPr>
          <a:xfrm>
            <a:off x="504508" y="489204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4508" y="489204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668" y="4937760"/>
            <a:ext cx="5180076" cy="292388"/>
          </a:xfrm>
          <a:prstGeom prst="rect">
            <a:avLst/>
          </a:prstGeom>
          <a:noFill/>
        </p:spPr>
        <p:txBody>
          <a:bodyPr wrap="square">
            <a:spAutoFit/>
          </a:bodyPr>
          <a:lstStyle/>
          <a:p>
            <a:pPr algn="l"/>
            <a:r>
              <a:rPr sz="1300" b="1">
                <a:solidFill>
                  <a:srgbClr val="FFFFFF"/>
                </a:solidFill>
              </a:rPr>
              <a:t>3  Manager Pushback</a:t>
            </a:r>
          </a:p>
        </p:txBody>
      </p:sp>
      <p:sp>
        <p:nvSpPr>
          <p:cNvPr id="18" name="TextBox 17"/>
          <p:cNvSpPr txBox="1"/>
          <p:nvPr/>
        </p:nvSpPr>
        <p:spPr>
          <a:xfrm>
            <a:off x="641668" y="5349241"/>
            <a:ext cx="5180076" cy="492443"/>
          </a:xfrm>
          <a:prstGeom prst="rect">
            <a:avLst/>
          </a:prstGeom>
          <a:noFill/>
        </p:spPr>
        <p:txBody>
          <a:bodyPr wrap="square">
            <a:spAutoFit/>
          </a:bodyPr>
          <a:lstStyle/>
          <a:p>
            <a:pPr algn="l"/>
            <a:r>
              <a:rPr sz="1300">
                <a:solidFill>
                  <a:srgbClr val="101010"/>
                </a:solidFill>
              </a:rPr>
              <a:t>Hesitation because manager punishes when AI-based loans go wrong</a:t>
            </a:r>
          </a:p>
        </p:txBody>
      </p:sp>
      <p:sp>
        <p:nvSpPr>
          <p:cNvPr id="19" name="Rectangle 18"/>
          <p:cNvSpPr/>
          <p:nvPr/>
        </p:nvSpPr>
        <p:spPr>
          <a:xfrm>
            <a:off x="6233224" y="4892040"/>
            <a:ext cx="5454396" cy="1828800"/>
          </a:xfrm>
          <a:prstGeom prst="rect">
            <a:avLst/>
          </a:prstGeom>
          <a:solidFill>
            <a:srgbClr val="F2F2F2"/>
          </a:solidFill>
          <a:ln w="19050">
            <a:solidFill>
              <a:srgbClr val="CC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233224" y="4892040"/>
            <a:ext cx="5454396" cy="384048"/>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70384" y="4937760"/>
            <a:ext cx="5180076" cy="292388"/>
          </a:xfrm>
          <a:prstGeom prst="rect">
            <a:avLst/>
          </a:prstGeom>
          <a:noFill/>
        </p:spPr>
        <p:txBody>
          <a:bodyPr wrap="square">
            <a:spAutoFit/>
          </a:bodyPr>
          <a:lstStyle/>
          <a:p>
            <a:pPr algn="l"/>
            <a:r>
              <a:rPr sz="1300" b="1">
                <a:solidFill>
                  <a:srgbClr val="FFFFFF"/>
                </a:solidFill>
              </a:rPr>
              <a:t>4  Downstream Rejection</a:t>
            </a:r>
          </a:p>
        </p:txBody>
      </p:sp>
      <p:sp>
        <p:nvSpPr>
          <p:cNvPr id="22" name="TextBox 21"/>
          <p:cNvSpPr txBox="1"/>
          <p:nvPr/>
        </p:nvSpPr>
        <p:spPr>
          <a:xfrm>
            <a:off x="6370384" y="5349240"/>
            <a:ext cx="5180076" cy="292388"/>
          </a:xfrm>
          <a:prstGeom prst="rect">
            <a:avLst/>
          </a:prstGeom>
          <a:noFill/>
        </p:spPr>
        <p:txBody>
          <a:bodyPr wrap="square">
            <a:spAutoFit/>
          </a:bodyPr>
          <a:lstStyle/>
          <a:p>
            <a:pPr algn="l"/>
            <a:r>
              <a:rPr sz="1300">
                <a:solidFill>
                  <a:srgbClr val="101010"/>
                </a:solidFill>
              </a:rPr>
              <a:t>Approves the loan, but the next step in the process declines it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4508" y="1097280"/>
            <a:ext cx="3200400" cy="5029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1668" y="1161289"/>
            <a:ext cx="2926080" cy="307777"/>
          </a:xfrm>
          <a:prstGeom prst="rect">
            <a:avLst/>
          </a:prstGeom>
          <a:noFill/>
        </p:spPr>
        <p:txBody>
          <a:bodyPr wrap="square">
            <a:spAutoFit/>
          </a:bodyPr>
          <a:lstStyle/>
          <a:p>
            <a:pPr algn="l"/>
            <a:r>
              <a:rPr sz="1400" b="1">
                <a:solidFill>
                  <a:srgbClr val="FFFFFF"/>
                </a:solidFill>
              </a:rPr>
              <a:t>OUR QUESTION</a:t>
            </a:r>
          </a:p>
        </p:txBody>
      </p:sp>
      <p:sp>
        <p:nvSpPr>
          <p:cNvPr id="5" name="TextBox 4"/>
          <p:cNvSpPr txBox="1"/>
          <p:nvPr/>
        </p:nvSpPr>
        <p:spPr>
          <a:xfrm>
            <a:off x="504508" y="1920240"/>
            <a:ext cx="11183112" cy="1938992"/>
          </a:xfrm>
          <a:prstGeom prst="rect">
            <a:avLst/>
          </a:prstGeom>
          <a:noFill/>
        </p:spPr>
        <p:txBody>
          <a:bodyPr wrap="square">
            <a:spAutoFit/>
          </a:bodyPr>
          <a:lstStyle/>
          <a:p>
            <a:pPr algn="ctr"/>
            <a:r>
              <a:rPr sz="4000" b="1">
                <a:solidFill>
                  <a:srgbClr val="FFFFFF"/>
                </a:solidFill>
              </a:rPr>
              <a:t>Why are so few organizations
translating AI business insights
into substantial business results?</a:t>
            </a:r>
          </a:p>
        </p:txBody>
      </p:sp>
      <p:sp>
        <p:nvSpPr>
          <p:cNvPr id="6" name="Rectangle 5"/>
          <p:cNvSpPr/>
          <p:nvPr/>
        </p:nvSpPr>
        <p:spPr>
          <a:xfrm>
            <a:off x="504508" y="4434840"/>
            <a:ext cx="11183112"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4508" y="4572001"/>
            <a:ext cx="11183112" cy="646331"/>
          </a:xfrm>
          <a:prstGeom prst="rect">
            <a:avLst/>
          </a:prstGeom>
          <a:noFill/>
        </p:spPr>
        <p:txBody>
          <a:bodyPr wrap="square">
            <a:spAutoFit/>
          </a:bodyPr>
          <a:lstStyle/>
          <a:p>
            <a:pPr algn="ctr"/>
            <a:r>
              <a:rPr i="1">
                <a:solidFill>
                  <a:srgbClr val="D0D0D0"/>
                </a:solidFill>
              </a:rPr>
              <a:t>AI exposes how your organization actually works.
The answer to the question above is the answer to your transformation.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28601"/>
            <a:ext cx="11183112" cy="584775"/>
          </a:xfrm>
          <a:prstGeom prst="rect">
            <a:avLst/>
          </a:prstGeom>
          <a:noFill/>
        </p:spPr>
        <p:txBody>
          <a:bodyPr wrap="square">
            <a:spAutoFit/>
          </a:bodyPr>
          <a:lstStyle/>
          <a:p>
            <a:pPr algn="l"/>
            <a:r>
              <a:rPr sz="3200" b="1">
                <a:solidFill>
                  <a:srgbClr val="101010"/>
                </a:solidFill>
              </a:rPr>
              <a:t>Four Crucial Conversations That Drive AI Adoption</a:t>
            </a:r>
          </a:p>
        </p:txBody>
      </p:sp>
      <p:sp>
        <p:nvSpPr>
          <p:cNvPr id="4" name="TextBox 3"/>
          <p:cNvSpPr txBox="1"/>
          <p:nvPr/>
        </p:nvSpPr>
        <p:spPr>
          <a:xfrm>
            <a:off x="504508" y="960120"/>
            <a:ext cx="11183112" cy="338554"/>
          </a:xfrm>
          <a:prstGeom prst="rect">
            <a:avLst/>
          </a:prstGeom>
          <a:noFill/>
        </p:spPr>
        <p:txBody>
          <a:bodyPr wrap="square">
            <a:spAutoFit/>
          </a:bodyPr>
          <a:lstStyle/>
          <a:p>
            <a:pPr algn="l"/>
            <a:r>
              <a:rPr sz="1600" i="1">
                <a:solidFill>
                  <a:srgbClr val="555555"/>
                </a:solidFill>
              </a:rPr>
              <a:t>Behaviorally agile organizations have these conversations consistently. Others don't.</a:t>
            </a:r>
          </a:p>
        </p:txBody>
      </p:sp>
      <p:sp>
        <p:nvSpPr>
          <p:cNvPr id="5" name="Rectangle 4"/>
          <p:cNvSpPr/>
          <p:nvPr/>
        </p:nvSpPr>
        <p:spPr>
          <a:xfrm>
            <a:off x="504508"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508"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5948" y="1645921"/>
            <a:ext cx="2510028" cy="276999"/>
          </a:xfrm>
          <a:prstGeom prst="rect">
            <a:avLst/>
          </a:prstGeom>
          <a:noFill/>
        </p:spPr>
        <p:txBody>
          <a:bodyPr wrap="square">
            <a:spAutoFit/>
          </a:bodyPr>
          <a:lstStyle/>
          <a:p>
            <a:pPr algn="l"/>
            <a:r>
              <a:rPr sz="1200" b="1">
                <a:solidFill>
                  <a:srgbClr val="FFFFFF"/>
                </a:solidFill>
              </a:rPr>
              <a:t>SPEAKING UP</a:t>
            </a:r>
          </a:p>
        </p:txBody>
      </p:sp>
      <p:sp>
        <p:nvSpPr>
          <p:cNvPr id="8" name="TextBox 7"/>
          <p:cNvSpPr txBox="1"/>
          <p:nvPr/>
        </p:nvSpPr>
        <p:spPr>
          <a:xfrm>
            <a:off x="595948" y="2286001"/>
            <a:ext cx="2510028" cy="692497"/>
          </a:xfrm>
          <a:prstGeom prst="rect">
            <a:avLst/>
          </a:prstGeom>
          <a:noFill/>
        </p:spPr>
        <p:txBody>
          <a:bodyPr wrap="square">
            <a:spAutoFit/>
          </a:bodyPr>
          <a:lstStyle/>
          <a:p>
            <a:pPr algn="l"/>
            <a:r>
              <a:rPr sz="1300">
                <a:solidFill>
                  <a:srgbClr val="101010"/>
                </a:solidFill>
              </a:rPr>
              <a:t>Openly name concerns
that signal a need for
innovation or course correction.</a:t>
            </a:r>
          </a:p>
        </p:txBody>
      </p:sp>
      <p:sp>
        <p:nvSpPr>
          <p:cNvPr id="9" name="Rectangle 8"/>
          <p:cNvSpPr/>
          <p:nvPr/>
        </p:nvSpPr>
        <p:spPr>
          <a:xfrm>
            <a:off x="504508"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5948" y="4160521"/>
            <a:ext cx="2510028" cy="492443"/>
          </a:xfrm>
          <a:prstGeom prst="rect">
            <a:avLst/>
          </a:prstGeom>
          <a:noFill/>
        </p:spPr>
        <p:txBody>
          <a:bodyPr wrap="square">
            <a:spAutoFit/>
          </a:bodyPr>
          <a:lstStyle/>
          <a:p>
            <a:pPr algn="ctr"/>
            <a:r>
              <a:rPr sz="1300" b="1">
                <a:solidFill>
                  <a:srgbClr val="FFFFFF"/>
                </a:solidFill>
              </a:rPr>
              <a:t>3× more likely
to speak up quickly</a:t>
            </a:r>
          </a:p>
        </p:txBody>
      </p:sp>
      <p:sp>
        <p:nvSpPr>
          <p:cNvPr id="11" name="Rectangle 10"/>
          <p:cNvSpPr/>
          <p:nvPr/>
        </p:nvSpPr>
        <p:spPr>
          <a:xfrm>
            <a:off x="3334576"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334576"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26016" y="1645921"/>
            <a:ext cx="2510028" cy="276999"/>
          </a:xfrm>
          <a:prstGeom prst="rect">
            <a:avLst/>
          </a:prstGeom>
          <a:noFill/>
        </p:spPr>
        <p:txBody>
          <a:bodyPr wrap="square">
            <a:spAutoFit/>
          </a:bodyPr>
          <a:lstStyle/>
          <a:p>
            <a:pPr algn="l"/>
            <a:r>
              <a:rPr sz="1200" b="1">
                <a:solidFill>
                  <a:srgbClr val="FFFFFF"/>
                </a:solidFill>
              </a:rPr>
              <a:t>REMINDING</a:t>
            </a:r>
          </a:p>
        </p:txBody>
      </p:sp>
      <p:sp>
        <p:nvSpPr>
          <p:cNvPr id="14" name="TextBox 13"/>
          <p:cNvSpPr txBox="1"/>
          <p:nvPr/>
        </p:nvSpPr>
        <p:spPr>
          <a:xfrm>
            <a:off x="3426016" y="2286000"/>
            <a:ext cx="2510028" cy="892552"/>
          </a:xfrm>
          <a:prstGeom prst="rect">
            <a:avLst/>
          </a:prstGeom>
          <a:noFill/>
        </p:spPr>
        <p:txBody>
          <a:bodyPr wrap="square">
            <a:spAutoFit/>
          </a:bodyPr>
          <a:lstStyle/>
          <a:p>
            <a:pPr algn="l"/>
            <a:r>
              <a:rPr sz="1300">
                <a:solidFill>
                  <a:srgbClr val="101010"/>
                </a:solidFill>
              </a:rPr>
              <a:t>Nudge colleagues who
default to old routines
when new methods are called for.</a:t>
            </a:r>
          </a:p>
        </p:txBody>
      </p:sp>
      <p:sp>
        <p:nvSpPr>
          <p:cNvPr id="15" name="Rectangle 14"/>
          <p:cNvSpPr/>
          <p:nvPr/>
        </p:nvSpPr>
        <p:spPr>
          <a:xfrm>
            <a:off x="3334576"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426016" y="4160521"/>
            <a:ext cx="2510028" cy="492443"/>
          </a:xfrm>
          <a:prstGeom prst="rect">
            <a:avLst/>
          </a:prstGeom>
          <a:noFill/>
        </p:spPr>
        <p:txBody>
          <a:bodyPr wrap="square">
            <a:spAutoFit/>
          </a:bodyPr>
          <a:lstStyle/>
          <a:p>
            <a:pPr algn="ctr"/>
            <a:r>
              <a:rPr sz="1300" b="1">
                <a:solidFill>
                  <a:srgbClr val="FFFFFF"/>
                </a:solidFill>
              </a:rPr>
              <a:t>5× more likely
to remind peers</a:t>
            </a:r>
          </a:p>
        </p:txBody>
      </p:sp>
      <p:sp>
        <p:nvSpPr>
          <p:cNvPr id="17" name="Rectangle 16"/>
          <p:cNvSpPr/>
          <p:nvPr/>
        </p:nvSpPr>
        <p:spPr>
          <a:xfrm>
            <a:off x="6164644"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164644"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256084" y="1645921"/>
            <a:ext cx="2510028" cy="276999"/>
          </a:xfrm>
          <a:prstGeom prst="rect">
            <a:avLst/>
          </a:prstGeom>
          <a:noFill/>
        </p:spPr>
        <p:txBody>
          <a:bodyPr wrap="square">
            <a:spAutoFit/>
          </a:bodyPr>
          <a:lstStyle/>
          <a:p>
            <a:pPr algn="l"/>
            <a:r>
              <a:rPr sz="1200" b="1">
                <a:solidFill>
                  <a:srgbClr val="FFFFFF"/>
                </a:solidFill>
              </a:rPr>
              <a:t>HOLDING ACCOUNTABLE</a:t>
            </a:r>
          </a:p>
        </p:txBody>
      </p:sp>
      <p:sp>
        <p:nvSpPr>
          <p:cNvPr id="20" name="TextBox 19"/>
          <p:cNvSpPr txBox="1"/>
          <p:nvPr/>
        </p:nvSpPr>
        <p:spPr>
          <a:xfrm>
            <a:off x="6256084" y="2286001"/>
            <a:ext cx="2510028" cy="692497"/>
          </a:xfrm>
          <a:prstGeom prst="rect">
            <a:avLst/>
          </a:prstGeom>
          <a:noFill/>
        </p:spPr>
        <p:txBody>
          <a:bodyPr wrap="square">
            <a:spAutoFit/>
          </a:bodyPr>
          <a:lstStyle/>
          <a:p>
            <a:pPr algn="l"/>
            <a:r>
              <a:rPr sz="1300">
                <a:solidFill>
                  <a:srgbClr val="101010"/>
                </a:solidFill>
              </a:rPr>
              <a:t>Direct, immediate correction
when someone violates agreed
behavioral norms.</a:t>
            </a:r>
          </a:p>
        </p:txBody>
      </p:sp>
      <p:sp>
        <p:nvSpPr>
          <p:cNvPr id="21" name="Rectangle 20"/>
          <p:cNvSpPr/>
          <p:nvPr/>
        </p:nvSpPr>
        <p:spPr>
          <a:xfrm>
            <a:off x="6164644"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6084" y="4160521"/>
            <a:ext cx="2510028" cy="692497"/>
          </a:xfrm>
          <a:prstGeom prst="rect">
            <a:avLst/>
          </a:prstGeom>
          <a:noFill/>
        </p:spPr>
        <p:txBody>
          <a:bodyPr wrap="square">
            <a:spAutoFit/>
          </a:bodyPr>
          <a:lstStyle/>
          <a:p>
            <a:pPr algn="ctr"/>
            <a:r>
              <a:rPr sz="1300" b="1">
                <a:solidFill>
                  <a:srgbClr val="FFFFFF"/>
                </a:solidFill>
              </a:rPr>
              <a:t>6× more likely to suggest
improvements without
fear of power dynamics</a:t>
            </a:r>
          </a:p>
        </p:txBody>
      </p:sp>
      <p:sp>
        <p:nvSpPr>
          <p:cNvPr id="23" name="Rectangle 22"/>
          <p:cNvSpPr/>
          <p:nvPr/>
        </p:nvSpPr>
        <p:spPr>
          <a:xfrm>
            <a:off x="8994712" y="1554480"/>
            <a:ext cx="2692908" cy="420624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94712" y="1554480"/>
            <a:ext cx="2692908"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086152" y="1645921"/>
            <a:ext cx="2510028" cy="461665"/>
          </a:xfrm>
          <a:prstGeom prst="rect">
            <a:avLst/>
          </a:prstGeom>
          <a:noFill/>
        </p:spPr>
        <p:txBody>
          <a:bodyPr wrap="square">
            <a:spAutoFit/>
          </a:bodyPr>
          <a:lstStyle/>
          <a:p>
            <a:pPr algn="l"/>
            <a:r>
              <a:rPr sz="1200" b="1">
                <a:solidFill>
                  <a:srgbClr val="FFFFFF"/>
                </a:solidFill>
              </a:rPr>
              <a:t>CHALLENGING
SACRED COWS</a:t>
            </a:r>
          </a:p>
        </p:txBody>
      </p:sp>
      <p:sp>
        <p:nvSpPr>
          <p:cNvPr id="26" name="TextBox 25"/>
          <p:cNvSpPr txBox="1"/>
          <p:nvPr/>
        </p:nvSpPr>
        <p:spPr>
          <a:xfrm>
            <a:off x="9086152" y="2286001"/>
            <a:ext cx="2510028" cy="692497"/>
          </a:xfrm>
          <a:prstGeom prst="rect">
            <a:avLst/>
          </a:prstGeom>
          <a:noFill/>
        </p:spPr>
        <p:txBody>
          <a:bodyPr wrap="square">
            <a:spAutoFit/>
          </a:bodyPr>
          <a:lstStyle/>
          <a:p>
            <a:pPr algn="l"/>
            <a:r>
              <a:rPr sz="1300">
                <a:solidFill>
                  <a:srgbClr val="101010"/>
                </a:solidFill>
              </a:rPr>
              <a:t>Follow the data — even when
it contradicts leadership
preferences or past practice.</a:t>
            </a:r>
          </a:p>
        </p:txBody>
      </p:sp>
      <p:sp>
        <p:nvSpPr>
          <p:cNvPr id="27" name="Rectangle 26"/>
          <p:cNvSpPr/>
          <p:nvPr/>
        </p:nvSpPr>
        <p:spPr>
          <a:xfrm>
            <a:off x="8994712" y="4023360"/>
            <a:ext cx="2692908" cy="15544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86152" y="4160521"/>
            <a:ext cx="2510028" cy="692497"/>
          </a:xfrm>
          <a:prstGeom prst="rect">
            <a:avLst/>
          </a:prstGeom>
          <a:noFill/>
        </p:spPr>
        <p:txBody>
          <a:bodyPr wrap="square">
            <a:spAutoFit/>
          </a:bodyPr>
          <a:lstStyle/>
          <a:p>
            <a:pPr algn="ctr"/>
            <a:r>
              <a:rPr sz="1300" b="1">
                <a:solidFill>
                  <a:srgbClr val="FFFFFF"/>
                </a:solidFill>
              </a:rPr>
              <a:t>3× more likely peers
immediately correct
misuse of new approaches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28601"/>
            <a:ext cx="11183112" cy="646331"/>
          </a:xfrm>
          <a:prstGeom prst="rect">
            <a:avLst/>
          </a:prstGeom>
          <a:noFill/>
        </p:spPr>
        <p:txBody>
          <a:bodyPr wrap="square">
            <a:spAutoFit/>
          </a:bodyPr>
          <a:lstStyle/>
          <a:p>
            <a:pPr algn="l"/>
            <a:r>
              <a:rPr sz="3600" b="1">
                <a:solidFill>
                  <a:srgbClr val="FFFFFF"/>
                </a:solidFill>
              </a:rPr>
              <a:t>AI Fails in Predictable Ways</a:t>
            </a:r>
          </a:p>
        </p:txBody>
      </p:sp>
      <p:sp>
        <p:nvSpPr>
          <p:cNvPr id="4" name="TextBox 3"/>
          <p:cNvSpPr txBox="1"/>
          <p:nvPr/>
        </p:nvSpPr>
        <p:spPr>
          <a:xfrm>
            <a:off x="504508" y="960120"/>
            <a:ext cx="11183112" cy="338554"/>
          </a:xfrm>
          <a:prstGeom prst="rect">
            <a:avLst/>
          </a:prstGeom>
          <a:noFill/>
        </p:spPr>
        <p:txBody>
          <a:bodyPr wrap="square">
            <a:spAutoFit/>
          </a:bodyPr>
          <a:lstStyle/>
          <a:p>
            <a:pPr algn="l"/>
            <a:r>
              <a:rPr sz="1600" i="1">
                <a:solidFill>
                  <a:srgbClr val="D0D0D0"/>
                </a:solidFill>
              </a:rPr>
              <a:t>These weren't isolated incidents. The same four patterns appear across every industry.</a:t>
            </a:r>
          </a:p>
        </p:txBody>
      </p:sp>
      <p:sp>
        <p:nvSpPr>
          <p:cNvPr id="5" name="Rectangle 4"/>
          <p:cNvSpPr/>
          <p:nvPr/>
        </p:nvSpPr>
        <p:spPr>
          <a:xfrm>
            <a:off x="504508"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508"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95948" y="1618489"/>
            <a:ext cx="2510028" cy="276999"/>
          </a:xfrm>
          <a:prstGeom prst="rect">
            <a:avLst/>
          </a:prstGeom>
          <a:noFill/>
        </p:spPr>
        <p:txBody>
          <a:bodyPr wrap="square">
            <a:spAutoFit/>
          </a:bodyPr>
          <a:lstStyle/>
          <a:p>
            <a:pPr algn="l"/>
            <a:r>
              <a:rPr sz="1200" b="1">
                <a:solidFill>
                  <a:srgbClr val="FFFFFF"/>
                </a:solidFill>
              </a:rPr>
              <a:t>VISIBILITY</a:t>
            </a:r>
          </a:p>
        </p:txBody>
      </p:sp>
      <p:sp>
        <p:nvSpPr>
          <p:cNvPr id="8" name="TextBox 7"/>
          <p:cNvSpPr txBox="1"/>
          <p:nvPr/>
        </p:nvSpPr>
        <p:spPr>
          <a:xfrm>
            <a:off x="595948" y="2084832"/>
            <a:ext cx="2510028" cy="261610"/>
          </a:xfrm>
          <a:prstGeom prst="rect">
            <a:avLst/>
          </a:prstGeom>
          <a:noFill/>
        </p:spPr>
        <p:txBody>
          <a:bodyPr wrap="square">
            <a:spAutoFit/>
          </a:bodyPr>
          <a:lstStyle/>
          <a:p>
            <a:pPr algn="l"/>
            <a:r>
              <a:rPr sz="1100" b="1">
                <a:solidFill>
                  <a:srgbClr val="CC0000"/>
                </a:solidFill>
              </a:rPr>
              <a:t>Behavior: Speak Up</a:t>
            </a:r>
          </a:p>
        </p:txBody>
      </p:sp>
      <p:sp>
        <p:nvSpPr>
          <p:cNvPr id="9" name="TextBox 8"/>
          <p:cNvSpPr txBox="1"/>
          <p:nvPr/>
        </p:nvSpPr>
        <p:spPr>
          <a:xfrm>
            <a:off x="595948" y="2423161"/>
            <a:ext cx="2510028" cy="246221"/>
          </a:xfrm>
          <a:prstGeom prst="rect">
            <a:avLst/>
          </a:prstGeom>
          <a:noFill/>
        </p:spPr>
        <p:txBody>
          <a:bodyPr wrap="square">
            <a:spAutoFit/>
          </a:bodyPr>
          <a:lstStyle/>
          <a:p>
            <a:pPr algn="l"/>
            <a:r>
              <a:rPr sz="1000" i="1">
                <a:solidFill>
                  <a:srgbClr val="D0D0D0"/>
                </a:solidFill>
              </a:rPr>
              <a:t>3M Health Info Systems</a:t>
            </a:r>
          </a:p>
        </p:txBody>
      </p:sp>
      <p:sp>
        <p:nvSpPr>
          <p:cNvPr id="10" name="TextBox 9"/>
          <p:cNvSpPr txBox="1"/>
          <p:nvPr/>
        </p:nvSpPr>
        <p:spPr>
          <a:xfrm>
            <a:off x="595948" y="2788921"/>
            <a:ext cx="2510028" cy="769441"/>
          </a:xfrm>
          <a:prstGeom prst="rect">
            <a:avLst/>
          </a:prstGeom>
          <a:noFill/>
        </p:spPr>
        <p:txBody>
          <a:bodyPr wrap="square">
            <a:spAutoFit/>
          </a:bodyPr>
          <a:lstStyle/>
          <a:p>
            <a:pPr algn="l"/>
            <a:r>
              <a:rPr sz="1100">
                <a:solidFill>
                  <a:srgbClr val="FFFFFF"/>
                </a:solidFill>
              </a:rPr>
              <a:t>ML model outputs were inconsistent. Clinicians changed input forms — revenue cycle never knew. Cross-team silence made the AI unreliable.</a:t>
            </a:r>
          </a:p>
        </p:txBody>
      </p:sp>
      <p:sp>
        <p:nvSpPr>
          <p:cNvPr id="11" name="TextBox 10"/>
          <p:cNvSpPr txBox="1"/>
          <p:nvPr/>
        </p:nvSpPr>
        <p:spPr>
          <a:xfrm>
            <a:off x="595948" y="5074920"/>
            <a:ext cx="2510028" cy="261610"/>
          </a:xfrm>
          <a:prstGeom prst="rect">
            <a:avLst/>
          </a:prstGeom>
          <a:noFill/>
        </p:spPr>
        <p:txBody>
          <a:bodyPr wrap="square">
            <a:spAutoFit/>
          </a:bodyPr>
          <a:lstStyle/>
          <a:p>
            <a:pPr algn="l"/>
            <a:r>
              <a:rPr sz="1100" b="1" i="1">
                <a:solidFill>
                  <a:srgbClr val="CC0000"/>
                </a:solidFill>
              </a:rPr>
              <a:t>This was a visibility failure.</a:t>
            </a:r>
          </a:p>
        </p:txBody>
      </p:sp>
      <p:sp>
        <p:nvSpPr>
          <p:cNvPr id="12" name="Rectangle 11"/>
          <p:cNvSpPr/>
          <p:nvPr/>
        </p:nvSpPr>
        <p:spPr>
          <a:xfrm>
            <a:off x="3334576"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34576"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426016" y="1618489"/>
            <a:ext cx="2510028" cy="276999"/>
          </a:xfrm>
          <a:prstGeom prst="rect">
            <a:avLst/>
          </a:prstGeom>
          <a:noFill/>
        </p:spPr>
        <p:txBody>
          <a:bodyPr wrap="square">
            <a:spAutoFit/>
          </a:bodyPr>
          <a:lstStyle/>
          <a:p>
            <a:pPr algn="l"/>
            <a:r>
              <a:rPr sz="1200" b="1">
                <a:solidFill>
                  <a:srgbClr val="FFFFFF"/>
                </a:solidFill>
              </a:rPr>
              <a:t>ADOPTION</a:t>
            </a:r>
          </a:p>
        </p:txBody>
      </p:sp>
      <p:sp>
        <p:nvSpPr>
          <p:cNvPr id="15" name="TextBox 14"/>
          <p:cNvSpPr txBox="1"/>
          <p:nvPr/>
        </p:nvSpPr>
        <p:spPr>
          <a:xfrm>
            <a:off x="3426016" y="2084832"/>
            <a:ext cx="2510028" cy="261610"/>
          </a:xfrm>
          <a:prstGeom prst="rect">
            <a:avLst/>
          </a:prstGeom>
          <a:noFill/>
        </p:spPr>
        <p:txBody>
          <a:bodyPr wrap="square">
            <a:spAutoFit/>
          </a:bodyPr>
          <a:lstStyle/>
          <a:p>
            <a:pPr algn="l"/>
            <a:r>
              <a:rPr sz="1100" b="1">
                <a:solidFill>
                  <a:srgbClr val="CC0000"/>
                </a:solidFill>
              </a:rPr>
              <a:t>Behavior: Remind</a:t>
            </a:r>
          </a:p>
        </p:txBody>
      </p:sp>
      <p:sp>
        <p:nvSpPr>
          <p:cNvPr id="16" name="TextBox 15"/>
          <p:cNvSpPr txBox="1"/>
          <p:nvPr/>
        </p:nvSpPr>
        <p:spPr>
          <a:xfrm>
            <a:off x="3426016" y="2423161"/>
            <a:ext cx="2510028" cy="246221"/>
          </a:xfrm>
          <a:prstGeom prst="rect">
            <a:avLst/>
          </a:prstGeom>
          <a:noFill/>
        </p:spPr>
        <p:txBody>
          <a:bodyPr wrap="square">
            <a:spAutoFit/>
          </a:bodyPr>
          <a:lstStyle/>
          <a:p>
            <a:pPr algn="l"/>
            <a:r>
              <a:rPr sz="1000" i="1">
                <a:solidFill>
                  <a:srgbClr val="D0D0D0"/>
                </a:solidFill>
              </a:rPr>
              <a:t>3M Health Info Systems</a:t>
            </a:r>
          </a:p>
        </p:txBody>
      </p:sp>
      <p:sp>
        <p:nvSpPr>
          <p:cNvPr id="17" name="TextBox 16"/>
          <p:cNvSpPr txBox="1"/>
          <p:nvPr/>
        </p:nvSpPr>
        <p:spPr>
          <a:xfrm>
            <a:off x="3426016" y="2788921"/>
            <a:ext cx="2510028" cy="938719"/>
          </a:xfrm>
          <a:prstGeom prst="rect">
            <a:avLst/>
          </a:prstGeom>
          <a:noFill/>
        </p:spPr>
        <p:txBody>
          <a:bodyPr wrap="square">
            <a:spAutoFit/>
          </a:bodyPr>
          <a:lstStyle/>
          <a:p>
            <a:pPr algn="l"/>
            <a:r>
              <a:rPr sz="1100">
                <a:solidFill>
                  <a:srgbClr val="FFFFFF"/>
                </a:solidFill>
              </a:rPr>
              <a:t>ICD-10 expanded codes 100,000x. Coders kept working from memory, then entered into the system after. The rollout took a day. The behavior change took months.</a:t>
            </a:r>
          </a:p>
        </p:txBody>
      </p:sp>
      <p:sp>
        <p:nvSpPr>
          <p:cNvPr id="18" name="TextBox 17"/>
          <p:cNvSpPr txBox="1"/>
          <p:nvPr/>
        </p:nvSpPr>
        <p:spPr>
          <a:xfrm>
            <a:off x="3426016" y="5074920"/>
            <a:ext cx="2510028" cy="261610"/>
          </a:xfrm>
          <a:prstGeom prst="rect">
            <a:avLst/>
          </a:prstGeom>
          <a:noFill/>
        </p:spPr>
        <p:txBody>
          <a:bodyPr wrap="square">
            <a:spAutoFit/>
          </a:bodyPr>
          <a:lstStyle/>
          <a:p>
            <a:pPr algn="l"/>
            <a:r>
              <a:rPr sz="1100" b="1" i="1">
                <a:solidFill>
                  <a:srgbClr val="CC0000"/>
                </a:solidFill>
              </a:rPr>
              <a:t>This was an adoption failure.</a:t>
            </a:r>
          </a:p>
        </p:txBody>
      </p:sp>
      <p:sp>
        <p:nvSpPr>
          <p:cNvPr id="19" name="Rectangle 18"/>
          <p:cNvSpPr/>
          <p:nvPr/>
        </p:nvSpPr>
        <p:spPr>
          <a:xfrm>
            <a:off x="6164644"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64644"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256084" y="1618489"/>
            <a:ext cx="2510028" cy="276999"/>
          </a:xfrm>
          <a:prstGeom prst="rect">
            <a:avLst/>
          </a:prstGeom>
          <a:noFill/>
        </p:spPr>
        <p:txBody>
          <a:bodyPr wrap="square">
            <a:spAutoFit/>
          </a:bodyPr>
          <a:lstStyle/>
          <a:p>
            <a:pPr algn="l"/>
            <a:r>
              <a:rPr sz="1200" b="1">
                <a:solidFill>
                  <a:srgbClr val="FFFFFF"/>
                </a:solidFill>
              </a:rPr>
              <a:t>ACCOUNTABILITY</a:t>
            </a:r>
          </a:p>
        </p:txBody>
      </p:sp>
      <p:sp>
        <p:nvSpPr>
          <p:cNvPr id="22" name="TextBox 21"/>
          <p:cNvSpPr txBox="1"/>
          <p:nvPr/>
        </p:nvSpPr>
        <p:spPr>
          <a:xfrm>
            <a:off x="6256084" y="2084832"/>
            <a:ext cx="2510028" cy="261610"/>
          </a:xfrm>
          <a:prstGeom prst="rect">
            <a:avLst/>
          </a:prstGeom>
          <a:noFill/>
        </p:spPr>
        <p:txBody>
          <a:bodyPr wrap="square">
            <a:spAutoFit/>
          </a:bodyPr>
          <a:lstStyle/>
          <a:p>
            <a:pPr algn="l"/>
            <a:r>
              <a:rPr sz="1100" b="1">
                <a:solidFill>
                  <a:srgbClr val="CC0000"/>
                </a:solidFill>
              </a:rPr>
              <a:t>Behavior: Confront</a:t>
            </a:r>
          </a:p>
        </p:txBody>
      </p:sp>
      <p:sp>
        <p:nvSpPr>
          <p:cNvPr id="23" name="TextBox 22"/>
          <p:cNvSpPr txBox="1"/>
          <p:nvPr/>
        </p:nvSpPr>
        <p:spPr>
          <a:xfrm>
            <a:off x="6256084" y="2423161"/>
            <a:ext cx="2510028" cy="246221"/>
          </a:xfrm>
          <a:prstGeom prst="rect">
            <a:avLst/>
          </a:prstGeom>
          <a:noFill/>
        </p:spPr>
        <p:txBody>
          <a:bodyPr wrap="square">
            <a:spAutoFit/>
          </a:bodyPr>
          <a:lstStyle/>
          <a:p>
            <a:pPr algn="l"/>
            <a:r>
              <a:rPr sz="1000" i="1">
                <a:solidFill>
                  <a:srgbClr val="D0D0D0"/>
                </a:solidFill>
              </a:rPr>
              <a:t>3M Health Info Systems</a:t>
            </a:r>
          </a:p>
        </p:txBody>
      </p:sp>
      <p:sp>
        <p:nvSpPr>
          <p:cNvPr id="24" name="TextBox 23"/>
          <p:cNvSpPr txBox="1"/>
          <p:nvPr/>
        </p:nvSpPr>
        <p:spPr>
          <a:xfrm>
            <a:off x="6256084" y="2788921"/>
            <a:ext cx="2510028" cy="938719"/>
          </a:xfrm>
          <a:prstGeom prst="rect">
            <a:avLst/>
          </a:prstGeom>
          <a:noFill/>
        </p:spPr>
        <p:txBody>
          <a:bodyPr wrap="square">
            <a:spAutoFit/>
          </a:bodyPr>
          <a:lstStyle/>
          <a:p>
            <a:pPr algn="l"/>
            <a:r>
              <a:rPr sz="1100">
                <a:solidFill>
                  <a:srgbClr val="FFFFFF"/>
                </a:solidFill>
              </a:rPr>
              <a:t>Early results were uneven. Customers stayed because they trusted transparent communication — same data, same room, same story across all stakeholders.</a:t>
            </a:r>
          </a:p>
        </p:txBody>
      </p:sp>
      <p:sp>
        <p:nvSpPr>
          <p:cNvPr id="25" name="TextBox 24"/>
          <p:cNvSpPr txBox="1"/>
          <p:nvPr/>
        </p:nvSpPr>
        <p:spPr>
          <a:xfrm>
            <a:off x="6256084" y="5074920"/>
            <a:ext cx="2510028" cy="261610"/>
          </a:xfrm>
          <a:prstGeom prst="rect">
            <a:avLst/>
          </a:prstGeom>
          <a:noFill/>
        </p:spPr>
        <p:txBody>
          <a:bodyPr wrap="square">
            <a:spAutoFit/>
          </a:bodyPr>
          <a:lstStyle/>
          <a:p>
            <a:pPr algn="l"/>
            <a:r>
              <a:rPr sz="1100" b="1" i="1">
                <a:solidFill>
                  <a:srgbClr val="CC0000"/>
                </a:solidFill>
              </a:rPr>
              <a:t>This was an accountability failure.</a:t>
            </a:r>
          </a:p>
        </p:txBody>
      </p:sp>
      <p:sp>
        <p:nvSpPr>
          <p:cNvPr id="26" name="Rectangle 25"/>
          <p:cNvSpPr/>
          <p:nvPr/>
        </p:nvSpPr>
        <p:spPr>
          <a:xfrm>
            <a:off x="8994712" y="1554480"/>
            <a:ext cx="2692908" cy="46634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994712" y="1554480"/>
            <a:ext cx="2692908" cy="4572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86152" y="1618489"/>
            <a:ext cx="2510028" cy="276999"/>
          </a:xfrm>
          <a:prstGeom prst="rect">
            <a:avLst/>
          </a:prstGeom>
          <a:noFill/>
        </p:spPr>
        <p:txBody>
          <a:bodyPr wrap="square">
            <a:spAutoFit/>
          </a:bodyPr>
          <a:lstStyle/>
          <a:p>
            <a:pPr algn="l"/>
            <a:r>
              <a:rPr sz="1200" b="1">
                <a:solidFill>
                  <a:srgbClr val="FFFFFF"/>
                </a:solidFill>
              </a:rPr>
              <a:t>ASSUMPTIONS</a:t>
            </a:r>
          </a:p>
        </p:txBody>
      </p:sp>
      <p:sp>
        <p:nvSpPr>
          <p:cNvPr id="29" name="TextBox 28"/>
          <p:cNvSpPr txBox="1"/>
          <p:nvPr/>
        </p:nvSpPr>
        <p:spPr>
          <a:xfrm>
            <a:off x="9086152" y="2084832"/>
            <a:ext cx="2510028" cy="261610"/>
          </a:xfrm>
          <a:prstGeom prst="rect">
            <a:avLst/>
          </a:prstGeom>
          <a:noFill/>
        </p:spPr>
        <p:txBody>
          <a:bodyPr wrap="square">
            <a:spAutoFit/>
          </a:bodyPr>
          <a:lstStyle/>
          <a:p>
            <a:pPr algn="l"/>
            <a:r>
              <a:rPr sz="1100" b="1">
                <a:solidFill>
                  <a:srgbClr val="CC0000"/>
                </a:solidFill>
              </a:rPr>
              <a:t>Behavior: Challenge</a:t>
            </a:r>
          </a:p>
        </p:txBody>
      </p:sp>
      <p:sp>
        <p:nvSpPr>
          <p:cNvPr id="30" name="TextBox 29"/>
          <p:cNvSpPr txBox="1"/>
          <p:nvPr/>
        </p:nvSpPr>
        <p:spPr>
          <a:xfrm>
            <a:off x="9086152" y="2423161"/>
            <a:ext cx="2510028" cy="246221"/>
          </a:xfrm>
          <a:prstGeom prst="rect">
            <a:avLst/>
          </a:prstGeom>
          <a:noFill/>
        </p:spPr>
        <p:txBody>
          <a:bodyPr wrap="square">
            <a:spAutoFit/>
          </a:bodyPr>
          <a:lstStyle/>
          <a:p>
            <a:pPr algn="l"/>
            <a:r>
              <a:rPr sz="1000" i="1">
                <a:solidFill>
                  <a:srgbClr val="D0D0D0"/>
                </a:solidFill>
              </a:rPr>
              <a:t>Air Methods</a:t>
            </a:r>
          </a:p>
        </p:txBody>
      </p:sp>
      <p:sp>
        <p:nvSpPr>
          <p:cNvPr id="31" name="TextBox 30"/>
          <p:cNvSpPr txBox="1"/>
          <p:nvPr/>
        </p:nvSpPr>
        <p:spPr>
          <a:xfrm>
            <a:off x="9086152" y="2788921"/>
            <a:ext cx="2510028" cy="938719"/>
          </a:xfrm>
          <a:prstGeom prst="rect">
            <a:avLst/>
          </a:prstGeom>
          <a:noFill/>
        </p:spPr>
        <p:txBody>
          <a:bodyPr wrap="square">
            <a:spAutoFit/>
          </a:bodyPr>
          <a:lstStyle/>
          <a:p>
            <a:pPr algn="l"/>
            <a:r>
              <a:rPr sz="1100">
                <a:solidFill>
                  <a:srgbClr val="FFFFFF"/>
                </a:solidFill>
              </a:rPr>
              <a:t>Routing model built on 'strong systems data.' Area managers dismissed crew resistance as change-aversion. One direct conversation surfaced the fatal flaw.</a:t>
            </a:r>
          </a:p>
        </p:txBody>
      </p:sp>
      <p:sp>
        <p:nvSpPr>
          <p:cNvPr id="32" name="TextBox 31"/>
          <p:cNvSpPr txBox="1"/>
          <p:nvPr/>
        </p:nvSpPr>
        <p:spPr>
          <a:xfrm>
            <a:off x="9086152" y="5074920"/>
            <a:ext cx="2510028" cy="261610"/>
          </a:xfrm>
          <a:prstGeom prst="rect">
            <a:avLst/>
          </a:prstGeom>
          <a:noFill/>
        </p:spPr>
        <p:txBody>
          <a:bodyPr wrap="square">
            <a:spAutoFit/>
          </a:bodyPr>
          <a:lstStyle/>
          <a:p>
            <a:pPr algn="l"/>
            <a:r>
              <a:rPr sz="1100" b="1" i="1">
                <a:solidFill>
                  <a:srgbClr val="CC0000"/>
                </a:solidFill>
              </a:rPr>
              <a:t>This was an assumption failure.</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28601"/>
            <a:ext cx="11183112" cy="646331"/>
          </a:xfrm>
          <a:prstGeom prst="rect">
            <a:avLst/>
          </a:prstGeom>
          <a:noFill/>
        </p:spPr>
        <p:txBody>
          <a:bodyPr wrap="square">
            <a:spAutoFit/>
          </a:bodyPr>
          <a:lstStyle/>
          <a:p>
            <a:pPr algn="ctr"/>
            <a:r>
              <a:rPr sz="3600" b="1">
                <a:solidFill>
                  <a:srgbClr val="101010"/>
                </a:solidFill>
              </a:rPr>
              <a:t>AI EXECUTION DIAGNOSTIC™</a:t>
            </a:r>
          </a:p>
        </p:txBody>
      </p:sp>
      <p:sp>
        <p:nvSpPr>
          <p:cNvPr id="4" name="TextBox 3"/>
          <p:cNvSpPr txBox="1"/>
          <p:nvPr/>
        </p:nvSpPr>
        <p:spPr>
          <a:xfrm>
            <a:off x="504508" y="868680"/>
            <a:ext cx="11183112" cy="292388"/>
          </a:xfrm>
          <a:prstGeom prst="rect">
            <a:avLst/>
          </a:prstGeom>
          <a:noFill/>
        </p:spPr>
        <p:txBody>
          <a:bodyPr wrap="square">
            <a:spAutoFit/>
          </a:bodyPr>
          <a:lstStyle/>
          <a:p>
            <a:pPr algn="ctr"/>
            <a:r>
              <a:rPr sz="1300" i="1">
                <a:solidFill>
                  <a:srgbClr val="555555"/>
                </a:solidFill>
              </a:rPr>
              <a:t>Score your AI initiative in 60 seconds  |  0 = Red  |  1 = Mixed  |  2 = Green  (per dimension, 0–8 total)</a:t>
            </a:r>
          </a:p>
        </p:txBody>
      </p:sp>
      <p:sp>
        <p:nvSpPr>
          <p:cNvPr id="5" name="Rectangle 4"/>
          <p:cNvSpPr/>
          <p:nvPr/>
        </p:nvSpPr>
        <p:spPr>
          <a:xfrm>
            <a:off x="504508"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508"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4236" y="1481328"/>
            <a:ext cx="2473452" cy="292388"/>
          </a:xfrm>
          <a:prstGeom prst="rect">
            <a:avLst/>
          </a:prstGeom>
          <a:noFill/>
        </p:spPr>
        <p:txBody>
          <a:bodyPr wrap="square">
            <a:spAutoFit/>
          </a:bodyPr>
          <a:lstStyle/>
          <a:p>
            <a:pPr algn="l"/>
            <a:r>
              <a:rPr sz="1300" b="1">
                <a:solidFill>
                  <a:srgbClr val="FFFFFF"/>
                </a:solidFill>
              </a:rPr>
              <a:t>VISIBILITY</a:t>
            </a:r>
          </a:p>
        </p:txBody>
      </p:sp>
      <p:sp>
        <p:nvSpPr>
          <p:cNvPr id="8" name="TextBox 7"/>
          <p:cNvSpPr txBox="1"/>
          <p:nvPr/>
        </p:nvSpPr>
        <p:spPr>
          <a:xfrm>
            <a:off x="614236" y="1828800"/>
            <a:ext cx="2473452" cy="261610"/>
          </a:xfrm>
          <a:prstGeom prst="rect">
            <a:avLst/>
          </a:prstGeom>
          <a:noFill/>
        </p:spPr>
        <p:txBody>
          <a:bodyPr wrap="square">
            <a:spAutoFit/>
          </a:bodyPr>
          <a:lstStyle/>
          <a:p>
            <a:pPr algn="l"/>
            <a:r>
              <a:rPr sz="1100" i="1">
                <a:solidFill>
                  <a:srgbClr val="D0D0D0"/>
                </a:solidFill>
              </a:rPr>
              <a:t>What don't we see?</a:t>
            </a:r>
          </a:p>
        </p:txBody>
      </p:sp>
      <p:sp>
        <p:nvSpPr>
          <p:cNvPr id="9" name="Rectangle 8"/>
          <p:cNvSpPr/>
          <p:nvPr/>
        </p:nvSpPr>
        <p:spPr>
          <a:xfrm>
            <a:off x="614236"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5989" y="2286001"/>
            <a:ext cx="2171701" cy="246221"/>
          </a:xfrm>
          <a:prstGeom prst="rect">
            <a:avLst/>
          </a:prstGeom>
          <a:noFill/>
        </p:spPr>
        <p:txBody>
          <a:bodyPr wrap="square">
            <a:spAutoFit/>
          </a:bodyPr>
          <a:lstStyle/>
          <a:p>
            <a:pPr algn="l"/>
            <a:r>
              <a:rPr sz="1000" b="1">
                <a:solidFill>
                  <a:srgbClr val="CC0000"/>
                </a:solidFill>
              </a:rPr>
              <a:t>RED LIGHT</a:t>
            </a:r>
          </a:p>
        </p:txBody>
      </p:sp>
      <p:sp>
        <p:nvSpPr>
          <p:cNvPr id="11" name="TextBox 10"/>
          <p:cNvSpPr txBox="1"/>
          <p:nvPr/>
        </p:nvSpPr>
        <p:spPr>
          <a:xfrm>
            <a:off x="614236" y="2606041"/>
            <a:ext cx="2473452" cy="430887"/>
          </a:xfrm>
          <a:prstGeom prst="rect">
            <a:avLst/>
          </a:prstGeom>
          <a:noFill/>
        </p:spPr>
        <p:txBody>
          <a:bodyPr wrap="square">
            <a:spAutoFit/>
          </a:bodyPr>
          <a:lstStyle/>
          <a:p>
            <a:pPr algn="l"/>
            <a:r>
              <a:rPr sz="1100">
                <a:solidFill>
                  <a:srgbClr val="555555"/>
                </a:solidFill>
              </a:rPr>
              <a:t>Fragmented inputs,
hidden dependencies</a:t>
            </a:r>
          </a:p>
        </p:txBody>
      </p:sp>
      <p:sp>
        <p:nvSpPr>
          <p:cNvPr id="12" name="Rectangle 11"/>
          <p:cNvSpPr/>
          <p:nvPr/>
        </p:nvSpPr>
        <p:spPr>
          <a:xfrm>
            <a:off x="614236"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15989" y="3566161"/>
            <a:ext cx="2171701" cy="246221"/>
          </a:xfrm>
          <a:prstGeom prst="rect">
            <a:avLst/>
          </a:prstGeom>
          <a:noFill/>
        </p:spPr>
        <p:txBody>
          <a:bodyPr wrap="square">
            <a:spAutoFit/>
          </a:bodyPr>
          <a:lstStyle/>
          <a:p>
            <a:pPr algn="l"/>
            <a:r>
              <a:rPr sz="1000" b="1">
                <a:solidFill>
                  <a:srgbClr val="2E7D32"/>
                </a:solidFill>
              </a:rPr>
              <a:t>GREEN LIGHT</a:t>
            </a:r>
          </a:p>
        </p:txBody>
      </p:sp>
      <p:sp>
        <p:nvSpPr>
          <p:cNvPr id="14" name="TextBox 13"/>
          <p:cNvSpPr txBox="1"/>
          <p:nvPr/>
        </p:nvSpPr>
        <p:spPr>
          <a:xfrm>
            <a:off x="614236" y="3886201"/>
            <a:ext cx="2473452" cy="430887"/>
          </a:xfrm>
          <a:prstGeom prst="rect">
            <a:avLst/>
          </a:prstGeom>
          <a:noFill/>
        </p:spPr>
        <p:txBody>
          <a:bodyPr wrap="square">
            <a:spAutoFit/>
          </a:bodyPr>
          <a:lstStyle/>
          <a:p>
            <a:pPr algn="l"/>
            <a:r>
              <a:rPr sz="1100">
                <a:solidFill>
                  <a:srgbClr val="555555"/>
                </a:solidFill>
              </a:rPr>
              <a:t>Same inputs,
shared visibility</a:t>
            </a:r>
          </a:p>
        </p:txBody>
      </p:sp>
      <p:sp>
        <p:nvSpPr>
          <p:cNvPr id="15" name="Rectangle 14"/>
          <p:cNvSpPr/>
          <p:nvPr/>
        </p:nvSpPr>
        <p:spPr>
          <a:xfrm>
            <a:off x="3334576"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34576"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44304" y="1481328"/>
            <a:ext cx="2473452" cy="292388"/>
          </a:xfrm>
          <a:prstGeom prst="rect">
            <a:avLst/>
          </a:prstGeom>
          <a:noFill/>
        </p:spPr>
        <p:txBody>
          <a:bodyPr wrap="square">
            <a:spAutoFit/>
          </a:bodyPr>
          <a:lstStyle/>
          <a:p>
            <a:pPr algn="l"/>
            <a:r>
              <a:rPr sz="1300" b="1">
                <a:solidFill>
                  <a:srgbClr val="FFFFFF"/>
                </a:solidFill>
              </a:rPr>
              <a:t>ADOPTION</a:t>
            </a:r>
          </a:p>
        </p:txBody>
      </p:sp>
      <p:sp>
        <p:nvSpPr>
          <p:cNvPr id="18" name="TextBox 17"/>
          <p:cNvSpPr txBox="1"/>
          <p:nvPr/>
        </p:nvSpPr>
        <p:spPr>
          <a:xfrm>
            <a:off x="3444304" y="1828800"/>
            <a:ext cx="2473452" cy="261610"/>
          </a:xfrm>
          <a:prstGeom prst="rect">
            <a:avLst/>
          </a:prstGeom>
          <a:noFill/>
        </p:spPr>
        <p:txBody>
          <a:bodyPr wrap="square">
            <a:spAutoFit/>
          </a:bodyPr>
          <a:lstStyle/>
          <a:p>
            <a:pPr algn="l"/>
            <a:r>
              <a:rPr sz="1100" i="1">
                <a:solidFill>
                  <a:srgbClr val="D0D0D0"/>
                </a:solidFill>
              </a:rPr>
              <a:t>Are people using it?</a:t>
            </a:r>
          </a:p>
        </p:txBody>
      </p:sp>
      <p:sp>
        <p:nvSpPr>
          <p:cNvPr id="19" name="Rectangle 18"/>
          <p:cNvSpPr/>
          <p:nvPr/>
        </p:nvSpPr>
        <p:spPr>
          <a:xfrm>
            <a:off x="3444304"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746057" y="2286001"/>
            <a:ext cx="2171701" cy="246221"/>
          </a:xfrm>
          <a:prstGeom prst="rect">
            <a:avLst/>
          </a:prstGeom>
          <a:noFill/>
        </p:spPr>
        <p:txBody>
          <a:bodyPr wrap="square">
            <a:spAutoFit/>
          </a:bodyPr>
          <a:lstStyle/>
          <a:p>
            <a:pPr algn="l"/>
            <a:r>
              <a:rPr sz="1000" b="1">
                <a:solidFill>
                  <a:srgbClr val="CC0000"/>
                </a:solidFill>
              </a:rPr>
              <a:t>RED LIGHT</a:t>
            </a:r>
          </a:p>
        </p:txBody>
      </p:sp>
      <p:sp>
        <p:nvSpPr>
          <p:cNvPr id="21" name="TextBox 20"/>
          <p:cNvSpPr txBox="1"/>
          <p:nvPr/>
        </p:nvSpPr>
        <p:spPr>
          <a:xfrm>
            <a:off x="3444304" y="2606041"/>
            <a:ext cx="2473452" cy="430887"/>
          </a:xfrm>
          <a:prstGeom prst="rect">
            <a:avLst/>
          </a:prstGeom>
          <a:noFill/>
        </p:spPr>
        <p:txBody>
          <a:bodyPr wrap="square">
            <a:spAutoFit/>
          </a:bodyPr>
          <a:lstStyle/>
          <a:p>
            <a:pPr algn="l"/>
            <a:r>
              <a:rPr sz="1100">
                <a:solidFill>
                  <a:srgbClr val="555555"/>
                </a:solidFill>
              </a:rPr>
              <a:t>Workarounds,
parallel workflows</a:t>
            </a:r>
          </a:p>
        </p:txBody>
      </p:sp>
      <p:sp>
        <p:nvSpPr>
          <p:cNvPr id="22" name="Rectangle 21"/>
          <p:cNvSpPr/>
          <p:nvPr/>
        </p:nvSpPr>
        <p:spPr>
          <a:xfrm>
            <a:off x="3444304"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746057" y="3566161"/>
            <a:ext cx="2171701" cy="246221"/>
          </a:xfrm>
          <a:prstGeom prst="rect">
            <a:avLst/>
          </a:prstGeom>
          <a:noFill/>
        </p:spPr>
        <p:txBody>
          <a:bodyPr wrap="square">
            <a:spAutoFit/>
          </a:bodyPr>
          <a:lstStyle/>
          <a:p>
            <a:pPr algn="l"/>
            <a:r>
              <a:rPr sz="1000" b="1">
                <a:solidFill>
                  <a:srgbClr val="2E7D32"/>
                </a:solidFill>
              </a:rPr>
              <a:t>GREEN LIGHT</a:t>
            </a:r>
          </a:p>
        </p:txBody>
      </p:sp>
      <p:sp>
        <p:nvSpPr>
          <p:cNvPr id="24" name="TextBox 23"/>
          <p:cNvSpPr txBox="1"/>
          <p:nvPr/>
        </p:nvSpPr>
        <p:spPr>
          <a:xfrm>
            <a:off x="3444304" y="3886201"/>
            <a:ext cx="2473452" cy="430887"/>
          </a:xfrm>
          <a:prstGeom prst="rect">
            <a:avLst/>
          </a:prstGeom>
          <a:noFill/>
        </p:spPr>
        <p:txBody>
          <a:bodyPr wrap="square">
            <a:spAutoFit/>
          </a:bodyPr>
          <a:lstStyle/>
          <a:p>
            <a:pPr algn="l"/>
            <a:r>
              <a:rPr sz="1100">
                <a:solidFill>
                  <a:srgbClr val="555555"/>
                </a:solidFill>
              </a:rPr>
              <a:t>Same workflow,
consistent use</a:t>
            </a:r>
          </a:p>
        </p:txBody>
      </p:sp>
      <p:sp>
        <p:nvSpPr>
          <p:cNvPr id="25" name="Rectangle 24"/>
          <p:cNvSpPr/>
          <p:nvPr/>
        </p:nvSpPr>
        <p:spPr>
          <a:xfrm>
            <a:off x="6164644"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164644"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74372" y="1481328"/>
            <a:ext cx="2473452" cy="292388"/>
          </a:xfrm>
          <a:prstGeom prst="rect">
            <a:avLst/>
          </a:prstGeom>
          <a:noFill/>
        </p:spPr>
        <p:txBody>
          <a:bodyPr wrap="square">
            <a:spAutoFit/>
          </a:bodyPr>
          <a:lstStyle/>
          <a:p>
            <a:pPr algn="l"/>
            <a:r>
              <a:rPr sz="1300" b="1">
                <a:solidFill>
                  <a:srgbClr val="FFFFFF"/>
                </a:solidFill>
              </a:rPr>
              <a:t>ACCOUNTABILITY</a:t>
            </a:r>
          </a:p>
        </p:txBody>
      </p:sp>
      <p:sp>
        <p:nvSpPr>
          <p:cNvPr id="28" name="TextBox 27"/>
          <p:cNvSpPr txBox="1"/>
          <p:nvPr/>
        </p:nvSpPr>
        <p:spPr>
          <a:xfrm>
            <a:off x="6274372" y="1828800"/>
            <a:ext cx="2473452" cy="261610"/>
          </a:xfrm>
          <a:prstGeom prst="rect">
            <a:avLst/>
          </a:prstGeom>
          <a:noFill/>
        </p:spPr>
        <p:txBody>
          <a:bodyPr wrap="square">
            <a:spAutoFit/>
          </a:bodyPr>
          <a:lstStyle/>
          <a:p>
            <a:pPr algn="l"/>
            <a:r>
              <a:rPr sz="1100" i="1">
                <a:solidFill>
                  <a:srgbClr val="D0D0D0"/>
                </a:solidFill>
              </a:rPr>
              <a:t>Is it really working?</a:t>
            </a:r>
          </a:p>
        </p:txBody>
      </p:sp>
      <p:sp>
        <p:nvSpPr>
          <p:cNvPr id="29" name="Rectangle 28"/>
          <p:cNvSpPr/>
          <p:nvPr/>
        </p:nvSpPr>
        <p:spPr>
          <a:xfrm>
            <a:off x="6274372"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576125" y="2286001"/>
            <a:ext cx="2171701" cy="246221"/>
          </a:xfrm>
          <a:prstGeom prst="rect">
            <a:avLst/>
          </a:prstGeom>
          <a:noFill/>
        </p:spPr>
        <p:txBody>
          <a:bodyPr wrap="square">
            <a:spAutoFit/>
          </a:bodyPr>
          <a:lstStyle/>
          <a:p>
            <a:pPr algn="l"/>
            <a:r>
              <a:rPr sz="1000" b="1">
                <a:solidFill>
                  <a:srgbClr val="CC0000"/>
                </a:solidFill>
              </a:rPr>
              <a:t>RED LIGHT</a:t>
            </a:r>
          </a:p>
        </p:txBody>
      </p:sp>
      <p:sp>
        <p:nvSpPr>
          <p:cNvPr id="31" name="TextBox 30"/>
          <p:cNvSpPr txBox="1"/>
          <p:nvPr/>
        </p:nvSpPr>
        <p:spPr>
          <a:xfrm>
            <a:off x="6274372" y="2606041"/>
            <a:ext cx="2473452" cy="430887"/>
          </a:xfrm>
          <a:prstGeom prst="rect">
            <a:avLst/>
          </a:prstGeom>
          <a:noFill/>
        </p:spPr>
        <p:txBody>
          <a:bodyPr wrap="square">
            <a:spAutoFit/>
          </a:bodyPr>
          <a:lstStyle/>
          <a:p>
            <a:pPr algn="l"/>
            <a:r>
              <a:rPr sz="1100">
                <a:solidFill>
                  <a:srgbClr val="555555"/>
                </a:solidFill>
              </a:rPr>
              <a:t>Different data,
different stories</a:t>
            </a:r>
          </a:p>
        </p:txBody>
      </p:sp>
      <p:sp>
        <p:nvSpPr>
          <p:cNvPr id="32" name="Rectangle 31"/>
          <p:cNvSpPr/>
          <p:nvPr/>
        </p:nvSpPr>
        <p:spPr>
          <a:xfrm>
            <a:off x="6274372"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76125" y="3566161"/>
            <a:ext cx="2171701" cy="246221"/>
          </a:xfrm>
          <a:prstGeom prst="rect">
            <a:avLst/>
          </a:prstGeom>
          <a:noFill/>
        </p:spPr>
        <p:txBody>
          <a:bodyPr wrap="square">
            <a:spAutoFit/>
          </a:bodyPr>
          <a:lstStyle/>
          <a:p>
            <a:pPr algn="l"/>
            <a:r>
              <a:rPr sz="1000" b="1">
                <a:solidFill>
                  <a:srgbClr val="2E7D32"/>
                </a:solidFill>
              </a:rPr>
              <a:t>GREEN LIGHT</a:t>
            </a:r>
          </a:p>
        </p:txBody>
      </p:sp>
      <p:sp>
        <p:nvSpPr>
          <p:cNvPr id="34" name="TextBox 33"/>
          <p:cNvSpPr txBox="1"/>
          <p:nvPr/>
        </p:nvSpPr>
        <p:spPr>
          <a:xfrm>
            <a:off x="6274372" y="3886201"/>
            <a:ext cx="2473452" cy="430887"/>
          </a:xfrm>
          <a:prstGeom prst="rect">
            <a:avLst/>
          </a:prstGeom>
          <a:noFill/>
        </p:spPr>
        <p:txBody>
          <a:bodyPr wrap="square">
            <a:spAutoFit/>
          </a:bodyPr>
          <a:lstStyle/>
          <a:p>
            <a:pPr algn="l"/>
            <a:r>
              <a:rPr sz="1100">
                <a:solidFill>
                  <a:srgbClr val="555555"/>
                </a:solidFill>
              </a:rPr>
              <a:t>Same data,
same story</a:t>
            </a:r>
          </a:p>
        </p:txBody>
      </p:sp>
      <p:sp>
        <p:nvSpPr>
          <p:cNvPr id="35" name="Rectangle 34"/>
          <p:cNvSpPr/>
          <p:nvPr/>
        </p:nvSpPr>
        <p:spPr>
          <a:xfrm>
            <a:off x="8994712" y="1417320"/>
            <a:ext cx="2692908" cy="3840480"/>
          </a:xfrm>
          <a:prstGeom prst="rect">
            <a:avLst/>
          </a:prstGeom>
          <a:solidFill>
            <a:srgbClr val="F2F2F2"/>
          </a:solidFill>
          <a:ln w="1270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8994712" y="1417320"/>
            <a:ext cx="2692908" cy="68580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104440" y="1481328"/>
            <a:ext cx="2473452" cy="292388"/>
          </a:xfrm>
          <a:prstGeom prst="rect">
            <a:avLst/>
          </a:prstGeom>
          <a:noFill/>
        </p:spPr>
        <p:txBody>
          <a:bodyPr wrap="square">
            <a:spAutoFit/>
          </a:bodyPr>
          <a:lstStyle/>
          <a:p>
            <a:pPr algn="l"/>
            <a:r>
              <a:rPr sz="1300" b="1">
                <a:solidFill>
                  <a:srgbClr val="FFFFFF"/>
                </a:solidFill>
              </a:rPr>
              <a:t>ASSUMPTIONS</a:t>
            </a:r>
          </a:p>
        </p:txBody>
      </p:sp>
      <p:sp>
        <p:nvSpPr>
          <p:cNvPr id="38" name="TextBox 37"/>
          <p:cNvSpPr txBox="1"/>
          <p:nvPr/>
        </p:nvSpPr>
        <p:spPr>
          <a:xfrm>
            <a:off x="9104440" y="1828800"/>
            <a:ext cx="2473452" cy="261610"/>
          </a:xfrm>
          <a:prstGeom prst="rect">
            <a:avLst/>
          </a:prstGeom>
          <a:noFill/>
        </p:spPr>
        <p:txBody>
          <a:bodyPr wrap="square">
            <a:spAutoFit/>
          </a:bodyPr>
          <a:lstStyle/>
          <a:p>
            <a:pPr algn="l"/>
            <a:r>
              <a:rPr sz="1100" i="1">
                <a:solidFill>
                  <a:srgbClr val="D0D0D0"/>
                </a:solidFill>
              </a:rPr>
              <a:t>What are we assuming?</a:t>
            </a:r>
          </a:p>
        </p:txBody>
      </p:sp>
      <p:sp>
        <p:nvSpPr>
          <p:cNvPr id="39" name="Rectangle 38"/>
          <p:cNvSpPr/>
          <p:nvPr/>
        </p:nvSpPr>
        <p:spPr>
          <a:xfrm>
            <a:off x="9104440" y="2286000"/>
            <a:ext cx="228600" cy="2286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406193" y="2286001"/>
            <a:ext cx="2171701" cy="246221"/>
          </a:xfrm>
          <a:prstGeom prst="rect">
            <a:avLst/>
          </a:prstGeom>
          <a:noFill/>
        </p:spPr>
        <p:txBody>
          <a:bodyPr wrap="square">
            <a:spAutoFit/>
          </a:bodyPr>
          <a:lstStyle/>
          <a:p>
            <a:pPr algn="l"/>
            <a:r>
              <a:rPr sz="1000" b="1">
                <a:solidFill>
                  <a:srgbClr val="CC0000"/>
                </a:solidFill>
              </a:rPr>
              <a:t>RED LIGHT</a:t>
            </a:r>
          </a:p>
        </p:txBody>
      </p:sp>
      <p:sp>
        <p:nvSpPr>
          <p:cNvPr id="41" name="TextBox 40"/>
          <p:cNvSpPr txBox="1"/>
          <p:nvPr/>
        </p:nvSpPr>
        <p:spPr>
          <a:xfrm>
            <a:off x="9104440" y="2606041"/>
            <a:ext cx="2473452" cy="430887"/>
          </a:xfrm>
          <a:prstGeom prst="rect">
            <a:avLst/>
          </a:prstGeom>
          <a:noFill/>
        </p:spPr>
        <p:txBody>
          <a:bodyPr wrap="square">
            <a:spAutoFit/>
          </a:bodyPr>
          <a:lstStyle/>
          <a:p>
            <a:pPr algn="l"/>
            <a:r>
              <a:rPr sz="1100">
                <a:solidFill>
                  <a:srgbClr val="555555"/>
                </a:solidFill>
              </a:rPr>
              <a:t>Model trusted
over reality</a:t>
            </a:r>
          </a:p>
        </p:txBody>
      </p:sp>
      <p:sp>
        <p:nvSpPr>
          <p:cNvPr id="42" name="Rectangle 41"/>
          <p:cNvSpPr/>
          <p:nvPr/>
        </p:nvSpPr>
        <p:spPr>
          <a:xfrm>
            <a:off x="9104440" y="3566160"/>
            <a:ext cx="228600" cy="228600"/>
          </a:xfrm>
          <a:prstGeom prst="rect">
            <a:avLst/>
          </a:prstGeom>
          <a:solidFill>
            <a:srgbClr val="2E7D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406193" y="3566161"/>
            <a:ext cx="2171701" cy="246221"/>
          </a:xfrm>
          <a:prstGeom prst="rect">
            <a:avLst/>
          </a:prstGeom>
          <a:noFill/>
        </p:spPr>
        <p:txBody>
          <a:bodyPr wrap="square">
            <a:spAutoFit/>
          </a:bodyPr>
          <a:lstStyle/>
          <a:p>
            <a:pPr algn="l"/>
            <a:r>
              <a:rPr sz="1000" b="1">
                <a:solidFill>
                  <a:srgbClr val="2E7D32"/>
                </a:solidFill>
              </a:rPr>
              <a:t>GREEN LIGHT</a:t>
            </a:r>
          </a:p>
        </p:txBody>
      </p:sp>
      <p:sp>
        <p:nvSpPr>
          <p:cNvPr id="44" name="TextBox 43"/>
          <p:cNvSpPr txBox="1"/>
          <p:nvPr/>
        </p:nvSpPr>
        <p:spPr>
          <a:xfrm>
            <a:off x="9104440" y="3886201"/>
            <a:ext cx="2473452" cy="430887"/>
          </a:xfrm>
          <a:prstGeom prst="rect">
            <a:avLst/>
          </a:prstGeom>
          <a:noFill/>
        </p:spPr>
        <p:txBody>
          <a:bodyPr wrap="square">
            <a:spAutoFit/>
          </a:bodyPr>
          <a:lstStyle/>
          <a:p>
            <a:pPr algn="l"/>
            <a:r>
              <a:rPr sz="1100">
                <a:solidFill>
                  <a:srgbClr val="555555"/>
                </a:solidFill>
              </a:rPr>
              <a:t>Reality tested,
assumptions exposed</a:t>
            </a:r>
          </a:p>
        </p:txBody>
      </p:sp>
      <p:sp>
        <p:nvSpPr>
          <p:cNvPr id="45" name="Rectangle 44"/>
          <p:cNvSpPr/>
          <p:nvPr/>
        </p:nvSpPr>
        <p:spPr>
          <a:xfrm>
            <a:off x="504508" y="5394960"/>
            <a:ext cx="11183112" cy="640080"/>
          </a:xfrm>
          <a:prstGeom prst="rect">
            <a:avLst/>
          </a:prstGeom>
          <a:solidFill>
            <a:srgbClr val="101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87388" y="5486401"/>
            <a:ext cx="10817352" cy="307777"/>
          </a:xfrm>
          <a:prstGeom prst="rect">
            <a:avLst/>
          </a:prstGeom>
          <a:noFill/>
        </p:spPr>
        <p:txBody>
          <a:bodyPr wrap="square">
            <a:spAutoFit/>
          </a:bodyPr>
          <a:lstStyle/>
          <a:p>
            <a:pPr algn="ctr"/>
            <a:r>
              <a:rPr sz="1400" b="1">
                <a:solidFill>
                  <a:srgbClr val="FFFFFF"/>
                </a:solidFill>
              </a:rPr>
              <a:t>START WITH YOUR LOWEST SCORE — that's your highest-leverage leadership action.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4508" y="228601"/>
            <a:ext cx="11183112" cy="615553"/>
          </a:xfrm>
          <a:prstGeom prst="rect">
            <a:avLst/>
          </a:prstGeom>
          <a:noFill/>
        </p:spPr>
        <p:txBody>
          <a:bodyPr wrap="square">
            <a:spAutoFit/>
          </a:bodyPr>
          <a:lstStyle/>
          <a:p>
            <a:pPr algn="l"/>
            <a:r>
              <a:rPr sz="3400" b="1">
                <a:solidFill>
                  <a:srgbClr val="101010"/>
                </a:solidFill>
              </a:rPr>
              <a:t>IF YOU SEE THIS, DO THIS</a:t>
            </a:r>
          </a:p>
        </p:txBody>
      </p:sp>
      <p:sp>
        <p:nvSpPr>
          <p:cNvPr id="4" name="TextBox 3"/>
          <p:cNvSpPr txBox="1"/>
          <p:nvPr/>
        </p:nvSpPr>
        <p:spPr>
          <a:xfrm>
            <a:off x="504508" y="868681"/>
            <a:ext cx="11183112" cy="323165"/>
          </a:xfrm>
          <a:prstGeom prst="rect">
            <a:avLst/>
          </a:prstGeom>
          <a:noFill/>
        </p:spPr>
        <p:txBody>
          <a:bodyPr wrap="square">
            <a:spAutoFit/>
          </a:bodyPr>
          <a:lstStyle/>
          <a:p>
            <a:pPr algn="l"/>
            <a:r>
              <a:rPr sz="1500" i="1">
                <a:solidFill>
                  <a:srgbClr val="555555"/>
                </a:solidFill>
              </a:rPr>
              <a:t>Concrete actions for each execution gap</a:t>
            </a:r>
          </a:p>
        </p:txBody>
      </p:sp>
      <p:sp>
        <p:nvSpPr>
          <p:cNvPr id="5" name="Rectangle 4"/>
          <p:cNvSpPr/>
          <p:nvPr/>
        </p:nvSpPr>
        <p:spPr>
          <a:xfrm>
            <a:off x="504508" y="1371600"/>
            <a:ext cx="11183112" cy="1097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4508" y="137160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1668" y="1463040"/>
            <a:ext cx="2560320" cy="292388"/>
          </a:xfrm>
          <a:prstGeom prst="rect">
            <a:avLst/>
          </a:prstGeom>
          <a:noFill/>
        </p:spPr>
        <p:txBody>
          <a:bodyPr wrap="square">
            <a:spAutoFit/>
          </a:bodyPr>
          <a:lstStyle/>
          <a:p>
            <a:pPr algn="l"/>
            <a:r>
              <a:rPr sz="1300" b="1">
                <a:solidFill>
                  <a:srgbClr val="101010"/>
                </a:solidFill>
              </a:rPr>
              <a:t>VISIBILITY GAP</a:t>
            </a:r>
          </a:p>
        </p:txBody>
      </p:sp>
      <p:sp>
        <p:nvSpPr>
          <p:cNvPr id="8" name="TextBox 7"/>
          <p:cNvSpPr txBox="1"/>
          <p:nvPr/>
        </p:nvSpPr>
        <p:spPr>
          <a:xfrm>
            <a:off x="641668" y="1874521"/>
            <a:ext cx="2560320" cy="430887"/>
          </a:xfrm>
          <a:prstGeom prst="rect">
            <a:avLst/>
          </a:prstGeom>
          <a:noFill/>
        </p:spPr>
        <p:txBody>
          <a:bodyPr wrap="square">
            <a:spAutoFit/>
          </a:bodyPr>
          <a:lstStyle/>
          <a:p>
            <a:pPr algn="l"/>
            <a:r>
              <a:rPr sz="1100" i="1">
                <a:solidFill>
                  <a:srgbClr val="555555"/>
                </a:solidFill>
              </a:rPr>
              <a:t>Fragmented inputs, hidden dependencies</a:t>
            </a:r>
          </a:p>
        </p:txBody>
      </p:sp>
      <p:sp>
        <p:nvSpPr>
          <p:cNvPr id="9" name="TextBox 8"/>
          <p:cNvSpPr txBox="1"/>
          <p:nvPr/>
        </p:nvSpPr>
        <p:spPr>
          <a:xfrm>
            <a:off x="3293428" y="1508761"/>
            <a:ext cx="8348472" cy="461665"/>
          </a:xfrm>
          <a:prstGeom prst="rect">
            <a:avLst/>
          </a:prstGeom>
          <a:noFill/>
        </p:spPr>
        <p:txBody>
          <a:bodyPr wrap="square">
            <a:spAutoFit/>
          </a:bodyPr>
          <a:lstStyle/>
          <a:p>
            <a:pPr algn="l"/>
            <a:r>
              <a:rPr sz="1200">
                <a:solidFill>
                  <a:srgbClr val="101010"/>
                </a:solidFill>
              </a:rPr>
              <a:t>• Map inputs end-to-end (who creates, changes, consumes)
• Assign ownership for each dependency — no invisible handoffs</a:t>
            </a:r>
          </a:p>
        </p:txBody>
      </p:sp>
      <p:sp>
        <p:nvSpPr>
          <p:cNvPr id="10" name="Rectangle 9"/>
          <p:cNvSpPr/>
          <p:nvPr/>
        </p:nvSpPr>
        <p:spPr>
          <a:xfrm>
            <a:off x="504508" y="2560320"/>
            <a:ext cx="11183112" cy="109728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04508" y="256032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1668" y="2651760"/>
            <a:ext cx="2560320" cy="292388"/>
          </a:xfrm>
          <a:prstGeom prst="rect">
            <a:avLst/>
          </a:prstGeom>
          <a:noFill/>
        </p:spPr>
        <p:txBody>
          <a:bodyPr wrap="square">
            <a:spAutoFit/>
          </a:bodyPr>
          <a:lstStyle/>
          <a:p>
            <a:pPr algn="l"/>
            <a:r>
              <a:rPr sz="1300" b="1">
                <a:solidFill>
                  <a:srgbClr val="101010"/>
                </a:solidFill>
              </a:rPr>
              <a:t>ADOPTION GAP</a:t>
            </a:r>
          </a:p>
        </p:txBody>
      </p:sp>
      <p:sp>
        <p:nvSpPr>
          <p:cNvPr id="13" name="TextBox 12"/>
          <p:cNvSpPr txBox="1"/>
          <p:nvPr/>
        </p:nvSpPr>
        <p:spPr>
          <a:xfrm>
            <a:off x="641668" y="3063240"/>
            <a:ext cx="2560320" cy="261610"/>
          </a:xfrm>
          <a:prstGeom prst="rect">
            <a:avLst/>
          </a:prstGeom>
          <a:noFill/>
        </p:spPr>
        <p:txBody>
          <a:bodyPr wrap="square">
            <a:spAutoFit/>
          </a:bodyPr>
          <a:lstStyle/>
          <a:p>
            <a:pPr algn="l"/>
            <a:r>
              <a:rPr sz="1100" i="1">
                <a:solidFill>
                  <a:srgbClr val="555555"/>
                </a:solidFill>
              </a:rPr>
              <a:t>Workarounds, parallel workflows</a:t>
            </a:r>
          </a:p>
        </p:txBody>
      </p:sp>
      <p:sp>
        <p:nvSpPr>
          <p:cNvPr id="14" name="TextBox 13"/>
          <p:cNvSpPr txBox="1"/>
          <p:nvPr/>
        </p:nvSpPr>
        <p:spPr>
          <a:xfrm>
            <a:off x="3293428" y="2697481"/>
            <a:ext cx="8348472" cy="461665"/>
          </a:xfrm>
          <a:prstGeom prst="rect">
            <a:avLst/>
          </a:prstGeom>
          <a:noFill/>
        </p:spPr>
        <p:txBody>
          <a:bodyPr wrap="square">
            <a:spAutoFit/>
          </a:bodyPr>
          <a:lstStyle/>
          <a:p>
            <a:pPr algn="l"/>
            <a:r>
              <a:rPr sz="1200">
                <a:solidFill>
                  <a:srgbClr val="101010"/>
                </a:solidFill>
              </a:rPr>
              <a:t>• Standardize one way of working (remove optional paths)
• Make AI outputs explainable — users understand why, not just what</a:t>
            </a:r>
          </a:p>
        </p:txBody>
      </p:sp>
      <p:sp>
        <p:nvSpPr>
          <p:cNvPr id="15" name="Rectangle 14"/>
          <p:cNvSpPr/>
          <p:nvPr/>
        </p:nvSpPr>
        <p:spPr>
          <a:xfrm>
            <a:off x="504508" y="3749040"/>
            <a:ext cx="11183112" cy="1097280"/>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04508" y="374904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1668" y="3840480"/>
            <a:ext cx="2560320" cy="292388"/>
          </a:xfrm>
          <a:prstGeom prst="rect">
            <a:avLst/>
          </a:prstGeom>
          <a:noFill/>
        </p:spPr>
        <p:txBody>
          <a:bodyPr wrap="square">
            <a:spAutoFit/>
          </a:bodyPr>
          <a:lstStyle/>
          <a:p>
            <a:pPr algn="l"/>
            <a:r>
              <a:rPr sz="1300" b="1">
                <a:solidFill>
                  <a:srgbClr val="101010"/>
                </a:solidFill>
              </a:rPr>
              <a:t>ACCOUNTABILITY GAP</a:t>
            </a:r>
          </a:p>
        </p:txBody>
      </p:sp>
      <p:sp>
        <p:nvSpPr>
          <p:cNvPr id="18" name="TextBox 17"/>
          <p:cNvSpPr txBox="1"/>
          <p:nvPr/>
        </p:nvSpPr>
        <p:spPr>
          <a:xfrm>
            <a:off x="641668" y="4251960"/>
            <a:ext cx="2560320" cy="261610"/>
          </a:xfrm>
          <a:prstGeom prst="rect">
            <a:avLst/>
          </a:prstGeom>
          <a:noFill/>
        </p:spPr>
        <p:txBody>
          <a:bodyPr wrap="square">
            <a:spAutoFit/>
          </a:bodyPr>
          <a:lstStyle/>
          <a:p>
            <a:pPr algn="l"/>
            <a:r>
              <a:rPr sz="1100" i="1">
                <a:solidFill>
                  <a:srgbClr val="555555"/>
                </a:solidFill>
              </a:rPr>
              <a:t>Different data, different stories</a:t>
            </a:r>
          </a:p>
        </p:txBody>
      </p:sp>
      <p:sp>
        <p:nvSpPr>
          <p:cNvPr id="19" name="TextBox 18"/>
          <p:cNvSpPr txBox="1"/>
          <p:nvPr/>
        </p:nvSpPr>
        <p:spPr>
          <a:xfrm>
            <a:off x="3293428" y="3886201"/>
            <a:ext cx="8348472" cy="461665"/>
          </a:xfrm>
          <a:prstGeom prst="rect">
            <a:avLst/>
          </a:prstGeom>
          <a:noFill/>
        </p:spPr>
        <p:txBody>
          <a:bodyPr wrap="square">
            <a:spAutoFit/>
          </a:bodyPr>
          <a:lstStyle/>
          <a:p>
            <a:pPr algn="l"/>
            <a:r>
              <a:rPr sz="1200">
                <a:solidFill>
                  <a:srgbClr val="101010"/>
                </a:solidFill>
              </a:rPr>
              <a:t>• Define one shared metric of success (visible to all stakeholders)
• Review results in one forum — same data, same conversation</a:t>
            </a:r>
          </a:p>
        </p:txBody>
      </p:sp>
      <p:sp>
        <p:nvSpPr>
          <p:cNvPr id="20" name="Rectangle 19"/>
          <p:cNvSpPr/>
          <p:nvPr/>
        </p:nvSpPr>
        <p:spPr>
          <a:xfrm>
            <a:off x="504508" y="4937760"/>
            <a:ext cx="11183112" cy="1097280"/>
          </a:xfrm>
          <a:prstGeom prst="rect">
            <a:avLst/>
          </a:prstGeom>
          <a:solidFill>
            <a:srgbClr val="FAFA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4508" y="4937760"/>
            <a:ext cx="54864"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1668" y="5029200"/>
            <a:ext cx="2560320" cy="292388"/>
          </a:xfrm>
          <a:prstGeom prst="rect">
            <a:avLst/>
          </a:prstGeom>
          <a:noFill/>
        </p:spPr>
        <p:txBody>
          <a:bodyPr wrap="square">
            <a:spAutoFit/>
          </a:bodyPr>
          <a:lstStyle/>
          <a:p>
            <a:pPr algn="l"/>
            <a:r>
              <a:rPr sz="1300" b="1">
                <a:solidFill>
                  <a:srgbClr val="101010"/>
                </a:solidFill>
              </a:rPr>
              <a:t>ASSUMPTION GAP</a:t>
            </a:r>
          </a:p>
        </p:txBody>
      </p:sp>
      <p:sp>
        <p:nvSpPr>
          <p:cNvPr id="23" name="TextBox 22"/>
          <p:cNvSpPr txBox="1"/>
          <p:nvPr/>
        </p:nvSpPr>
        <p:spPr>
          <a:xfrm>
            <a:off x="641668" y="5440680"/>
            <a:ext cx="2560320" cy="261610"/>
          </a:xfrm>
          <a:prstGeom prst="rect">
            <a:avLst/>
          </a:prstGeom>
          <a:noFill/>
        </p:spPr>
        <p:txBody>
          <a:bodyPr wrap="square">
            <a:spAutoFit/>
          </a:bodyPr>
          <a:lstStyle/>
          <a:p>
            <a:pPr algn="l"/>
            <a:r>
              <a:rPr sz="1100" i="1">
                <a:solidFill>
                  <a:srgbClr val="555555"/>
                </a:solidFill>
              </a:rPr>
              <a:t>Model trusted over reality</a:t>
            </a:r>
          </a:p>
        </p:txBody>
      </p:sp>
      <p:sp>
        <p:nvSpPr>
          <p:cNvPr id="24" name="TextBox 23"/>
          <p:cNvSpPr txBox="1"/>
          <p:nvPr/>
        </p:nvSpPr>
        <p:spPr>
          <a:xfrm>
            <a:off x="3293428" y="5074921"/>
            <a:ext cx="8348472" cy="461665"/>
          </a:xfrm>
          <a:prstGeom prst="rect">
            <a:avLst/>
          </a:prstGeom>
          <a:noFill/>
        </p:spPr>
        <p:txBody>
          <a:bodyPr wrap="square">
            <a:spAutoFit/>
          </a:bodyPr>
          <a:lstStyle/>
          <a:p>
            <a:pPr algn="l"/>
            <a:r>
              <a:rPr sz="1200">
                <a:solidFill>
                  <a:srgbClr val="101010"/>
                </a:solidFill>
              </a:rPr>
              <a:t>• Test outputs in real conditions, not just system data
• Create weekly feedback loop from frontline users — not ad hoc</a:t>
            </a:r>
          </a:p>
        </p:txBody>
      </p:sp>
      <p:sp>
        <p:nvSpPr>
          <p:cNvPr id="25" name="Rectangle 24"/>
          <p:cNvSpPr/>
          <p:nvPr/>
        </p:nvSpPr>
        <p:spPr>
          <a:xfrm>
            <a:off x="504508" y="6309360"/>
            <a:ext cx="11183112" cy="36576"/>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04508" y="6355080"/>
            <a:ext cx="11183112" cy="292388"/>
          </a:xfrm>
          <a:prstGeom prst="rect">
            <a:avLst/>
          </a:prstGeom>
          <a:noFill/>
        </p:spPr>
        <p:txBody>
          <a:bodyPr wrap="square">
            <a:spAutoFit/>
          </a:bodyPr>
          <a:lstStyle/>
          <a:p>
            <a:pPr algn="ctr"/>
            <a:r>
              <a:rPr sz="1300" b="1" i="1">
                <a:solidFill>
                  <a:srgbClr val="CC0000"/>
                </a:solidFill>
              </a:rPr>
              <a:t>AI succeeds where these conversations happen. It fails where they don't.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9144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504508" y="457200"/>
            <a:ext cx="2743200" cy="50292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14236" y="521208"/>
            <a:ext cx="2560320" cy="276999"/>
          </a:xfrm>
          <a:prstGeom prst="rect">
            <a:avLst/>
          </a:prstGeom>
          <a:noFill/>
        </p:spPr>
        <p:txBody>
          <a:bodyPr wrap="square">
            <a:spAutoFit/>
          </a:bodyPr>
          <a:lstStyle/>
          <a:p>
            <a:pPr algn="l"/>
            <a:r>
              <a:rPr sz="1200" b="1">
                <a:solidFill>
                  <a:srgbClr val="FFFFFF"/>
                </a:solidFill>
              </a:rPr>
              <a:t>OPERATOR PERSPECTIVE</a:t>
            </a:r>
          </a:p>
        </p:txBody>
      </p:sp>
      <p:sp>
        <p:nvSpPr>
          <p:cNvPr id="5" name="TextBox 4"/>
          <p:cNvSpPr txBox="1"/>
          <p:nvPr/>
        </p:nvSpPr>
        <p:spPr>
          <a:xfrm>
            <a:off x="504508" y="1188720"/>
            <a:ext cx="5029200" cy="1446550"/>
          </a:xfrm>
          <a:prstGeom prst="rect">
            <a:avLst/>
          </a:prstGeom>
          <a:noFill/>
        </p:spPr>
        <p:txBody>
          <a:bodyPr wrap="square">
            <a:spAutoFit/>
          </a:bodyPr>
          <a:lstStyle/>
          <a:p>
            <a:pPr algn="l"/>
            <a:r>
              <a:rPr sz="4400" b="1">
                <a:solidFill>
                  <a:srgbClr val="FFFFFF"/>
                </a:solidFill>
              </a:rPr>
              <a:t>WHERE IS YOUR
AI BREAKING?</a:t>
            </a:r>
          </a:p>
        </p:txBody>
      </p:sp>
      <p:sp>
        <p:nvSpPr>
          <p:cNvPr id="6" name="TextBox 5"/>
          <p:cNvSpPr txBox="1"/>
          <p:nvPr/>
        </p:nvSpPr>
        <p:spPr>
          <a:xfrm>
            <a:off x="504508" y="3200401"/>
            <a:ext cx="5029200" cy="430887"/>
          </a:xfrm>
          <a:prstGeom prst="rect">
            <a:avLst/>
          </a:prstGeom>
          <a:noFill/>
        </p:spPr>
        <p:txBody>
          <a:bodyPr wrap="square">
            <a:spAutoFit/>
          </a:bodyPr>
          <a:lstStyle/>
          <a:p>
            <a:pPr algn="l"/>
            <a:r>
              <a:rPr sz="2200" i="1">
                <a:solidFill>
                  <a:srgbClr val="CC0000"/>
                </a:solidFill>
              </a:rPr>
              <a:t>That's your leadership opportunity.</a:t>
            </a:r>
          </a:p>
        </p:txBody>
      </p:sp>
      <p:sp>
        <p:nvSpPr>
          <p:cNvPr id="7" name="Rectangle 6"/>
          <p:cNvSpPr/>
          <p:nvPr/>
        </p:nvSpPr>
        <p:spPr>
          <a:xfrm>
            <a:off x="6402388" y="457200"/>
            <a:ext cx="5303520" cy="5120640"/>
          </a:xfrm>
          <a:prstGeom prst="rect">
            <a:avLst/>
          </a:prstGeom>
          <a:solidFill>
            <a:srgbClr val="1A1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5268" y="685801"/>
            <a:ext cx="4937760" cy="2062103"/>
          </a:xfrm>
          <a:prstGeom prst="rect">
            <a:avLst/>
          </a:prstGeom>
          <a:noFill/>
        </p:spPr>
        <p:txBody>
          <a:bodyPr wrap="square">
            <a:spAutoFit/>
          </a:bodyPr>
          <a:lstStyle/>
          <a:p>
            <a:pPr algn="l"/>
            <a:r>
              <a:rPr sz="1600" b="1">
                <a:solidFill>
                  <a:srgbClr val="FFFFFF"/>
                </a:solidFill>
              </a:rPr>
              <a:t>Diagnose against the four dimensions:</a:t>
            </a:r>
          </a:p>
          <a:p>
            <a:pPr algn="l"/>
            <a:endParaRPr sz="1600" b="1">
              <a:solidFill>
                <a:srgbClr val="FFFFFF"/>
              </a:solidFill>
            </a:endParaRPr>
          </a:p>
          <a:p>
            <a:pPr algn="l"/>
            <a:r>
              <a:rPr sz="1600">
                <a:solidFill>
                  <a:srgbClr val="FFFFFF"/>
                </a:solidFill>
              </a:rPr>
              <a:t>•  Visibility — what are we not seeing?</a:t>
            </a:r>
          </a:p>
          <a:p>
            <a:pPr algn="l"/>
            <a:r>
              <a:rPr sz="1600">
                <a:solidFill>
                  <a:srgbClr val="FFFFFF"/>
                </a:solidFill>
              </a:rPr>
              <a:t>•  Adoption — are people actually using it?</a:t>
            </a:r>
          </a:p>
          <a:p>
            <a:pPr algn="l"/>
            <a:r>
              <a:rPr sz="1600">
                <a:solidFill>
                  <a:srgbClr val="FFFFFF"/>
                </a:solidFill>
              </a:rPr>
              <a:t>•  Accountability — does one shared story exist?</a:t>
            </a:r>
          </a:p>
          <a:p>
            <a:pPr algn="l"/>
            <a:r>
              <a:rPr sz="1600">
                <a:solidFill>
                  <a:srgbClr val="FFFFFF"/>
                </a:solidFill>
              </a:rPr>
              <a:t>•  Assumptions — is the model grounded in reality?</a:t>
            </a:r>
          </a:p>
          <a:p>
            <a:pPr algn="l"/>
            <a:endParaRPr sz="1600">
              <a:solidFill>
                <a:srgbClr val="FFFFFF"/>
              </a:solidFill>
            </a:endParaRPr>
          </a:p>
          <a:p>
            <a:pPr algn="l"/>
            <a:r>
              <a:rPr sz="1600" b="1">
                <a:solidFill>
                  <a:srgbClr val="CC0000"/>
                </a:solidFill>
              </a:rPr>
              <a:t>Use this diagnostic to see it faster and fix it.</a:t>
            </a:r>
          </a:p>
        </p:txBody>
      </p:sp>
      <p:sp>
        <p:nvSpPr>
          <p:cNvPr id="9" name="Rectangle 8"/>
          <p:cNvSpPr/>
          <p:nvPr/>
        </p:nvSpPr>
        <p:spPr>
          <a:xfrm>
            <a:off x="1588" y="5760720"/>
            <a:ext cx="12188952" cy="109728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4508" y="5852161"/>
            <a:ext cx="11183112" cy="584775"/>
          </a:xfrm>
          <a:prstGeom prst="rect">
            <a:avLst/>
          </a:prstGeom>
          <a:noFill/>
        </p:spPr>
        <p:txBody>
          <a:bodyPr wrap="square">
            <a:spAutoFit/>
          </a:bodyPr>
          <a:lstStyle/>
          <a:p>
            <a:pPr algn="ctr"/>
            <a:r>
              <a:rPr sz="1600" b="1">
                <a:solidFill>
                  <a:srgbClr val="FFFFFF"/>
                </a:solidFill>
              </a:rPr>
              <a:t>AI promises unprecedented intelligence.
Your organization's agile people will turn that intelligence into results.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Debt Grows Quarterly — Every Delay Compounds the Cost</a:t>
            </a:r>
          </a:p>
        </p:txBody>
      </p:sp>
      <p:sp>
        <p:nvSpPr>
          <p:cNvPr id="3" name="Rectangle 2"/>
          <p:cNvSpPr/>
          <p:nvPr/>
        </p:nvSpPr>
        <p:spPr>
          <a:xfrm>
            <a:off x="548640" y="1371600"/>
            <a:ext cx="2560320" cy="32004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1</a:t>
            </a:r>
          </a:p>
        </p:txBody>
      </p:sp>
      <p:sp>
        <p:nvSpPr>
          <p:cNvPr id="5" name="TextBox 4"/>
          <p:cNvSpPr txBox="1"/>
          <p:nvPr/>
        </p:nvSpPr>
        <p:spPr>
          <a:xfrm>
            <a:off x="73152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Skepticism</a:t>
            </a:r>
          </a:p>
        </p:txBody>
      </p:sp>
      <p:sp>
        <p:nvSpPr>
          <p:cNvPr id="6" name="TextBox 5"/>
          <p:cNvSpPr txBox="1"/>
          <p:nvPr/>
        </p:nvSpPr>
        <p:spPr>
          <a:xfrm>
            <a:off x="73152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“Let’s wait and see”</a:t>
            </a:r>
          </a:p>
        </p:txBody>
      </p:sp>
      <p:sp>
        <p:nvSpPr>
          <p:cNvPr id="7" name="TextBox 6"/>
          <p:cNvSpPr txBox="1"/>
          <p:nvPr/>
        </p:nvSpPr>
        <p:spPr>
          <a:xfrm>
            <a:off x="73152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Low cost to address</a:t>
            </a:r>
          </a:p>
        </p:txBody>
      </p:sp>
      <p:sp>
        <p:nvSpPr>
          <p:cNvPr id="8" name="Rectangle 7"/>
          <p:cNvSpPr/>
          <p:nvPr/>
        </p:nvSpPr>
        <p:spPr>
          <a:xfrm>
            <a:off x="3383280" y="1371600"/>
            <a:ext cx="2560320" cy="320040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2</a:t>
            </a:r>
          </a:p>
        </p:txBody>
      </p:sp>
      <p:sp>
        <p:nvSpPr>
          <p:cNvPr id="10" name="TextBox 9"/>
          <p:cNvSpPr txBox="1"/>
          <p:nvPr/>
        </p:nvSpPr>
        <p:spPr>
          <a:xfrm>
            <a:off x="356616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Resistance</a:t>
            </a:r>
          </a:p>
        </p:txBody>
      </p:sp>
      <p:sp>
        <p:nvSpPr>
          <p:cNvPr id="11" name="TextBox 10"/>
          <p:cNvSpPr txBox="1"/>
          <p:nvPr/>
        </p:nvSpPr>
        <p:spPr>
          <a:xfrm>
            <a:off x="356616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“This didn’t work last time”</a:t>
            </a:r>
          </a:p>
        </p:txBody>
      </p:sp>
      <p:sp>
        <p:nvSpPr>
          <p:cNvPr id="12" name="TextBox 11"/>
          <p:cNvSpPr txBox="1"/>
          <p:nvPr/>
        </p:nvSpPr>
        <p:spPr>
          <a:xfrm>
            <a:off x="356616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Moderate cost</a:t>
            </a:r>
          </a:p>
        </p:txBody>
      </p:sp>
      <p:sp>
        <p:nvSpPr>
          <p:cNvPr id="13" name="Rectangle 12"/>
          <p:cNvSpPr/>
          <p:nvPr/>
        </p:nvSpPr>
        <p:spPr>
          <a:xfrm>
            <a:off x="6217920" y="1371600"/>
            <a:ext cx="2560320" cy="3200400"/>
          </a:xfrm>
          <a:prstGeom prst="rect">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4</a:t>
            </a:r>
          </a:p>
        </p:txBody>
      </p:sp>
      <p:sp>
        <p:nvSpPr>
          <p:cNvPr id="15" name="TextBox 14"/>
          <p:cNvSpPr txBox="1"/>
          <p:nvPr/>
        </p:nvSpPr>
        <p:spPr>
          <a:xfrm>
            <a:off x="640080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Antibodies</a:t>
            </a:r>
          </a:p>
        </p:txBody>
      </p:sp>
      <p:sp>
        <p:nvSpPr>
          <p:cNvPr id="16" name="TextBox 15"/>
          <p:cNvSpPr txBox="1"/>
          <p:nvPr/>
        </p:nvSpPr>
        <p:spPr>
          <a:xfrm>
            <a:off x="640080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“AI isn’t for us”</a:t>
            </a:r>
          </a:p>
        </p:txBody>
      </p:sp>
      <p:sp>
        <p:nvSpPr>
          <p:cNvPr id="17" name="TextBox 16"/>
          <p:cNvSpPr txBox="1"/>
          <p:nvPr/>
        </p:nvSpPr>
        <p:spPr>
          <a:xfrm>
            <a:off x="6400800" y="3291840"/>
            <a:ext cx="2194560" cy="430887"/>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High cost — requires visible reset</a:t>
            </a:r>
          </a:p>
        </p:txBody>
      </p:sp>
      <p:sp>
        <p:nvSpPr>
          <p:cNvPr id="18" name="Rectangle 17"/>
          <p:cNvSpPr/>
          <p:nvPr/>
        </p:nvSpPr>
        <p:spPr>
          <a:xfrm>
            <a:off x="9052560" y="1371600"/>
            <a:ext cx="2560320" cy="3200400"/>
          </a:xfrm>
          <a:prstGeom prst="rect">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Year 2</a:t>
            </a:r>
          </a:p>
        </p:txBody>
      </p:sp>
      <p:sp>
        <p:nvSpPr>
          <p:cNvPr id="20" name="TextBox 19"/>
          <p:cNvSpPr txBox="1"/>
          <p:nvPr/>
        </p:nvSpPr>
        <p:spPr>
          <a:xfrm>
            <a:off x="9235440" y="1920240"/>
            <a:ext cx="2194560" cy="769441"/>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Structural Lock-in</a:t>
            </a:r>
          </a:p>
        </p:txBody>
      </p:sp>
      <p:sp>
        <p:nvSpPr>
          <p:cNvPr id="21" name="TextBox 20"/>
          <p:cNvSpPr txBox="1"/>
          <p:nvPr/>
        </p:nvSpPr>
        <p:spPr>
          <a:xfrm>
            <a:off x="9235440" y="2560320"/>
            <a:ext cx="2194560" cy="457200"/>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The best people stopped engaging</a:t>
            </a:r>
          </a:p>
        </p:txBody>
      </p:sp>
      <p:sp>
        <p:nvSpPr>
          <p:cNvPr id="22" name="TextBox 21"/>
          <p:cNvSpPr txBox="1"/>
          <p:nvPr/>
        </p:nvSpPr>
        <p:spPr>
          <a:xfrm>
            <a:off x="923544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Requires org redesign</a:t>
            </a:r>
          </a:p>
        </p:txBody>
      </p:sp>
      <p:sp>
        <p:nvSpPr>
          <p:cNvPr id="23" name="TextBox 22"/>
          <p:cNvSpPr txBox="1"/>
          <p:nvPr/>
        </p:nvSpPr>
        <p:spPr>
          <a:xfrm>
            <a:off x="310896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4" name="TextBox 23"/>
          <p:cNvSpPr txBox="1"/>
          <p:nvPr/>
        </p:nvSpPr>
        <p:spPr>
          <a:xfrm>
            <a:off x="594360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5" name="TextBox 24"/>
          <p:cNvSpPr txBox="1"/>
          <p:nvPr/>
        </p:nvSpPr>
        <p:spPr>
          <a:xfrm>
            <a:off x="877824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6" name="Rectangle 25"/>
          <p:cNvSpPr/>
          <p:nvPr/>
        </p:nvSpPr>
        <p:spPr>
          <a:xfrm>
            <a:off x="548640" y="4937760"/>
            <a:ext cx="10972800" cy="9144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029200"/>
            <a:ext cx="10058400" cy="320040"/>
          </a:xfrm>
          <a:prstGeom prst="rect">
            <a:avLst/>
          </a:prstGeom>
          <a:noFill/>
        </p:spPr>
        <p:txBody>
          <a:bodyPr wrap="square">
            <a:spAutoFit/>
          </a:bodyPr>
          <a:lstStyle/>
          <a:p>
            <a:pPr algn="l">
              <a:defRPr sz="1400" b="0" i="0">
                <a:solidFill>
                  <a:srgbClr val="9999CC"/>
                </a:solidFill>
                <a:latin typeface="Helvetica Neue"/>
              </a:defRPr>
            </a:pPr>
            <a:r>
              <a:rPr dirty="0">
                <a:latin typeface="Wallace Sans Light" pitchFamily="2" charset="0"/>
              </a:rPr>
              <a:t>The math is simple:</a:t>
            </a:r>
          </a:p>
        </p:txBody>
      </p:sp>
      <p:sp>
        <p:nvSpPr>
          <p:cNvPr id="28" name="TextBox 27"/>
          <p:cNvSpPr txBox="1"/>
          <p:nvPr/>
        </p:nvSpPr>
        <p:spPr>
          <a:xfrm>
            <a:off x="914400" y="539496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Addressing cultural debt in Q1 costs a leadership conversation. Addressing it in Year 2 costs a transformation program.</a:t>
            </a:r>
          </a:p>
        </p:txBody>
      </p:sp>
      <p:sp>
        <p:nvSpPr>
          <p:cNvPr id="29" name="TextBox 2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0" name="TextBox 2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9</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Three Actions to Start Paying Down Cultural Debt Today</a:t>
            </a:r>
          </a:p>
        </p:txBody>
      </p:sp>
      <p:sp>
        <p:nvSpPr>
          <p:cNvPr id="3" name="Rectangle 2"/>
          <p:cNvSpPr/>
          <p:nvPr/>
        </p:nvSpPr>
        <p:spPr>
          <a:xfrm>
            <a:off x="548640" y="109728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14300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1. Audit the Cultural Balance Sheet</a:t>
            </a:r>
          </a:p>
        </p:txBody>
      </p:sp>
      <p:sp>
        <p:nvSpPr>
          <p:cNvPr id="5" name="TextBox 4"/>
          <p:cNvSpPr txBox="1"/>
          <p:nvPr/>
        </p:nvSpPr>
        <p:spPr>
          <a:xfrm>
            <a:off x="914400" y="146304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Run a cultural readiness assessment before the next AI investment. Name the debt.</a:t>
            </a:r>
          </a:p>
        </p:txBody>
      </p:sp>
      <p:sp>
        <p:nvSpPr>
          <p:cNvPr id="6" name="TextBox 5"/>
          <p:cNvSpPr txBox="1"/>
          <p:nvPr/>
        </p:nvSpPr>
        <p:spPr>
          <a:xfrm>
            <a:off x="914400" y="178308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Survey team sentiment on AI. Map the last 3 failed initiatives. Identify failure patterns.</a:t>
            </a:r>
          </a:p>
        </p:txBody>
      </p:sp>
      <p:sp>
        <p:nvSpPr>
          <p:cNvPr id="7" name="TextBox 6"/>
          <p:cNvSpPr txBox="1"/>
          <p:nvPr/>
        </p:nvSpPr>
        <p:spPr>
          <a:xfrm>
            <a:off x="914400" y="210312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Executive Sponsor + HR  |  Within 30 days</a:t>
            </a:r>
          </a:p>
        </p:txBody>
      </p:sp>
      <p:sp>
        <p:nvSpPr>
          <p:cNvPr id="8" name="Rectangle 7"/>
          <p:cNvSpPr/>
          <p:nvPr/>
        </p:nvSpPr>
        <p:spPr>
          <a:xfrm>
            <a:off x="548640" y="2606040"/>
            <a:ext cx="10972800" cy="132588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5176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2. Realign the Scorecard</a:t>
            </a:r>
          </a:p>
        </p:txBody>
      </p:sp>
      <p:sp>
        <p:nvSpPr>
          <p:cNvPr id="10" name="TextBox 9"/>
          <p:cNvSpPr txBox="1"/>
          <p:nvPr/>
        </p:nvSpPr>
        <p:spPr>
          <a:xfrm>
            <a:off x="914400" y="297180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Change how you measure AI success from “deployed” to “adopted and delivering value.”</a:t>
            </a:r>
          </a:p>
        </p:txBody>
      </p:sp>
      <p:sp>
        <p:nvSpPr>
          <p:cNvPr id="11" name="TextBox 10"/>
          <p:cNvSpPr txBox="1"/>
          <p:nvPr/>
        </p:nvSpPr>
        <p:spPr>
          <a:xfrm>
            <a:off x="914400" y="329184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Rewrite KPIs for the current AI portfolio. Add adoption metrics. Remove vanity metrics.</a:t>
            </a:r>
          </a:p>
        </p:txBody>
      </p:sp>
      <p:sp>
        <p:nvSpPr>
          <p:cNvPr id="12" name="TextBox 11"/>
          <p:cNvSpPr txBox="1"/>
          <p:nvPr/>
        </p:nvSpPr>
        <p:spPr>
          <a:xfrm>
            <a:off x="914400" y="361188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Business Unit Leads  |  Within 30 days</a:t>
            </a:r>
          </a:p>
        </p:txBody>
      </p:sp>
      <p:sp>
        <p:nvSpPr>
          <p:cNvPr id="13" name="Rectangle 12"/>
          <p:cNvSpPr/>
          <p:nvPr/>
        </p:nvSpPr>
        <p:spPr>
          <a:xfrm>
            <a:off x="548640" y="411480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6052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3. Make Leadership Visible</a:t>
            </a:r>
          </a:p>
        </p:txBody>
      </p:sp>
      <p:sp>
        <p:nvSpPr>
          <p:cNvPr id="15" name="TextBox 14"/>
          <p:cNvSpPr txBox="1"/>
          <p:nvPr/>
        </p:nvSpPr>
        <p:spPr>
          <a:xfrm>
            <a:off x="914400" y="448056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Executives use the tools, share what they learned, and admit what didn’t work.</a:t>
            </a:r>
          </a:p>
        </p:txBody>
      </p:sp>
      <p:sp>
        <p:nvSpPr>
          <p:cNvPr id="16" name="TextBox 15"/>
          <p:cNvSpPr txBox="1"/>
          <p:nvPr/>
        </p:nvSpPr>
        <p:spPr>
          <a:xfrm>
            <a:off x="914400" y="480060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One executive shares an AI experiment (success or failure) at the next all-hands. Publicly.</a:t>
            </a:r>
          </a:p>
        </p:txBody>
      </p:sp>
      <p:sp>
        <p:nvSpPr>
          <p:cNvPr id="17" name="TextBox 16"/>
          <p:cNvSpPr txBox="1"/>
          <p:nvPr/>
        </p:nvSpPr>
        <p:spPr>
          <a:xfrm>
            <a:off x="914400" y="512064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C-Suite  |  Next all-hands</a:t>
            </a:r>
          </a:p>
        </p:txBody>
      </p:sp>
      <p:sp>
        <p:nvSpPr>
          <p:cNvPr id="18" name="Rectangle 17"/>
          <p:cNvSpPr/>
          <p:nvPr/>
        </p:nvSpPr>
        <p:spPr>
          <a:xfrm>
            <a:off x="548640" y="5669280"/>
            <a:ext cx="10972800" cy="5029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15000"/>
            <a:ext cx="10058400" cy="292388"/>
          </a:xfrm>
          <a:prstGeom prst="rect">
            <a:avLst/>
          </a:prstGeom>
          <a:noFill/>
        </p:spPr>
        <p:txBody>
          <a:bodyPr wrap="square">
            <a:spAutoFit/>
          </a:bodyPr>
          <a:lstStyle/>
          <a:p>
            <a:pPr algn="l">
              <a:defRPr sz="1300" b="1" i="1">
                <a:solidFill>
                  <a:srgbClr val="FFFFFF"/>
                </a:solidFill>
                <a:latin typeface="Helvetica Neue"/>
              </a:defRPr>
            </a:pPr>
            <a:r>
              <a:rPr dirty="0">
                <a:latin typeface="Wallace Sans Light" pitchFamily="2" charset="0"/>
              </a:rPr>
              <a:t>The question is not whether you’ve invested in AI. The question is whether you’ve invested in the human system required to make it work.</a:t>
            </a:r>
          </a:p>
        </p:txBody>
      </p:sp>
      <p:sp>
        <p:nvSpPr>
          <p:cNvPr id="20" name="TextBox 1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1" name="TextBox 2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Next Steps</a:t>
            </a:r>
          </a:p>
        </p:txBody>
      </p:sp>
      <p:graphicFrame>
        <p:nvGraphicFramePr>
          <p:cNvPr id="3" name="Table 2"/>
          <p:cNvGraphicFramePr>
            <a:graphicFrameLocks noGrp="1"/>
          </p:cNvGraphicFramePr>
          <p:nvPr/>
        </p:nvGraphicFramePr>
        <p:xfrm>
          <a:off x="548640" y="1097280"/>
          <a:ext cx="10972800" cy="320040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3400">
                <a:tc>
                  <a:txBody>
                    <a:bodyPr/>
                    <a:lstStyle/>
                    <a:p>
                      <a:pPr>
                        <a:spcAft>
                          <a:spcPts val="200"/>
                        </a:spcAft>
                        <a:defRPr sz="1200" b="1">
                          <a:solidFill>
                            <a:srgbClr val="000050"/>
                          </a:solidFill>
                          <a:latin typeface="Helvetica Neue"/>
                        </a:defRPr>
                      </a:pPr>
                      <a:r>
                        <a:rPr b="0" i="0" dirty="0">
                          <a:latin typeface="Wallace Sans Light" pitchFamily="2" charset="0"/>
                        </a:rPr>
                        <a:t>Action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Owner</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By When</a:t>
                      </a:r>
                    </a:p>
                  </a:txBody>
                  <a:tcPr>
                    <a:solidFill>
                      <a:srgbClr val="DDDDF8"/>
                    </a:solidFill>
                  </a:tcPr>
                </a:tc>
                <a:extLst>
                  <a:ext uri="{0D108BD9-81ED-4DB2-BD59-A6C34878D82A}">
                    <a16:rowId xmlns:a16="http://schemas.microsoft.com/office/drawing/2014/main" val="10000"/>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Circulate this deck and the cultural debt framework</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This week</a:t>
                      </a:r>
                    </a:p>
                  </a:txBody>
                  <a:tcPr>
                    <a:noFill/>
                  </a:tcPr>
                </a:tc>
                <a:extLst>
                  <a:ext uri="{0D108BD9-81ED-4DB2-BD59-A6C34878D82A}">
                    <a16:rowId xmlns:a16="http://schemas.microsoft.com/office/drawing/2014/main" val="10001"/>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Run cultural readiness assessment on current AI portfolio</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[Executive Sponsor] + HR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2"/>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Audit AI program KPIs — flag any measuring deployment without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Business Unit Leads</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3"/>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Schedule leadership AI “show and tell”</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[C-Suite Champion]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Next all-hands</a:t>
                      </a:r>
                    </a:p>
                  </a:txBody>
                  <a:tcPr>
                    <a:noFill/>
                  </a:tcPr>
                </a:tc>
                <a:extLst>
                  <a:ext uri="{0D108BD9-81ED-4DB2-BD59-A6C34878D82A}">
                    <a16:rowId xmlns:a16="http://schemas.microsoft.com/office/drawing/2014/main" val="10004"/>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Reconvene to review findings and agree on debt paydown plan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 + Steering Committee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45 days</a:t>
                      </a:r>
                    </a:p>
                  </a:txBody>
                  <a:tcPr>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5" name="TextBox 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What We'll Explore Today</a:t>
            </a:r>
          </a:p>
        </p:txBody>
      </p:sp>
      <p:sp>
        <p:nvSpPr>
          <p:cNvPr id="3" name="TextBox 2"/>
          <p:cNvSpPr txBox="1"/>
          <p:nvPr/>
        </p:nvSpPr>
        <p:spPr>
          <a:xfrm>
            <a:off x="1097280" y="12801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01</a:t>
            </a:r>
          </a:p>
        </p:txBody>
      </p:sp>
      <p:sp>
        <p:nvSpPr>
          <p:cNvPr id="4" name="TextBox 3"/>
          <p:cNvSpPr txBox="1"/>
          <p:nvPr/>
        </p:nvSpPr>
        <p:spPr>
          <a:xfrm>
            <a:off x="2560320" y="12801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Numbers</a:t>
            </a:r>
          </a:p>
        </p:txBody>
      </p:sp>
      <p:sp>
        <p:nvSpPr>
          <p:cNvPr id="5" name="TextBox 4"/>
          <p:cNvSpPr txBox="1"/>
          <p:nvPr/>
        </p:nvSpPr>
        <p:spPr>
          <a:xfrm>
            <a:off x="2560320" y="16002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Why 70-85% of AI initiatives fail — and technology isn't the reason</a:t>
            </a:r>
          </a:p>
        </p:txBody>
      </p:sp>
      <p:sp>
        <p:nvSpPr>
          <p:cNvPr id="6" name="Rectangle 5"/>
          <p:cNvSpPr/>
          <p:nvPr/>
        </p:nvSpPr>
        <p:spPr>
          <a:xfrm>
            <a:off x="1097280" y="20116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97280" y="21945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02</a:t>
            </a:r>
          </a:p>
        </p:txBody>
      </p:sp>
      <p:sp>
        <p:nvSpPr>
          <p:cNvPr id="8" name="TextBox 7"/>
          <p:cNvSpPr txBox="1"/>
          <p:nvPr/>
        </p:nvSpPr>
        <p:spPr>
          <a:xfrm>
            <a:off x="2560320" y="21945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Root Cause</a:t>
            </a:r>
          </a:p>
        </p:txBody>
      </p:sp>
      <p:sp>
        <p:nvSpPr>
          <p:cNvPr id="9" name="TextBox 8"/>
          <p:cNvSpPr txBox="1"/>
          <p:nvPr/>
        </p:nvSpPr>
        <p:spPr>
          <a:xfrm>
            <a:off x="2560320" y="25146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cultural debt is, how it compounds, and why no one tracks it</a:t>
            </a:r>
          </a:p>
        </p:txBody>
      </p:sp>
      <p:sp>
        <p:nvSpPr>
          <p:cNvPr id="10" name="Rectangle 9"/>
          <p:cNvSpPr/>
          <p:nvPr/>
        </p:nvSpPr>
        <p:spPr>
          <a:xfrm>
            <a:off x="1097280" y="29260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97280" y="31089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03</a:t>
            </a:r>
          </a:p>
        </p:txBody>
      </p:sp>
      <p:sp>
        <p:nvSpPr>
          <p:cNvPr id="12" name="TextBox 11"/>
          <p:cNvSpPr txBox="1"/>
          <p:nvPr/>
        </p:nvSpPr>
        <p:spPr>
          <a:xfrm>
            <a:off x="2560320" y="31089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Diagnosis</a:t>
            </a:r>
          </a:p>
        </p:txBody>
      </p:sp>
      <p:sp>
        <p:nvSpPr>
          <p:cNvPr id="13" name="TextBox 12"/>
          <p:cNvSpPr txBox="1"/>
          <p:nvPr/>
        </p:nvSpPr>
        <p:spPr>
          <a:xfrm>
            <a:off x="2560320" y="34290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Five cultural patterns that predict AI failure before launch</a:t>
            </a:r>
          </a:p>
        </p:txBody>
      </p:sp>
      <p:sp>
        <p:nvSpPr>
          <p:cNvPr id="14" name="Rectangle 13"/>
          <p:cNvSpPr/>
          <p:nvPr/>
        </p:nvSpPr>
        <p:spPr>
          <a:xfrm>
            <a:off x="1097280" y="38404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97280" y="40233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04</a:t>
            </a:r>
          </a:p>
        </p:txBody>
      </p:sp>
      <p:sp>
        <p:nvSpPr>
          <p:cNvPr id="16" name="TextBox 15"/>
          <p:cNvSpPr txBox="1"/>
          <p:nvPr/>
        </p:nvSpPr>
        <p:spPr>
          <a:xfrm>
            <a:off x="2560320" y="40233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Path Forward</a:t>
            </a:r>
          </a:p>
        </p:txBody>
      </p:sp>
      <p:sp>
        <p:nvSpPr>
          <p:cNvPr id="17" name="TextBox 16"/>
          <p:cNvSpPr txBox="1"/>
          <p:nvPr/>
        </p:nvSpPr>
        <p:spPr>
          <a:xfrm>
            <a:off x="2560320" y="43434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What organizations that break the cycle do differently</a:t>
            </a:r>
          </a:p>
        </p:txBody>
      </p:sp>
      <p:sp>
        <p:nvSpPr>
          <p:cNvPr id="18" name="Rectangle 17"/>
          <p:cNvSpPr/>
          <p:nvPr/>
        </p:nvSpPr>
        <p:spPr>
          <a:xfrm>
            <a:off x="1097280" y="4754880"/>
            <a:ext cx="9601200" cy="12700"/>
          </a:xfrm>
          <a:prstGeom prst="rect">
            <a:avLst/>
          </a:prstGeom>
          <a:solidFill>
            <a:srgbClr val="DDDD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97280" y="4937760"/>
            <a:ext cx="1097280" cy="523220"/>
          </a:xfrm>
          <a:prstGeom prst="rect">
            <a:avLst/>
          </a:prstGeom>
          <a:noFill/>
        </p:spPr>
        <p:txBody>
          <a:bodyPr wrap="square">
            <a:spAutoFit/>
          </a:bodyPr>
          <a:lstStyle/>
          <a:p>
            <a:pPr algn="l">
              <a:defRPr sz="2800" b="1" i="0">
                <a:solidFill>
                  <a:srgbClr val="000050"/>
                </a:solidFill>
                <a:latin typeface="Helvetica Neue"/>
              </a:defRPr>
            </a:pPr>
            <a:r>
              <a:rPr dirty="0">
                <a:latin typeface="Wallace Sans Light" pitchFamily="2" charset="0"/>
              </a:rPr>
              <a:t>05</a:t>
            </a:r>
          </a:p>
        </p:txBody>
      </p:sp>
      <p:sp>
        <p:nvSpPr>
          <p:cNvPr id="20" name="TextBox 19"/>
          <p:cNvSpPr txBox="1"/>
          <p:nvPr/>
        </p:nvSpPr>
        <p:spPr>
          <a:xfrm>
            <a:off x="2560320" y="4937760"/>
            <a:ext cx="365760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The Actions</a:t>
            </a:r>
          </a:p>
        </p:txBody>
      </p:sp>
      <p:sp>
        <p:nvSpPr>
          <p:cNvPr id="21" name="TextBox 20"/>
          <p:cNvSpPr txBox="1"/>
          <p:nvPr/>
        </p:nvSpPr>
        <p:spPr>
          <a:xfrm>
            <a:off x="2560320" y="5257800"/>
            <a:ext cx="822960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Three things you can do this quarter to start paying down cultural debt</a:t>
            </a:r>
          </a:p>
        </p:txBody>
      </p:sp>
      <p:sp>
        <p:nvSpPr>
          <p:cNvPr id="22" name="TextBox 21"/>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3" name="TextBox 22"/>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70-85% of AI Initiatives Fail </a:t>
            </a:r>
            <a:r>
              <a:rPr lang="en-US" dirty="0">
                <a:latin typeface="Wallace Sans Light" pitchFamily="2" charset="0"/>
              </a:rPr>
              <a:t>&amp;</a:t>
            </a:r>
            <a:r>
              <a:rPr dirty="0">
                <a:latin typeface="Wallace Sans Light" pitchFamily="2" charset="0"/>
              </a:rPr>
              <a:t> Technology Isn’t the Reason</a:t>
            </a:r>
          </a:p>
        </p:txBody>
      </p:sp>
      <p:sp>
        <p:nvSpPr>
          <p:cNvPr id="3" name="TextBox 2"/>
          <p:cNvSpPr txBox="1"/>
          <p:nvPr/>
        </p:nvSpPr>
        <p:spPr>
          <a:xfrm>
            <a:off x="548640" y="914400"/>
            <a:ext cx="10972800" cy="307777"/>
          </a:xfrm>
          <a:prstGeom prst="rect">
            <a:avLst/>
          </a:prstGeom>
          <a:noFill/>
        </p:spPr>
        <p:txBody>
          <a:bodyPr wrap="square">
            <a:spAutoFit/>
          </a:bodyPr>
          <a:lstStyle/>
          <a:p>
            <a:pPr algn="l">
              <a:defRPr sz="1400" b="0" i="0">
                <a:solidFill>
                  <a:srgbClr val="1A1A1A"/>
                </a:solidFill>
                <a:latin typeface="Helvetica Neue"/>
              </a:defRPr>
            </a:pPr>
            <a:r>
              <a:rPr dirty="0">
                <a:latin typeface="Wallace Sans Light" pitchFamily="2" charset="0"/>
              </a:rPr>
              <a:t>The technology works. The organization doesn’t change.</a:t>
            </a:r>
          </a:p>
        </p:txBody>
      </p:sp>
      <p:sp>
        <p:nvSpPr>
          <p:cNvPr id="4" name="TextBox 3"/>
          <p:cNvSpPr txBox="1"/>
          <p:nvPr/>
        </p:nvSpPr>
        <p:spPr>
          <a:xfrm>
            <a:off x="54864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70-85%</a:t>
            </a:r>
          </a:p>
        </p:txBody>
      </p:sp>
      <p:sp>
        <p:nvSpPr>
          <p:cNvPr id="5" name="TextBox 4"/>
          <p:cNvSpPr txBox="1"/>
          <p:nvPr/>
        </p:nvSpPr>
        <p:spPr>
          <a:xfrm>
            <a:off x="54864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 to deliver</a:t>
            </a:r>
            <a:br>
              <a:rPr dirty="0">
                <a:latin typeface="Wallace Sans Light" pitchFamily="2" charset="0"/>
              </a:rPr>
            </a:br>
            <a:r>
              <a:rPr dirty="0">
                <a:latin typeface="Wallace Sans Light" pitchFamily="2" charset="0"/>
              </a:rPr>
              <a:t>expected value</a:t>
            </a:r>
          </a:p>
        </p:txBody>
      </p:sp>
      <p:sp>
        <p:nvSpPr>
          <p:cNvPr id="6" name="TextBox 5"/>
          <p:cNvSpPr txBox="1"/>
          <p:nvPr/>
        </p:nvSpPr>
        <p:spPr>
          <a:xfrm>
            <a:off x="54864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latin typeface="Wallace Sans Light" pitchFamily="2" charset="0"/>
              </a:rPr>
              <a:t>Consistent across industries,</a:t>
            </a:r>
            <a:br>
              <a:rPr sz="1400" dirty="0">
                <a:latin typeface="Wallace Sans Light" pitchFamily="2" charset="0"/>
              </a:rPr>
            </a:br>
            <a:r>
              <a:rPr sz="1400" dirty="0">
                <a:latin typeface="Wallace Sans Light" pitchFamily="2" charset="0"/>
              </a:rPr>
              <a:t>company sizes, and geographies</a:t>
            </a:r>
          </a:p>
        </p:txBody>
      </p:sp>
      <p:sp>
        <p:nvSpPr>
          <p:cNvPr id="7" name="TextBox 6"/>
          <p:cNvSpPr txBox="1"/>
          <p:nvPr/>
        </p:nvSpPr>
        <p:spPr>
          <a:xfrm>
            <a:off x="338328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&lt;15%</a:t>
            </a:r>
          </a:p>
        </p:txBody>
      </p:sp>
      <p:sp>
        <p:nvSpPr>
          <p:cNvPr id="8" name="TextBox 7"/>
          <p:cNvSpPr txBox="1"/>
          <p:nvPr/>
        </p:nvSpPr>
        <p:spPr>
          <a:xfrm>
            <a:off x="338328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Failures attributed</a:t>
            </a:r>
            <a:br>
              <a:rPr dirty="0">
                <a:latin typeface="Wallace Sans Light" pitchFamily="2" charset="0"/>
              </a:rPr>
            </a:br>
            <a:r>
              <a:rPr dirty="0">
                <a:latin typeface="Wallace Sans Light" pitchFamily="2" charset="0"/>
              </a:rPr>
              <a:t>to technology</a:t>
            </a:r>
          </a:p>
        </p:txBody>
      </p:sp>
      <p:sp>
        <p:nvSpPr>
          <p:cNvPr id="9" name="TextBox 8"/>
          <p:cNvSpPr txBox="1"/>
          <p:nvPr/>
        </p:nvSpPr>
        <p:spPr>
          <a:xfrm>
            <a:off x="3383280" y="3383280"/>
            <a:ext cx="2560320" cy="954107"/>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Models work. Infrastructure works.</a:t>
            </a:r>
            <a:br>
              <a:rPr sz="1400" dirty="0">
                <a:solidFill>
                  <a:srgbClr val="1A1A1A"/>
                </a:solidFill>
                <a:latin typeface="Wallace Sans Light" pitchFamily="2" charset="0"/>
              </a:rPr>
            </a:br>
            <a:r>
              <a:rPr sz="1400" dirty="0">
                <a:solidFill>
                  <a:srgbClr val="1A1A1A"/>
                </a:solidFill>
                <a:latin typeface="Wallace Sans Light" pitchFamily="2" charset="0"/>
              </a:rPr>
              <a:t>The organization doesn’t adopt</a:t>
            </a:r>
            <a:r>
              <a:rPr dirty="0">
                <a:latin typeface="Wallace Sans Light" pitchFamily="2" charset="0"/>
              </a:rPr>
              <a:t>.</a:t>
            </a:r>
          </a:p>
        </p:txBody>
      </p:sp>
      <p:sp>
        <p:nvSpPr>
          <p:cNvPr id="10" name="TextBox 9"/>
          <p:cNvSpPr txBox="1"/>
          <p:nvPr/>
        </p:nvSpPr>
        <p:spPr>
          <a:xfrm>
            <a:off x="6217920" y="105156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#1 Cause</a:t>
            </a:r>
          </a:p>
        </p:txBody>
      </p:sp>
      <p:sp>
        <p:nvSpPr>
          <p:cNvPr id="11" name="TextBox 10"/>
          <p:cNvSpPr txBox="1"/>
          <p:nvPr/>
        </p:nvSpPr>
        <p:spPr>
          <a:xfrm>
            <a:off x="621792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Organizational and</a:t>
            </a:r>
            <a:br>
              <a:rPr dirty="0">
                <a:latin typeface="Wallace Sans Light" pitchFamily="2" charset="0"/>
              </a:rPr>
            </a:br>
            <a:r>
              <a:rPr dirty="0">
                <a:latin typeface="Wallace Sans Light" pitchFamily="2" charset="0"/>
              </a:rPr>
              <a:t>cultural resistance</a:t>
            </a:r>
          </a:p>
        </p:txBody>
      </p:sp>
      <p:sp>
        <p:nvSpPr>
          <p:cNvPr id="12" name="TextBox 11"/>
          <p:cNvSpPr txBox="1"/>
          <p:nvPr/>
        </p:nvSpPr>
        <p:spPr>
          <a:xfrm>
            <a:off x="6217920" y="3383280"/>
            <a:ext cx="2560320" cy="738664"/>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Change resistance, skill gaps,</a:t>
            </a:r>
            <a:br>
              <a:rPr sz="1400" dirty="0">
                <a:solidFill>
                  <a:srgbClr val="1A1A1A"/>
                </a:solidFill>
                <a:latin typeface="Wallace Sans Light" pitchFamily="2" charset="0"/>
              </a:rPr>
            </a:br>
            <a:r>
              <a:rPr sz="1400" dirty="0">
                <a:solidFill>
                  <a:srgbClr val="1A1A1A"/>
                </a:solidFill>
                <a:latin typeface="Wallace Sans Light" pitchFamily="2" charset="0"/>
              </a:rPr>
              <a:t>misaligned incentives, lack of trust</a:t>
            </a:r>
          </a:p>
        </p:txBody>
      </p:sp>
      <p:sp>
        <p:nvSpPr>
          <p:cNvPr id="13" name="TextBox 12"/>
          <p:cNvSpPr txBox="1"/>
          <p:nvPr/>
        </p:nvSpPr>
        <p:spPr>
          <a:xfrm>
            <a:off x="9052560" y="1645920"/>
            <a:ext cx="2560320" cy="769441"/>
          </a:xfrm>
          <a:prstGeom prst="rect">
            <a:avLst/>
          </a:prstGeom>
          <a:noFill/>
        </p:spPr>
        <p:txBody>
          <a:bodyPr wrap="square">
            <a:spAutoFit/>
          </a:bodyPr>
          <a:lstStyle/>
          <a:p>
            <a:pPr algn="ctr">
              <a:defRPr sz="4400" b="1" i="0">
                <a:solidFill>
                  <a:srgbClr val="000050"/>
                </a:solidFill>
                <a:latin typeface="Helvetica Neue"/>
              </a:defRPr>
            </a:pPr>
            <a:r>
              <a:rPr dirty="0">
                <a:latin typeface="Wallace Sans Light" pitchFamily="2" charset="0"/>
              </a:rPr>
              <a:t>$4.6T</a:t>
            </a:r>
          </a:p>
        </p:txBody>
      </p:sp>
      <p:sp>
        <p:nvSpPr>
          <p:cNvPr id="14" name="TextBox 13"/>
          <p:cNvSpPr txBox="1"/>
          <p:nvPr/>
        </p:nvSpPr>
        <p:spPr>
          <a:xfrm>
            <a:off x="9052560" y="2651760"/>
            <a:ext cx="2560320" cy="492443"/>
          </a:xfrm>
          <a:prstGeom prst="rect">
            <a:avLst/>
          </a:prstGeom>
          <a:noFill/>
        </p:spPr>
        <p:txBody>
          <a:bodyPr wrap="square">
            <a:spAutoFit/>
          </a:bodyPr>
          <a:lstStyle/>
          <a:p>
            <a:pPr algn="ctr">
              <a:defRPr sz="1300" b="1" i="0">
                <a:solidFill>
                  <a:srgbClr val="3333AA"/>
                </a:solidFill>
                <a:latin typeface="Helvetica Neue"/>
              </a:defRPr>
            </a:pPr>
            <a:r>
              <a:rPr dirty="0">
                <a:latin typeface="Wallace Sans Light" pitchFamily="2" charset="0"/>
              </a:rPr>
              <a:t>Projected global AI</a:t>
            </a:r>
            <a:br>
              <a:rPr dirty="0">
                <a:latin typeface="Wallace Sans Light" pitchFamily="2" charset="0"/>
              </a:rPr>
            </a:br>
            <a:r>
              <a:rPr dirty="0">
                <a:latin typeface="Wallace Sans Light" pitchFamily="2" charset="0"/>
              </a:rPr>
              <a:t>investment by 2027</a:t>
            </a:r>
          </a:p>
        </p:txBody>
      </p:sp>
      <p:sp>
        <p:nvSpPr>
          <p:cNvPr id="15" name="TextBox 14"/>
          <p:cNvSpPr txBox="1"/>
          <p:nvPr/>
        </p:nvSpPr>
        <p:spPr>
          <a:xfrm>
            <a:off x="9052560" y="3503369"/>
            <a:ext cx="2560320" cy="523220"/>
          </a:xfrm>
          <a:prstGeom prst="rect">
            <a:avLst/>
          </a:prstGeom>
          <a:noFill/>
        </p:spPr>
        <p:txBody>
          <a:bodyPr wrap="square">
            <a:spAutoFit/>
          </a:bodyPr>
          <a:lstStyle/>
          <a:p>
            <a:pPr algn="ctr">
              <a:defRPr sz="1100" b="0" i="0">
                <a:solidFill>
                  <a:srgbClr val="1A1A1A"/>
                </a:solidFill>
                <a:latin typeface="Helvetica Neue"/>
              </a:defRPr>
            </a:pPr>
            <a:r>
              <a:rPr sz="1400" dirty="0">
                <a:solidFill>
                  <a:srgbClr val="1A1A1A"/>
                </a:solidFill>
                <a:latin typeface="Wallace Sans Light" pitchFamily="2" charset="0"/>
              </a:rPr>
              <a:t>The majority at risk of</a:t>
            </a:r>
            <a:br>
              <a:rPr sz="1400" dirty="0">
                <a:solidFill>
                  <a:srgbClr val="1A1A1A"/>
                </a:solidFill>
                <a:latin typeface="Wallace Sans Light" pitchFamily="2" charset="0"/>
              </a:rPr>
            </a:br>
            <a:r>
              <a:rPr sz="1400" dirty="0">
                <a:solidFill>
                  <a:srgbClr val="1A1A1A"/>
                </a:solidFill>
                <a:latin typeface="Wallace Sans Light" pitchFamily="2" charset="0"/>
              </a:rPr>
              <a:t>delivering no return</a:t>
            </a:r>
          </a:p>
        </p:txBody>
      </p:sp>
      <p:sp>
        <p:nvSpPr>
          <p:cNvPr id="16" name="Rectangle 15"/>
          <p:cNvSpPr/>
          <p:nvPr/>
        </p:nvSpPr>
        <p:spPr>
          <a:xfrm>
            <a:off x="548640" y="461384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133600" y="470528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The gap between AI capability and organizational readiness is where value dies.</a:t>
            </a:r>
          </a:p>
        </p:txBody>
      </p:sp>
      <p:sp>
        <p:nvSpPr>
          <p:cNvPr id="18" name="TextBox 17"/>
          <p:cNvSpPr txBox="1"/>
          <p:nvPr/>
        </p:nvSpPr>
        <p:spPr>
          <a:xfrm>
            <a:off x="548640" y="5669280"/>
            <a:ext cx="10972800" cy="230832"/>
          </a:xfrm>
          <a:prstGeom prst="rect">
            <a:avLst/>
          </a:prstGeom>
          <a:noFill/>
        </p:spPr>
        <p:txBody>
          <a:bodyPr wrap="square">
            <a:spAutoFit/>
          </a:bodyPr>
          <a:lstStyle/>
          <a:p>
            <a:pPr algn="l">
              <a:defRPr sz="900" b="0" i="1">
                <a:solidFill>
                  <a:srgbClr val="888888"/>
                </a:solidFill>
                <a:latin typeface="Helvetica Neue"/>
              </a:defRPr>
            </a:pPr>
            <a:r>
              <a:rPr dirty="0">
                <a:latin typeface="Wallace Sans Light" pitchFamily="2" charset="0"/>
              </a:rPr>
              <a:t>Sources: McKinsey (2023); BCG AI Adoption Survey (2024); IDC AI Spending Guide (2025)</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Cultural Debt Compounds Like Technical Debt — But No One Tracks It</a:t>
            </a:r>
          </a:p>
        </p:txBody>
      </p:sp>
      <p:sp>
        <p:nvSpPr>
          <p:cNvPr id="3" name="Rectangle 2"/>
          <p:cNvSpPr/>
          <p:nvPr/>
        </p:nvSpPr>
        <p:spPr>
          <a:xfrm>
            <a:off x="548640" y="1188720"/>
            <a:ext cx="5303520" cy="3474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280160"/>
            <a:ext cx="4754880" cy="400110"/>
          </a:xfrm>
          <a:prstGeom prst="rect">
            <a:avLst/>
          </a:prstGeom>
          <a:noFill/>
        </p:spPr>
        <p:txBody>
          <a:bodyPr wrap="square">
            <a:spAutoFit/>
          </a:bodyPr>
          <a:lstStyle/>
          <a:p>
            <a:pPr algn="l">
              <a:defRPr sz="2000" b="1" i="0">
                <a:solidFill>
                  <a:srgbClr val="000050"/>
                </a:solidFill>
                <a:latin typeface="Helvetica Neue"/>
              </a:defRPr>
            </a:pPr>
            <a:r>
              <a:rPr dirty="0">
                <a:latin typeface="Wallace Sans Light" pitchFamily="2" charset="0"/>
              </a:rPr>
              <a:t>Technical Debt</a:t>
            </a:r>
          </a:p>
        </p:txBody>
      </p:sp>
      <p:sp>
        <p:nvSpPr>
          <p:cNvPr id="5" name="TextBox 4"/>
          <p:cNvSpPr txBox="1"/>
          <p:nvPr/>
        </p:nvSpPr>
        <p:spPr>
          <a:xfrm>
            <a:off x="822960" y="18288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code that create future rework</a:t>
            </a:r>
          </a:p>
        </p:txBody>
      </p:sp>
      <p:sp>
        <p:nvSpPr>
          <p:cNvPr id="6" name="TextBox 5"/>
          <p:cNvSpPr txBox="1"/>
          <p:nvPr/>
        </p:nvSpPr>
        <p:spPr>
          <a:xfrm>
            <a:off x="82296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Visible in code reviews, build times, bug rates</a:t>
            </a:r>
          </a:p>
        </p:txBody>
      </p:sp>
      <p:sp>
        <p:nvSpPr>
          <p:cNvPr id="7" name="TextBox 6"/>
          <p:cNvSpPr txBox="1"/>
          <p:nvPr/>
        </p:nvSpPr>
        <p:spPr>
          <a:xfrm>
            <a:off x="82296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Tracked, measured, budgeted for</a:t>
            </a:r>
          </a:p>
        </p:txBody>
      </p:sp>
      <p:sp>
        <p:nvSpPr>
          <p:cNvPr id="8" name="TextBox 7"/>
          <p:cNvSpPr txBox="1"/>
          <p:nvPr/>
        </p:nvSpPr>
        <p:spPr>
          <a:xfrm>
            <a:off x="82296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system complexity grows</a:t>
            </a:r>
          </a:p>
        </p:txBody>
      </p:sp>
      <p:sp>
        <p:nvSpPr>
          <p:cNvPr id="9" name="TextBox 8"/>
          <p:cNvSpPr txBox="1"/>
          <p:nvPr/>
        </p:nvSpPr>
        <p:spPr>
          <a:xfrm>
            <a:off x="82296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refactor the code</a:t>
            </a:r>
          </a:p>
        </p:txBody>
      </p:sp>
      <p:sp>
        <p:nvSpPr>
          <p:cNvPr id="10" name="Rectangle 9"/>
          <p:cNvSpPr/>
          <p:nvPr/>
        </p:nvSpPr>
        <p:spPr>
          <a:xfrm>
            <a:off x="6217920" y="1188720"/>
            <a:ext cx="5303520" cy="347472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92240" y="1280160"/>
            <a:ext cx="4754880" cy="400110"/>
          </a:xfrm>
          <a:prstGeom prst="rect">
            <a:avLst/>
          </a:prstGeom>
          <a:noFill/>
        </p:spPr>
        <p:txBody>
          <a:bodyPr wrap="square">
            <a:spAutoFit/>
          </a:bodyPr>
          <a:lstStyle/>
          <a:p>
            <a:pPr algn="l">
              <a:defRPr sz="2000" b="1" i="0">
                <a:solidFill>
                  <a:srgbClr val="000050"/>
                </a:solidFill>
                <a:latin typeface="Helvetica Neue"/>
              </a:defRPr>
            </a:pPr>
            <a:r>
              <a:rPr dirty="0">
                <a:latin typeface="Wallace Sans Light" pitchFamily="2" charset="0"/>
              </a:rPr>
              <a:t>Cultural Debt</a:t>
            </a:r>
          </a:p>
        </p:txBody>
      </p:sp>
      <p:sp>
        <p:nvSpPr>
          <p:cNvPr id="12" name="TextBox 11"/>
          <p:cNvSpPr txBox="1"/>
          <p:nvPr/>
        </p:nvSpPr>
        <p:spPr>
          <a:xfrm>
            <a:off x="6492240" y="1828800"/>
            <a:ext cx="4754880" cy="492443"/>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Shortcuts in change management that create future resistance</a:t>
            </a:r>
          </a:p>
        </p:txBody>
      </p:sp>
      <p:sp>
        <p:nvSpPr>
          <p:cNvPr id="13" name="TextBox 12"/>
          <p:cNvSpPr txBox="1"/>
          <p:nvPr/>
        </p:nvSpPr>
        <p:spPr>
          <a:xfrm>
            <a:off x="6492240" y="22860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Invisible until the next initiative stalls</a:t>
            </a:r>
          </a:p>
        </p:txBody>
      </p:sp>
      <p:sp>
        <p:nvSpPr>
          <p:cNvPr id="14" name="TextBox 13"/>
          <p:cNvSpPr txBox="1"/>
          <p:nvPr/>
        </p:nvSpPr>
        <p:spPr>
          <a:xfrm>
            <a:off x="6492240" y="27432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Untracked, unmeasured, unbudgeted</a:t>
            </a:r>
          </a:p>
        </p:txBody>
      </p:sp>
      <p:sp>
        <p:nvSpPr>
          <p:cNvPr id="15" name="TextBox 14"/>
          <p:cNvSpPr txBox="1"/>
          <p:nvPr/>
        </p:nvSpPr>
        <p:spPr>
          <a:xfrm>
            <a:off x="6492240" y="32004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Compounds as organizational cynicism grows</a:t>
            </a:r>
          </a:p>
        </p:txBody>
      </p:sp>
      <p:sp>
        <p:nvSpPr>
          <p:cNvPr id="16" name="TextBox 15"/>
          <p:cNvSpPr txBox="1"/>
          <p:nvPr/>
        </p:nvSpPr>
        <p:spPr>
          <a:xfrm>
            <a:off x="6492240" y="3657600"/>
            <a:ext cx="4754880" cy="292388"/>
          </a:xfrm>
          <a:prstGeom prst="rect">
            <a:avLst/>
          </a:prstGeom>
          <a:noFill/>
        </p:spPr>
        <p:txBody>
          <a:bodyPr wrap="square">
            <a:spAutoFit/>
          </a:bodyPr>
          <a:lstStyle/>
          <a:p>
            <a:pPr algn="l">
              <a:defRPr sz="1300" b="0" i="0">
                <a:solidFill>
                  <a:srgbClr val="1A1A1A"/>
                </a:solidFill>
                <a:latin typeface="Helvetica Neue"/>
              </a:defRPr>
            </a:pPr>
            <a:r>
              <a:rPr dirty="0">
                <a:latin typeface="Wallace Sans Light" pitchFamily="2" charset="0"/>
              </a:rPr>
              <a:t>•  Fix: rebuild trust, realign incentives, invest in people</a:t>
            </a:r>
          </a:p>
        </p:txBody>
      </p:sp>
      <p:sp>
        <p:nvSpPr>
          <p:cNvPr id="17" name="Rectangle 16"/>
          <p:cNvSpPr/>
          <p:nvPr/>
        </p:nvSpPr>
        <p:spPr>
          <a:xfrm>
            <a:off x="548640" y="4937760"/>
            <a:ext cx="10972800" cy="7315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5029200"/>
            <a:ext cx="10058400" cy="323165"/>
          </a:xfrm>
          <a:prstGeom prst="rect">
            <a:avLst/>
          </a:prstGeom>
          <a:noFill/>
        </p:spPr>
        <p:txBody>
          <a:bodyPr wrap="square">
            <a:spAutoFit/>
          </a:bodyPr>
          <a:lstStyle/>
          <a:p>
            <a:pPr algn="l">
              <a:defRPr sz="1500" b="1" i="1">
                <a:solidFill>
                  <a:srgbClr val="FFFFFF"/>
                </a:solidFill>
                <a:latin typeface="Helvetica Neue"/>
              </a:defRPr>
            </a:pPr>
            <a:r>
              <a:rPr dirty="0">
                <a:latin typeface="Wallace Sans Light" pitchFamily="2" charset="0"/>
              </a:rPr>
              <a:t>Cultural debt accrues every time an organization deploys technology without investing in the humans who must adopt it.</a:t>
            </a:r>
          </a:p>
        </p:txBody>
      </p:sp>
      <p:sp>
        <p:nvSpPr>
          <p:cNvPr id="19" name="TextBox 1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0" name="TextBox 1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4</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AI Initiative Makes the Next One Harder</a:t>
            </a:r>
          </a:p>
        </p:txBody>
      </p:sp>
      <p:sp>
        <p:nvSpPr>
          <p:cNvPr id="3" name="Rectangle 2"/>
          <p:cNvSpPr/>
          <p:nvPr/>
        </p:nvSpPr>
        <p:spPr>
          <a:xfrm>
            <a:off x="13716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AI Initiative</a:t>
            </a:r>
            <a:br>
              <a:rPr dirty="0">
                <a:latin typeface="Wallace Sans Light" pitchFamily="2" charset="0"/>
              </a:rPr>
            </a:br>
            <a:r>
              <a:rPr dirty="0">
                <a:latin typeface="Wallace Sans Light" pitchFamily="2" charset="0"/>
              </a:rPr>
              <a:t>Launched</a:t>
            </a:r>
          </a:p>
        </p:txBody>
      </p:sp>
      <p:sp>
        <p:nvSpPr>
          <p:cNvPr id="5" name="Rectangle 4"/>
          <p:cNvSpPr/>
          <p:nvPr/>
        </p:nvSpPr>
        <p:spPr>
          <a:xfrm>
            <a:off x="45720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Adoption</a:t>
            </a:r>
            <a:br>
              <a:rPr dirty="0">
                <a:latin typeface="Wallace Sans Light" pitchFamily="2" charset="0"/>
              </a:rPr>
            </a:br>
            <a:r>
              <a:rPr dirty="0">
                <a:latin typeface="Wallace Sans Light" pitchFamily="2" charset="0"/>
              </a:rPr>
              <a:t>Stalls</a:t>
            </a:r>
          </a:p>
        </p:txBody>
      </p:sp>
      <p:sp>
        <p:nvSpPr>
          <p:cNvPr id="7" name="Rectangle 6"/>
          <p:cNvSpPr/>
          <p:nvPr/>
        </p:nvSpPr>
        <p:spPr>
          <a:xfrm>
            <a:off x="77724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Leadership</a:t>
            </a:r>
            <a:br>
              <a:rPr dirty="0">
                <a:latin typeface="Wallace Sans Light" pitchFamily="2" charset="0"/>
              </a:rPr>
            </a:br>
            <a:r>
              <a:rPr dirty="0">
                <a:latin typeface="Wallace Sans Light" pitchFamily="2" charset="0"/>
              </a:rPr>
              <a:t>Declares Failure</a:t>
            </a:r>
          </a:p>
        </p:txBody>
      </p:sp>
      <p:sp>
        <p:nvSpPr>
          <p:cNvPr id="9" name="Rectangle 8"/>
          <p:cNvSpPr/>
          <p:nvPr/>
        </p:nvSpPr>
        <p:spPr>
          <a:xfrm>
            <a:off x="77724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Cynicism</a:t>
            </a:r>
            <a:br>
              <a:rPr dirty="0">
                <a:latin typeface="Wallace Sans Light" pitchFamily="2" charset="0"/>
              </a:rPr>
            </a:br>
            <a:r>
              <a:rPr dirty="0">
                <a:latin typeface="Wallace Sans Light" pitchFamily="2" charset="0"/>
              </a:rPr>
              <a:t>Deepens</a:t>
            </a:r>
          </a:p>
        </p:txBody>
      </p:sp>
      <p:sp>
        <p:nvSpPr>
          <p:cNvPr id="11" name="Rectangle 10"/>
          <p:cNvSpPr/>
          <p:nvPr/>
        </p:nvSpPr>
        <p:spPr>
          <a:xfrm>
            <a:off x="45720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Shadow Processes</a:t>
            </a:r>
            <a:br>
              <a:rPr dirty="0">
                <a:latin typeface="Wallace Sans Light" pitchFamily="2" charset="0"/>
              </a:rPr>
            </a:br>
            <a:r>
              <a:rPr dirty="0">
                <a:latin typeface="Wallace Sans Light" pitchFamily="2" charset="0"/>
              </a:rPr>
              <a:t>Harden</a:t>
            </a:r>
          </a:p>
        </p:txBody>
      </p:sp>
      <p:sp>
        <p:nvSpPr>
          <p:cNvPr id="13" name="Rectangle 12"/>
          <p:cNvSpPr/>
          <p:nvPr/>
        </p:nvSpPr>
        <p:spPr>
          <a:xfrm>
            <a:off x="13716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Next Initiative Faces</a:t>
            </a:r>
            <a:br>
              <a:rPr dirty="0">
                <a:latin typeface="Wallace Sans Light" pitchFamily="2" charset="0"/>
              </a:rPr>
            </a:br>
            <a:r>
              <a:rPr dirty="0">
                <a:latin typeface="Wallace Sans Light" pitchFamily="2" charset="0"/>
              </a:rPr>
              <a:t>Higher Resistance</a:t>
            </a:r>
          </a:p>
        </p:txBody>
      </p:sp>
      <p:sp>
        <p:nvSpPr>
          <p:cNvPr id="15" name="TextBox 14"/>
          <p:cNvSpPr txBox="1"/>
          <p:nvPr/>
        </p:nvSpPr>
        <p:spPr>
          <a:xfrm>
            <a:off x="39319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6" name="TextBox 15"/>
          <p:cNvSpPr txBox="1"/>
          <p:nvPr/>
        </p:nvSpPr>
        <p:spPr>
          <a:xfrm>
            <a:off x="71323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7" name="TextBox 16"/>
          <p:cNvSpPr txBox="1"/>
          <p:nvPr/>
        </p:nvSpPr>
        <p:spPr>
          <a:xfrm>
            <a:off x="8778240" y="2862072"/>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8" name="TextBox 17"/>
          <p:cNvSpPr txBox="1"/>
          <p:nvPr/>
        </p:nvSpPr>
        <p:spPr>
          <a:xfrm>
            <a:off x="71323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9" name="TextBox 18"/>
          <p:cNvSpPr txBox="1"/>
          <p:nvPr/>
        </p:nvSpPr>
        <p:spPr>
          <a:xfrm>
            <a:off x="39319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0" name="TextBox 19"/>
          <p:cNvSpPr txBox="1"/>
          <p:nvPr/>
        </p:nvSpPr>
        <p:spPr>
          <a:xfrm>
            <a:off x="1645920" y="29260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1" name="Rectangle 20"/>
          <p:cNvSpPr/>
          <p:nvPr/>
        </p:nvSpPr>
        <p:spPr>
          <a:xfrm>
            <a:off x="548640" y="484632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3776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23" name="TextBox 22"/>
          <p:cNvSpPr txBox="1"/>
          <p:nvPr/>
        </p:nvSpPr>
        <p:spPr>
          <a:xfrm>
            <a:off x="2286000" y="4937760"/>
            <a:ext cx="8686800" cy="307777"/>
          </a:xfrm>
          <a:prstGeom prst="rect">
            <a:avLst/>
          </a:prstGeom>
          <a:noFill/>
        </p:spPr>
        <p:txBody>
          <a:bodyPr wrap="square">
            <a:spAutoFit/>
          </a:bodyPr>
          <a:lstStyle/>
          <a:p>
            <a:pPr algn="l">
              <a:defRPr sz="1100" b="0" i="0">
                <a:solidFill>
                  <a:srgbClr val="1A1A1A"/>
                </a:solidFill>
                <a:latin typeface="Helvetica Neue"/>
              </a:defRPr>
            </a:pPr>
            <a:r>
              <a:rPr sz="1400" dirty="0">
                <a:latin typeface="Wallace Sans Light" pitchFamily="2" charset="0"/>
              </a:rPr>
              <a:t>Healthy skepticism </a:t>
            </a:r>
            <a:r>
              <a:rPr lang="en-US" sz="1400" dirty="0">
                <a:latin typeface="Wallace Sans Light" pitchFamily="2" charset="0"/>
              </a:rPr>
              <a:t>; </a:t>
            </a:r>
            <a:r>
              <a:rPr sz="1400" dirty="0">
                <a:latin typeface="Wallace Sans Light" pitchFamily="2" charset="0"/>
              </a:rPr>
              <a:t> “Let’s see if this works”</a:t>
            </a:r>
          </a:p>
        </p:txBody>
      </p:sp>
      <p:sp>
        <p:nvSpPr>
          <p:cNvPr id="24" name="TextBox 23"/>
          <p:cNvSpPr txBox="1"/>
          <p:nvPr/>
        </p:nvSpPr>
        <p:spPr>
          <a:xfrm>
            <a:off x="914400" y="519379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25" name="TextBox 24"/>
          <p:cNvSpPr txBox="1"/>
          <p:nvPr/>
        </p:nvSpPr>
        <p:spPr>
          <a:xfrm>
            <a:off x="2286000" y="5193792"/>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Active resistance </a:t>
            </a:r>
            <a:r>
              <a:rPr lang="en-US" sz="1400" dirty="0">
                <a:solidFill>
                  <a:srgbClr val="1A1A1A"/>
                </a:solidFill>
                <a:latin typeface="Wallace Sans Light" pitchFamily="2" charset="0"/>
              </a:rPr>
              <a:t>; </a:t>
            </a:r>
            <a:r>
              <a:rPr sz="1400" dirty="0">
                <a:solidFill>
                  <a:srgbClr val="1A1A1A"/>
                </a:solidFill>
                <a:latin typeface="Wallace Sans Light" pitchFamily="2" charset="0"/>
              </a:rPr>
              <a:t>“We tried this before”</a:t>
            </a:r>
          </a:p>
        </p:txBody>
      </p:sp>
      <p:sp>
        <p:nvSpPr>
          <p:cNvPr id="26" name="TextBox 25"/>
          <p:cNvSpPr txBox="1"/>
          <p:nvPr/>
        </p:nvSpPr>
        <p:spPr>
          <a:xfrm>
            <a:off x="914400" y="544982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27" name="TextBox 26"/>
          <p:cNvSpPr txBox="1"/>
          <p:nvPr/>
        </p:nvSpPr>
        <p:spPr>
          <a:xfrm>
            <a:off x="2286000" y="5449824"/>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Organizational antibodies </a:t>
            </a:r>
            <a:r>
              <a:rPr lang="en-US" sz="1400" dirty="0">
                <a:solidFill>
                  <a:srgbClr val="1A1A1A"/>
                </a:solidFill>
                <a:latin typeface="Wallace Sans Light" pitchFamily="2" charset="0"/>
              </a:rPr>
              <a:t>; </a:t>
            </a:r>
            <a:r>
              <a:rPr sz="1400" dirty="0">
                <a:solidFill>
                  <a:srgbClr val="1A1A1A"/>
                </a:solidFill>
                <a:latin typeface="Wallace Sans Light" pitchFamily="2" charset="0"/>
              </a:rPr>
              <a:t>“AI doesn’t work here”</a:t>
            </a:r>
          </a:p>
        </p:txBody>
      </p:sp>
      <p:sp>
        <p:nvSpPr>
          <p:cNvPr id="28" name="TextBox 27"/>
          <p:cNvSpPr txBox="1"/>
          <p:nvPr/>
        </p:nvSpPr>
        <p:spPr>
          <a:xfrm>
            <a:off x="914400" y="570585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29" name="TextBox 28"/>
          <p:cNvSpPr txBox="1"/>
          <p:nvPr/>
        </p:nvSpPr>
        <p:spPr>
          <a:xfrm>
            <a:off x="2286000" y="5705856"/>
            <a:ext cx="8686800" cy="307777"/>
          </a:xfrm>
          <a:prstGeom prst="rect">
            <a:avLst/>
          </a:prstGeom>
          <a:noFill/>
        </p:spPr>
        <p:txBody>
          <a:bodyPr wrap="square">
            <a:spAutoFit/>
          </a:bodyPr>
          <a:lstStyle/>
          <a:p>
            <a:pPr>
              <a:defRPr sz="1100" b="0" i="0">
                <a:solidFill>
                  <a:srgbClr val="1A1A1A"/>
                </a:solidFill>
                <a:latin typeface="Helvetica Neue"/>
              </a:defRPr>
            </a:pPr>
            <a:r>
              <a:rPr sz="1400" dirty="0">
                <a:solidFill>
                  <a:srgbClr val="1A1A1A"/>
                </a:solidFill>
                <a:latin typeface="Wallace Sans Light" pitchFamily="2" charset="0"/>
              </a:rPr>
              <a:t>Structural inability </a:t>
            </a:r>
            <a:r>
              <a:rPr lang="en-US" sz="1400" dirty="0">
                <a:solidFill>
                  <a:srgbClr val="1A1A1A"/>
                </a:solidFill>
                <a:latin typeface="Wallace Sans Light" pitchFamily="2" charset="0"/>
              </a:rPr>
              <a:t>; </a:t>
            </a:r>
            <a:r>
              <a:rPr sz="1400" dirty="0">
                <a:solidFill>
                  <a:srgbClr val="1A1A1A"/>
                </a:solidFill>
                <a:latin typeface="Wallace Sans Light" pitchFamily="2" charset="0"/>
              </a:rPr>
              <a:t>the best people have stopped engaging</a:t>
            </a:r>
          </a:p>
        </p:txBody>
      </p:sp>
      <p:sp>
        <p:nvSpPr>
          <p:cNvPr id="30" name="TextBox 2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1" name="TextBox 3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5</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Every Failed AI Initiative Makes the Next One Harder</a:t>
            </a:r>
          </a:p>
        </p:txBody>
      </p:sp>
      <p:sp>
        <p:nvSpPr>
          <p:cNvPr id="3" name="Rectangle 2"/>
          <p:cNvSpPr/>
          <p:nvPr/>
        </p:nvSpPr>
        <p:spPr>
          <a:xfrm>
            <a:off x="13716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4630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AI Initiative</a:t>
            </a:r>
            <a:br>
              <a:rPr dirty="0">
                <a:latin typeface="Wallace Sans Light" pitchFamily="2" charset="0"/>
              </a:rPr>
            </a:br>
            <a:r>
              <a:rPr dirty="0">
                <a:latin typeface="Wallace Sans Light" pitchFamily="2" charset="0"/>
              </a:rPr>
              <a:t>Launched</a:t>
            </a:r>
          </a:p>
        </p:txBody>
      </p:sp>
      <p:sp>
        <p:nvSpPr>
          <p:cNvPr id="5" name="Rectangle 4"/>
          <p:cNvSpPr/>
          <p:nvPr/>
        </p:nvSpPr>
        <p:spPr>
          <a:xfrm>
            <a:off x="45720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6634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Adoption</a:t>
            </a:r>
            <a:br>
              <a:rPr dirty="0">
                <a:latin typeface="Wallace Sans Light" pitchFamily="2" charset="0"/>
              </a:rPr>
            </a:br>
            <a:r>
              <a:rPr dirty="0">
                <a:latin typeface="Wallace Sans Light" pitchFamily="2" charset="0"/>
              </a:rPr>
              <a:t>Stalls</a:t>
            </a:r>
          </a:p>
        </p:txBody>
      </p:sp>
      <p:sp>
        <p:nvSpPr>
          <p:cNvPr id="7" name="Rectangle 6"/>
          <p:cNvSpPr/>
          <p:nvPr/>
        </p:nvSpPr>
        <p:spPr>
          <a:xfrm>
            <a:off x="7772400" y="16459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863840" y="17830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Leadership</a:t>
            </a:r>
            <a:br>
              <a:rPr dirty="0">
                <a:latin typeface="Wallace Sans Light" pitchFamily="2" charset="0"/>
              </a:rPr>
            </a:br>
            <a:r>
              <a:rPr dirty="0">
                <a:latin typeface="Wallace Sans Light" pitchFamily="2" charset="0"/>
              </a:rPr>
              <a:t>Declares Failure</a:t>
            </a:r>
          </a:p>
        </p:txBody>
      </p:sp>
      <p:sp>
        <p:nvSpPr>
          <p:cNvPr id="9" name="Rectangle 8"/>
          <p:cNvSpPr/>
          <p:nvPr/>
        </p:nvSpPr>
        <p:spPr>
          <a:xfrm>
            <a:off x="77724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Cynicism</a:t>
            </a:r>
            <a:br>
              <a:rPr dirty="0">
                <a:latin typeface="Wallace Sans Light" pitchFamily="2" charset="0"/>
              </a:rPr>
            </a:br>
            <a:r>
              <a:rPr dirty="0">
                <a:latin typeface="Wallace Sans Light" pitchFamily="2" charset="0"/>
              </a:rPr>
              <a:t>Deepens</a:t>
            </a:r>
          </a:p>
        </p:txBody>
      </p:sp>
      <p:sp>
        <p:nvSpPr>
          <p:cNvPr id="11" name="Rectangle 10"/>
          <p:cNvSpPr/>
          <p:nvPr/>
        </p:nvSpPr>
        <p:spPr>
          <a:xfrm>
            <a:off x="45720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Shadow Processes</a:t>
            </a:r>
            <a:br>
              <a:rPr dirty="0">
                <a:latin typeface="Wallace Sans Light" pitchFamily="2" charset="0"/>
              </a:rPr>
            </a:br>
            <a:r>
              <a:rPr dirty="0">
                <a:latin typeface="Wallace Sans Light" pitchFamily="2" charset="0"/>
              </a:rPr>
              <a:t>Harden</a:t>
            </a:r>
          </a:p>
        </p:txBody>
      </p:sp>
      <p:sp>
        <p:nvSpPr>
          <p:cNvPr id="13" name="Rectangle 12"/>
          <p:cNvSpPr/>
          <p:nvPr/>
        </p:nvSpPr>
        <p:spPr>
          <a:xfrm>
            <a:off x="1371600" y="3474720"/>
            <a:ext cx="2560320" cy="10972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463040" y="3611880"/>
            <a:ext cx="2377440" cy="523220"/>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Next Initiative Faces</a:t>
            </a:r>
            <a:br>
              <a:rPr dirty="0">
                <a:latin typeface="Wallace Sans Light" pitchFamily="2" charset="0"/>
              </a:rPr>
            </a:br>
            <a:r>
              <a:rPr dirty="0">
                <a:latin typeface="Wallace Sans Light" pitchFamily="2" charset="0"/>
              </a:rPr>
              <a:t>Higher Resistance</a:t>
            </a:r>
          </a:p>
        </p:txBody>
      </p:sp>
      <p:sp>
        <p:nvSpPr>
          <p:cNvPr id="15" name="TextBox 14"/>
          <p:cNvSpPr txBox="1"/>
          <p:nvPr/>
        </p:nvSpPr>
        <p:spPr>
          <a:xfrm>
            <a:off x="39319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6" name="TextBox 15"/>
          <p:cNvSpPr txBox="1"/>
          <p:nvPr/>
        </p:nvSpPr>
        <p:spPr>
          <a:xfrm>
            <a:off x="7132320" y="20116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7" name="TextBox 16"/>
          <p:cNvSpPr txBox="1"/>
          <p:nvPr/>
        </p:nvSpPr>
        <p:spPr>
          <a:xfrm>
            <a:off x="8778240" y="2862072"/>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8" name="TextBox 17"/>
          <p:cNvSpPr txBox="1"/>
          <p:nvPr/>
        </p:nvSpPr>
        <p:spPr>
          <a:xfrm>
            <a:off x="71323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19" name="TextBox 18"/>
          <p:cNvSpPr txBox="1"/>
          <p:nvPr/>
        </p:nvSpPr>
        <p:spPr>
          <a:xfrm>
            <a:off x="3931920" y="38404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0" name="TextBox 19"/>
          <p:cNvSpPr txBox="1"/>
          <p:nvPr/>
        </p:nvSpPr>
        <p:spPr>
          <a:xfrm>
            <a:off x="1645920" y="2926080"/>
            <a:ext cx="548640" cy="523220"/>
          </a:xfrm>
          <a:prstGeom prst="rect">
            <a:avLst/>
          </a:prstGeom>
          <a:noFill/>
        </p:spPr>
        <p:txBody>
          <a:bodyPr wrap="square">
            <a:spAutoFit/>
          </a:bodyPr>
          <a:lstStyle/>
          <a:p>
            <a:pPr algn="ctr">
              <a:defRPr sz="2800" b="1" i="0">
                <a:solidFill>
                  <a:srgbClr val="000050"/>
                </a:solidFill>
                <a:latin typeface="Helvetica Neue"/>
              </a:defRPr>
            </a:pPr>
            <a:r>
              <a:rPr dirty="0">
                <a:latin typeface="Wallace Sans Light" pitchFamily="2" charset="0"/>
              </a:rPr>
              <a:t>↑</a:t>
            </a:r>
          </a:p>
        </p:txBody>
      </p:sp>
      <p:sp>
        <p:nvSpPr>
          <p:cNvPr id="21" name="Rectangle 20"/>
          <p:cNvSpPr/>
          <p:nvPr/>
        </p:nvSpPr>
        <p:spPr>
          <a:xfrm>
            <a:off x="548640" y="4846320"/>
            <a:ext cx="10972800" cy="118872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37760"/>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1:</a:t>
            </a:r>
          </a:p>
        </p:txBody>
      </p:sp>
      <p:sp>
        <p:nvSpPr>
          <p:cNvPr id="23" name="TextBox 22"/>
          <p:cNvSpPr txBox="1"/>
          <p:nvPr/>
        </p:nvSpPr>
        <p:spPr>
          <a:xfrm>
            <a:off x="2286000" y="4937760"/>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Healthy skepticism — “Let’s see if this works”</a:t>
            </a:r>
          </a:p>
        </p:txBody>
      </p:sp>
      <p:sp>
        <p:nvSpPr>
          <p:cNvPr id="24" name="TextBox 23"/>
          <p:cNvSpPr txBox="1"/>
          <p:nvPr/>
        </p:nvSpPr>
        <p:spPr>
          <a:xfrm>
            <a:off x="914400" y="5193792"/>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2:</a:t>
            </a:r>
          </a:p>
        </p:txBody>
      </p:sp>
      <p:sp>
        <p:nvSpPr>
          <p:cNvPr id="25" name="TextBox 24"/>
          <p:cNvSpPr txBox="1"/>
          <p:nvPr/>
        </p:nvSpPr>
        <p:spPr>
          <a:xfrm>
            <a:off x="2286000" y="5193792"/>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Active resistance — “We tried this before”</a:t>
            </a:r>
          </a:p>
        </p:txBody>
      </p:sp>
      <p:sp>
        <p:nvSpPr>
          <p:cNvPr id="26" name="TextBox 25"/>
          <p:cNvSpPr txBox="1"/>
          <p:nvPr/>
        </p:nvSpPr>
        <p:spPr>
          <a:xfrm>
            <a:off x="914400" y="5449824"/>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3:</a:t>
            </a:r>
          </a:p>
        </p:txBody>
      </p:sp>
      <p:sp>
        <p:nvSpPr>
          <p:cNvPr id="27" name="TextBox 26"/>
          <p:cNvSpPr txBox="1"/>
          <p:nvPr/>
        </p:nvSpPr>
        <p:spPr>
          <a:xfrm>
            <a:off x="2286000" y="5449824"/>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Organizational antibodies — “AI doesn’t work here”</a:t>
            </a:r>
          </a:p>
        </p:txBody>
      </p:sp>
      <p:sp>
        <p:nvSpPr>
          <p:cNvPr id="28" name="TextBox 27"/>
          <p:cNvSpPr txBox="1"/>
          <p:nvPr/>
        </p:nvSpPr>
        <p:spPr>
          <a:xfrm>
            <a:off x="914400" y="5705856"/>
            <a:ext cx="1371600" cy="261610"/>
          </a:xfrm>
          <a:prstGeom prst="rect">
            <a:avLst/>
          </a:prstGeom>
          <a:noFill/>
        </p:spPr>
        <p:txBody>
          <a:bodyPr wrap="square">
            <a:spAutoFit/>
          </a:bodyPr>
          <a:lstStyle/>
          <a:p>
            <a:pPr algn="l">
              <a:defRPr sz="1100" b="1" i="0">
                <a:solidFill>
                  <a:srgbClr val="000050"/>
                </a:solidFill>
                <a:latin typeface="Helvetica Neue"/>
              </a:defRPr>
            </a:pPr>
            <a:r>
              <a:rPr dirty="0">
                <a:latin typeface="Wallace Sans Light" pitchFamily="2" charset="0"/>
              </a:rPr>
              <a:t>Cycle 4:</a:t>
            </a:r>
          </a:p>
        </p:txBody>
      </p:sp>
      <p:sp>
        <p:nvSpPr>
          <p:cNvPr id="29" name="TextBox 28"/>
          <p:cNvSpPr txBox="1"/>
          <p:nvPr/>
        </p:nvSpPr>
        <p:spPr>
          <a:xfrm>
            <a:off x="2286000" y="5705856"/>
            <a:ext cx="86868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Structural inability — the best people have stopped engaging</a:t>
            </a:r>
          </a:p>
        </p:txBody>
      </p:sp>
      <p:sp>
        <p:nvSpPr>
          <p:cNvPr id="30" name="TextBox 2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1" name="TextBox 3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5</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Five Cultural Patterns Predict AI Failure Before Launch</a:t>
            </a:r>
          </a:p>
        </p:txBody>
      </p:sp>
      <p:graphicFrame>
        <p:nvGraphicFramePr>
          <p:cNvPr id="3" name="Table 2"/>
          <p:cNvGraphicFramePr>
            <a:graphicFrameLocks noGrp="1"/>
          </p:cNvGraphicFramePr>
          <p:nvPr/>
        </p:nvGraphicFramePr>
        <p:xfrm>
          <a:off x="548640" y="1097280"/>
          <a:ext cx="10972800" cy="411480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43400">
                  <a:extLst>
                    <a:ext uri="{9D8B030D-6E8A-4147-A177-3AD203B41FA5}">
                      <a16:colId xmlns:a16="http://schemas.microsoft.com/office/drawing/2014/main" val="20002"/>
                    </a:ext>
                  </a:extLst>
                </a:gridCol>
              </a:tblGrid>
              <a:tr h="685800">
                <a:tc>
                  <a:txBody>
                    <a:bodyPr/>
                    <a:lstStyle/>
                    <a:p>
                      <a:pPr>
                        <a:spcAft>
                          <a:spcPts val="200"/>
                        </a:spcAft>
                        <a:defRPr sz="1200" b="1">
                          <a:solidFill>
                            <a:srgbClr val="000050"/>
                          </a:solidFill>
                          <a:latin typeface="Helvetica Neue"/>
                        </a:defRPr>
                      </a:pPr>
                      <a:r>
                        <a:rPr b="0" i="0" dirty="0">
                          <a:latin typeface="Wallace Sans Light" pitchFamily="2" charset="0"/>
                        </a:rPr>
                        <a:t>Pattern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What It Looks Like</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What It Costs</a:t>
                      </a:r>
                    </a:p>
                  </a:txBody>
                  <a:tcPr>
                    <a:solidFill>
                      <a:srgbClr val="DDDDF8"/>
                    </a:solidFill>
                  </a:tcPr>
                </a:tc>
                <a:extLst>
                  <a:ext uri="{0D108BD9-81ED-4DB2-BD59-A6C34878D82A}">
                    <a16:rowId xmlns:a16="http://schemas.microsoft.com/office/drawing/2014/main" val="10000"/>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Permission Culture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wait for approval before experimenting</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Innovation dies in committee; competitors move faster</a:t>
                      </a:r>
                    </a:p>
                  </a:txBody>
                  <a:tcPr>
                    <a:noFill/>
                  </a:tcPr>
                </a:tc>
                <a:extLst>
                  <a:ext uri="{0D108BD9-81ED-4DB2-BD59-A6C34878D82A}">
                    <a16:rowId xmlns:a16="http://schemas.microsoft.com/office/drawing/2014/main" val="10001"/>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Metric Misalignment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AI success measured by deployment, not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ship models no one uses; declare victory anyway</a:t>
                      </a:r>
                    </a:p>
                  </a:txBody>
                  <a:tcPr>
                    <a:noFill/>
                  </a:tcPr>
                </a:tc>
                <a:extLst>
                  <a:ext uri="{0D108BD9-81ED-4DB2-BD59-A6C34878D82A}">
                    <a16:rowId xmlns:a16="http://schemas.microsoft.com/office/drawing/2014/main" val="10002"/>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Invisible Middle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Middle management neither sponsors nor blocks — they wait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Initiatives lose momentum in the layer that controls execution</a:t>
                      </a:r>
                    </a:p>
                  </a:txBody>
                  <a:tcPr>
                    <a:noFill/>
                  </a:tcPr>
                </a:tc>
                <a:extLst>
                  <a:ext uri="{0D108BD9-81ED-4DB2-BD59-A6C34878D82A}">
                    <a16:rowId xmlns:a16="http://schemas.microsoft.com/office/drawing/2014/main" val="10003"/>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Skills Theater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Training programs check boxes but don’t build capability</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Teams attend workshops, return to old workflows Monday morning</a:t>
                      </a:r>
                    </a:p>
                  </a:txBody>
                  <a:tcPr>
                    <a:noFill/>
                  </a:tcPr>
                </a:tc>
                <a:extLst>
                  <a:ext uri="{0D108BD9-81ED-4DB2-BD59-A6C34878D82A}">
                    <a16:rowId xmlns:a16="http://schemas.microsoft.com/office/drawing/2014/main" val="10004"/>
                  </a:ext>
                </a:extLst>
              </a:tr>
              <a:tr h="685800">
                <a:tc>
                  <a:txBody>
                    <a:bodyPr/>
                    <a:lstStyle/>
                    <a:p>
                      <a:pPr>
                        <a:spcAft>
                          <a:spcPts val="200"/>
                        </a:spcAft>
                        <a:defRPr sz="1200">
                          <a:solidFill>
                            <a:srgbClr val="1A1A1A"/>
                          </a:solidFill>
                          <a:latin typeface="Helvetica Neue"/>
                        </a:defRPr>
                      </a:pPr>
                      <a:r>
                        <a:rPr b="0" i="0" dirty="0">
                          <a:latin typeface="Wallace Sans Light" pitchFamily="2" charset="0"/>
                        </a:rPr>
                        <a:t>Trust Deficit</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“AI will replace us” narrative goes unaddressed</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Best talent disengages or leaves; adoption becomes coercion</a:t>
                      </a:r>
                    </a:p>
                  </a:txBody>
                  <a:tcPr>
                    <a:noFill/>
                  </a:tcPr>
                </a:tc>
                <a:extLst>
                  <a:ext uri="{0D108BD9-81ED-4DB2-BD59-A6C34878D82A}">
                    <a16:rowId xmlns:a16="http://schemas.microsoft.com/office/drawing/2014/main" val="10005"/>
                  </a:ext>
                </a:extLst>
              </a:tr>
            </a:tbl>
          </a:graphicData>
        </a:graphic>
      </p:graphicFrame>
      <p:sp>
        <p:nvSpPr>
          <p:cNvPr id="4" name="Rectangle 3"/>
          <p:cNvSpPr/>
          <p:nvPr/>
        </p:nvSpPr>
        <p:spPr>
          <a:xfrm>
            <a:off x="548640" y="5394960"/>
            <a:ext cx="10972800" cy="6400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5486400"/>
            <a:ext cx="10058400" cy="307777"/>
          </a:xfrm>
          <a:prstGeom prst="rect">
            <a:avLst/>
          </a:prstGeom>
          <a:noFill/>
        </p:spPr>
        <p:txBody>
          <a:bodyPr wrap="square">
            <a:spAutoFit/>
          </a:bodyPr>
          <a:lstStyle/>
          <a:p>
            <a:pPr algn="l">
              <a:defRPr sz="1400" b="1" i="0">
                <a:solidFill>
                  <a:srgbClr val="000050"/>
                </a:solidFill>
                <a:latin typeface="Helvetica Neue"/>
              </a:defRPr>
            </a:pPr>
            <a:r>
              <a:rPr dirty="0">
                <a:latin typeface="Wallace Sans Light" pitchFamily="2" charset="0"/>
              </a:rPr>
              <a:t>If even two of these patterns are present, the initiative is at risk before a single model is trained.</a:t>
            </a:r>
          </a:p>
        </p:txBody>
      </p:sp>
      <p:sp>
        <p:nvSpPr>
          <p:cNvPr id="6" name="TextBox 5"/>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7" name="TextBox 6"/>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92443"/>
          </a:xfrm>
          <a:prstGeom prst="rect">
            <a:avLst/>
          </a:prstGeom>
          <a:noFill/>
        </p:spPr>
        <p:txBody>
          <a:bodyPr wrap="square">
            <a:spAutoFit/>
          </a:bodyPr>
          <a:lstStyle/>
          <a:p>
            <a:pPr algn="l">
              <a:defRPr sz="2600" b="0" i="0">
                <a:solidFill>
                  <a:srgbClr val="000050"/>
                </a:solidFill>
                <a:latin typeface="Helvetica Neue"/>
              </a:defRPr>
            </a:pPr>
            <a:r>
              <a:rPr dirty="0">
                <a:latin typeface="Wallace Sans Light" pitchFamily="2" charset="0"/>
              </a:rPr>
              <a:t>Organizations That Break the Cycle Invest in Culture Before Code</a:t>
            </a:r>
          </a:p>
        </p:txBody>
      </p:sp>
      <p:graphicFrame>
        <p:nvGraphicFramePr>
          <p:cNvPr id="3" name="Table 2"/>
          <p:cNvGraphicFramePr>
            <a:graphicFrameLocks noGrp="1"/>
          </p:cNvGraphicFramePr>
          <p:nvPr/>
        </p:nvGraphicFramePr>
        <p:xfrm>
          <a:off x="548640" y="1097280"/>
          <a:ext cx="10972800" cy="347472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tblGrid>
              <a:tr h="868680">
                <a:tc>
                  <a:txBody>
                    <a:bodyPr/>
                    <a:lstStyle/>
                    <a:p>
                      <a:pPr>
                        <a:spcAft>
                          <a:spcPts val="200"/>
                        </a:spcAft>
                        <a:defRPr sz="1100" b="1">
                          <a:solidFill>
                            <a:srgbClr val="000050"/>
                          </a:solidFill>
                          <a:latin typeface="Helvetica Neue"/>
                        </a:defRPr>
                      </a:pPr>
                      <a:r>
                        <a:rPr b="0" i="0" dirty="0">
                          <a:latin typeface="Wallace Sans Light" pitchFamily="2" charset="0"/>
                        </a:rPr>
                        <a:t>What They Do</a:t>
                      </a:r>
                    </a:p>
                  </a:txBody>
                  <a:tcPr>
                    <a:solidFill>
                      <a:srgbClr val="DDDDF8"/>
                    </a:solidFill>
                  </a:tcPr>
                </a:tc>
                <a:tc>
                  <a:txBody>
                    <a:bodyPr/>
                    <a:lstStyle/>
                    <a:p>
                      <a:pPr>
                        <a:spcAft>
                          <a:spcPts val="200"/>
                        </a:spcAft>
                        <a:defRPr sz="1100" b="1">
                          <a:solidFill>
                            <a:srgbClr val="000050"/>
                          </a:solidFill>
                          <a:latin typeface="Helvetica Neue"/>
                        </a:defRPr>
                      </a:pPr>
                      <a:r>
                        <a:rPr b="0" i="0" dirty="0">
                          <a:latin typeface="Wallace Sans Light" pitchFamily="2" charset="0"/>
                        </a:rPr>
                        <a:t>Why It Works</a:t>
                      </a:r>
                    </a:p>
                  </a:txBody>
                  <a:tcPr>
                    <a:solidFill>
                      <a:srgbClr val="DDDDF8"/>
                    </a:solidFill>
                  </a:tcPr>
                </a:tc>
                <a:tc>
                  <a:txBody>
                    <a:bodyPr/>
                    <a:lstStyle/>
                    <a:p>
                      <a:pPr>
                        <a:spcAft>
                          <a:spcPts val="200"/>
                        </a:spcAft>
                        <a:defRPr sz="1100" b="1">
                          <a:solidFill>
                            <a:srgbClr val="000050"/>
                          </a:solidFill>
                          <a:latin typeface="Helvetica Neue"/>
                        </a:defRPr>
                      </a:pPr>
                      <a:r>
                        <a:rPr b="0" i="0" dirty="0">
                          <a:latin typeface="Wallace Sans Light" pitchFamily="2" charset="0"/>
                        </a:rPr>
                        <a:t>Evidence</a:t>
                      </a:r>
                    </a:p>
                  </a:txBody>
                  <a:tcPr>
                    <a:solidFill>
                      <a:srgbClr val="DDDDF8"/>
                    </a:solidFill>
                  </a:tcPr>
                </a:tc>
                <a:extLst>
                  <a:ext uri="{0D108BD9-81ED-4DB2-BD59-A6C34878D82A}">
                    <a16:rowId xmlns:a16="http://schemas.microsoft.com/office/drawing/2014/main" val="10000"/>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Psychological safety first —</a:t>
                      </a:r>
                    </a:p>
                    <a:p>
                      <a:pPr>
                        <a:spcAft>
                          <a:spcPts val="200"/>
                        </a:spcAft>
                        <a:defRPr sz="1100">
                          <a:solidFill>
                            <a:srgbClr val="1A1A1A"/>
                          </a:solidFill>
                          <a:latin typeface="Helvetica Neue"/>
                        </a:defRPr>
                      </a:pPr>
                      <a:r>
                        <a:rPr b="0" i="0" dirty="0">
                          <a:latin typeface="Wallace Sans Light" pitchFamily="2" charset="0"/>
                        </a:rPr>
                        <a:t>create space for experimentation</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People adopt what they help build; fear</a:t>
                      </a:r>
                    </a:p>
                    <a:p>
                      <a:pPr>
                        <a:spcAft>
                          <a:spcPts val="200"/>
                        </a:spcAft>
                        <a:defRPr sz="1100">
                          <a:solidFill>
                            <a:srgbClr val="1A1A1A"/>
                          </a:solidFill>
                          <a:latin typeface="Helvetica Neue"/>
                        </a:defRPr>
                      </a:pPr>
                      <a:r>
                        <a:rPr b="0" i="0" dirty="0">
                          <a:latin typeface="Wallace Sans Light" pitchFamily="2" charset="0"/>
                        </a:rPr>
                        <a:t>of failure kills adoption faster than bad tech</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Google Project Aristotle: psychological</a:t>
                      </a:r>
                    </a:p>
                    <a:p>
                      <a:pPr>
                        <a:spcAft>
                          <a:spcPts val="200"/>
                        </a:spcAft>
                        <a:defRPr sz="1100">
                          <a:solidFill>
                            <a:srgbClr val="1A1A1A"/>
                          </a:solidFill>
                          <a:latin typeface="Helvetica Neue"/>
                        </a:defRPr>
                      </a:pPr>
                      <a:r>
                        <a:rPr b="0" i="0" dirty="0">
                          <a:latin typeface="Wallace Sans Light" pitchFamily="2" charset="0"/>
                        </a:rPr>
                        <a:t>safety is #1 predictor of team effectiveness</a:t>
                      </a:r>
                    </a:p>
                  </a:txBody>
                  <a:tcPr>
                    <a:noFill/>
                  </a:tcPr>
                </a:tc>
                <a:extLst>
                  <a:ext uri="{0D108BD9-81ED-4DB2-BD59-A6C34878D82A}">
                    <a16:rowId xmlns:a16="http://schemas.microsoft.com/office/drawing/2014/main" val="10001"/>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Aligned incentives — measure</a:t>
                      </a:r>
                    </a:p>
                    <a:p>
                      <a:pPr>
                        <a:spcAft>
                          <a:spcPts val="200"/>
                        </a:spcAft>
                        <a:defRPr sz="1100">
                          <a:solidFill>
                            <a:srgbClr val="1A1A1A"/>
                          </a:solidFill>
                          <a:latin typeface="Helvetica Neue"/>
                        </a:defRPr>
                      </a:pPr>
                      <a:r>
                        <a:rPr b="0" i="0" dirty="0">
                          <a:latin typeface="Wallace Sans Light" pitchFamily="2" charset="0"/>
                        </a:rPr>
                        <a:t>adoption and impact, not deployment</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What gets measured gets done; if the metric</a:t>
                      </a:r>
                    </a:p>
                    <a:p>
                      <a:pPr>
                        <a:spcAft>
                          <a:spcPts val="200"/>
                        </a:spcAft>
                        <a:defRPr sz="1100">
                          <a:solidFill>
                            <a:srgbClr val="1A1A1A"/>
                          </a:solidFill>
                          <a:latin typeface="Helvetica Neue"/>
                        </a:defRPr>
                      </a:pPr>
                      <a:r>
                        <a:rPr b="0" i="0" dirty="0">
                          <a:latin typeface="Wallace Sans Light" pitchFamily="2" charset="0"/>
                        </a:rPr>
                        <a:t>is “model deployed” nobody owns adoption</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Microsoft AI transformation: shifted KPIs</a:t>
                      </a:r>
                    </a:p>
                    <a:p>
                      <a:pPr>
                        <a:spcAft>
                          <a:spcPts val="200"/>
                        </a:spcAft>
                        <a:defRPr sz="1100">
                          <a:solidFill>
                            <a:srgbClr val="1A1A1A"/>
                          </a:solidFill>
                          <a:latin typeface="Helvetica Neue"/>
                        </a:defRPr>
                      </a:pPr>
                      <a:r>
                        <a:rPr b="0" i="0" dirty="0">
                          <a:latin typeface="Wallace Sans Light" pitchFamily="2" charset="0"/>
                        </a:rPr>
                        <a:t>from deployment to outcome — adoption +40%</a:t>
                      </a:r>
                    </a:p>
                  </a:txBody>
                  <a:tcPr>
                    <a:noFill/>
                  </a:tcPr>
                </a:tc>
                <a:extLst>
                  <a:ext uri="{0D108BD9-81ED-4DB2-BD59-A6C34878D82A}">
                    <a16:rowId xmlns:a16="http://schemas.microsoft.com/office/drawing/2014/main" val="10002"/>
                  </a:ext>
                </a:extLst>
              </a:tr>
              <a:tr h="868680">
                <a:tc>
                  <a:txBody>
                    <a:bodyPr/>
                    <a:lstStyle/>
                    <a:p>
                      <a:pPr>
                        <a:spcAft>
                          <a:spcPts val="200"/>
                        </a:spcAft>
                        <a:defRPr sz="1100">
                          <a:solidFill>
                            <a:srgbClr val="1A1A1A"/>
                          </a:solidFill>
                          <a:latin typeface="Helvetica Neue"/>
                        </a:defRPr>
                      </a:pPr>
                      <a:r>
                        <a:rPr b="0" i="0" dirty="0">
                          <a:latin typeface="Wallace Sans Light" pitchFamily="2" charset="0"/>
                        </a:rPr>
                        <a:t>Visible leadership commitment —</a:t>
                      </a:r>
                    </a:p>
                    <a:p>
                      <a:pPr>
                        <a:spcAft>
                          <a:spcPts val="200"/>
                        </a:spcAft>
                        <a:defRPr sz="1100">
                          <a:solidFill>
                            <a:srgbClr val="1A1A1A"/>
                          </a:solidFill>
                          <a:latin typeface="Helvetica Neue"/>
                        </a:defRPr>
                      </a:pPr>
                      <a:r>
                        <a:rPr b="0" i="0" dirty="0">
                          <a:latin typeface="Wallace Sans Light" pitchFamily="2" charset="0"/>
                        </a:rPr>
                        <a:t>leaders use the tools publicly</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Permission flows downward; if the VP doesn’t</a:t>
                      </a:r>
                    </a:p>
                    <a:p>
                      <a:pPr>
                        <a:spcAft>
                          <a:spcPts val="200"/>
                        </a:spcAft>
                        <a:defRPr sz="1100">
                          <a:solidFill>
                            <a:srgbClr val="1A1A1A"/>
                          </a:solidFill>
                          <a:latin typeface="Helvetica Neue"/>
                        </a:defRPr>
                      </a:pPr>
                      <a:r>
                        <a:rPr b="0" i="0" dirty="0">
                          <a:latin typeface="Wallace Sans Light" pitchFamily="2" charset="0"/>
                        </a:rPr>
                        <a:t>use it, the team won’t either</a:t>
                      </a:r>
                    </a:p>
                  </a:txBody>
                  <a:tcPr>
                    <a:noFill/>
                  </a:tcPr>
                </a:tc>
                <a:tc>
                  <a:txBody>
                    <a:bodyPr/>
                    <a:lstStyle/>
                    <a:p>
                      <a:pPr>
                        <a:spcAft>
                          <a:spcPts val="200"/>
                        </a:spcAft>
                        <a:defRPr sz="1100">
                          <a:solidFill>
                            <a:srgbClr val="1A1A1A"/>
                          </a:solidFill>
                          <a:latin typeface="Helvetica Neue"/>
                        </a:defRPr>
                      </a:pPr>
                      <a:r>
                        <a:rPr b="0" i="0" dirty="0">
                          <a:latin typeface="Wallace Sans Light" pitchFamily="2" charset="0"/>
                        </a:rPr>
                        <a:t>MIT CISR: executive engagement is the</a:t>
                      </a:r>
                    </a:p>
                    <a:p>
                      <a:pPr>
                        <a:spcAft>
                          <a:spcPts val="200"/>
                        </a:spcAft>
                        <a:defRPr sz="1100">
                          <a:solidFill>
                            <a:srgbClr val="1A1A1A"/>
                          </a:solidFill>
                          <a:latin typeface="Helvetica Neue"/>
                        </a:defRPr>
                      </a:pPr>
                      <a:r>
                        <a:rPr b="0" i="0" dirty="0">
                          <a:latin typeface="Wallace Sans Light" pitchFamily="2" charset="0"/>
                        </a:rPr>
                        <a:t>strongest predictor of transformation success</a:t>
                      </a:r>
                    </a:p>
                  </a:txBody>
                  <a:tcPr>
                    <a:noFill/>
                  </a:tcPr>
                </a:tc>
                <a:extLst>
                  <a:ext uri="{0D108BD9-81ED-4DB2-BD59-A6C34878D82A}">
                    <a16:rowId xmlns:a16="http://schemas.microsoft.com/office/drawing/2014/main" val="10003"/>
                  </a:ext>
                </a:extLst>
              </a:tr>
            </a:tbl>
          </a:graphicData>
        </a:graphic>
      </p:graphicFrame>
      <p:sp>
        <p:nvSpPr>
          <p:cNvPr id="4" name="Rectangle 3"/>
          <p:cNvSpPr/>
          <p:nvPr/>
        </p:nvSpPr>
        <p:spPr>
          <a:xfrm>
            <a:off x="548640" y="4846320"/>
            <a:ext cx="10972800" cy="109728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4937760"/>
            <a:ext cx="10058400" cy="292388"/>
          </a:xfrm>
          <a:prstGeom prst="rect">
            <a:avLst/>
          </a:prstGeom>
          <a:noFill/>
        </p:spPr>
        <p:txBody>
          <a:bodyPr wrap="square">
            <a:spAutoFit/>
          </a:bodyPr>
          <a:lstStyle/>
          <a:p>
            <a:pPr algn="l">
              <a:defRPr sz="1300" b="0" i="0">
                <a:solidFill>
                  <a:srgbClr val="9999CC"/>
                </a:solidFill>
                <a:latin typeface="Helvetica Neue"/>
              </a:defRPr>
            </a:pPr>
            <a:r>
              <a:rPr dirty="0">
                <a:latin typeface="Wallace Sans Light" pitchFamily="2" charset="0"/>
              </a:rPr>
              <a:t>The common thread:</a:t>
            </a:r>
          </a:p>
        </p:txBody>
      </p:sp>
      <p:sp>
        <p:nvSpPr>
          <p:cNvPr id="6" name="TextBox 5"/>
          <p:cNvSpPr txBox="1"/>
          <p:nvPr/>
        </p:nvSpPr>
        <p:spPr>
          <a:xfrm>
            <a:off x="914400" y="530352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They treat culture as infrastructure — something you build and maintain — not as a side effect of technology deployment.</a:t>
            </a:r>
          </a:p>
        </p:txBody>
      </p:sp>
      <p:sp>
        <p:nvSpPr>
          <p:cNvPr id="7" name="TextBox 6"/>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8" name="TextBox 7"/>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7</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461665"/>
          </a:xfrm>
          <a:prstGeom prst="rect">
            <a:avLst/>
          </a:prstGeom>
          <a:noFill/>
        </p:spPr>
        <p:txBody>
          <a:bodyPr wrap="square">
            <a:spAutoFit/>
          </a:bodyPr>
          <a:lstStyle/>
          <a:p>
            <a:pPr algn="l">
              <a:defRPr sz="2400" b="0" i="0">
                <a:solidFill>
                  <a:srgbClr val="000050"/>
                </a:solidFill>
                <a:latin typeface="Helvetica Neue"/>
              </a:defRPr>
            </a:pPr>
            <a:r>
              <a:rPr dirty="0">
                <a:latin typeface="Wallace Sans Light" pitchFamily="2" charset="0"/>
              </a:rPr>
              <a:t>The Shift Requires People, Process, and Technology — In That Order</a:t>
            </a:r>
          </a:p>
        </p:txBody>
      </p:sp>
      <p:sp>
        <p:nvSpPr>
          <p:cNvPr id="3" name="TextBox 2"/>
          <p:cNvSpPr txBox="1"/>
          <p:nvPr/>
        </p:nvSpPr>
        <p:spPr>
          <a:xfrm>
            <a:off x="548640" y="822960"/>
            <a:ext cx="10972800" cy="307777"/>
          </a:xfrm>
          <a:prstGeom prst="rect">
            <a:avLst/>
          </a:prstGeom>
          <a:noFill/>
        </p:spPr>
        <p:txBody>
          <a:bodyPr wrap="square">
            <a:spAutoFit/>
          </a:bodyPr>
          <a:lstStyle/>
          <a:p>
            <a:pPr algn="l">
              <a:defRPr sz="1400" b="1" i="0">
                <a:solidFill>
                  <a:srgbClr val="3333AA"/>
                </a:solidFill>
                <a:latin typeface="Helvetica Neue"/>
              </a:defRPr>
            </a:pPr>
            <a:r>
              <a:rPr dirty="0">
                <a:latin typeface="Wallace Sans Light" pitchFamily="2" charset="0"/>
              </a:rPr>
              <a:t>Most organizations invest in reverse order. That sequence is the source of cultural debt.</a:t>
            </a:r>
          </a:p>
        </p:txBody>
      </p:sp>
      <p:sp>
        <p:nvSpPr>
          <p:cNvPr id="4" name="Rectangle 3"/>
          <p:cNvSpPr/>
          <p:nvPr/>
        </p:nvSpPr>
        <p:spPr>
          <a:xfrm>
            <a:off x="5486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315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People</a:t>
            </a:r>
          </a:p>
        </p:txBody>
      </p:sp>
      <p:sp>
        <p:nvSpPr>
          <p:cNvPr id="6" name="TextBox 5"/>
          <p:cNvSpPr txBox="1"/>
          <p:nvPr/>
        </p:nvSpPr>
        <p:spPr>
          <a:xfrm>
            <a:off x="731520" y="19659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AI as threat → To: AI as multiplier</a:t>
            </a:r>
          </a:p>
        </p:txBody>
      </p:sp>
      <p:sp>
        <p:nvSpPr>
          <p:cNvPr id="7" name="TextBox 6"/>
          <p:cNvSpPr txBox="1"/>
          <p:nvPr/>
        </p:nvSpPr>
        <p:spPr>
          <a:xfrm>
            <a:off x="7315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Invest in capability, not just training. Redefine roles around Human + AI.</a:t>
            </a:r>
          </a:p>
        </p:txBody>
      </p:sp>
      <p:sp>
        <p:nvSpPr>
          <p:cNvPr id="8" name="TextBox 7"/>
          <p:cNvSpPr txBox="1"/>
          <p:nvPr/>
        </p:nvSpPr>
        <p:spPr>
          <a:xfrm>
            <a:off x="731520" y="28803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Skills theater → To: Apprenticeship</a:t>
            </a:r>
          </a:p>
        </p:txBody>
      </p:sp>
      <p:sp>
        <p:nvSpPr>
          <p:cNvPr id="9" name="TextBox 8"/>
          <p:cNvSpPr txBox="1"/>
          <p:nvPr/>
        </p:nvSpPr>
        <p:spPr>
          <a:xfrm>
            <a:off x="7315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Learn by doing, not by slide deck. Build internal multipliers.</a:t>
            </a:r>
          </a:p>
        </p:txBody>
      </p:sp>
      <p:sp>
        <p:nvSpPr>
          <p:cNvPr id="10" name="Rectangle 9"/>
          <p:cNvSpPr/>
          <p:nvPr/>
        </p:nvSpPr>
        <p:spPr>
          <a:xfrm>
            <a:off x="42062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3891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Process</a:t>
            </a:r>
          </a:p>
        </p:txBody>
      </p:sp>
      <p:sp>
        <p:nvSpPr>
          <p:cNvPr id="12" name="TextBox 11"/>
          <p:cNvSpPr txBox="1"/>
          <p:nvPr/>
        </p:nvSpPr>
        <p:spPr>
          <a:xfrm>
            <a:off x="4389120" y="19659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Deploy then adopt → To: Co-design then deploy</a:t>
            </a:r>
          </a:p>
        </p:txBody>
      </p:sp>
      <p:sp>
        <p:nvSpPr>
          <p:cNvPr id="13" name="TextBox 12"/>
          <p:cNvSpPr txBox="1"/>
          <p:nvPr/>
        </p:nvSpPr>
        <p:spPr>
          <a:xfrm>
            <a:off x="43891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Embed adoption into delivery. Measure outcomes, not outputs.</a:t>
            </a:r>
          </a:p>
        </p:txBody>
      </p:sp>
      <p:sp>
        <p:nvSpPr>
          <p:cNvPr id="14" name="TextBox 13"/>
          <p:cNvSpPr txBox="1"/>
          <p:nvPr/>
        </p:nvSpPr>
        <p:spPr>
          <a:xfrm>
            <a:off x="4389120" y="2880360"/>
            <a:ext cx="3108960" cy="246221"/>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IT-led → To: Business-led, IT-enabled</a:t>
            </a:r>
          </a:p>
        </p:txBody>
      </p:sp>
      <p:sp>
        <p:nvSpPr>
          <p:cNvPr id="15" name="TextBox 14"/>
          <p:cNvSpPr txBox="1"/>
          <p:nvPr/>
        </p:nvSpPr>
        <p:spPr>
          <a:xfrm>
            <a:off x="43891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Business owns the outcome. Technology teams enable.</a:t>
            </a:r>
          </a:p>
        </p:txBody>
      </p:sp>
      <p:sp>
        <p:nvSpPr>
          <p:cNvPr id="16" name="Rectangle 15"/>
          <p:cNvSpPr/>
          <p:nvPr/>
        </p:nvSpPr>
        <p:spPr>
          <a:xfrm>
            <a:off x="7863840" y="1371600"/>
            <a:ext cx="3474720" cy="41148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046720" y="1463040"/>
            <a:ext cx="3108960" cy="365760"/>
          </a:xfrm>
          <a:prstGeom prst="rect">
            <a:avLst/>
          </a:prstGeom>
          <a:noFill/>
        </p:spPr>
        <p:txBody>
          <a:bodyPr wrap="square">
            <a:spAutoFit/>
          </a:bodyPr>
          <a:lstStyle/>
          <a:p>
            <a:pPr algn="l">
              <a:defRPr sz="1800" b="1" i="0">
                <a:solidFill>
                  <a:srgbClr val="000050"/>
                </a:solidFill>
                <a:latin typeface="Helvetica Neue"/>
              </a:defRPr>
            </a:pPr>
            <a:r>
              <a:rPr dirty="0">
                <a:latin typeface="Wallace Sans Light" pitchFamily="2" charset="0"/>
              </a:rPr>
              <a:t>Technology</a:t>
            </a:r>
          </a:p>
        </p:txBody>
      </p:sp>
      <p:sp>
        <p:nvSpPr>
          <p:cNvPr id="18" name="TextBox 17"/>
          <p:cNvSpPr txBox="1"/>
          <p:nvPr/>
        </p:nvSpPr>
        <p:spPr>
          <a:xfrm>
            <a:off x="8046720" y="19659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Build it, they will come → To: Build what they asked for</a:t>
            </a:r>
          </a:p>
        </p:txBody>
      </p:sp>
      <p:sp>
        <p:nvSpPr>
          <p:cNvPr id="19" name="TextBox 18"/>
          <p:cNvSpPr txBox="1"/>
          <p:nvPr/>
        </p:nvSpPr>
        <p:spPr>
          <a:xfrm>
            <a:off x="8046720" y="23774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Meet people where they are. Integrate into existing workflows.</a:t>
            </a:r>
          </a:p>
        </p:txBody>
      </p:sp>
      <p:sp>
        <p:nvSpPr>
          <p:cNvPr id="20" name="TextBox 19"/>
          <p:cNvSpPr txBox="1"/>
          <p:nvPr/>
        </p:nvSpPr>
        <p:spPr>
          <a:xfrm>
            <a:off x="8046720" y="2880360"/>
            <a:ext cx="3108960" cy="411480"/>
          </a:xfrm>
          <a:prstGeom prst="rect">
            <a:avLst/>
          </a:prstGeom>
          <a:noFill/>
        </p:spPr>
        <p:txBody>
          <a:bodyPr wrap="square">
            <a:spAutoFit/>
          </a:bodyPr>
          <a:lstStyle/>
          <a:p>
            <a:pPr algn="l">
              <a:defRPr sz="1000" b="1" i="0">
                <a:solidFill>
                  <a:srgbClr val="000050"/>
                </a:solidFill>
                <a:latin typeface="Helvetica Neue"/>
              </a:defRPr>
            </a:pPr>
            <a:r>
              <a:rPr dirty="0">
                <a:latin typeface="Wallace Sans Light" pitchFamily="2" charset="0"/>
              </a:rPr>
              <a:t>• From: Centralized tools → To: Contextual guardrails</a:t>
            </a:r>
          </a:p>
        </p:txBody>
      </p:sp>
      <p:sp>
        <p:nvSpPr>
          <p:cNvPr id="21" name="TextBox 20"/>
          <p:cNvSpPr txBox="1"/>
          <p:nvPr/>
        </p:nvSpPr>
        <p:spPr>
          <a:xfrm>
            <a:off x="8046720" y="3291840"/>
            <a:ext cx="3108960" cy="411480"/>
          </a:xfrm>
          <a:prstGeom prst="rect">
            <a:avLst/>
          </a:prstGeom>
          <a:noFill/>
        </p:spPr>
        <p:txBody>
          <a:bodyPr wrap="square">
            <a:spAutoFit/>
          </a:bodyPr>
          <a:lstStyle/>
          <a:p>
            <a:pPr algn="l">
              <a:defRPr sz="1000" b="0" i="0">
                <a:solidFill>
                  <a:srgbClr val="1A1A1A"/>
                </a:solidFill>
                <a:latin typeface="Helvetica Neue"/>
              </a:defRPr>
            </a:pPr>
            <a:r>
              <a:rPr dirty="0">
                <a:latin typeface="Wallace Sans Light" pitchFamily="2" charset="0"/>
              </a:rPr>
              <a:t>  Responsible AI at platform level. Teams focus on value.</a:t>
            </a:r>
          </a:p>
        </p:txBody>
      </p:sp>
      <p:sp>
        <p:nvSpPr>
          <p:cNvPr id="22" name="Rectangle 21"/>
          <p:cNvSpPr/>
          <p:nvPr/>
        </p:nvSpPr>
        <p:spPr>
          <a:xfrm>
            <a:off x="548640" y="5669280"/>
            <a:ext cx="10972800" cy="4572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4400" y="5715000"/>
            <a:ext cx="10058400" cy="292388"/>
          </a:xfrm>
          <a:prstGeom prst="rect">
            <a:avLst/>
          </a:prstGeom>
          <a:noFill/>
        </p:spPr>
        <p:txBody>
          <a:bodyPr wrap="square">
            <a:spAutoFit/>
          </a:bodyPr>
          <a:lstStyle/>
          <a:p>
            <a:pPr algn="l">
              <a:defRPr sz="1300" b="1" i="0">
                <a:solidFill>
                  <a:srgbClr val="FFFFFF"/>
                </a:solidFill>
                <a:latin typeface="Helvetica Neue"/>
              </a:defRPr>
            </a:pPr>
            <a:r>
              <a:rPr dirty="0">
                <a:latin typeface="Wallace Sans Light" pitchFamily="2" charset="0"/>
              </a:rPr>
              <a:t>Start with People (Q1)  |  Redesign Process around adoption (Q2)  |  Then select Technology (Q3)</a:t>
            </a:r>
          </a:p>
        </p:txBody>
      </p:sp>
      <p:sp>
        <p:nvSpPr>
          <p:cNvPr id="24" name="TextBox 2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5" name="TextBox 2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8</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Cultural Debt Grows Quarterly — Every Delay Compounds the Cost</a:t>
            </a:r>
          </a:p>
        </p:txBody>
      </p:sp>
      <p:sp>
        <p:nvSpPr>
          <p:cNvPr id="3" name="Rectangle 2"/>
          <p:cNvSpPr/>
          <p:nvPr/>
        </p:nvSpPr>
        <p:spPr>
          <a:xfrm>
            <a:off x="548640" y="1371600"/>
            <a:ext cx="2560320" cy="320040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1</a:t>
            </a:r>
          </a:p>
        </p:txBody>
      </p:sp>
      <p:sp>
        <p:nvSpPr>
          <p:cNvPr id="5" name="TextBox 4"/>
          <p:cNvSpPr txBox="1"/>
          <p:nvPr/>
        </p:nvSpPr>
        <p:spPr>
          <a:xfrm>
            <a:off x="73152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Skepticism</a:t>
            </a:r>
          </a:p>
        </p:txBody>
      </p:sp>
      <p:sp>
        <p:nvSpPr>
          <p:cNvPr id="6" name="TextBox 5"/>
          <p:cNvSpPr txBox="1"/>
          <p:nvPr/>
        </p:nvSpPr>
        <p:spPr>
          <a:xfrm>
            <a:off x="73152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“Let’s wait and see”</a:t>
            </a:r>
          </a:p>
        </p:txBody>
      </p:sp>
      <p:sp>
        <p:nvSpPr>
          <p:cNvPr id="7" name="TextBox 6"/>
          <p:cNvSpPr txBox="1"/>
          <p:nvPr/>
        </p:nvSpPr>
        <p:spPr>
          <a:xfrm>
            <a:off x="73152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Low cost to address</a:t>
            </a:r>
          </a:p>
        </p:txBody>
      </p:sp>
      <p:sp>
        <p:nvSpPr>
          <p:cNvPr id="8" name="Rectangle 7"/>
          <p:cNvSpPr/>
          <p:nvPr/>
        </p:nvSpPr>
        <p:spPr>
          <a:xfrm>
            <a:off x="3383280" y="1371600"/>
            <a:ext cx="2560320" cy="320040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56616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2</a:t>
            </a:r>
          </a:p>
        </p:txBody>
      </p:sp>
      <p:sp>
        <p:nvSpPr>
          <p:cNvPr id="10" name="TextBox 9"/>
          <p:cNvSpPr txBox="1"/>
          <p:nvPr/>
        </p:nvSpPr>
        <p:spPr>
          <a:xfrm>
            <a:off x="356616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Resistance</a:t>
            </a:r>
          </a:p>
        </p:txBody>
      </p:sp>
      <p:sp>
        <p:nvSpPr>
          <p:cNvPr id="11" name="TextBox 10"/>
          <p:cNvSpPr txBox="1"/>
          <p:nvPr/>
        </p:nvSpPr>
        <p:spPr>
          <a:xfrm>
            <a:off x="356616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“This didn’t work last time”</a:t>
            </a:r>
          </a:p>
        </p:txBody>
      </p:sp>
      <p:sp>
        <p:nvSpPr>
          <p:cNvPr id="12" name="TextBox 11"/>
          <p:cNvSpPr txBox="1"/>
          <p:nvPr/>
        </p:nvSpPr>
        <p:spPr>
          <a:xfrm>
            <a:off x="356616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Moderate cost</a:t>
            </a:r>
          </a:p>
        </p:txBody>
      </p:sp>
      <p:sp>
        <p:nvSpPr>
          <p:cNvPr id="13" name="Rectangle 12"/>
          <p:cNvSpPr/>
          <p:nvPr/>
        </p:nvSpPr>
        <p:spPr>
          <a:xfrm>
            <a:off x="6217920" y="1371600"/>
            <a:ext cx="2560320" cy="3200400"/>
          </a:xfrm>
          <a:prstGeom prst="rect">
            <a:avLst/>
          </a:prstGeom>
          <a:solidFill>
            <a:srgbClr val="FFE0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Quarter 4</a:t>
            </a:r>
          </a:p>
        </p:txBody>
      </p:sp>
      <p:sp>
        <p:nvSpPr>
          <p:cNvPr id="15" name="TextBox 14"/>
          <p:cNvSpPr txBox="1"/>
          <p:nvPr/>
        </p:nvSpPr>
        <p:spPr>
          <a:xfrm>
            <a:off x="6400800" y="1920240"/>
            <a:ext cx="2194560" cy="430887"/>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Antibodies</a:t>
            </a:r>
          </a:p>
        </p:txBody>
      </p:sp>
      <p:sp>
        <p:nvSpPr>
          <p:cNvPr id="16" name="TextBox 15"/>
          <p:cNvSpPr txBox="1"/>
          <p:nvPr/>
        </p:nvSpPr>
        <p:spPr>
          <a:xfrm>
            <a:off x="6400800" y="2560320"/>
            <a:ext cx="2194560" cy="276999"/>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“AI isn’t for us”</a:t>
            </a:r>
          </a:p>
        </p:txBody>
      </p:sp>
      <p:sp>
        <p:nvSpPr>
          <p:cNvPr id="17" name="TextBox 16"/>
          <p:cNvSpPr txBox="1"/>
          <p:nvPr/>
        </p:nvSpPr>
        <p:spPr>
          <a:xfrm>
            <a:off x="6400800" y="3291840"/>
            <a:ext cx="2194560" cy="430887"/>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High cost — requires visible reset</a:t>
            </a:r>
          </a:p>
        </p:txBody>
      </p:sp>
      <p:sp>
        <p:nvSpPr>
          <p:cNvPr id="18" name="Rectangle 17"/>
          <p:cNvSpPr/>
          <p:nvPr/>
        </p:nvSpPr>
        <p:spPr>
          <a:xfrm>
            <a:off x="9052560" y="1371600"/>
            <a:ext cx="2560320" cy="3200400"/>
          </a:xfrm>
          <a:prstGeom prst="rect">
            <a:avLst/>
          </a:prstGeom>
          <a:solidFill>
            <a:srgbClr val="FFCC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35440" y="1463040"/>
            <a:ext cx="2194560" cy="307777"/>
          </a:xfrm>
          <a:prstGeom prst="rect">
            <a:avLst/>
          </a:prstGeom>
          <a:noFill/>
        </p:spPr>
        <p:txBody>
          <a:bodyPr wrap="square">
            <a:spAutoFit/>
          </a:bodyPr>
          <a:lstStyle/>
          <a:p>
            <a:pPr algn="ctr">
              <a:defRPr sz="1400" b="1" i="0">
                <a:solidFill>
                  <a:srgbClr val="000050"/>
                </a:solidFill>
                <a:latin typeface="Helvetica Neue"/>
              </a:defRPr>
            </a:pPr>
            <a:r>
              <a:rPr dirty="0">
                <a:latin typeface="Wallace Sans Light" pitchFamily="2" charset="0"/>
              </a:rPr>
              <a:t>Year 2</a:t>
            </a:r>
          </a:p>
        </p:txBody>
      </p:sp>
      <p:sp>
        <p:nvSpPr>
          <p:cNvPr id="20" name="TextBox 19"/>
          <p:cNvSpPr txBox="1"/>
          <p:nvPr/>
        </p:nvSpPr>
        <p:spPr>
          <a:xfrm>
            <a:off x="9235440" y="1920240"/>
            <a:ext cx="2194560" cy="769441"/>
          </a:xfrm>
          <a:prstGeom prst="rect">
            <a:avLst/>
          </a:prstGeom>
          <a:noFill/>
        </p:spPr>
        <p:txBody>
          <a:bodyPr wrap="square">
            <a:spAutoFit/>
          </a:bodyPr>
          <a:lstStyle/>
          <a:p>
            <a:pPr algn="ctr">
              <a:defRPr sz="2200" b="1" i="0">
                <a:solidFill>
                  <a:srgbClr val="000050"/>
                </a:solidFill>
                <a:latin typeface="Helvetica Neue"/>
              </a:defRPr>
            </a:pPr>
            <a:r>
              <a:rPr dirty="0">
                <a:latin typeface="Wallace Sans Light" pitchFamily="2" charset="0"/>
              </a:rPr>
              <a:t>Structural Lock-in</a:t>
            </a:r>
          </a:p>
        </p:txBody>
      </p:sp>
      <p:sp>
        <p:nvSpPr>
          <p:cNvPr id="21" name="TextBox 20"/>
          <p:cNvSpPr txBox="1"/>
          <p:nvPr/>
        </p:nvSpPr>
        <p:spPr>
          <a:xfrm>
            <a:off x="9235440" y="2560320"/>
            <a:ext cx="2194560" cy="457200"/>
          </a:xfrm>
          <a:prstGeom prst="rect">
            <a:avLst/>
          </a:prstGeom>
          <a:noFill/>
        </p:spPr>
        <p:txBody>
          <a:bodyPr wrap="square">
            <a:spAutoFit/>
          </a:bodyPr>
          <a:lstStyle/>
          <a:p>
            <a:pPr algn="ctr">
              <a:defRPr sz="1200" b="0" i="1">
                <a:solidFill>
                  <a:srgbClr val="1A1A1A"/>
                </a:solidFill>
                <a:latin typeface="Helvetica Neue"/>
              </a:defRPr>
            </a:pPr>
            <a:r>
              <a:rPr dirty="0">
                <a:latin typeface="Wallace Sans Light" pitchFamily="2" charset="0"/>
              </a:rPr>
              <a:t>The best people stopped engaging</a:t>
            </a:r>
          </a:p>
        </p:txBody>
      </p:sp>
      <p:sp>
        <p:nvSpPr>
          <p:cNvPr id="22" name="TextBox 21"/>
          <p:cNvSpPr txBox="1"/>
          <p:nvPr/>
        </p:nvSpPr>
        <p:spPr>
          <a:xfrm>
            <a:off x="9235440" y="3291840"/>
            <a:ext cx="2194560" cy="261610"/>
          </a:xfrm>
          <a:prstGeom prst="rect">
            <a:avLst/>
          </a:prstGeom>
          <a:noFill/>
        </p:spPr>
        <p:txBody>
          <a:bodyPr wrap="square">
            <a:spAutoFit/>
          </a:bodyPr>
          <a:lstStyle/>
          <a:p>
            <a:pPr algn="ctr">
              <a:defRPr sz="1100" b="1" i="0">
                <a:solidFill>
                  <a:srgbClr val="3333AA"/>
                </a:solidFill>
                <a:latin typeface="Helvetica Neue"/>
              </a:defRPr>
            </a:pPr>
            <a:r>
              <a:rPr dirty="0">
                <a:latin typeface="Wallace Sans Light" pitchFamily="2" charset="0"/>
              </a:rPr>
              <a:t>Requires org redesign</a:t>
            </a:r>
          </a:p>
        </p:txBody>
      </p:sp>
      <p:sp>
        <p:nvSpPr>
          <p:cNvPr id="23" name="TextBox 22"/>
          <p:cNvSpPr txBox="1"/>
          <p:nvPr/>
        </p:nvSpPr>
        <p:spPr>
          <a:xfrm>
            <a:off x="310896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4" name="TextBox 23"/>
          <p:cNvSpPr txBox="1"/>
          <p:nvPr/>
        </p:nvSpPr>
        <p:spPr>
          <a:xfrm>
            <a:off x="594360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5" name="TextBox 24"/>
          <p:cNvSpPr txBox="1"/>
          <p:nvPr/>
        </p:nvSpPr>
        <p:spPr>
          <a:xfrm>
            <a:off x="8778240" y="2286000"/>
            <a:ext cx="548640" cy="584775"/>
          </a:xfrm>
          <a:prstGeom prst="rect">
            <a:avLst/>
          </a:prstGeom>
          <a:noFill/>
        </p:spPr>
        <p:txBody>
          <a:bodyPr wrap="square">
            <a:spAutoFit/>
          </a:bodyPr>
          <a:lstStyle/>
          <a:p>
            <a:pPr algn="ctr">
              <a:defRPr sz="3200" b="1" i="0">
                <a:solidFill>
                  <a:srgbClr val="000050"/>
                </a:solidFill>
                <a:latin typeface="Helvetica Neue"/>
              </a:defRPr>
            </a:pPr>
            <a:r>
              <a:rPr dirty="0">
                <a:latin typeface="Wallace Sans Light" pitchFamily="2" charset="0"/>
              </a:rPr>
              <a:t>→</a:t>
            </a:r>
          </a:p>
        </p:txBody>
      </p:sp>
      <p:sp>
        <p:nvSpPr>
          <p:cNvPr id="26" name="Rectangle 25"/>
          <p:cNvSpPr/>
          <p:nvPr/>
        </p:nvSpPr>
        <p:spPr>
          <a:xfrm>
            <a:off x="548640" y="4937760"/>
            <a:ext cx="10972800" cy="91440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4400" y="5029200"/>
            <a:ext cx="10058400" cy="320040"/>
          </a:xfrm>
          <a:prstGeom prst="rect">
            <a:avLst/>
          </a:prstGeom>
          <a:noFill/>
        </p:spPr>
        <p:txBody>
          <a:bodyPr wrap="square">
            <a:spAutoFit/>
          </a:bodyPr>
          <a:lstStyle/>
          <a:p>
            <a:pPr algn="l">
              <a:defRPr sz="1400" b="0" i="0">
                <a:solidFill>
                  <a:srgbClr val="9999CC"/>
                </a:solidFill>
                <a:latin typeface="Helvetica Neue"/>
              </a:defRPr>
            </a:pPr>
            <a:r>
              <a:rPr dirty="0">
                <a:latin typeface="Wallace Sans Light" pitchFamily="2" charset="0"/>
              </a:rPr>
              <a:t>The math is simple:</a:t>
            </a:r>
          </a:p>
        </p:txBody>
      </p:sp>
      <p:sp>
        <p:nvSpPr>
          <p:cNvPr id="28" name="TextBox 27"/>
          <p:cNvSpPr txBox="1"/>
          <p:nvPr/>
        </p:nvSpPr>
        <p:spPr>
          <a:xfrm>
            <a:off x="914400" y="5394960"/>
            <a:ext cx="10058400" cy="584775"/>
          </a:xfrm>
          <a:prstGeom prst="rect">
            <a:avLst/>
          </a:prstGeom>
          <a:noFill/>
        </p:spPr>
        <p:txBody>
          <a:bodyPr wrap="square">
            <a:spAutoFit/>
          </a:bodyPr>
          <a:lstStyle/>
          <a:p>
            <a:pPr algn="l">
              <a:defRPr sz="1600" b="1" i="0">
                <a:solidFill>
                  <a:srgbClr val="FFFFFF"/>
                </a:solidFill>
                <a:latin typeface="Helvetica Neue"/>
              </a:defRPr>
            </a:pPr>
            <a:r>
              <a:rPr dirty="0">
                <a:latin typeface="Wallace Sans Light" pitchFamily="2" charset="0"/>
              </a:rPr>
              <a:t>Addressing cultural debt in Q1 costs a leadership conversation. Addressing it in Year 2 costs a transformation program.</a:t>
            </a:r>
          </a:p>
        </p:txBody>
      </p:sp>
      <p:sp>
        <p:nvSpPr>
          <p:cNvPr id="29" name="TextBox 28"/>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30" name="TextBox 29"/>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9</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23220"/>
          </a:xfrm>
          <a:prstGeom prst="rect">
            <a:avLst/>
          </a:prstGeom>
          <a:noFill/>
        </p:spPr>
        <p:txBody>
          <a:bodyPr wrap="square">
            <a:spAutoFit/>
          </a:bodyPr>
          <a:lstStyle/>
          <a:p>
            <a:pPr algn="l">
              <a:defRPr sz="2800" b="0" i="0">
                <a:solidFill>
                  <a:srgbClr val="000050"/>
                </a:solidFill>
                <a:latin typeface="Helvetica Neue"/>
              </a:defRPr>
            </a:pPr>
            <a:r>
              <a:rPr dirty="0">
                <a:latin typeface="Wallace Sans Light" pitchFamily="2" charset="0"/>
              </a:rPr>
              <a:t>Three Actions to Start Paying Down Cultural Debt Today</a:t>
            </a:r>
          </a:p>
        </p:txBody>
      </p:sp>
      <p:sp>
        <p:nvSpPr>
          <p:cNvPr id="3" name="Rectangle 2"/>
          <p:cNvSpPr/>
          <p:nvPr/>
        </p:nvSpPr>
        <p:spPr>
          <a:xfrm>
            <a:off x="548640" y="109728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14300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1. Audit the Cultural Balance Sheet</a:t>
            </a:r>
          </a:p>
        </p:txBody>
      </p:sp>
      <p:sp>
        <p:nvSpPr>
          <p:cNvPr id="5" name="TextBox 4"/>
          <p:cNvSpPr txBox="1"/>
          <p:nvPr/>
        </p:nvSpPr>
        <p:spPr>
          <a:xfrm>
            <a:off x="914400" y="146304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Run a cultural readiness assessment before the next AI investment. Name the debt.</a:t>
            </a:r>
          </a:p>
        </p:txBody>
      </p:sp>
      <p:sp>
        <p:nvSpPr>
          <p:cNvPr id="6" name="TextBox 5"/>
          <p:cNvSpPr txBox="1"/>
          <p:nvPr/>
        </p:nvSpPr>
        <p:spPr>
          <a:xfrm>
            <a:off x="914400" y="178308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Survey team sentiment on AI. Map the last 3 failed initiatives. Identify failure patterns.</a:t>
            </a:r>
          </a:p>
        </p:txBody>
      </p:sp>
      <p:sp>
        <p:nvSpPr>
          <p:cNvPr id="7" name="TextBox 6"/>
          <p:cNvSpPr txBox="1"/>
          <p:nvPr/>
        </p:nvSpPr>
        <p:spPr>
          <a:xfrm>
            <a:off x="914400" y="210312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Executive Sponsor + HR  |  Within 30 days</a:t>
            </a:r>
          </a:p>
        </p:txBody>
      </p:sp>
      <p:sp>
        <p:nvSpPr>
          <p:cNvPr id="8" name="Rectangle 7"/>
          <p:cNvSpPr/>
          <p:nvPr/>
        </p:nvSpPr>
        <p:spPr>
          <a:xfrm>
            <a:off x="548640" y="2606040"/>
            <a:ext cx="10972800" cy="1325880"/>
          </a:xfrm>
          <a:prstGeom prst="rect">
            <a:avLst/>
          </a:prstGeom>
          <a:solidFill>
            <a:srgbClr val="F0F0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65176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2. Realign the Scorecard</a:t>
            </a:r>
          </a:p>
        </p:txBody>
      </p:sp>
      <p:sp>
        <p:nvSpPr>
          <p:cNvPr id="10" name="TextBox 9"/>
          <p:cNvSpPr txBox="1"/>
          <p:nvPr/>
        </p:nvSpPr>
        <p:spPr>
          <a:xfrm>
            <a:off x="914400" y="297180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Change how you measure AI success from “deployed” to “adopted and delivering value.”</a:t>
            </a:r>
          </a:p>
        </p:txBody>
      </p:sp>
      <p:sp>
        <p:nvSpPr>
          <p:cNvPr id="11" name="TextBox 10"/>
          <p:cNvSpPr txBox="1"/>
          <p:nvPr/>
        </p:nvSpPr>
        <p:spPr>
          <a:xfrm>
            <a:off x="914400" y="329184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Rewrite KPIs for the current AI portfolio. Add adoption metrics. Remove vanity metrics.</a:t>
            </a:r>
          </a:p>
        </p:txBody>
      </p:sp>
      <p:sp>
        <p:nvSpPr>
          <p:cNvPr id="12" name="TextBox 11"/>
          <p:cNvSpPr txBox="1"/>
          <p:nvPr/>
        </p:nvSpPr>
        <p:spPr>
          <a:xfrm>
            <a:off x="914400" y="361188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Business Unit Leads  |  Within 30 days</a:t>
            </a:r>
          </a:p>
        </p:txBody>
      </p:sp>
      <p:sp>
        <p:nvSpPr>
          <p:cNvPr id="13" name="Rectangle 12"/>
          <p:cNvSpPr/>
          <p:nvPr/>
        </p:nvSpPr>
        <p:spPr>
          <a:xfrm>
            <a:off x="548640" y="4114800"/>
            <a:ext cx="10972800" cy="1325880"/>
          </a:xfrm>
          <a:prstGeom prst="rect">
            <a:avLst/>
          </a:prstGeom>
          <a:solidFill>
            <a:srgbClr val="DDD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4160520"/>
            <a:ext cx="10058400" cy="338554"/>
          </a:xfrm>
          <a:prstGeom prst="rect">
            <a:avLst/>
          </a:prstGeom>
          <a:noFill/>
        </p:spPr>
        <p:txBody>
          <a:bodyPr wrap="square">
            <a:spAutoFit/>
          </a:bodyPr>
          <a:lstStyle/>
          <a:p>
            <a:pPr algn="l">
              <a:defRPr sz="1600" b="1" i="0">
                <a:solidFill>
                  <a:srgbClr val="000050"/>
                </a:solidFill>
                <a:latin typeface="Helvetica Neue"/>
              </a:defRPr>
            </a:pPr>
            <a:r>
              <a:rPr dirty="0">
                <a:latin typeface="Wallace Sans Light" pitchFamily="2" charset="0"/>
              </a:rPr>
              <a:t>3. Make Leadership Visible</a:t>
            </a:r>
          </a:p>
        </p:txBody>
      </p:sp>
      <p:sp>
        <p:nvSpPr>
          <p:cNvPr id="15" name="TextBox 14"/>
          <p:cNvSpPr txBox="1"/>
          <p:nvPr/>
        </p:nvSpPr>
        <p:spPr>
          <a:xfrm>
            <a:off x="914400" y="4480560"/>
            <a:ext cx="10058400" cy="276999"/>
          </a:xfrm>
          <a:prstGeom prst="rect">
            <a:avLst/>
          </a:prstGeom>
          <a:noFill/>
        </p:spPr>
        <p:txBody>
          <a:bodyPr wrap="square">
            <a:spAutoFit/>
          </a:bodyPr>
          <a:lstStyle/>
          <a:p>
            <a:pPr algn="l">
              <a:defRPr sz="1200" b="0" i="0">
                <a:solidFill>
                  <a:srgbClr val="1A1A1A"/>
                </a:solidFill>
                <a:latin typeface="Helvetica Neue"/>
              </a:defRPr>
            </a:pPr>
            <a:r>
              <a:rPr dirty="0">
                <a:latin typeface="Wallace Sans Light" pitchFamily="2" charset="0"/>
              </a:rPr>
              <a:t>Executives use the tools, share what they learned, and admit what didn’t work.</a:t>
            </a:r>
          </a:p>
        </p:txBody>
      </p:sp>
      <p:sp>
        <p:nvSpPr>
          <p:cNvPr id="16" name="TextBox 15"/>
          <p:cNvSpPr txBox="1"/>
          <p:nvPr/>
        </p:nvSpPr>
        <p:spPr>
          <a:xfrm>
            <a:off x="914400" y="4800600"/>
            <a:ext cx="10058400" cy="261610"/>
          </a:xfrm>
          <a:prstGeom prst="rect">
            <a:avLst/>
          </a:prstGeom>
          <a:noFill/>
        </p:spPr>
        <p:txBody>
          <a:bodyPr wrap="square">
            <a:spAutoFit/>
          </a:bodyPr>
          <a:lstStyle/>
          <a:p>
            <a:pPr algn="l">
              <a:defRPr sz="1100" b="0" i="0">
                <a:solidFill>
                  <a:srgbClr val="1A1A1A"/>
                </a:solidFill>
                <a:latin typeface="Helvetica Neue"/>
              </a:defRPr>
            </a:pPr>
            <a:r>
              <a:rPr dirty="0">
                <a:latin typeface="Wallace Sans Light" pitchFamily="2" charset="0"/>
              </a:rPr>
              <a:t>One executive shares an AI experiment (success or failure) at the next all-hands. Publicly.</a:t>
            </a:r>
          </a:p>
        </p:txBody>
      </p:sp>
      <p:sp>
        <p:nvSpPr>
          <p:cNvPr id="17" name="TextBox 16"/>
          <p:cNvSpPr txBox="1"/>
          <p:nvPr/>
        </p:nvSpPr>
        <p:spPr>
          <a:xfrm>
            <a:off x="914400" y="5120640"/>
            <a:ext cx="10058400" cy="246221"/>
          </a:xfrm>
          <a:prstGeom prst="rect">
            <a:avLst/>
          </a:prstGeom>
          <a:noFill/>
        </p:spPr>
        <p:txBody>
          <a:bodyPr wrap="square">
            <a:spAutoFit/>
          </a:bodyPr>
          <a:lstStyle/>
          <a:p>
            <a:pPr algn="l">
              <a:defRPr sz="1000" b="1" i="0">
                <a:solidFill>
                  <a:srgbClr val="3333AA"/>
                </a:solidFill>
                <a:latin typeface="Helvetica Neue"/>
              </a:defRPr>
            </a:pPr>
            <a:r>
              <a:rPr dirty="0">
                <a:latin typeface="Wallace Sans Light" pitchFamily="2" charset="0"/>
              </a:rPr>
              <a:t>C-Suite  |  Next all-hands</a:t>
            </a:r>
          </a:p>
        </p:txBody>
      </p:sp>
      <p:sp>
        <p:nvSpPr>
          <p:cNvPr id="18" name="Rectangle 17"/>
          <p:cNvSpPr/>
          <p:nvPr/>
        </p:nvSpPr>
        <p:spPr>
          <a:xfrm>
            <a:off x="548640" y="5669280"/>
            <a:ext cx="10972800" cy="502920"/>
          </a:xfrm>
          <a:prstGeom prst="rect">
            <a:avLst/>
          </a:prstGeom>
          <a:solidFill>
            <a:srgbClr val="000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4400" y="5715000"/>
            <a:ext cx="10058400" cy="292388"/>
          </a:xfrm>
          <a:prstGeom prst="rect">
            <a:avLst/>
          </a:prstGeom>
          <a:noFill/>
        </p:spPr>
        <p:txBody>
          <a:bodyPr wrap="square">
            <a:spAutoFit/>
          </a:bodyPr>
          <a:lstStyle/>
          <a:p>
            <a:pPr algn="l">
              <a:defRPr sz="1300" b="1" i="1">
                <a:solidFill>
                  <a:srgbClr val="FFFFFF"/>
                </a:solidFill>
                <a:latin typeface="Helvetica Neue"/>
              </a:defRPr>
            </a:pPr>
            <a:r>
              <a:rPr dirty="0">
                <a:latin typeface="Wallace Sans Light" pitchFamily="2" charset="0"/>
              </a:rPr>
              <a:t>The question is not whether you’ve invested in AI. The question is whether you’ve invested in the human system required to make it work.</a:t>
            </a:r>
          </a:p>
        </p:txBody>
      </p:sp>
      <p:sp>
        <p:nvSpPr>
          <p:cNvPr id="20" name="TextBox 19"/>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21" name="TextBox 20"/>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10</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274320"/>
            <a:ext cx="10972800" cy="584775"/>
          </a:xfrm>
          <a:prstGeom prst="rect">
            <a:avLst/>
          </a:prstGeom>
          <a:noFill/>
        </p:spPr>
        <p:txBody>
          <a:bodyPr wrap="square">
            <a:spAutoFit/>
          </a:bodyPr>
          <a:lstStyle/>
          <a:p>
            <a:pPr algn="l">
              <a:defRPr sz="3200" b="0" i="0">
                <a:solidFill>
                  <a:srgbClr val="000050"/>
                </a:solidFill>
                <a:latin typeface="Helvetica Neue"/>
              </a:defRPr>
            </a:pPr>
            <a:r>
              <a:rPr dirty="0">
                <a:latin typeface="Wallace Sans Light" pitchFamily="2" charset="0"/>
              </a:rPr>
              <a:t>Next Steps</a:t>
            </a:r>
          </a:p>
        </p:txBody>
      </p:sp>
      <p:graphicFrame>
        <p:nvGraphicFramePr>
          <p:cNvPr id="3" name="Table 2"/>
          <p:cNvGraphicFramePr>
            <a:graphicFrameLocks noGrp="1"/>
          </p:cNvGraphicFramePr>
          <p:nvPr/>
        </p:nvGraphicFramePr>
        <p:xfrm>
          <a:off x="548640" y="1097280"/>
          <a:ext cx="10972800" cy="3200400"/>
        </p:xfrm>
        <a:graphic>
          <a:graphicData uri="http://schemas.openxmlformats.org/drawingml/2006/table">
            <a:tbl>
              <a:tblPr firstRow="1" bandRow="1">
                <a:tableStyleId>{5C22544A-7EE6-4342-B048-85BDC9FD1C3A}</a:tableStyleId>
              </a:tblPr>
              <a:tblGrid>
                <a:gridCol w="59436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33400">
                <a:tc>
                  <a:txBody>
                    <a:bodyPr/>
                    <a:lstStyle/>
                    <a:p>
                      <a:pPr>
                        <a:spcAft>
                          <a:spcPts val="200"/>
                        </a:spcAft>
                        <a:defRPr sz="1200" b="1">
                          <a:solidFill>
                            <a:srgbClr val="000050"/>
                          </a:solidFill>
                          <a:latin typeface="Helvetica Neue"/>
                        </a:defRPr>
                      </a:pPr>
                      <a:r>
                        <a:rPr b="0" i="0" dirty="0">
                          <a:latin typeface="Wallace Sans Light" pitchFamily="2" charset="0"/>
                        </a:rPr>
                        <a:t>Action</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Owner</a:t>
                      </a:r>
                    </a:p>
                  </a:txBody>
                  <a:tcPr>
                    <a:solidFill>
                      <a:srgbClr val="DDDDF8"/>
                    </a:solidFill>
                  </a:tcPr>
                </a:tc>
                <a:tc>
                  <a:txBody>
                    <a:bodyPr/>
                    <a:lstStyle/>
                    <a:p>
                      <a:pPr>
                        <a:spcAft>
                          <a:spcPts val="200"/>
                        </a:spcAft>
                        <a:defRPr sz="1200" b="1">
                          <a:solidFill>
                            <a:srgbClr val="000050"/>
                          </a:solidFill>
                          <a:latin typeface="Helvetica Neue"/>
                        </a:defRPr>
                      </a:pPr>
                      <a:r>
                        <a:rPr b="0" i="0" dirty="0">
                          <a:latin typeface="Wallace Sans Light" pitchFamily="2" charset="0"/>
                        </a:rPr>
                        <a:t>By When</a:t>
                      </a:r>
                    </a:p>
                  </a:txBody>
                  <a:tcPr>
                    <a:solidFill>
                      <a:srgbClr val="DDDDF8"/>
                    </a:solidFill>
                  </a:tcPr>
                </a:tc>
                <a:extLst>
                  <a:ext uri="{0D108BD9-81ED-4DB2-BD59-A6C34878D82A}">
                    <a16:rowId xmlns:a16="http://schemas.microsoft.com/office/drawing/2014/main" val="10000"/>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Circulate this deck and the cultural debt framework</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This week</a:t>
                      </a:r>
                    </a:p>
                  </a:txBody>
                  <a:tcPr>
                    <a:noFill/>
                  </a:tcPr>
                </a:tc>
                <a:extLst>
                  <a:ext uri="{0D108BD9-81ED-4DB2-BD59-A6C34878D82A}">
                    <a16:rowId xmlns:a16="http://schemas.microsoft.com/office/drawing/2014/main" val="10001"/>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Run cultural readiness assessment on current AI portfolio</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[Executive Sponsor] + HR</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2"/>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Audit AI program KPIs — flag any measuring deployment without adoption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Business Unit Leads</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Within 30 days</a:t>
                      </a:r>
                    </a:p>
                  </a:txBody>
                  <a:tcPr>
                    <a:noFill/>
                  </a:tcPr>
                </a:tc>
                <a:extLst>
                  <a:ext uri="{0D108BD9-81ED-4DB2-BD59-A6C34878D82A}">
                    <a16:rowId xmlns:a16="http://schemas.microsoft.com/office/drawing/2014/main" val="10003"/>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Schedule leadership AI “show and tell”</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[C-Suite Champion]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Next all-hands</a:t>
                      </a:r>
                    </a:p>
                  </a:txBody>
                  <a:tcPr>
                    <a:noFill/>
                  </a:tcPr>
                </a:tc>
                <a:extLst>
                  <a:ext uri="{0D108BD9-81ED-4DB2-BD59-A6C34878D82A}">
                    <a16:rowId xmlns:a16="http://schemas.microsoft.com/office/drawing/2014/main" val="10004"/>
                  </a:ext>
                </a:extLst>
              </a:tr>
              <a:tr h="533400">
                <a:tc>
                  <a:txBody>
                    <a:bodyPr/>
                    <a:lstStyle/>
                    <a:p>
                      <a:pPr>
                        <a:spcAft>
                          <a:spcPts val="200"/>
                        </a:spcAft>
                        <a:defRPr sz="1200">
                          <a:solidFill>
                            <a:srgbClr val="1A1A1A"/>
                          </a:solidFill>
                          <a:latin typeface="Helvetica Neue"/>
                        </a:defRPr>
                      </a:pPr>
                      <a:r>
                        <a:rPr b="0" i="0" dirty="0">
                          <a:latin typeface="Wallace Sans Light" pitchFamily="2" charset="0"/>
                        </a:rPr>
                        <a:t>Reconvene to review findings and agree on debt paydown plan</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[Presenter] + Steering Committee</a:t>
                      </a:r>
                    </a:p>
                  </a:txBody>
                  <a:tcPr>
                    <a:noFill/>
                  </a:tcPr>
                </a:tc>
                <a:tc>
                  <a:txBody>
                    <a:bodyPr/>
                    <a:lstStyle/>
                    <a:p>
                      <a:pPr>
                        <a:spcAft>
                          <a:spcPts val="200"/>
                        </a:spcAft>
                        <a:defRPr sz="1200">
                          <a:solidFill>
                            <a:srgbClr val="1A1A1A"/>
                          </a:solidFill>
                          <a:latin typeface="Helvetica Neue"/>
                        </a:defRPr>
                      </a:pPr>
                      <a:r>
                        <a:rPr b="0" i="0" dirty="0">
                          <a:latin typeface="Wallace Sans Light" pitchFamily="2" charset="0"/>
                        </a:rPr>
                        <a:t>45 days</a:t>
                      </a:r>
                    </a:p>
                  </a:txBody>
                  <a:tcPr>
                    <a:noFill/>
                  </a:tcPr>
                </a:tc>
                <a:extLst>
                  <a:ext uri="{0D108BD9-81ED-4DB2-BD59-A6C34878D82A}">
                    <a16:rowId xmlns:a16="http://schemas.microsoft.com/office/drawing/2014/main" val="10005"/>
                  </a:ext>
                </a:extLst>
              </a:tr>
            </a:tbl>
          </a:graphicData>
        </a:graphic>
      </p:graphicFrame>
      <p:sp>
        <p:nvSpPr>
          <p:cNvPr id="4" name="TextBox 3"/>
          <p:cNvSpPr txBox="1"/>
          <p:nvPr/>
        </p:nvSpPr>
        <p:spPr>
          <a:xfrm>
            <a:off x="548640" y="6309360"/>
            <a:ext cx="7315200" cy="365760"/>
          </a:xfrm>
          <a:prstGeom prst="rect">
            <a:avLst/>
          </a:prstGeom>
          <a:noFill/>
        </p:spPr>
        <p:txBody>
          <a:bodyPr wrap="none">
            <a:spAutoFit/>
          </a:bodyPr>
          <a:lstStyle/>
          <a:p>
            <a:pPr>
              <a:defRPr sz="900" i="1">
                <a:solidFill>
                  <a:srgbClr val="888888"/>
                </a:solidFill>
              </a:defRPr>
            </a:pPr>
            <a:r>
              <a:t>Proprietary and confidential — do not distribute</a:t>
            </a:r>
          </a:p>
        </p:txBody>
      </p:sp>
      <p:sp>
        <p:nvSpPr>
          <p:cNvPr id="5" name="TextBox 4"/>
          <p:cNvSpPr txBox="1"/>
          <p:nvPr/>
        </p:nvSpPr>
        <p:spPr>
          <a:xfrm>
            <a:off x="10972800" y="6309360"/>
            <a:ext cx="914400" cy="365760"/>
          </a:xfrm>
          <a:prstGeom prst="rect">
            <a:avLst/>
          </a:prstGeom>
          <a:noFill/>
        </p:spPr>
        <p:txBody>
          <a:bodyPr wrap="none">
            <a:spAutoFit/>
          </a:bodyPr>
          <a:lstStyle/>
          <a:p>
            <a:pPr algn="r">
              <a:defRPr sz="900">
                <a:solidFill>
                  <a:srgbClr val="888888"/>
                </a:solidFill>
              </a:defRPr>
            </a:pPr>
            <a:r>
              <a:t>11</a:t>
            </a:r>
          </a:p>
        </p:txBody>
      </p:sp>
    </p:spTree>
  </p:cSld>
  <p:clrMapOvr>
    <a:masterClrMapping/>
  </p:clrMapOvr>
</p:sld>
</file>

<file path=ppt/theme/theme1.xml><?xml version="1.0" encoding="utf-8"?>
<a:theme xmlns:a="http://schemas.openxmlformats.org/drawingml/2006/main" name="Abbott">
  <a:themeElements>
    <a:clrScheme name="Custom 6">
      <a:dk1>
        <a:srgbClr val="191919"/>
      </a:dk1>
      <a:lt1>
        <a:srgbClr val="FFFFFF"/>
      </a:lt1>
      <a:dk2>
        <a:srgbClr val="96A3F5"/>
      </a:dk2>
      <a:lt2>
        <a:srgbClr val="D6DBFC"/>
      </a:lt2>
      <a:accent1>
        <a:srgbClr val="000075"/>
      </a:accent1>
      <a:accent2>
        <a:srgbClr val="2E4AED"/>
      </a:accent2>
      <a:accent3>
        <a:srgbClr val="00BFDE"/>
      </a:accent3>
      <a:accent4>
        <a:srgbClr val="8054F2"/>
      </a:accent4>
      <a:accent5>
        <a:srgbClr val="FF2652"/>
      </a:accent5>
      <a:accent6>
        <a:srgbClr val="FFBF21"/>
      </a:accent6>
      <a:hlink>
        <a:srgbClr val="2E4AED"/>
      </a:hlink>
      <a:folHlink>
        <a:srgbClr val="520000"/>
      </a:folHlink>
    </a:clrScheme>
    <a:fontScheme name="Abbott">
      <a:majorFont>
        <a:latin typeface="Wallace Serif Light"/>
        <a:ea typeface=""/>
        <a:cs typeface=""/>
      </a:majorFont>
      <a:minorFont>
        <a:latin typeface="Wallace San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emplate_Jan_2026_Abbott_PPT_General_Color 2" id="{C37CFE19-B45F-4B01-BEE2-E9C823176D11}" vid="{C15D688F-1431-4F53-A2DF-CD3BF76B226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7b85e4b-b412-4cf0-9d20-c39076f3a645">
      <Terms xmlns="http://schemas.microsoft.com/office/infopath/2007/PartnerControls"/>
    </lcf76f155ced4ddcb4097134ff3c332f>
    <TaxCatchAll xmlns="0778fe8e-7f63-4a25-9da3-6d7eb34b62a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3B5C81FAE16A04DBA113D395607B7E8" ma:contentTypeVersion="16" ma:contentTypeDescription="Create a new document." ma:contentTypeScope="" ma:versionID="dafe36405e15e5e1f8223ccf750b6bb4">
  <xsd:schema xmlns:xsd="http://www.w3.org/2001/XMLSchema" xmlns:xs="http://www.w3.org/2001/XMLSchema" xmlns:p="http://schemas.microsoft.com/office/2006/metadata/properties" xmlns:ns2="17b85e4b-b412-4cf0-9d20-c39076f3a645" xmlns:ns3="0778fe8e-7f63-4a25-9da3-6d7eb34b62a8" targetNamespace="http://schemas.microsoft.com/office/2006/metadata/properties" ma:root="true" ma:fieldsID="7b26c4443a2f8b8590b5bf5848b17a1e" ns2:_="" ns3:_="">
    <xsd:import namespace="17b85e4b-b412-4cf0-9d20-c39076f3a645"/>
    <xsd:import namespace="0778fe8e-7f63-4a25-9da3-6d7eb34b62a8"/>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ServiceLocation"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b85e4b-b412-4cf0-9d20-c39076f3a64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1940c914-643f-4df2-b20a-c5bc47cd009d"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778fe8e-7f63-4a25-9da3-6d7eb34b62a8"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9" nillable="true" ma:displayName="Taxonomy Catch All Column" ma:hidden="true" ma:list="{df7d3bc3-4391-455a-9068-1d2f09440efa}" ma:internalName="TaxCatchAll" ma:showField="CatchAllData" ma:web="0778fe8e-7f63-4a25-9da3-6d7eb34b62a8">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CBC6491-E96F-4DF0-BA0D-CEF9C0DF2950}">
  <ds:schemaRefs>
    <ds:schemaRef ds:uri="http://purl.org/dc/dcmitype/"/>
    <ds:schemaRef ds:uri="http://schemas.microsoft.com/office/2006/documentManagement/types"/>
    <ds:schemaRef ds:uri="http://schemas.microsoft.com/office/2006/metadata/properties"/>
    <ds:schemaRef ds:uri="http://www.w3.org/XML/1998/namespace"/>
    <ds:schemaRef ds:uri="http://schemas.microsoft.com/office/infopath/2007/PartnerControls"/>
    <ds:schemaRef ds:uri="http://purl.org/dc/elements/1.1/"/>
    <ds:schemaRef ds:uri="http://schemas.openxmlformats.org/package/2006/metadata/core-properties"/>
    <ds:schemaRef ds:uri="0778fe8e-7f63-4a25-9da3-6d7eb34b62a8"/>
    <ds:schemaRef ds:uri="17b85e4b-b412-4cf0-9d20-c39076f3a645"/>
    <ds:schemaRef ds:uri="http://purl.org/dc/terms/"/>
  </ds:schemaRefs>
</ds:datastoreItem>
</file>

<file path=customXml/itemProps2.xml><?xml version="1.0" encoding="utf-8"?>
<ds:datastoreItem xmlns:ds="http://schemas.openxmlformats.org/officeDocument/2006/customXml" ds:itemID="{94BD3005-DCEC-4919-8FF3-F40A90EE3D48}">
  <ds:schemaRefs>
    <ds:schemaRef ds:uri="http://schemas.microsoft.com/sharepoint/v3/contenttype/forms"/>
  </ds:schemaRefs>
</ds:datastoreItem>
</file>

<file path=customXml/itemProps3.xml><?xml version="1.0" encoding="utf-8"?>
<ds:datastoreItem xmlns:ds="http://schemas.openxmlformats.org/officeDocument/2006/customXml" ds:itemID="{112AB7FF-71B8-41BC-9A4A-AEC5DA0620EA}">
  <ds:schemaRefs>
    <ds:schemaRef ds:uri="0778fe8e-7f63-4a25-9da3-6d7eb34b62a8"/>
    <ds:schemaRef ds:uri="17b85e4b-b412-4cf0-9d20-c39076f3a64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5b268d57-2a6f-4e04-b0de-6938583d5ebc}" enabled="0" method="" siteId="{5b268d57-2a6f-4e04-b0de-6938583d5ebc}" removed="1"/>
</clbl:labelList>
</file>

<file path=docProps/app.xml><?xml version="1.0" encoding="utf-8"?>
<Properties xmlns="http://schemas.openxmlformats.org/officeDocument/2006/extended-properties" xmlns:vt="http://schemas.openxmlformats.org/officeDocument/2006/docPropsVTypes">
  <Template>Abbott</Template>
  <TotalTime>4534</TotalTime>
  <Words>7576</Words>
  <Application>Microsoft Macintosh PowerPoint</Application>
  <PresentationFormat>Widescreen</PresentationFormat>
  <Paragraphs>909</Paragraphs>
  <Slides>40</Slides>
  <Notes>38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40</vt:i4>
      </vt:variant>
    </vt:vector>
  </HeadingPairs>
  <TitlesOfParts>
    <vt:vector size="51" baseType="lpstr">
      <vt:lpstr>Wallace Sans Light</vt:lpstr>
      <vt:lpstr>Abbott Wallace Sans</vt:lpstr>
      <vt:lpstr>Wallace Serif</vt:lpstr>
      <vt:lpstr>Arial</vt:lpstr>
      <vt:lpstr>Wallace Sans BETA</vt:lpstr>
      <vt:lpstr>Wallace Sans BETA Light</vt:lpstr>
      <vt:lpstr>Wallace Serif Light</vt:lpstr>
      <vt:lpstr>Aptos</vt:lpstr>
      <vt:lpstr>Abbott Wallace Sans Light</vt:lpstr>
      <vt:lpstr>Wallace Sans</vt:lpstr>
      <vt:lpstr>Abbott</vt:lpstr>
      <vt:lpstr>The Hidden Balance Sheet  Cultural Debt with AI &amp; what it can Cost You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Aways</vt:lpstr>
      <vt:lpstr>Appendix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Wood, Nick</dc:creator>
  <cp:keywords/>
  <dc:description/>
  <cp:lastModifiedBy>Gundlapalli, Lalitha</cp:lastModifiedBy>
  <cp:revision>6</cp:revision>
  <cp:lastPrinted>2026-01-22T06:28:33Z</cp:lastPrinted>
  <dcterms:created xsi:type="dcterms:W3CDTF">2026-01-15T19:10:05Z</dcterms:created>
  <dcterms:modified xsi:type="dcterms:W3CDTF">2026-04-30T20:59:08Z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0x01010023B5C81FAE16A04DBA113D395607B7E8</vt:lpwstr>
  </property>
  <property fmtid="{D5CDD505-2E9C-101B-9397-08002B2CF9AE}" pid="3" name="MediaServiceImageTags">
    <vt:lpwstr/>
  </property>
</Properties>
</file>